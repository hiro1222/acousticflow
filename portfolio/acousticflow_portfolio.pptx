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B5540B-10AD-5E53-D325-A7FF2419887F}"/>
              </a:ext>
            </a:extLst>
          </p:cNvPr>
          <p:cNvSpPr>
            <a:spLocks noGrp="1"/>
          </p:cNvSpPr>
          <p:nvPr>
            <p:ph type="ctrTitle"/>
          </p:nvPr>
        </p:nvSpPr>
        <p:spPr>
          <a:xfrm>
            <a:off x="1524000" y="1122363"/>
            <a:ext cx="9144000" cy="2387600"/>
          </a:xfrm>
        </p:spPr>
        <p:txBody>
          <a:bodyPr anchor="b"/>
          <a:lstStyle>
            <a:lvl1pPr algn="ctr">
              <a:defRPr sz="4875"/>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4EC6817-2920-BC21-E04B-EBEC29A006DA}"/>
              </a:ext>
            </a:extLst>
          </p:cNvPr>
          <p:cNvSpPr>
            <a:spLocks noGrp="1"/>
          </p:cNvSpPr>
          <p:nvPr>
            <p:ph type="subTitle" idx="1"/>
          </p:nvPr>
        </p:nvSpPr>
        <p:spPr>
          <a:xfrm>
            <a:off x="1524000" y="3602038"/>
            <a:ext cx="91440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CED1A4B-5530-DDA1-BC1D-029CC4A13AAF}"/>
              </a:ext>
            </a:extLst>
          </p:cNvPr>
          <p:cNvSpPr>
            <a:spLocks noGrp="1"/>
          </p:cNvSpPr>
          <p:nvPr>
            <p:ph type="dt" sz="half" idx="10"/>
          </p:nvPr>
        </p:nvSpPr>
        <p:spPr/>
        <p:txBody>
          <a:bodyPr/>
          <a:lstStyle/>
          <a:p>
            <a:fld id="{CDA17339-27A2-4862-A106-95B84E6836C1}"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E1AAC7DA-E5D8-1D51-8802-546798CACE2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382A7B5-5652-7923-F64C-41EBF7DD26DD}"/>
              </a:ext>
            </a:extLst>
          </p:cNvPr>
          <p:cNvSpPr>
            <a:spLocks noGrp="1"/>
          </p:cNvSpPr>
          <p:nvPr>
            <p:ph type="sldNum" sz="quarter" idx="12"/>
          </p:nvPr>
        </p:nvSpPr>
        <p:spPr/>
        <p:txBody>
          <a:bodyPr/>
          <a:lstStyle/>
          <a:p>
            <a:fld id="{5173B112-52AE-461C-B102-8055B863A230}" type="slidenum">
              <a:rPr kumimoji="1" lang="ja-JP" altLang="en-US" smtClean="0"/>
              <a:t>‹#›</a:t>
            </a:fld>
            <a:endParaRPr kumimoji="1" lang="ja-JP" altLang="en-US"/>
          </a:p>
        </p:txBody>
      </p:sp>
    </p:spTree>
    <p:extLst>
      <p:ext uri="{BB962C8B-B14F-4D97-AF65-F5344CB8AC3E}">
        <p14:creationId xmlns:p14="http://schemas.microsoft.com/office/powerpoint/2010/main" val="1770440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F8633E-6029-45B7-22BA-D2619ECC10C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7D060AB-A4CA-94D7-E5BA-96E63266C33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AF8D22D-C6EB-A226-059A-034A6529CD46}"/>
              </a:ext>
            </a:extLst>
          </p:cNvPr>
          <p:cNvSpPr>
            <a:spLocks noGrp="1"/>
          </p:cNvSpPr>
          <p:nvPr>
            <p:ph type="dt" sz="half" idx="10"/>
          </p:nvPr>
        </p:nvSpPr>
        <p:spPr/>
        <p:txBody>
          <a:bodyPr/>
          <a:lstStyle/>
          <a:p>
            <a:fld id="{CDA17339-27A2-4862-A106-95B84E6836C1}"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24877BF7-4F32-521A-BE94-0703F762470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CDFEF67-EBB5-B186-DA95-E77780BDB33D}"/>
              </a:ext>
            </a:extLst>
          </p:cNvPr>
          <p:cNvSpPr>
            <a:spLocks noGrp="1"/>
          </p:cNvSpPr>
          <p:nvPr>
            <p:ph type="sldNum" sz="quarter" idx="12"/>
          </p:nvPr>
        </p:nvSpPr>
        <p:spPr/>
        <p:txBody>
          <a:bodyPr/>
          <a:lstStyle/>
          <a:p>
            <a:fld id="{5173B112-52AE-461C-B102-8055B863A230}" type="slidenum">
              <a:rPr kumimoji="1" lang="ja-JP" altLang="en-US" smtClean="0"/>
              <a:t>‹#›</a:t>
            </a:fld>
            <a:endParaRPr kumimoji="1" lang="ja-JP" altLang="en-US"/>
          </a:p>
        </p:txBody>
      </p:sp>
    </p:spTree>
    <p:extLst>
      <p:ext uri="{BB962C8B-B14F-4D97-AF65-F5344CB8AC3E}">
        <p14:creationId xmlns:p14="http://schemas.microsoft.com/office/powerpoint/2010/main" val="1438498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0AC7A9-7110-88ED-58C2-80B817323033}"/>
              </a:ext>
            </a:extLst>
          </p:cNvPr>
          <p:cNvSpPr>
            <a:spLocks noGrp="1"/>
          </p:cNvSpPr>
          <p:nvPr>
            <p:ph type="title"/>
          </p:nvPr>
        </p:nvSpPr>
        <p:spPr>
          <a:xfrm>
            <a:off x="831850" y="1709740"/>
            <a:ext cx="10515600" cy="2852737"/>
          </a:xfrm>
        </p:spPr>
        <p:txBody>
          <a:bodyPr anchor="b"/>
          <a:lstStyle>
            <a:lvl1pPr>
              <a:defRPr sz="4875"/>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CB5FA23-A6F3-30CC-A760-E3B4D91B120F}"/>
              </a:ext>
            </a:extLst>
          </p:cNvPr>
          <p:cNvSpPr>
            <a:spLocks noGrp="1"/>
          </p:cNvSpPr>
          <p:nvPr>
            <p:ph type="body" idx="1"/>
          </p:nvPr>
        </p:nvSpPr>
        <p:spPr>
          <a:xfrm>
            <a:off x="831850" y="4589465"/>
            <a:ext cx="10515600" cy="1500187"/>
          </a:xfrm>
        </p:spPr>
        <p:txBody>
          <a:bodyPr/>
          <a:lstStyle>
            <a:lvl1pPr marL="0" indent="0">
              <a:buNone/>
              <a:defRPr sz="1950">
                <a:solidFill>
                  <a:schemeClr val="tx1">
                    <a:tint val="82000"/>
                  </a:schemeClr>
                </a:solidFill>
              </a:defRPr>
            </a:lvl1pPr>
            <a:lvl2pPr marL="371475" indent="0">
              <a:buNone/>
              <a:defRPr sz="1625">
                <a:solidFill>
                  <a:schemeClr val="tx1">
                    <a:tint val="82000"/>
                  </a:schemeClr>
                </a:solidFill>
              </a:defRPr>
            </a:lvl2pPr>
            <a:lvl3pPr marL="742950" indent="0">
              <a:buNone/>
              <a:defRPr sz="1463">
                <a:solidFill>
                  <a:schemeClr val="tx1">
                    <a:tint val="82000"/>
                  </a:schemeClr>
                </a:solidFill>
              </a:defRPr>
            </a:lvl3pPr>
            <a:lvl4pPr marL="1114425" indent="0">
              <a:buNone/>
              <a:defRPr sz="1300">
                <a:solidFill>
                  <a:schemeClr val="tx1">
                    <a:tint val="82000"/>
                  </a:schemeClr>
                </a:solidFill>
              </a:defRPr>
            </a:lvl4pPr>
            <a:lvl5pPr marL="1485900" indent="0">
              <a:buNone/>
              <a:defRPr sz="1300">
                <a:solidFill>
                  <a:schemeClr val="tx1">
                    <a:tint val="82000"/>
                  </a:schemeClr>
                </a:solidFill>
              </a:defRPr>
            </a:lvl5pPr>
            <a:lvl6pPr marL="1857375" indent="0">
              <a:buNone/>
              <a:defRPr sz="1300">
                <a:solidFill>
                  <a:schemeClr val="tx1">
                    <a:tint val="82000"/>
                  </a:schemeClr>
                </a:solidFill>
              </a:defRPr>
            </a:lvl6pPr>
            <a:lvl7pPr marL="2228850" indent="0">
              <a:buNone/>
              <a:defRPr sz="1300">
                <a:solidFill>
                  <a:schemeClr val="tx1">
                    <a:tint val="82000"/>
                  </a:schemeClr>
                </a:solidFill>
              </a:defRPr>
            </a:lvl7pPr>
            <a:lvl8pPr marL="2600325" indent="0">
              <a:buNone/>
              <a:defRPr sz="1300">
                <a:solidFill>
                  <a:schemeClr val="tx1">
                    <a:tint val="82000"/>
                  </a:schemeClr>
                </a:solidFill>
              </a:defRPr>
            </a:lvl8pPr>
            <a:lvl9pPr marL="2971800" indent="0">
              <a:buNone/>
              <a:defRPr sz="13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0095678-A9F3-75F9-094E-D2A01F5BEBD7}"/>
              </a:ext>
            </a:extLst>
          </p:cNvPr>
          <p:cNvSpPr>
            <a:spLocks noGrp="1"/>
          </p:cNvSpPr>
          <p:nvPr>
            <p:ph type="dt" sz="half" idx="10"/>
          </p:nvPr>
        </p:nvSpPr>
        <p:spPr/>
        <p:txBody>
          <a:bodyPr/>
          <a:lstStyle/>
          <a:p>
            <a:fld id="{CDA17339-27A2-4862-A106-95B84E6836C1}"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A561CAE3-D396-3062-4D0B-BD960397D8C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CB06992-3201-08CE-41FD-B55379CA9551}"/>
              </a:ext>
            </a:extLst>
          </p:cNvPr>
          <p:cNvSpPr>
            <a:spLocks noGrp="1"/>
          </p:cNvSpPr>
          <p:nvPr>
            <p:ph type="sldNum" sz="quarter" idx="12"/>
          </p:nvPr>
        </p:nvSpPr>
        <p:spPr/>
        <p:txBody>
          <a:bodyPr/>
          <a:lstStyle/>
          <a:p>
            <a:fld id="{5173B112-52AE-461C-B102-8055B863A230}" type="slidenum">
              <a:rPr kumimoji="1" lang="ja-JP" altLang="en-US" smtClean="0"/>
              <a:t>‹#›</a:t>
            </a:fld>
            <a:endParaRPr kumimoji="1" lang="ja-JP" altLang="en-US"/>
          </a:p>
        </p:txBody>
      </p:sp>
    </p:spTree>
    <p:extLst>
      <p:ext uri="{BB962C8B-B14F-4D97-AF65-F5344CB8AC3E}">
        <p14:creationId xmlns:p14="http://schemas.microsoft.com/office/powerpoint/2010/main" val="2034852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6FBBD1-5615-7EAF-E0CE-197C5882904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546FA00-C3E0-E67B-B66A-5CAB10C2EB67}"/>
              </a:ext>
            </a:extLst>
          </p:cNvPr>
          <p:cNvSpPr>
            <a:spLocks noGrp="1"/>
          </p:cNvSpPr>
          <p:nvPr>
            <p:ph sz="half" idx="1"/>
          </p:nvPr>
        </p:nvSpPr>
        <p:spPr>
          <a:xfrm>
            <a:off x="838201"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B968034-B6C4-4BD1-70F8-198D795E77CE}"/>
              </a:ext>
            </a:extLst>
          </p:cNvPr>
          <p:cNvSpPr>
            <a:spLocks noGrp="1"/>
          </p:cNvSpPr>
          <p:nvPr>
            <p:ph sz="half" idx="2"/>
          </p:nvPr>
        </p:nvSpPr>
        <p:spPr>
          <a:xfrm>
            <a:off x="6172201"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B90F497-BD58-3339-7DD6-D9AE0A1BC8AB}"/>
              </a:ext>
            </a:extLst>
          </p:cNvPr>
          <p:cNvSpPr>
            <a:spLocks noGrp="1"/>
          </p:cNvSpPr>
          <p:nvPr>
            <p:ph type="dt" sz="half" idx="10"/>
          </p:nvPr>
        </p:nvSpPr>
        <p:spPr/>
        <p:txBody>
          <a:bodyPr/>
          <a:lstStyle/>
          <a:p>
            <a:fld id="{CDA17339-27A2-4862-A106-95B84E6836C1}" type="datetimeFigureOut">
              <a:rPr kumimoji="1" lang="ja-JP" altLang="en-US" smtClean="0"/>
              <a:t>2026/8/24</a:t>
            </a:fld>
            <a:endParaRPr kumimoji="1" lang="ja-JP" altLang="en-US"/>
          </a:p>
        </p:txBody>
      </p:sp>
      <p:sp>
        <p:nvSpPr>
          <p:cNvPr id="6" name="フッター プレースホルダー 5">
            <a:extLst>
              <a:ext uri="{FF2B5EF4-FFF2-40B4-BE49-F238E27FC236}">
                <a16:creationId xmlns:a16="http://schemas.microsoft.com/office/drawing/2014/main" id="{9594D193-0C64-B525-5A3E-7E3E72143D9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34B6E7F-EBB3-9DBA-EE8A-50BEE88CF8CA}"/>
              </a:ext>
            </a:extLst>
          </p:cNvPr>
          <p:cNvSpPr>
            <a:spLocks noGrp="1"/>
          </p:cNvSpPr>
          <p:nvPr>
            <p:ph type="sldNum" sz="quarter" idx="12"/>
          </p:nvPr>
        </p:nvSpPr>
        <p:spPr/>
        <p:txBody>
          <a:bodyPr/>
          <a:lstStyle/>
          <a:p>
            <a:fld id="{5173B112-52AE-461C-B102-8055B863A230}" type="slidenum">
              <a:rPr kumimoji="1" lang="ja-JP" altLang="en-US" smtClean="0"/>
              <a:t>‹#›</a:t>
            </a:fld>
            <a:endParaRPr kumimoji="1" lang="ja-JP" altLang="en-US"/>
          </a:p>
        </p:txBody>
      </p:sp>
    </p:spTree>
    <p:extLst>
      <p:ext uri="{BB962C8B-B14F-4D97-AF65-F5344CB8AC3E}">
        <p14:creationId xmlns:p14="http://schemas.microsoft.com/office/powerpoint/2010/main" val="1617210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F6771B-4B47-807F-6473-4C94EA7ECF7D}"/>
              </a:ext>
            </a:extLst>
          </p:cNvPr>
          <p:cNvSpPr>
            <a:spLocks noGrp="1"/>
          </p:cNvSpPr>
          <p:nvPr>
            <p:ph type="title"/>
          </p:nvPr>
        </p:nvSpPr>
        <p:spPr>
          <a:xfrm>
            <a:off x="839789" y="365127"/>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57EC066-E425-6600-A7B7-616548FD44F2}"/>
              </a:ext>
            </a:extLst>
          </p:cNvPr>
          <p:cNvSpPr>
            <a:spLocks noGrp="1"/>
          </p:cNvSpPr>
          <p:nvPr>
            <p:ph type="body" idx="1"/>
          </p:nvPr>
        </p:nvSpPr>
        <p:spPr>
          <a:xfrm>
            <a:off x="839788" y="1681163"/>
            <a:ext cx="5157787"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1F46138-7270-8B3E-73E7-0B646671366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ACDFA1B-3DB2-F1CC-0172-5DEBA2C2AFB5}"/>
              </a:ext>
            </a:extLst>
          </p:cNvPr>
          <p:cNvSpPr>
            <a:spLocks noGrp="1"/>
          </p:cNvSpPr>
          <p:nvPr>
            <p:ph type="body" sz="quarter" idx="3"/>
          </p:nvPr>
        </p:nvSpPr>
        <p:spPr>
          <a:xfrm>
            <a:off x="6172200" y="1681163"/>
            <a:ext cx="5183188"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F24E3C9-2EAA-8BB4-D44C-9BEF55E3C37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3124BDD-ED8F-9492-25FC-E80554D20E59}"/>
              </a:ext>
            </a:extLst>
          </p:cNvPr>
          <p:cNvSpPr>
            <a:spLocks noGrp="1"/>
          </p:cNvSpPr>
          <p:nvPr>
            <p:ph type="dt" sz="half" idx="10"/>
          </p:nvPr>
        </p:nvSpPr>
        <p:spPr/>
        <p:txBody>
          <a:bodyPr/>
          <a:lstStyle/>
          <a:p>
            <a:fld id="{CDA17339-27A2-4862-A106-95B84E6836C1}" type="datetimeFigureOut">
              <a:rPr kumimoji="1" lang="ja-JP" altLang="en-US" smtClean="0"/>
              <a:t>2026/8/24</a:t>
            </a:fld>
            <a:endParaRPr kumimoji="1" lang="ja-JP" altLang="en-US"/>
          </a:p>
        </p:txBody>
      </p:sp>
      <p:sp>
        <p:nvSpPr>
          <p:cNvPr id="8" name="フッター プレースホルダー 7">
            <a:extLst>
              <a:ext uri="{FF2B5EF4-FFF2-40B4-BE49-F238E27FC236}">
                <a16:creationId xmlns:a16="http://schemas.microsoft.com/office/drawing/2014/main" id="{A9FE3910-F41D-F39D-73E9-C07E6DCA3D8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6D822D2-397B-D86C-221F-80DB55F82406}"/>
              </a:ext>
            </a:extLst>
          </p:cNvPr>
          <p:cNvSpPr>
            <a:spLocks noGrp="1"/>
          </p:cNvSpPr>
          <p:nvPr>
            <p:ph type="sldNum" sz="quarter" idx="12"/>
          </p:nvPr>
        </p:nvSpPr>
        <p:spPr/>
        <p:txBody>
          <a:bodyPr/>
          <a:lstStyle/>
          <a:p>
            <a:fld id="{5173B112-52AE-461C-B102-8055B863A230}" type="slidenum">
              <a:rPr kumimoji="1" lang="ja-JP" altLang="en-US" smtClean="0"/>
              <a:t>‹#›</a:t>
            </a:fld>
            <a:endParaRPr kumimoji="1" lang="ja-JP" altLang="en-US"/>
          </a:p>
        </p:txBody>
      </p:sp>
    </p:spTree>
    <p:extLst>
      <p:ext uri="{BB962C8B-B14F-4D97-AF65-F5344CB8AC3E}">
        <p14:creationId xmlns:p14="http://schemas.microsoft.com/office/powerpoint/2010/main" val="3636080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4EB6A8-5BAC-03EA-E222-EE0705868F5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08582FE-79AA-1EFE-B8FC-EB7EA216DF3C}"/>
              </a:ext>
            </a:extLst>
          </p:cNvPr>
          <p:cNvSpPr>
            <a:spLocks noGrp="1"/>
          </p:cNvSpPr>
          <p:nvPr>
            <p:ph type="dt" sz="half" idx="10"/>
          </p:nvPr>
        </p:nvSpPr>
        <p:spPr/>
        <p:txBody>
          <a:bodyPr/>
          <a:lstStyle/>
          <a:p>
            <a:fld id="{CDA17339-27A2-4862-A106-95B84E6836C1}" type="datetimeFigureOut">
              <a:rPr kumimoji="1" lang="ja-JP" altLang="en-US" smtClean="0"/>
              <a:t>2026/8/24</a:t>
            </a:fld>
            <a:endParaRPr kumimoji="1" lang="ja-JP" altLang="en-US"/>
          </a:p>
        </p:txBody>
      </p:sp>
      <p:sp>
        <p:nvSpPr>
          <p:cNvPr id="4" name="フッター プレースホルダー 3">
            <a:extLst>
              <a:ext uri="{FF2B5EF4-FFF2-40B4-BE49-F238E27FC236}">
                <a16:creationId xmlns:a16="http://schemas.microsoft.com/office/drawing/2014/main" id="{E940717B-15C2-5DE6-964D-6FA11117138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4710BC1-046C-58B1-A997-4D568B360C0D}"/>
              </a:ext>
            </a:extLst>
          </p:cNvPr>
          <p:cNvSpPr>
            <a:spLocks noGrp="1"/>
          </p:cNvSpPr>
          <p:nvPr>
            <p:ph type="sldNum" sz="quarter" idx="12"/>
          </p:nvPr>
        </p:nvSpPr>
        <p:spPr/>
        <p:txBody>
          <a:bodyPr/>
          <a:lstStyle/>
          <a:p>
            <a:fld id="{5173B112-52AE-461C-B102-8055B863A230}" type="slidenum">
              <a:rPr kumimoji="1" lang="ja-JP" altLang="en-US" smtClean="0"/>
              <a:t>‹#›</a:t>
            </a:fld>
            <a:endParaRPr kumimoji="1" lang="ja-JP" altLang="en-US"/>
          </a:p>
        </p:txBody>
      </p:sp>
    </p:spTree>
    <p:extLst>
      <p:ext uri="{BB962C8B-B14F-4D97-AF65-F5344CB8AC3E}">
        <p14:creationId xmlns:p14="http://schemas.microsoft.com/office/powerpoint/2010/main" val="3497100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4190D2B-5676-F246-8598-FDC10A58E020}"/>
              </a:ext>
            </a:extLst>
          </p:cNvPr>
          <p:cNvSpPr>
            <a:spLocks noGrp="1"/>
          </p:cNvSpPr>
          <p:nvPr>
            <p:ph type="dt" sz="half" idx="10"/>
          </p:nvPr>
        </p:nvSpPr>
        <p:spPr/>
        <p:txBody>
          <a:bodyPr/>
          <a:lstStyle/>
          <a:p>
            <a:fld id="{CDA17339-27A2-4862-A106-95B84E6836C1}" type="datetimeFigureOut">
              <a:rPr kumimoji="1" lang="ja-JP" altLang="en-US" smtClean="0"/>
              <a:t>2026/8/24</a:t>
            </a:fld>
            <a:endParaRPr kumimoji="1" lang="ja-JP" altLang="en-US"/>
          </a:p>
        </p:txBody>
      </p:sp>
      <p:sp>
        <p:nvSpPr>
          <p:cNvPr id="3" name="フッター プレースホルダー 2">
            <a:extLst>
              <a:ext uri="{FF2B5EF4-FFF2-40B4-BE49-F238E27FC236}">
                <a16:creationId xmlns:a16="http://schemas.microsoft.com/office/drawing/2014/main" id="{C9970553-4BD0-6989-8AB7-41395EF51A6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C69EB7C-54BD-84A6-1D72-28CA0701212B}"/>
              </a:ext>
            </a:extLst>
          </p:cNvPr>
          <p:cNvSpPr>
            <a:spLocks noGrp="1"/>
          </p:cNvSpPr>
          <p:nvPr>
            <p:ph type="sldNum" sz="quarter" idx="12"/>
          </p:nvPr>
        </p:nvSpPr>
        <p:spPr/>
        <p:txBody>
          <a:bodyPr/>
          <a:lstStyle/>
          <a:p>
            <a:fld id="{5173B112-52AE-461C-B102-8055B863A230}" type="slidenum">
              <a:rPr kumimoji="1" lang="ja-JP" altLang="en-US" smtClean="0"/>
              <a:t>‹#›</a:t>
            </a:fld>
            <a:endParaRPr kumimoji="1" lang="ja-JP" altLang="en-US"/>
          </a:p>
        </p:txBody>
      </p:sp>
    </p:spTree>
    <p:extLst>
      <p:ext uri="{BB962C8B-B14F-4D97-AF65-F5344CB8AC3E}">
        <p14:creationId xmlns:p14="http://schemas.microsoft.com/office/powerpoint/2010/main" val="3160448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68BC84-162D-9FE2-2FAD-58F7EF324E30}"/>
              </a:ext>
            </a:extLst>
          </p:cNvPr>
          <p:cNvSpPr>
            <a:spLocks noGrp="1"/>
          </p:cNvSpPr>
          <p:nvPr>
            <p:ph type="title"/>
          </p:nvPr>
        </p:nvSpPr>
        <p:spPr>
          <a:xfrm>
            <a:off x="839789" y="457200"/>
            <a:ext cx="3932238" cy="1600200"/>
          </a:xfrm>
        </p:spPr>
        <p:txBody>
          <a:bodyPr anchor="b"/>
          <a:lstStyle>
            <a:lvl1pPr>
              <a:defRPr sz="26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E6F8F1F-66ED-A0B9-AF52-8FAF4A864E5A}"/>
              </a:ext>
            </a:extLst>
          </p:cNvPr>
          <p:cNvSpPr>
            <a:spLocks noGrp="1"/>
          </p:cNvSpPr>
          <p:nvPr>
            <p:ph idx="1"/>
          </p:nvPr>
        </p:nvSpPr>
        <p:spPr>
          <a:xfrm>
            <a:off x="5183188" y="987427"/>
            <a:ext cx="6172201" cy="4873625"/>
          </a:xfrm>
        </p:spPr>
        <p:txBody>
          <a:bodyPr/>
          <a:lstStyle>
            <a:lvl1pPr>
              <a:defRPr sz="2600"/>
            </a:lvl1pPr>
            <a:lvl2pPr>
              <a:defRPr sz="2275"/>
            </a:lvl2pPr>
            <a:lvl3pPr>
              <a:defRPr sz="1950"/>
            </a:lvl3pPr>
            <a:lvl4pPr>
              <a:defRPr sz="1625"/>
            </a:lvl4pPr>
            <a:lvl5pPr>
              <a:defRPr sz="1625"/>
            </a:lvl5pPr>
            <a:lvl6pPr>
              <a:defRPr sz="1625"/>
            </a:lvl6pPr>
            <a:lvl7pPr>
              <a:defRPr sz="1625"/>
            </a:lvl7pPr>
            <a:lvl8pPr>
              <a:defRPr sz="1625"/>
            </a:lvl8pPr>
            <a:lvl9pPr>
              <a:defRPr sz="1625"/>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1F889A3-3776-CFCB-773E-07EA0FAFFB70}"/>
              </a:ext>
            </a:extLst>
          </p:cNvPr>
          <p:cNvSpPr>
            <a:spLocks noGrp="1"/>
          </p:cNvSpPr>
          <p:nvPr>
            <p:ph type="body" sz="half" idx="2"/>
          </p:nvPr>
        </p:nvSpPr>
        <p:spPr>
          <a:xfrm>
            <a:off x="839789" y="2057400"/>
            <a:ext cx="3932238"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E04877D-9788-8430-98CC-84965F4C1A4F}"/>
              </a:ext>
            </a:extLst>
          </p:cNvPr>
          <p:cNvSpPr>
            <a:spLocks noGrp="1"/>
          </p:cNvSpPr>
          <p:nvPr>
            <p:ph type="dt" sz="half" idx="10"/>
          </p:nvPr>
        </p:nvSpPr>
        <p:spPr/>
        <p:txBody>
          <a:bodyPr/>
          <a:lstStyle/>
          <a:p>
            <a:fld id="{CDA17339-27A2-4862-A106-95B84E6836C1}" type="datetimeFigureOut">
              <a:rPr kumimoji="1" lang="ja-JP" altLang="en-US" smtClean="0"/>
              <a:t>2026/8/24</a:t>
            </a:fld>
            <a:endParaRPr kumimoji="1" lang="ja-JP" altLang="en-US"/>
          </a:p>
        </p:txBody>
      </p:sp>
      <p:sp>
        <p:nvSpPr>
          <p:cNvPr id="6" name="フッター プレースホルダー 5">
            <a:extLst>
              <a:ext uri="{FF2B5EF4-FFF2-40B4-BE49-F238E27FC236}">
                <a16:creationId xmlns:a16="http://schemas.microsoft.com/office/drawing/2014/main" id="{218722A1-A2AB-2E57-4061-4EF90C53EFB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488ED33-944F-32AF-E627-E12ED9E65583}"/>
              </a:ext>
            </a:extLst>
          </p:cNvPr>
          <p:cNvSpPr>
            <a:spLocks noGrp="1"/>
          </p:cNvSpPr>
          <p:nvPr>
            <p:ph type="sldNum" sz="quarter" idx="12"/>
          </p:nvPr>
        </p:nvSpPr>
        <p:spPr/>
        <p:txBody>
          <a:bodyPr/>
          <a:lstStyle/>
          <a:p>
            <a:fld id="{5173B112-52AE-461C-B102-8055B863A230}" type="slidenum">
              <a:rPr kumimoji="1" lang="ja-JP" altLang="en-US" smtClean="0"/>
              <a:t>‹#›</a:t>
            </a:fld>
            <a:endParaRPr kumimoji="1" lang="ja-JP" altLang="en-US"/>
          </a:p>
        </p:txBody>
      </p:sp>
    </p:spTree>
    <p:extLst>
      <p:ext uri="{BB962C8B-B14F-4D97-AF65-F5344CB8AC3E}">
        <p14:creationId xmlns:p14="http://schemas.microsoft.com/office/powerpoint/2010/main" val="4163137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B94A0F-8F10-0E50-7DA9-27EBB44BBF6B}"/>
              </a:ext>
            </a:extLst>
          </p:cNvPr>
          <p:cNvSpPr>
            <a:spLocks noGrp="1"/>
          </p:cNvSpPr>
          <p:nvPr>
            <p:ph type="title"/>
          </p:nvPr>
        </p:nvSpPr>
        <p:spPr>
          <a:xfrm>
            <a:off x="839789" y="457200"/>
            <a:ext cx="3932238" cy="1600200"/>
          </a:xfrm>
        </p:spPr>
        <p:txBody>
          <a:bodyPr anchor="b"/>
          <a:lstStyle>
            <a:lvl1pPr>
              <a:defRPr sz="26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BEBDA1A-3CC0-8889-6D50-3694006810AC}"/>
              </a:ext>
            </a:extLst>
          </p:cNvPr>
          <p:cNvSpPr>
            <a:spLocks noGrp="1"/>
          </p:cNvSpPr>
          <p:nvPr>
            <p:ph type="pic" idx="1"/>
          </p:nvPr>
        </p:nvSpPr>
        <p:spPr>
          <a:xfrm>
            <a:off x="5183188" y="987427"/>
            <a:ext cx="6172201" cy="4873625"/>
          </a:xfrm>
        </p:spPr>
        <p:txBody>
          <a:bodyPr/>
          <a:lstStyle>
            <a:lvl1pPr marL="0" indent="0">
              <a:buNone/>
              <a:defRPr sz="2600"/>
            </a:lvl1pPr>
            <a:lvl2pPr marL="371475" indent="0">
              <a:buNone/>
              <a:defRPr sz="2275"/>
            </a:lvl2pPr>
            <a:lvl3pPr marL="742950" indent="0">
              <a:buNone/>
              <a:defRPr sz="1950"/>
            </a:lvl3pPr>
            <a:lvl4pPr marL="1114425" indent="0">
              <a:buNone/>
              <a:defRPr sz="1625"/>
            </a:lvl4pPr>
            <a:lvl5pPr marL="1485900" indent="0">
              <a:buNone/>
              <a:defRPr sz="1625"/>
            </a:lvl5pPr>
            <a:lvl6pPr marL="1857375" indent="0">
              <a:buNone/>
              <a:defRPr sz="1625"/>
            </a:lvl6pPr>
            <a:lvl7pPr marL="2228850" indent="0">
              <a:buNone/>
              <a:defRPr sz="1625"/>
            </a:lvl7pPr>
            <a:lvl8pPr marL="2600325" indent="0">
              <a:buNone/>
              <a:defRPr sz="1625"/>
            </a:lvl8pPr>
            <a:lvl9pPr marL="2971800" indent="0">
              <a:buNone/>
              <a:defRPr sz="1625"/>
            </a:lvl9pPr>
          </a:lstStyle>
          <a:p>
            <a:endParaRPr kumimoji="1" lang="ja-JP" altLang="en-US"/>
          </a:p>
        </p:txBody>
      </p:sp>
      <p:sp>
        <p:nvSpPr>
          <p:cNvPr id="4" name="テキスト プレースホルダー 3">
            <a:extLst>
              <a:ext uri="{FF2B5EF4-FFF2-40B4-BE49-F238E27FC236}">
                <a16:creationId xmlns:a16="http://schemas.microsoft.com/office/drawing/2014/main" id="{4EA2D288-95D3-BF7B-7E95-7E49CA13CE12}"/>
              </a:ext>
            </a:extLst>
          </p:cNvPr>
          <p:cNvSpPr>
            <a:spLocks noGrp="1"/>
          </p:cNvSpPr>
          <p:nvPr>
            <p:ph type="body" sz="half" idx="2"/>
          </p:nvPr>
        </p:nvSpPr>
        <p:spPr>
          <a:xfrm>
            <a:off x="839789" y="2057400"/>
            <a:ext cx="3932238"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4EE63E8-FB81-5635-3EC7-F92F98BDE74B}"/>
              </a:ext>
            </a:extLst>
          </p:cNvPr>
          <p:cNvSpPr>
            <a:spLocks noGrp="1"/>
          </p:cNvSpPr>
          <p:nvPr>
            <p:ph type="dt" sz="half" idx="10"/>
          </p:nvPr>
        </p:nvSpPr>
        <p:spPr/>
        <p:txBody>
          <a:bodyPr/>
          <a:lstStyle/>
          <a:p>
            <a:fld id="{CDA17339-27A2-4862-A106-95B84E6836C1}" type="datetimeFigureOut">
              <a:rPr kumimoji="1" lang="ja-JP" altLang="en-US" smtClean="0"/>
              <a:t>2026/8/24</a:t>
            </a:fld>
            <a:endParaRPr kumimoji="1" lang="ja-JP" altLang="en-US"/>
          </a:p>
        </p:txBody>
      </p:sp>
      <p:sp>
        <p:nvSpPr>
          <p:cNvPr id="6" name="フッター プレースホルダー 5">
            <a:extLst>
              <a:ext uri="{FF2B5EF4-FFF2-40B4-BE49-F238E27FC236}">
                <a16:creationId xmlns:a16="http://schemas.microsoft.com/office/drawing/2014/main" id="{321B64E1-FE00-BE19-6CF9-7A6BC17EBE5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54A157F-DE9A-48BB-F859-58ABD432226C}"/>
              </a:ext>
            </a:extLst>
          </p:cNvPr>
          <p:cNvSpPr>
            <a:spLocks noGrp="1"/>
          </p:cNvSpPr>
          <p:nvPr>
            <p:ph type="sldNum" sz="quarter" idx="12"/>
          </p:nvPr>
        </p:nvSpPr>
        <p:spPr/>
        <p:txBody>
          <a:bodyPr/>
          <a:lstStyle/>
          <a:p>
            <a:fld id="{5173B112-52AE-461C-B102-8055B863A230}" type="slidenum">
              <a:rPr kumimoji="1" lang="ja-JP" altLang="en-US" smtClean="0"/>
              <a:t>‹#›</a:t>
            </a:fld>
            <a:endParaRPr kumimoji="1" lang="ja-JP" altLang="en-US"/>
          </a:p>
        </p:txBody>
      </p:sp>
    </p:spTree>
    <p:extLst>
      <p:ext uri="{BB962C8B-B14F-4D97-AF65-F5344CB8AC3E}">
        <p14:creationId xmlns:p14="http://schemas.microsoft.com/office/powerpoint/2010/main" val="346058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327DD4-E374-C957-8FC3-99D1D112D5A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554825A-BCD6-4CAC-550C-A95CC9B8D85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A1D688A-4EC2-FF8F-E1C7-108F0D0C8E2C}"/>
              </a:ext>
            </a:extLst>
          </p:cNvPr>
          <p:cNvSpPr>
            <a:spLocks noGrp="1"/>
          </p:cNvSpPr>
          <p:nvPr>
            <p:ph type="dt" sz="half" idx="10"/>
          </p:nvPr>
        </p:nvSpPr>
        <p:spPr/>
        <p:txBody>
          <a:bodyPr/>
          <a:lstStyle/>
          <a:p>
            <a:fld id="{CDA17339-27A2-4862-A106-95B84E6836C1}"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1345A01A-D1C2-3D78-62D9-F3DB2E11F48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7E0021F-5AC0-2510-3E5B-D39BBC603B9E}"/>
              </a:ext>
            </a:extLst>
          </p:cNvPr>
          <p:cNvSpPr>
            <a:spLocks noGrp="1"/>
          </p:cNvSpPr>
          <p:nvPr>
            <p:ph type="sldNum" sz="quarter" idx="12"/>
          </p:nvPr>
        </p:nvSpPr>
        <p:spPr/>
        <p:txBody>
          <a:bodyPr/>
          <a:lstStyle/>
          <a:p>
            <a:fld id="{5173B112-52AE-461C-B102-8055B863A230}" type="slidenum">
              <a:rPr kumimoji="1" lang="ja-JP" altLang="en-US" smtClean="0"/>
              <a:t>‹#›</a:t>
            </a:fld>
            <a:endParaRPr kumimoji="1" lang="ja-JP" altLang="en-US"/>
          </a:p>
        </p:txBody>
      </p:sp>
    </p:spTree>
    <p:extLst>
      <p:ext uri="{BB962C8B-B14F-4D97-AF65-F5344CB8AC3E}">
        <p14:creationId xmlns:p14="http://schemas.microsoft.com/office/powerpoint/2010/main" val="2847735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719A003-2D69-564A-CF5F-4143F77DA8F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8CE24DB-2DFC-C820-A521-58E96A45C95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2521606-5A07-D3E5-EBFC-6E8C3C41E9B9}"/>
              </a:ext>
            </a:extLst>
          </p:cNvPr>
          <p:cNvSpPr>
            <a:spLocks noGrp="1"/>
          </p:cNvSpPr>
          <p:nvPr>
            <p:ph type="dt" sz="half" idx="10"/>
          </p:nvPr>
        </p:nvSpPr>
        <p:spPr/>
        <p:txBody>
          <a:bodyPr/>
          <a:lstStyle/>
          <a:p>
            <a:fld id="{CDA17339-27A2-4862-A106-95B84E6836C1}"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21AF6E27-8384-9EB9-FBAC-7D697873633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24D77B-6B75-70F3-21B9-5D6BC9F923F6}"/>
              </a:ext>
            </a:extLst>
          </p:cNvPr>
          <p:cNvSpPr>
            <a:spLocks noGrp="1"/>
          </p:cNvSpPr>
          <p:nvPr>
            <p:ph type="sldNum" sz="quarter" idx="12"/>
          </p:nvPr>
        </p:nvSpPr>
        <p:spPr/>
        <p:txBody>
          <a:bodyPr/>
          <a:lstStyle/>
          <a:p>
            <a:fld id="{5173B112-52AE-461C-B102-8055B863A230}" type="slidenum">
              <a:rPr kumimoji="1" lang="ja-JP" altLang="en-US" smtClean="0"/>
              <a:t>‹#›</a:t>
            </a:fld>
            <a:endParaRPr kumimoji="1" lang="ja-JP" altLang="en-US"/>
          </a:p>
        </p:txBody>
      </p:sp>
    </p:spTree>
    <p:extLst>
      <p:ext uri="{BB962C8B-B14F-4D97-AF65-F5344CB8AC3E}">
        <p14:creationId xmlns:p14="http://schemas.microsoft.com/office/powerpoint/2010/main" val="2417756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BE6E695-780E-6FB9-6103-BFFE25C4C1DC}"/>
              </a:ext>
            </a:extLst>
          </p:cNvPr>
          <p:cNvSpPr>
            <a:spLocks noGrp="1"/>
          </p:cNvSpPr>
          <p:nvPr>
            <p:ph type="title"/>
          </p:nvPr>
        </p:nvSpPr>
        <p:spPr>
          <a:xfrm>
            <a:off x="838201" y="365127"/>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F46F13A-4A8F-729B-1C0B-8F2A0277BA7F}"/>
              </a:ext>
            </a:extLst>
          </p:cNvPr>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5183BE9-6FDF-5780-EBD8-9FF81EEA98DF}"/>
              </a:ext>
            </a:extLst>
          </p:cNvPr>
          <p:cNvSpPr>
            <a:spLocks noGrp="1"/>
          </p:cNvSpPr>
          <p:nvPr>
            <p:ph type="dt" sz="half" idx="2"/>
          </p:nvPr>
        </p:nvSpPr>
        <p:spPr>
          <a:xfrm>
            <a:off x="838201" y="6356352"/>
            <a:ext cx="2743200" cy="365125"/>
          </a:xfrm>
          <a:prstGeom prst="rect">
            <a:avLst/>
          </a:prstGeom>
        </p:spPr>
        <p:txBody>
          <a:bodyPr vert="horz" lIns="91440" tIns="45720" rIns="91440" bIns="45720" rtlCol="0" anchor="ctr"/>
          <a:lstStyle>
            <a:lvl1pPr algn="l">
              <a:defRPr sz="975">
                <a:solidFill>
                  <a:schemeClr val="tx1">
                    <a:tint val="82000"/>
                  </a:schemeClr>
                </a:solidFill>
              </a:defRPr>
            </a:lvl1pPr>
          </a:lstStyle>
          <a:p>
            <a:fld id="{CDA17339-27A2-4862-A106-95B84E6836C1}"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0FA412E7-A913-8822-49B5-558F4F7F0D0D}"/>
              </a:ext>
            </a:extLst>
          </p:cNvPr>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defRPr sz="975">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47BE91A-414C-FDC8-82B8-10A9701F6DBE}"/>
              </a:ext>
            </a:extLst>
          </p:cNvPr>
          <p:cNvSpPr>
            <a:spLocks noGrp="1"/>
          </p:cNvSpPr>
          <p:nvPr>
            <p:ph type="sldNum" sz="quarter" idx="4"/>
          </p:nvPr>
        </p:nvSpPr>
        <p:spPr>
          <a:xfrm>
            <a:off x="8610601" y="6356352"/>
            <a:ext cx="2743200" cy="365125"/>
          </a:xfrm>
          <a:prstGeom prst="rect">
            <a:avLst/>
          </a:prstGeom>
        </p:spPr>
        <p:txBody>
          <a:bodyPr vert="horz" lIns="91440" tIns="45720" rIns="91440" bIns="45720" rtlCol="0" anchor="ctr"/>
          <a:lstStyle>
            <a:lvl1pPr algn="r">
              <a:defRPr sz="975">
                <a:solidFill>
                  <a:schemeClr val="tx1">
                    <a:tint val="82000"/>
                  </a:schemeClr>
                </a:solidFill>
              </a:defRPr>
            </a:lvl1pPr>
          </a:lstStyle>
          <a:p>
            <a:fld id="{5173B112-52AE-461C-B102-8055B863A230}" type="slidenum">
              <a:rPr kumimoji="1" lang="ja-JP" altLang="en-US" smtClean="0"/>
              <a:t>‹#›</a:t>
            </a:fld>
            <a:endParaRPr kumimoji="1" lang="ja-JP" altLang="en-US"/>
          </a:p>
        </p:txBody>
      </p:sp>
    </p:spTree>
    <p:extLst>
      <p:ext uri="{BB962C8B-B14F-4D97-AF65-F5344CB8AC3E}">
        <p14:creationId xmlns:p14="http://schemas.microsoft.com/office/powerpoint/2010/main" val="2484665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742950" rtl="0" eaLnBrk="1" latinLnBrk="0" hangingPunct="1">
        <a:lnSpc>
          <a:spcPct val="90000"/>
        </a:lnSpc>
        <a:spcBef>
          <a:spcPct val="0"/>
        </a:spcBef>
        <a:buNone/>
        <a:defRPr kumimoji="1" sz="3575" kern="1200">
          <a:solidFill>
            <a:schemeClr val="tx1"/>
          </a:solidFill>
          <a:latin typeface="+mj-lt"/>
          <a:ea typeface="+mj-ea"/>
          <a:cs typeface="+mj-cs"/>
        </a:defRPr>
      </a:lvl1pPr>
    </p:titleStyle>
    <p:bodyStyle>
      <a:lvl1pPr marL="185738" indent="-185738" algn="l" defTabSz="742950" rtl="0" eaLnBrk="1" latinLnBrk="0" hangingPunct="1">
        <a:lnSpc>
          <a:spcPct val="90000"/>
        </a:lnSpc>
        <a:spcBef>
          <a:spcPts val="813"/>
        </a:spcBef>
        <a:buFont typeface="Arial" panose="020B0604020202020204" pitchFamily="34" charset="0"/>
        <a:buChar char="•"/>
        <a:defRPr kumimoji="1"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kumimoji="1"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kumimoji="1"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9pPr>
    </p:bodyStyle>
    <p:otherStyle>
      <a:defPPr>
        <a:defRPr lang="ja-JP"/>
      </a:defPPr>
      <a:lvl1pPr marL="0" algn="l" defTabSz="742950" rtl="0" eaLnBrk="1" latinLnBrk="0" hangingPunct="1">
        <a:defRPr kumimoji="1" sz="1463" kern="1200">
          <a:solidFill>
            <a:schemeClr val="tx1"/>
          </a:solidFill>
          <a:latin typeface="+mn-lt"/>
          <a:ea typeface="+mn-ea"/>
          <a:cs typeface="+mn-cs"/>
        </a:defRPr>
      </a:lvl1pPr>
      <a:lvl2pPr marL="371475" algn="l" defTabSz="742950" rtl="0" eaLnBrk="1" latinLnBrk="0" hangingPunct="1">
        <a:defRPr kumimoji="1" sz="1463" kern="1200">
          <a:solidFill>
            <a:schemeClr val="tx1"/>
          </a:solidFill>
          <a:latin typeface="+mn-lt"/>
          <a:ea typeface="+mn-ea"/>
          <a:cs typeface="+mn-cs"/>
        </a:defRPr>
      </a:lvl2pPr>
      <a:lvl3pPr marL="742950" algn="l" defTabSz="742950" rtl="0" eaLnBrk="1" latinLnBrk="0" hangingPunct="1">
        <a:defRPr kumimoji="1" sz="1463" kern="1200">
          <a:solidFill>
            <a:schemeClr val="tx1"/>
          </a:solidFill>
          <a:latin typeface="+mn-lt"/>
          <a:ea typeface="+mn-ea"/>
          <a:cs typeface="+mn-cs"/>
        </a:defRPr>
      </a:lvl3pPr>
      <a:lvl4pPr marL="1114425" algn="l" defTabSz="742950" rtl="0" eaLnBrk="1" latinLnBrk="0" hangingPunct="1">
        <a:defRPr kumimoji="1" sz="1463" kern="1200">
          <a:solidFill>
            <a:schemeClr val="tx1"/>
          </a:solidFill>
          <a:latin typeface="+mn-lt"/>
          <a:ea typeface="+mn-ea"/>
          <a:cs typeface="+mn-cs"/>
        </a:defRPr>
      </a:lvl4pPr>
      <a:lvl5pPr marL="1485900" algn="l" defTabSz="742950" rtl="0" eaLnBrk="1" latinLnBrk="0" hangingPunct="1">
        <a:defRPr kumimoji="1" sz="1463" kern="1200">
          <a:solidFill>
            <a:schemeClr val="tx1"/>
          </a:solidFill>
          <a:latin typeface="+mn-lt"/>
          <a:ea typeface="+mn-ea"/>
          <a:cs typeface="+mn-cs"/>
        </a:defRPr>
      </a:lvl5pPr>
      <a:lvl6pPr marL="1857375" algn="l" defTabSz="742950" rtl="0" eaLnBrk="1" latinLnBrk="0" hangingPunct="1">
        <a:defRPr kumimoji="1" sz="1463" kern="1200">
          <a:solidFill>
            <a:schemeClr val="tx1"/>
          </a:solidFill>
          <a:latin typeface="+mn-lt"/>
          <a:ea typeface="+mn-ea"/>
          <a:cs typeface="+mn-cs"/>
        </a:defRPr>
      </a:lvl6pPr>
      <a:lvl7pPr marL="2228850" algn="l" defTabSz="742950" rtl="0" eaLnBrk="1" latinLnBrk="0" hangingPunct="1">
        <a:defRPr kumimoji="1" sz="1463" kern="1200">
          <a:solidFill>
            <a:schemeClr val="tx1"/>
          </a:solidFill>
          <a:latin typeface="+mn-lt"/>
          <a:ea typeface="+mn-ea"/>
          <a:cs typeface="+mn-cs"/>
        </a:defRPr>
      </a:lvl7pPr>
      <a:lvl8pPr marL="2600325" algn="l" defTabSz="742950" rtl="0" eaLnBrk="1" latinLnBrk="0" hangingPunct="1">
        <a:defRPr kumimoji="1" sz="1463" kern="1200">
          <a:solidFill>
            <a:schemeClr val="tx1"/>
          </a:solidFill>
          <a:latin typeface="+mn-lt"/>
          <a:ea typeface="+mn-ea"/>
          <a:cs typeface="+mn-cs"/>
        </a:defRPr>
      </a:lvl8pPr>
      <a:lvl9pPr marL="2971800" algn="l" defTabSz="742950" rtl="0" eaLnBrk="1" latinLnBrk="0" hangingPunct="1">
        <a:defRPr kumimoji="1"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B5C2F797-2E54-F70D-CAD5-C0B62E16226C}"/>
              </a:ext>
            </a:extLst>
          </p:cNvPr>
          <p:cNvSpPr/>
          <p:nvPr/>
        </p:nvSpPr>
        <p:spPr>
          <a:xfrm>
            <a:off x="406400" y="2486512"/>
            <a:ext cx="11379200" cy="356704"/>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7B49712C-A072-0F38-1A6E-78CD610CD86C}"/>
              </a:ext>
            </a:extLst>
          </p:cNvPr>
          <p:cNvSpPr txBox="1"/>
          <p:nvPr/>
        </p:nvSpPr>
        <p:spPr>
          <a:xfrm>
            <a:off x="406400" y="889000"/>
            <a:ext cx="11379200" cy="146194"/>
          </a:xfrm>
          <a:prstGeom prst="rect">
            <a:avLst/>
          </a:prstGeom>
          <a:noFill/>
        </p:spPr>
        <p:txBody>
          <a:bodyPr vert="horz" wrap="square" lIns="0" tIns="0" rIns="0" bIns="0" rtlCol="0">
            <a:spAutoFit/>
          </a:bodyPr>
          <a:lstStyle/>
          <a:p>
            <a:pPr>
              <a:lnSpc>
                <a:spcPct val="95000"/>
              </a:lnSpc>
            </a:pPr>
            <a:r>
              <a:rPr kumimoji="1" lang="en-US" altLang="ja-JP" sz="1000" b="1">
                <a:solidFill>
                  <a:srgbClr val="1C7293"/>
                </a:solidFill>
                <a:latin typeface="Yu Gothic UI" panose="020B0500000000000000" pitchFamily="50" charset="-128"/>
                <a:ea typeface="Yu Gothic UI" panose="020B0500000000000000" pitchFamily="50" charset="-128"/>
              </a:rPr>
              <a:t>SOUND ENGINE</a:t>
            </a:r>
            <a:endParaRPr kumimoji="1" lang="ja-JP" altLang="en-US" sz="100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3F151B21-B08C-1F65-C47A-C248A89CF070}"/>
              </a:ext>
            </a:extLst>
          </p:cNvPr>
          <p:cNvSpPr txBox="1"/>
          <p:nvPr/>
        </p:nvSpPr>
        <p:spPr>
          <a:xfrm>
            <a:off x="406400" y="1111394"/>
            <a:ext cx="11379200" cy="643253"/>
          </a:xfrm>
          <a:prstGeom prst="rect">
            <a:avLst/>
          </a:prstGeom>
          <a:noFill/>
        </p:spPr>
        <p:txBody>
          <a:bodyPr vert="horz" wrap="square" lIns="0" tIns="0" rIns="0" bIns="0" rtlCol="0">
            <a:spAutoFit/>
          </a:bodyPr>
          <a:lstStyle/>
          <a:p>
            <a:pPr>
              <a:lnSpc>
                <a:spcPct val="95000"/>
              </a:lnSpc>
            </a:pPr>
            <a:r>
              <a:rPr kumimoji="1" lang="en-US" altLang="ja-JP" sz="4400" b="1">
                <a:solidFill>
                  <a:srgbClr val="21295C"/>
                </a:solidFill>
                <a:latin typeface="Yu Gothic UI" panose="020B0500000000000000" pitchFamily="50" charset="-128"/>
                <a:ea typeface="Yu Gothic UI" panose="020B0500000000000000" pitchFamily="50" charset="-128"/>
              </a:rPr>
              <a:t>AcousticFlow</a:t>
            </a:r>
            <a:endParaRPr kumimoji="1" lang="ja-JP" altLang="en-US" sz="4400" b="1">
              <a:solidFill>
                <a:srgbClr val="21295C"/>
              </a:solidFill>
              <a:latin typeface="Yu Gothic UI" panose="020B0500000000000000" pitchFamily="50" charset="-128"/>
              <a:ea typeface="Yu Gothic UI" panose="020B0500000000000000" pitchFamily="50" charset="-128"/>
            </a:endParaRPr>
          </a:p>
        </p:txBody>
      </p:sp>
      <p:sp>
        <p:nvSpPr>
          <p:cNvPr id="4" name="テキスト ボックス 3">
            <a:extLst>
              <a:ext uri="{FF2B5EF4-FFF2-40B4-BE49-F238E27FC236}">
                <a16:creationId xmlns:a16="http://schemas.microsoft.com/office/drawing/2014/main" id="{92FFEACB-F0EF-F474-B56A-B2D92CEFF456}"/>
              </a:ext>
            </a:extLst>
          </p:cNvPr>
          <p:cNvSpPr txBox="1"/>
          <p:nvPr/>
        </p:nvSpPr>
        <p:spPr>
          <a:xfrm>
            <a:off x="406400" y="1780047"/>
            <a:ext cx="11379200" cy="160813"/>
          </a:xfrm>
          <a:prstGeom prst="rect">
            <a:avLst/>
          </a:prstGeom>
          <a:noFill/>
        </p:spPr>
        <p:txBody>
          <a:bodyPr vert="horz" wrap="square" lIns="0" tIns="0" rIns="0" bIns="0" rtlCol="0">
            <a:spAutoFit/>
          </a:bodyPr>
          <a:lstStyle/>
          <a:p>
            <a:pPr>
              <a:lnSpc>
                <a:spcPct val="95000"/>
              </a:lnSpc>
            </a:pPr>
            <a:r>
              <a:rPr kumimoji="1" lang="en-US" altLang="ja-JP" sz="1100">
                <a:solidFill>
                  <a:srgbClr val="6B7688"/>
                </a:solidFill>
                <a:latin typeface="Yu Gothic UI" panose="020B0500000000000000" pitchFamily="50" charset="-128"/>
                <a:ea typeface="Yu Gothic UI" panose="020B0500000000000000" pitchFamily="50" charset="-128"/>
              </a:rPr>
              <a:t>HYBRID GEOMETRIC ACOUSTICS</a:t>
            </a:r>
            <a:endParaRPr kumimoji="1" lang="ja-JP" altLang="en-US" sz="1100">
              <a:solidFill>
                <a:srgbClr val="6B7688"/>
              </a:solidFill>
              <a:latin typeface="Yu Gothic UI" panose="020B0500000000000000" pitchFamily="50" charset="-128"/>
              <a:ea typeface="Yu Gothic UI" panose="020B0500000000000000" pitchFamily="50" charset="-128"/>
            </a:endParaRPr>
          </a:p>
        </p:txBody>
      </p:sp>
      <p:sp>
        <p:nvSpPr>
          <p:cNvPr id="5" name="テキスト ボックス 4">
            <a:extLst>
              <a:ext uri="{FF2B5EF4-FFF2-40B4-BE49-F238E27FC236}">
                <a16:creationId xmlns:a16="http://schemas.microsoft.com/office/drawing/2014/main" id="{FA080623-A6A8-1D0B-7685-5798423EDBD0}"/>
              </a:ext>
            </a:extLst>
          </p:cNvPr>
          <p:cNvSpPr txBox="1"/>
          <p:nvPr/>
        </p:nvSpPr>
        <p:spPr>
          <a:xfrm>
            <a:off x="406400" y="2118660"/>
            <a:ext cx="11379200" cy="190052"/>
          </a:xfrm>
          <a:prstGeom prst="rect">
            <a:avLst/>
          </a:prstGeom>
          <a:noFill/>
        </p:spPr>
        <p:txBody>
          <a:bodyPr vert="horz" wrap="square" lIns="0" tIns="0" rIns="0" bIns="0" rtlCol="0">
            <a:spAutoFit/>
          </a:bodyPr>
          <a:lstStyle/>
          <a:p>
            <a:pPr>
              <a:lnSpc>
                <a:spcPct val="95000"/>
              </a:lnSpc>
            </a:pPr>
            <a:r>
              <a:rPr kumimoji="1" lang="ja-JP" altLang="en-US" sz="1300">
                <a:solidFill>
                  <a:srgbClr val="1A2233"/>
                </a:solidFill>
                <a:latin typeface="Yu Gothic UI" panose="020B0500000000000000" pitchFamily="50" charset="-128"/>
                <a:ea typeface="Yu Gothic UI" panose="020B0500000000000000" pitchFamily="50" charset="-128"/>
              </a:rPr>
              <a:t>変わる所だけ実行時に解く、ハイブリッドの幾何音響エンジン</a:t>
            </a:r>
          </a:p>
        </p:txBody>
      </p:sp>
      <p:sp>
        <p:nvSpPr>
          <p:cNvPr id="6" name="テキスト ボックス 5">
            <a:extLst>
              <a:ext uri="{FF2B5EF4-FFF2-40B4-BE49-F238E27FC236}">
                <a16:creationId xmlns:a16="http://schemas.microsoft.com/office/drawing/2014/main" id="{DBAB400E-771F-A3C9-AC9C-2804B5B7DB25}"/>
              </a:ext>
            </a:extLst>
          </p:cNvPr>
          <p:cNvSpPr txBox="1"/>
          <p:nvPr/>
        </p:nvSpPr>
        <p:spPr>
          <a:xfrm>
            <a:off x="508000" y="2588112"/>
            <a:ext cx="11176000" cy="153504"/>
          </a:xfrm>
          <a:prstGeom prst="rect">
            <a:avLst/>
          </a:prstGeom>
          <a:noFill/>
        </p:spPr>
        <p:txBody>
          <a:bodyPr vert="horz" wrap="square" lIns="0" tIns="0" rIns="0" bIns="0" rtlCol="0">
            <a:spAutoFit/>
          </a:bodyPr>
          <a:lstStyle/>
          <a:p>
            <a:pPr>
              <a:lnSpc>
                <a:spcPct val="95000"/>
              </a:lnSpc>
            </a:pPr>
            <a:r>
              <a:rPr kumimoji="1" lang="ja-JP" altLang="en-US" sz="1050">
                <a:solidFill>
                  <a:srgbClr val="1A2233"/>
                </a:solidFill>
                <a:latin typeface="Yu Gothic UI" panose="020B0500000000000000" pitchFamily="50" charset="-128"/>
                <a:ea typeface="Yu Gothic UI" panose="020B0500000000000000" pitchFamily="50" charset="-128"/>
              </a:rPr>
              <a:t>コンセプト ── 周辺環境の変化を、音によって伝える。 扉がどれだけ開いているか、部屋に入る瞬間、柱の陰に回り込んだこと。それが音で分かる。</a:t>
            </a:r>
          </a:p>
        </p:txBody>
      </p:sp>
      <p:sp>
        <p:nvSpPr>
          <p:cNvPr id="8" name="テキスト ボックス 7">
            <a:extLst>
              <a:ext uri="{FF2B5EF4-FFF2-40B4-BE49-F238E27FC236}">
                <a16:creationId xmlns:a16="http://schemas.microsoft.com/office/drawing/2014/main" id="{0D10A8D9-07A4-8D9C-1FA3-C20669A4949F}"/>
              </a:ext>
            </a:extLst>
          </p:cNvPr>
          <p:cNvSpPr txBox="1"/>
          <p:nvPr/>
        </p:nvSpPr>
        <p:spPr>
          <a:xfrm>
            <a:off x="406400" y="3046416"/>
            <a:ext cx="3623733" cy="219291"/>
          </a:xfrm>
          <a:prstGeom prst="rect">
            <a:avLst/>
          </a:prstGeom>
          <a:noFill/>
        </p:spPr>
        <p:txBody>
          <a:bodyPr vert="horz" wrap="square" lIns="0" tIns="0" rIns="0" bIns="0" rtlCol="0">
            <a:spAutoFit/>
          </a:bodyPr>
          <a:lstStyle/>
          <a:p>
            <a:pPr>
              <a:lnSpc>
                <a:spcPct val="95000"/>
              </a:lnSpc>
            </a:pPr>
            <a:r>
              <a:rPr kumimoji="1" lang="ja-JP" altLang="en-US" sz="1500" b="1">
                <a:solidFill>
                  <a:srgbClr val="1C7293"/>
                </a:solidFill>
                <a:latin typeface="Yu Gothic UI" panose="020B0500000000000000" pitchFamily="50" charset="-128"/>
                <a:ea typeface="Yu Gothic UI" panose="020B0500000000000000" pitchFamily="50" charset="-128"/>
              </a:rPr>
              <a:t>扉の開き具合</a:t>
            </a:r>
          </a:p>
        </p:txBody>
      </p:sp>
      <p:sp>
        <p:nvSpPr>
          <p:cNvPr id="9" name="テキスト ボックス 8">
            <a:extLst>
              <a:ext uri="{FF2B5EF4-FFF2-40B4-BE49-F238E27FC236}">
                <a16:creationId xmlns:a16="http://schemas.microsoft.com/office/drawing/2014/main" id="{80B89998-94B1-A8CE-EE3C-07962033C582}"/>
              </a:ext>
            </a:extLst>
          </p:cNvPr>
          <p:cNvSpPr txBox="1"/>
          <p:nvPr/>
        </p:nvSpPr>
        <p:spPr>
          <a:xfrm>
            <a:off x="406400" y="3291107"/>
            <a:ext cx="3623733" cy="131574"/>
          </a:xfrm>
          <a:prstGeom prst="rect">
            <a:avLst/>
          </a:prstGeom>
          <a:noFill/>
        </p:spPr>
        <p:txBody>
          <a:bodyPr vert="horz" wrap="square" lIns="0" tIns="0" rIns="0" bIns="0" rtlCol="0">
            <a:spAutoFit/>
          </a:bodyPr>
          <a:lstStyle/>
          <a:p>
            <a:pPr>
              <a:lnSpc>
                <a:spcPct val="95000"/>
              </a:lnSpc>
            </a:pPr>
            <a:r>
              <a:rPr kumimoji="1" lang="ja-JP" altLang="en-US" sz="900">
                <a:solidFill>
                  <a:srgbClr val="6B7688"/>
                </a:solidFill>
                <a:latin typeface="Yu Gothic UI" panose="020B0500000000000000" pitchFamily="50" charset="-128"/>
                <a:ea typeface="Yu Gothic UI" panose="020B0500000000000000" pitchFamily="50" charset="-128"/>
              </a:rPr>
              <a:t>閉／半開／全開ではなく、連続量として</a:t>
            </a:r>
          </a:p>
        </p:txBody>
      </p:sp>
      <p:sp>
        <p:nvSpPr>
          <p:cNvPr id="10" name="テキスト ボックス 9">
            <a:extLst>
              <a:ext uri="{FF2B5EF4-FFF2-40B4-BE49-F238E27FC236}">
                <a16:creationId xmlns:a16="http://schemas.microsoft.com/office/drawing/2014/main" id="{93783133-7212-A6B3-AFE1-0B70658262C5}"/>
              </a:ext>
            </a:extLst>
          </p:cNvPr>
          <p:cNvSpPr txBox="1"/>
          <p:nvPr/>
        </p:nvSpPr>
        <p:spPr>
          <a:xfrm>
            <a:off x="4284133" y="3046416"/>
            <a:ext cx="3623733" cy="219291"/>
          </a:xfrm>
          <a:prstGeom prst="rect">
            <a:avLst/>
          </a:prstGeom>
          <a:noFill/>
        </p:spPr>
        <p:txBody>
          <a:bodyPr vert="horz" wrap="square" lIns="0" tIns="0" rIns="0" bIns="0" rtlCol="0">
            <a:spAutoFit/>
          </a:bodyPr>
          <a:lstStyle/>
          <a:p>
            <a:pPr>
              <a:lnSpc>
                <a:spcPct val="95000"/>
              </a:lnSpc>
            </a:pPr>
            <a:r>
              <a:rPr kumimoji="1" lang="ja-JP" altLang="en-US" sz="1500" b="1">
                <a:solidFill>
                  <a:srgbClr val="1C7293"/>
                </a:solidFill>
                <a:latin typeface="Yu Gothic UI" panose="020B0500000000000000" pitchFamily="50" charset="-128"/>
                <a:ea typeface="Yu Gothic UI" panose="020B0500000000000000" pitchFamily="50" charset="-128"/>
              </a:rPr>
              <a:t>部屋に入る瞬間</a:t>
            </a:r>
          </a:p>
        </p:txBody>
      </p:sp>
      <p:sp>
        <p:nvSpPr>
          <p:cNvPr id="11" name="テキスト ボックス 10">
            <a:extLst>
              <a:ext uri="{FF2B5EF4-FFF2-40B4-BE49-F238E27FC236}">
                <a16:creationId xmlns:a16="http://schemas.microsoft.com/office/drawing/2014/main" id="{2670B38E-BC27-467D-53F3-F440084C8103}"/>
              </a:ext>
            </a:extLst>
          </p:cNvPr>
          <p:cNvSpPr txBox="1"/>
          <p:nvPr/>
        </p:nvSpPr>
        <p:spPr>
          <a:xfrm>
            <a:off x="4284133" y="3291107"/>
            <a:ext cx="3623733" cy="131574"/>
          </a:xfrm>
          <a:prstGeom prst="rect">
            <a:avLst/>
          </a:prstGeom>
          <a:noFill/>
        </p:spPr>
        <p:txBody>
          <a:bodyPr vert="horz" wrap="square" lIns="0" tIns="0" rIns="0" bIns="0" rtlCol="0">
            <a:spAutoFit/>
          </a:bodyPr>
          <a:lstStyle/>
          <a:p>
            <a:pPr>
              <a:lnSpc>
                <a:spcPct val="95000"/>
              </a:lnSpc>
            </a:pPr>
            <a:r>
              <a:rPr kumimoji="1" lang="ja-JP" altLang="en-US" sz="900">
                <a:solidFill>
                  <a:srgbClr val="6B7688"/>
                </a:solidFill>
                <a:latin typeface="Yu Gothic UI" panose="020B0500000000000000" pitchFamily="50" charset="-128"/>
                <a:ea typeface="Yu Gothic UI" panose="020B0500000000000000" pitchFamily="50" charset="-128"/>
              </a:rPr>
              <a:t>響きが切り替わるのではなく、変わっていく</a:t>
            </a:r>
          </a:p>
        </p:txBody>
      </p:sp>
      <p:sp>
        <p:nvSpPr>
          <p:cNvPr id="12" name="テキスト ボックス 11">
            <a:extLst>
              <a:ext uri="{FF2B5EF4-FFF2-40B4-BE49-F238E27FC236}">
                <a16:creationId xmlns:a16="http://schemas.microsoft.com/office/drawing/2014/main" id="{BDEA94C4-6364-4DBE-6187-CD18C289A20F}"/>
              </a:ext>
            </a:extLst>
          </p:cNvPr>
          <p:cNvSpPr txBox="1"/>
          <p:nvPr/>
        </p:nvSpPr>
        <p:spPr>
          <a:xfrm>
            <a:off x="8161867" y="3046416"/>
            <a:ext cx="3623733" cy="219291"/>
          </a:xfrm>
          <a:prstGeom prst="rect">
            <a:avLst/>
          </a:prstGeom>
          <a:noFill/>
        </p:spPr>
        <p:txBody>
          <a:bodyPr vert="horz" wrap="square" lIns="0" tIns="0" rIns="0" bIns="0" rtlCol="0">
            <a:spAutoFit/>
          </a:bodyPr>
          <a:lstStyle/>
          <a:p>
            <a:pPr>
              <a:lnSpc>
                <a:spcPct val="95000"/>
              </a:lnSpc>
            </a:pPr>
            <a:r>
              <a:rPr kumimoji="1" lang="ja-JP" altLang="en-US" sz="1500" b="1">
                <a:solidFill>
                  <a:srgbClr val="1C7293"/>
                </a:solidFill>
                <a:latin typeface="Yu Gothic UI" panose="020B0500000000000000" pitchFamily="50" charset="-128"/>
                <a:ea typeface="Yu Gothic UI" panose="020B0500000000000000" pitchFamily="50" charset="-128"/>
              </a:rPr>
              <a:t>陰に回り込む音</a:t>
            </a:r>
          </a:p>
        </p:txBody>
      </p:sp>
      <p:sp>
        <p:nvSpPr>
          <p:cNvPr id="13" name="テキスト ボックス 12">
            <a:extLst>
              <a:ext uri="{FF2B5EF4-FFF2-40B4-BE49-F238E27FC236}">
                <a16:creationId xmlns:a16="http://schemas.microsoft.com/office/drawing/2014/main" id="{AF94E01D-49A7-99C1-7591-434A20FF4A05}"/>
              </a:ext>
            </a:extLst>
          </p:cNvPr>
          <p:cNvSpPr txBox="1"/>
          <p:nvPr/>
        </p:nvSpPr>
        <p:spPr>
          <a:xfrm>
            <a:off x="8161867" y="3291107"/>
            <a:ext cx="3623733" cy="131574"/>
          </a:xfrm>
          <a:prstGeom prst="rect">
            <a:avLst/>
          </a:prstGeom>
          <a:noFill/>
        </p:spPr>
        <p:txBody>
          <a:bodyPr vert="horz" wrap="square" lIns="0" tIns="0" rIns="0" bIns="0" rtlCol="0">
            <a:spAutoFit/>
          </a:bodyPr>
          <a:lstStyle/>
          <a:p>
            <a:pPr>
              <a:lnSpc>
                <a:spcPct val="95000"/>
              </a:lnSpc>
            </a:pPr>
            <a:r>
              <a:rPr kumimoji="1" lang="ja-JP" altLang="en-US" sz="900">
                <a:solidFill>
                  <a:srgbClr val="6B7688"/>
                </a:solidFill>
                <a:latin typeface="Yu Gothic UI" panose="020B0500000000000000" pitchFamily="50" charset="-128"/>
                <a:ea typeface="Yu Gothic UI" panose="020B0500000000000000" pitchFamily="50" charset="-128"/>
              </a:rPr>
              <a:t>遮られたことも、どちらから来たかも</a:t>
            </a:r>
          </a:p>
        </p:txBody>
      </p:sp>
      <p:sp>
        <p:nvSpPr>
          <p:cNvPr id="14" name="テキスト ボックス 13">
            <a:extLst>
              <a:ext uri="{FF2B5EF4-FFF2-40B4-BE49-F238E27FC236}">
                <a16:creationId xmlns:a16="http://schemas.microsoft.com/office/drawing/2014/main" id="{15489469-FE0A-2E89-7998-287A1D90DB50}"/>
              </a:ext>
            </a:extLst>
          </p:cNvPr>
          <p:cNvSpPr txBox="1"/>
          <p:nvPr/>
        </p:nvSpPr>
        <p:spPr>
          <a:xfrm>
            <a:off x="406400" y="6019800"/>
            <a:ext cx="11379200" cy="131574"/>
          </a:xfrm>
          <a:prstGeom prst="rect">
            <a:avLst/>
          </a:prstGeom>
          <a:noFill/>
        </p:spPr>
        <p:txBody>
          <a:bodyPr vert="horz" wrap="square" lIns="0" tIns="0" rIns="0" bIns="0" rtlCol="0">
            <a:spAutoFit/>
          </a:bodyPr>
          <a:lstStyle/>
          <a:p>
            <a:pPr>
              <a:lnSpc>
                <a:spcPct val="95000"/>
              </a:lnSpc>
            </a:pPr>
            <a:r>
              <a:rPr kumimoji="1" lang="ja-JP" altLang="en-US" sz="900">
                <a:solidFill>
                  <a:srgbClr val="6B7688"/>
                </a:solidFill>
                <a:latin typeface="Yu Gothic UI" panose="020B0500000000000000" pitchFamily="50" charset="-128"/>
                <a:ea typeface="Yu Gothic UI" panose="020B0500000000000000" pitchFamily="50" charset="-128"/>
              </a:rPr>
              <a:t>氏名＿＿＿＿＿＿　／　開発期間＿＿＿＿＿＿　／　制作形態個人制作（企画・設計・実装・検証）　／　開発環境</a:t>
            </a:r>
            <a:r>
              <a:rPr kumimoji="1" lang="en-US" altLang="ja-JP" sz="900">
                <a:solidFill>
                  <a:srgbClr val="6B7688"/>
                </a:solidFill>
                <a:latin typeface="Yu Gothic UI" panose="020B0500000000000000" pitchFamily="50" charset="-128"/>
                <a:ea typeface="Yu Gothic UI" panose="020B0500000000000000" pitchFamily="50" charset="-128"/>
              </a:rPr>
              <a:t>C++17 </a:t>
            </a:r>
            <a:r>
              <a:rPr kumimoji="1" lang="ja-JP" altLang="en-US" sz="900">
                <a:solidFill>
                  <a:srgbClr val="6B7688"/>
                </a:solidFill>
                <a:latin typeface="Yu Gothic UI" panose="020B0500000000000000" pitchFamily="50" charset="-128"/>
                <a:ea typeface="Yu Gothic UI" panose="020B0500000000000000" pitchFamily="50" charset="-128"/>
              </a:rPr>
              <a:t>／ </a:t>
            </a:r>
            <a:r>
              <a:rPr kumimoji="1" lang="en-US" altLang="ja-JP" sz="900">
                <a:solidFill>
                  <a:srgbClr val="6B7688"/>
                </a:solidFill>
                <a:latin typeface="Yu Gothic UI" panose="020B0500000000000000" pitchFamily="50" charset="-128"/>
                <a:ea typeface="Yu Gothic UI" panose="020B0500000000000000" pitchFamily="50" charset="-128"/>
              </a:rPr>
              <a:t>C# </a:t>
            </a:r>
            <a:r>
              <a:rPr kumimoji="1" lang="ja-JP" altLang="en-US" sz="900">
                <a:solidFill>
                  <a:srgbClr val="6B7688"/>
                </a:solidFill>
                <a:latin typeface="Yu Gothic UI" panose="020B0500000000000000" pitchFamily="50" charset="-128"/>
                <a:ea typeface="Yu Gothic UI" panose="020B0500000000000000" pitchFamily="50" charset="-128"/>
              </a:rPr>
              <a:t>／ </a:t>
            </a:r>
            <a:r>
              <a:rPr kumimoji="1" lang="en-US" altLang="ja-JP" sz="900">
                <a:solidFill>
                  <a:srgbClr val="6B7688"/>
                </a:solidFill>
                <a:latin typeface="Yu Gothic UI" panose="020B0500000000000000" pitchFamily="50" charset="-128"/>
                <a:ea typeface="Yu Gothic UI" panose="020B0500000000000000" pitchFamily="50" charset="-128"/>
              </a:rPr>
              <a:t>Unity 6000.0</a:t>
            </a:r>
            <a:r>
              <a:rPr kumimoji="1" lang="ja-JP" altLang="en-US" sz="900">
                <a:solidFill>
                  <a:srgbClr val="6B7688"/>
                </a:solidFill>
                <a:latin typeface="Yu Gothic UI" panose="020B0500000000000000" pitchFamily="50" charset="-128"/>
                <a:ea typeface="Yu Gothic UI" panose="020B0500000000000000" pitchFamily="50" charset="-128"/>
              </a:rPr>
              <a:t>　／　外部ライブラリなし（単一 </a:t>
            </a:r>
            <a:r>
              <a:rPr kumimoji="1" lang="en-US" altLang="ja-JP" sz="900">
                <a:solidFill>
                  <a:srgbClr val="6B7688"/>
                </a:solidFill>
                <a:latin typeface="Yu Gothic UI" panose="020B0500000000000000" pitchFamily="50" charset="-128"/>
                <a:ea typeface="Yu Gothic UI" panose="020B0500000000000000" pitchFamily="50" charset="-128"/>
              </a:rPr>
              <a:t>DLL</a:t>
            </a:r>
            <a:r>
              <a:rPr kumimoji="1" lang="ja-JP" altLang="en-US" sz="900">
                <a:solidFill>
                  <a:srgbClr val="6B7688"/>
                </a:solidFill>
                <a:latin typeface="Yu Gothic UI" panose="020B0500000000000000" pitchFamily="50" charset="-128"/>
                <a:ea typeface="Yu Gothic UI" panose="020B0500000000000000" pitchFamily="50" charset="-128"/>
              </a:rPr>
              <a:t>・</a:t>
            </a:r>
            <a:r>
              <a:rPr kumimoji="1" lang="en-US" altLang="ja-JP" sz="900">
                <a:solidFill>
                  <a:srgbClr val="6B7688"/>
                </a:solidFill>
                <a:latin typeface="Yu Gothic UI" panose="020B0500000000000000" pitchFamily="50" charset="-128"/>
                <a:ea typeface="Yu Gothic UI" panose="020B0500000000000000" pitchFamily="50" charset="-128"/>
              </a:rPr>
              <a:t>GPU </a:t>
            </a:r>
            <a:r>
              <a:rPr kumimoji="1" lang="ja-JP" altLang="en-US" sz="900">
                <a:solidFill>
                  <a:srgbClr val="6B7688"/>
                </a:solidFill>
                <a:latin typeface="Yu Gothic UI" panose="020B0500000000000000" pitchFamily="50" charset="-128"/>
                <a:ea typeface="Yu Gothic UI" panose="020B0500000000000000" pitchFamily="50" charset="-128"/>
              </a:rPr>
              <a:t>不使用）　／　連絡先＿＿＿＿＿＿</a:t>
            </a:r>
          </a:p>
        </p:txBody>
      </p:sp>
    </p:spTree>
    <p:extLst>
      <p:ext uri="{BB962C8B-B14F-4D97-AF65-F5344CB8AC3E}">
        <p14:creationId xmlns:p14="http://schemas.microsoft.com/office/powerpoint/2010/main" val="2820862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四角形: 角を丸くする 20">
            <a:extLst>
              <a:ext uri="{FF2B5EF4-FFF2-40B4-BE49-F238E27FC236}">
                <a16:creationId xmlns:a16="http://schemas.microsoft.com/office/drawing/2014/main" id="{12675F5A-47A9-DD54-49B4-E05DC849AD64}"/>
              </a:ext>
            </a:extLst>
          </p:cNvPr>
          <p:cNvSpPr/>
          <p:nvPr/>
        </p:nvSpPr>
        <p:spPr>
          <a:xfrm>
            <a:off x="4284133" y="5141646"/>
            <a:ext cx="3623734"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257A891C-867D-F05A-5365-527FB617D0B2}"/>
              </a:ext>
            </a:extLst>
          </p:cNvPr>
          <p:cNvSpPr/>
          <p:nvPr/>
        </p:nvSpPr>
        <p:spPr>
          <a:xfrm>
            <a:off x="406400" y="5141646"/>
            <a:ext cx="3623733"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B3CD95EC-FE90-487F-D9AE-00FACC015196}"/>
              </a:ext>
            </a:extLst>
          </p:cNvPr>
          <p:cNvSpPr/>
          <p:nvPr/>
        </p:nvSpPr>
        <p:spPr>
          <a:xfrm>
            <a:off x="406400" y="3739127"/>
            <a:ext cx="3623733"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B5750E94-720B-7124-D5A6-CE357FCD13F8}"/>
              </a:ext>
            </a:extLst>
          </p:cNvPr>
          <p:cNvSpPr/>
          <p:nvPr/>
        </p:nvSpPr>
        <p:spPr>
          <a:xfrm>
            <a:off x="406400" y="906195"/>
            <a:ext cx="11379200" cy="49558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B4111066-3B4A-9AE4-EB71-88E6A0A96EF8}"/>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CONCEPT</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1F0C4798-4267-513F-B4BD-0D6C7855E9CF}"/>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コンセプト</a:t>
            </a:r>
          </a:p>
        </p:txBody>
      </p:sp>
      <p:sp>
        <p:nvSpPr>
          <p:cNvPr id="4" name="テキスト ボックス 3">
            <a:extLst>
              <a:ext uri="{FF2B5EF4-FFF2-40B4-BE49-F238E27FC236}">
                <a16:creationId xmlns:a16="http://schemas.microsoft.com/office/drawing/2014/main" id="{64B8A195-FA53-318D-1AF3-FD302C0A6CBE}"/>
              </a:ext>
            </a:extLst>
          </p:cNvPr>
          <p:cNvSpPr txBox="1"/>
          <p:nvPr/>
        </p:nvSpPr>
        <p:spPr>
          <a:xfrm>
            <a:off x="508000" y="1007795"/>
            <a:ext cx="11176000" cy="292388"/>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周辺環境の変化を、音によって伝える。</a:t>
            </a:r>
          </a:p>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扉がどれだけ開いているか、部屋に入る瞬間、柱の陰に回り込んだこと ── それが音で分かるエンジンです。</a:t>
            </a:r>
          </a:p>
        </p:txBody>
      </p:sp>
      <p:sp>
        <p:nvSpPr>
          <p:cNvPr id="6" name="テキスト ボックス 5">
            <a:extLst>
              <a:ext uri="{FF2B5EF4-FFF2-40B4-BE49-F238E27FC236}">
                <a16:creationId xmlns:a16="http://schemas.microsoft.com/office/drawing/2014/main" id="{6D87FF8E-94B8-8770-7B6F-F81B683D99FB}"/>
              </a:ext>
            </a:extLst>
          </p:cNvPr>
          <p:cNvSpPr txBox="1"/>
          <p:nvPr/>
        </p:nvSpPr>
        <p:spPr>
          <a:xfrm>
            <a:off x="406400" y="1630383"/>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体験の中心にあるループ</a:t>
            </a:r>
          </a:p>
        </p:txBody>
      </p:sp>
      <p:sp>
        <p:nvSpPr>
          <p:cNvPr id="7" name="テキスト ボックス 6">
            <a:extLst>
              <a:ext uri="{FF2B5EF4-FFF2-40B4-BE49-F238E27FC236}">
                <a16:creationId xmlns:a16="http://schemas.microsoft.com/office/drawing/2014/main" id="{CE83ABDA-FABC-BE00-0507-655D652FCCBC}"/>
              </a:ext>
            </a:extLst>
          </p:cNvPr>
          <p:cNvSpPr txBox="1"/>
          <p:nvPr/>
        </p:nvSpPr>
        <p:spPr>
          <a:xfrm>
            <a:off x="406400" y="1894716"/>
            <a:ext cx="36237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扉は誰でも知っていて、基本的に閉まっていて、奥は見えない。けれど音は漏れる。だから人は閉じた扉の前で一度その奥を想像し、開けた瞬間に答え合わせが起きます。</a:t>
            </a:r>
          </a:p>
        </p:txBody>
      </p:sp>
      <p:sp>
        <p:nvSpPr>
          <p:cNvPr id="8" name="テキスト ボックス 7">
            <a:extLst>
              <a:ext uri="{FF2B5EF4-FFF2-40B4-BE49-F238E27FC236}">
                <a16:creationId xmlns:a16="http://schemas.microsoft.com/office/drawing/2014/main" id="{8DC26F37-7B4A-68B4-48F3-31567E63D4FB}"/>
              </a:ext>
            </a:extLst>
          </p:cNvPr>
          <p:cNvSpPr txBox="1"/>
          <p:nvPr/>
        </p:nvSpPr>
        <p:spPr>
          <a:xfrm>
            <a:off x="406400" y="2387569"/>
            <a:ext cx="3623733" cy="1249958"/>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閉じた扉</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かすかに漏れる音</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奥を想像する</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開ける</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答え合わせ</a:t>
            </a:r>
          </a:p>
        </p:txBody>
      </p:sp>
      <p:sp>
        <p:nvSpPr>
          <p:cNvPr id="9" name="テキスト ボックス 8">
            <a:extLst>
              <a:ext uri="{FF2B5EF4-FFF2-40B4-BE49-F238E27FC236}">
                <a16:creationId xmlns:a16="http://schemas.microsoft.com/office/drawing/2014/main" id="{149AF25A-776A-EE6C-2EFC-0E646A613774}"/>
              </a:ext>
            </a:extLst>
          </p:cNvPr>
          <p:cNvSpPr txBox="1"/>
          <p:nvPr/>
        </p:nvSpPr>
        <p:spPr>
          <a:xfrm>
            <a:off x="508000" y="3840727"/>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「かすかに漏れる」と「開けると広がる」を演出で作ってはいけない。 そうすると聴いているのは物理ではなく作り手が用意した反応になり、想像との答え合わせが成立しません。ここが技術要件の出どころです。</a:t>
            </a:r>
          </a:p>
        </p:txBody>
      </p:sp>
      <p:sp>
        <p:nvSpPr>
          <p:cNvPr id="11" name="テキスト ボックス 10">
            <a:extLst>
              <a:ext uri="{FF2B5EF4-FFF2-40B4-BE49-F238E27FC236}">
                <a16:creationId xmlns:a16="http://schemas.microsoft.com/office/drawing/2014/main" id="{A3D1E69C-BBD2-A173-AC68-C3CF7B2B9FFE}"/>
              </a:ext>
            </a:extLst>
          </p:cNvPr>
          <p:cNvSpPr txBox="1"/>
          <p:nvPr/>
        </p:nvSpPr>
        <p:spPr>
          <a:xfrm>
            <a:off x="406400" y="4524080"/>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このループから決まった、要る性質</a:t>
            </a:r>
          </a:p>
        </p:txBody>
      </p:sp>
      <p:graphicFrame>
        <p:nvGraphicFramePr>
          <p:cNvPr id="13" name="表 12">
            <a:extLst>
              <a:ext uri="{FF2B5EF4-FFF2-40B4-BE49-F238E27FC236}">
                <a16:creationId xmlns:a16="http://schemas.microsoft.com/office/drawing/2014/main" id="{04317331-8F2E-611B-7F17-EC32A8FF5CC6}"/>
              </a:ext>
            </a:extLst>
          </p:cNvPr>
          <p:cNvGraphicFramePr>
            <a:graphicFrameLocks noGrp="1"/>
          </p:cNvGraphicFramePr>
          <p:nvPr>
            <p:extLst>
              <p:ext uri="{D42A27DB-BD31-4B8C-83A1-F6EECF244321}">
                <p14:modId xmlns:p14="http://schemas.microsoft.com/office/powerpoint/2010/main" val="1493630473"/>
              </p:ext>
            </p:extLst>
          </p:nvPr>
        </p:nvGraphicFramePr>
        <p:xfrm>
          <a:off x="4284134" y="1579583"/>
          <a:ext cx="3623733" cy="914400"/>
        </p:xfrm>
        <a:graphic>
          <a:graphicData uri="http://schemas.openxmlformats.org/drawingml/2006/table">
            <a:tbl>
              <a:tblPr firstRow="1" bandRow="1">
                <a:tableStyleId>{5C22544A-7EE6-4342-B048-85BDC9FD1C3A}</a:tableStyleId>
              </a:tblPr>
              <a:tblGrid>
                <a:gridCol w="1811867">
                  <a:extLst>
                    <a:ext uri="{9D8B030D-6E8A-4147-A177-3AD203B41FA5}">
                      <a16:colId xmlns:a16="http://schemas.microsoft.com/office/drawing/2014/main" val="2064149170"/>
                    </a:ext>
                  </a:extLst>
                </a:gridCol>
                <a:gridCol w="1811867">
                  <a:extLst>
                    <a:ext uri="{9D8B030D-6E8A-4147-A177-3AD203B41FA5}">
                      <a16:colId xmlns:a16="http://schemas.microsoft.com/office/drawing/2014/main" val="2437525543"/>
                    </a:ext>
                  </a:extLst>
                </a:gridCol>
              </a:tblGrid>
              <a:tr h="0">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性質</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理由</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1596179629"/>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連続であること</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段差があると「開いた／閉じた」の </a:t>
                      </a:r>
                      <a:r>
                        <a:rPr kumimoji="1" lang="en-US" altLang="ja-JP" sz="850" b="0">
                          <a:solidFill>
                            <a:srgbClr val="1A2233"/>
                          </a:solidFill>
                          <a:latin typeface="Yu Gothic UI" panose="020B0500000000000000" pitchFamily="50" charset="-128"/>
                          <a:ea typeface="Yu Gothic UI" panose="020B0500000000000000" pitchFamily="50" charset="-128"/>
                        </a:rPr>
                        <a:t>2 </a:t>
                      </a:r>
                      <a:r>
                        <a:rPr kumimoji="1" lang="ja-JP" altLang="en-US" sz="850" b="0">
                          <a:solidFill>
                            <a:srgbClr val="1A2233"/>
                          </a:solidFill>
                          <a:latin typeface="Yu Gothic UI" panose="020B0500000000000000" pitchFamily="50" charset="-128"/>
                          <a:ea typeface="Yu Gothic UI" panose="020B0500000000000000" pitchFamily="50" charset="-128"/>
                        </a:rPr>
                        <a:t>値にしか聞こえず、どのくらいという情報が消える</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515140080"/>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音色が動くこと</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音量だけでは「近い／遠い」と区別できない。隙間の幅が帯域に出る必要がある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571237937"/>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扉が音の量も響きも変えること</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扉の角度は連続量で、事前に列挙できない。しかも扉は残響の減衰そのものを変えます（連成／</a:t>
                      </a:r>
                      <a:r>
                        <a:rPr kumimoji="1" lang="en-US" altLang="ja-JP" sz="850" b="0">
                          <a:solidFill>
                            <a:srgbClr val="1A2233"/>
                          </a:solidFill>
                          <a:latin typeface="Yu Gothic UI" panose="020B0500000000000000" pitchFamily="50" charset="-128"/>
                          <a:ea typeface="Yu Gothic UI" panose="020B0500000000000000" pitchFamily="50" charset="-128"/>
                        </a:rPr>
                        <a:t>p3</a:t>
                      </a:r>
                      <a:r>
                        <a:rPr kumimoji="1" lang="ja-JP" altLang="en-US" sz="850" b="0">
                          <a:solidFill>
                            <a:srgbClr val="1A2233"/>
                          </a:solidFill>
                          <a:latin typeface="Yu Gothic UI" panose="020B0500000000000000" pitchFamily="50" charset="-128"/>
                          <a:ea typeface="Yu Gothic UI" panose="020B0500000000000000" pitchFamily="50" charset="-128"/>
                        </a:rPr>
                        <a:t>）。だから音のエネルギーは焼けない</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678779525"/>
                  </a:ext>
                </a:extLst>
              </a:tr>
            </a:tbl>
          </a:graphicData>
        </a:graphic>
      </p:graphicFrame>
      <p:sp>
        <p:nvSpPr>
          <p:cNvPr id="14" name="テキスト ボックス 13">
            <a:extLst>
              <a:ext uri="{FF2B5EF4-FFF2-40B4-BE49-F238E27FC236}">
                <a16:creationId xmlns:a16="http://schemas.microsoft.com/office/drawing/2014/main" id="{26E700A9-B97A-F6D2-A52C-22C063FC1E01}"/>
              </a:ext>
            </a:extLst>
          </p:cNvPr>
          <p:cNvSpPr txBox="1"/>
          <p:nvPr/>
        </p:nvSpPr>
        <p:spPr>
          <a:xfrm>
            <a:off x="4284133" y="3347423"/>
            <a:ext cx="3623733" cy="233910"/>
          </a:xfrm>
          <a:prstGeom prst="rect">
            <a:avLst/>
          </a:prstGeom>
          <a:noFill/>
        </p:spPr>
        <p:txBody>
          <a:bodyPr vert="horz" wrap="square" lIns="0" tIns="0" rIns="0" bIns="0" rtlCol="0">
            <a:spAutoFit/>
          </a:bodyPr>
          <a:lstStyle/>
          <a:p>
            <a:pPr>
              <a:lnSpc>
                <a:spcPct val="95000"/>
              </a:lnSpc>
            </a:pPr>
            <a:r>
              <a:rPr kumimoji="1" lang="ja-JP" altLang="en-US" sz="800">
                <a:solidFill>
                  <a:srgbClr val="6B7688"/>
                </a:solidFill>
                <a:latin typeface="Yu Gothic UI" panose="020B0500000000000000" pitchFamily="50" charset="-128"/>
                <a:ea typeface="Yu Gothic UI" panose="020B0500000000000000" pitchFamily="50" charset="-128"/>
              </a:rPr>
              <a:t>逆に、個々の音響現象を物理的に厳密に解くことは目的にしていません。数 </a:t>
            </a:r>
            <a:r>
              <a:rPr kumimoji="1" lang="en-US" altLang="ja-JP" sz="800">
                <a:solidFill>
                  <a:srgbClr val="6B7688"/>
                </a:solidFill>
                <a:latin typeface="Yu Gothic UI" panose="020B0500000000000000" pitchFamily="50" charset="-128"/>
                <a:ea typeface="Yu Gothic UI" panose="020B0500000000000000" pitchFamily="50" charset="-128"/>
              </a:rPr>
              <a:t>dB </a:t>
            </a:r>
            <a:r>
              <a:rPr kumimoji="1" lang="ja-JP" altLang="en-US" sz="800">
                <a:solidFill>
                  <a:srgbClr val="6B7688"/>
                </a:solidFill>
                <a:latin typeface="Yu Gothic UI" panose="020B0500000000000000" pitchFamily="50" charset="-128"/>
                <a:ea typeface="Yu Gothic UI" panose="020B0500000000000000" pitchFamily="50" charset="-128"/>
              </a:rPr>
              <a:t>の誤差は気づかれませんが、不連続は「間違い」として即座に聞こえます。</a:t>
            </a:r>
          </a:p>
        </p:txBody>
      </p:sp>
      <p:sp>
        <p:nvSpPr>
          <p:cNvPr id="15" name="テキスト ボックス 14">
            <a:extLst>
              <a:ext uri="{FF2B5EF4-FFF2-40B4-BE49-F238E27FC236}">
                <a16:creationId xmlns:a16="http://schemas.microsoft.com/office/drawing/2014/main" id="{E716B867-37C8-0740-E9AE-E487F0CB7EF8}"/>
              </a:ext>
            </a:extLst>
          </p:cNvPr>
          <p:cNvSpPr txBox="1"/>
          <p:nvPr/>
        </p:nvSpPr>
        <p:spPr>
          <a:xfrm>
            <a:off x="406400" y="4851913"/>
            <a:ext cx="11379200"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コンセプトを支えている </a:t>
            </a:r>
            <a:r>
              <a:rPr kumimoji="1" lang="en-US" altLang="ja-JP" sz="1200" b="1">
                <a:solidFill>
                  <a:srgbClr val="21295C"/>
                </a:solidFill>
                <a:latin typeface="Yu Gothic UI" panose="020B0500000000000000" pitchFamily="50" charset="-128"/>
                <a:ea typeface="Yu Gothic UI" panose="020B0500000000000000" pitchFamily="50" charset="-128"/>
              </a:rPr>
              <a:t>2 </a:t>
            </a:r>
            <a:r>
              <a:rPr kumimoji="1" lang="ja-JP" altLang="en-US" sz="1200" b="1">
                <a:solidFill>
                  <a:srgbClr val="21295C"/>
                </a:solidFill>
                <a:latin typeface="Yu Gothic UI" panose="020B0500000000000000" pitchFamily="50" charset="-128"/>
                <a:ea typeface="Yu Gothic UI" panose="020B0500000000000000" pitchFamily="50" charset="-128"/>
              </a:rPr>
              <a:t>本の柱</a:t>
            </a:r>
          </a:p>
        </p:txBody>
      </p:sp>
      <p:sp>
        <p:nvSpPr>
          <p:cNvPr id="16" name="テキスト ボックス 15">
            <a:extLst>
              <a:ext uri="{FF2B5EF4-FFF2-40B4-BE49-F238E27FC236}">
                <a16:creationId xmlns:a16="http://schemas.microsoft.com/office/drawing/2014/main" id="{1E170D61-B256-2F96-5C6C-82CAB904BA3A}"/>
              </a:ext>
            </a:extLst>
          </p:cNvPr>
          <p:cNvSpPr txBox="1"/>
          <p:nvPr/>
        </p:nvSpPr>
        <p:spPr>
          <a:xfrm>
            <a:off x="508000" y="5243246"/>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① 開口の向きと開き具合で、音の入り方が決まる（</a:t>
            </a:r>
            <a:r>
              <a:rPr kumimoji="1" lang="en-US" altLang="ja-JP" sz="950">
                <a:solidFill>
                  <a:srgbClr val="1A2233"/>
                </a:solidFill>
                <a:latin typeface="Yu Gothic UI" panose="020B0500000000000000" pitchFamily="50" charset="-128"/>
                <a:ea typeface="Yu Gothic UI" panose="020B0500000000000000" pitchFamily="50" charset="-128"/>
              </a:rPr>
              <a:t>p5–p6</a:t>
            </a: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開口が向いた方向から順に入ってくる。入る前はこもり、入りきると素通しになる。</a:t>
            </a:r>
          </a:p>
        </p:txBody>
      </p:sp>
      <p:sp>
        <p:nvSpPr>
          <p:cNvPr id="20" name="テキスト ボックス 19">
            <a:extLst>
              <a:ext uri="{FF2B5EF4-FFF2-40B4-BE49-F238E27FC236}">
                <a16:creationId xmlns:a16="http://schemas.microsoft.com/office/drawing/2014/main" id="{D21A549A-1F71-7ECF-73F6-918A5CD65FC9}"/>
              </a:ext>
            </a:extLst>
          </p:cNvPr>
          <p:cNvSpPr txBox="1"/>
          <p:nvPr/>
        </p:nvSpPr>
        <p:spPr>
          <a:xfrm>
            <a:off x="4385733" y="5243246"/>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② 周辺空間から残響を作る（</a:t>
            </a:r>
            <a:r>
              <a:rPr kumimoji="1" lang="en-US" altLang="ja-JP" sz="950">
                <a:solidFill>
                  <a:srgbClr val="1A2233"/>
                </a:solidFill>
                <a:latin typeface="Yu Gothic UI" panose="020B0500000000000000" pitchFamily="50" charset="-128"/>
                <a:ea typeface="Yu Gothic UI" panose="020B0500000000000000" pitchFamily="50" charset="-128"/>
              </a:rPr>
              <a:t>p7–p8</a:t>
            </a: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まわりの形と材質から部屋を見つけ、その場所の響きを実行時に組み立てる。</a:t>
            </a:r>
          </a:p>
        </p:txBody>
      </p:sp>
    </p:spTree>
    <p:extLst>
      <p:ext uri="{BB962C8B-B14F-4D97-AF65-F5344CB8AC3E}">
        <p14:creationId xmlns:p14="http://schemas.microsoft.com/office/powerpoint/2010/main" val="2597822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四角形: 角を丸くする 22">
            <a:extLst>
              <a:ext uri="{FF2B5EF4-FFF2-40B4-BE49-F238E27FC236}">
                <a16:creationId xmlns:a16="http://schemas.microsoft.com/office/drawing/2014/main" id="{64F9F51F-14E2-03BB-A9FF-3940B56B129B}"/>
              </a:ext>
            </a:extLst>
          </p:cNvPr>
          <p:cNvSpPr/>
          <p:nvPr/>
        </p:nvSpPr>
        <p:spPr>
          <a:xfrm>
            <a:off x="4284133" y="3085989"/>
            <a:ext cx="3623734"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3647F379-11C7-1307-1A92-C506A8851CFE}"/>
              </a:ext>
            </a:extLst>
          </p:cNvPr>
          <p:cNvSpPr/>
          <p:nvPr/>
        </p:nvSpPr>
        <p:spPr>
          <a:xfrm>
            <a:off x="4284133" y="2339136"/>
            <a:ext cx="3623734"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5B9AD326-A093-F4E5-B1DF-32D0C8B9993B}"/>
              </a:ext>
            </a:extLst>
          </p:cNvPr>
          <p:cNvSpPr/>
          <p:nvPr/>
        </p:nvSpPr>
        <p:spPr>
          <a:xfrm>
            <a:off x="4284133" y="1592283"/>
            <a:ext cx="3623734"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EBD508BC-DE2B-7C51-2B1F-09F7FFDEF4B1}"/>
              </a:ext>
            </a:extLst>
          </p:cNvPr>
          <p:cNvSpPr/>
          <p:nvPr/>
        </p:nvSpPr>
        <p:spPr>
          <a:xfrm>
            <a:off x="406400" y="3619469"/>
            <a:ext cx="3623733" cy="619853"/>
          </a:xfrm>
          <a:prstGeom prst="roundRect">
            <a:avLst>
              <a:gd name="adj" fmla="val 6000"/>
            </a:avLst>
          </a:prstGeom>
          <a:solidFill>
            <a:srgbClr val="FDF1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8CFBF91C-C8E2-1350-2CF5-AC2115615421}"/>
              </a:ext>
            </a:extLst>
          </p:cNvPr>
          <p:cNvSpPr/>
          <p:nvPr/>
        </p:nvSpPr>
        <p:spPr>
          <a:xfrm>
            <a:off x="406400" y="2872616"/>
            <a:ext cx="3623733"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78EE6E1C-421D-21C9-A98F-40BC83FA4EC3}"/>
              </a:ext>
            </a:extLst>
          </p:cNvPr>
          <p:cNvSpPr/>
          <p:nvPr/>
        </p:nvSpPr>
        <p:spPr>
          <a:xfrm>
            <a:off x="406400" y="906195"/>
            <a:ext cx="11379200" cy="49558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16098009-DB2A-7F1E-5EA3-5F05090780DD}"/>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SYSTEM OVERVIEW ── HYBRID</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355C0EF8-6092-DDB4-C29F-4A0AC080CF5B}"/>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仕様・技術 ① ハイブリッド ── 変わるものだけ実行時に解く</a:t>
            </a:r>
          </a:p>
        </p:txBody>
      </p:sp>
      <p:sp>
        <p:nvSpPr>
          <p:cNvPr id="4" name="テキスト ボックス 3">
            <a:extLst>
              <a:ext uri="{FF2B5EF4-FFF2-40B4-BE49-F238E27FC236}">
                <a16:creationId xmlns:a16="http://schemas.microsoft.com/office/drawing/2014/main" id="{B53234FC-B1A8-C5ED-BE04-E23AB989DC07}"/>
              </a:ext>
            </a:extLst>
          </p:cNvPr>
          <p:cNvSpPr txBox="1"/>
          <p:nvPr/>
        </p:nvSpPr>
        <p:spPr>
          <a:xfrm>
            <a:off x="508000" y="1007795"/>
            <a:ext cx="11176000" cy="292388"/>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構造は前もって整え、音のエネルギーは全部その場で解く。</a:t>
            </a:r>
          </a:p>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だから扉を閉めれば部屋が乾き、洞窟に壁を置けば響きが変わる。切り分けの規則は </a:t>
            </a:r>
            <a:r>
              <a:rPr kumimoji="1" lang="en-US" altLang="ja-JP" sz="1000">
                <a:solidFill>
                  <a:srgbClr val="1A2233"/>
                </a:solidFill>
                <a:latin typeface="Yu Gothic UI" panose="020B0500000000000000" pitchFamily="50" charset="-128"/>
                <a:ea typeface="Yu Gothic UI" panose="020B0500000000000000" pitchFamily="50" charset="-128"/>
              </a:rPr>
              <a:t>3 </a:t>
            </a:r>
            <a:r>
              <a:rPr kumimoji="1" lang="ja-JP" altLang="en-US" sz="1000">
                <a:solidFill>
                  <a:srgbClr val="1A2233"/>
                </a:solidFill>
                <a:latin typeface="Yu Gothic UI" panose="020B0500000000000000" pitchFamily="50" charset="-128"/>
                <a:ea typeface="Yu Gothic UI" panose="020B0500000000000000" pitchFamily="50" charset="-128"/>
              </a:rPr>
              <a:t>つ。</a:t>
            </a:r>
          </a:p>
        </p:txBody>
      </p:sp>
      <p:sp>
        <p:nvSpPr>
          <p:cNvPr id="6" name="テキスト ボックス 5">
            <a:extLst>
              <a:ext uri="{FF2B5EF4-FFF2-40B4-BE49-F238E27FC236}">
                <a16:creationId xmlns:a16="http://schemas.microsoft.com/office/drawing/2014/main" id="{A66F15ED-340C-3E13-0401-E3C35A67F91C}"/>
              </a:ext>
            </a:extLst>
          </p:cNvPr>
          <p:cNvSpPr txBox="1"/>
          <p:nvPr/>
        </p:nvSpPr>
        <p:spPr>
          <a:xfrm>
            <a:off x="406400" y="1630383"/>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それぞれが得意なこと</a:t>
            </a:r>
          </a:p>
        </p:txBody>
      </p:sp>
      <p:graphicFrame>
        <p:nvGraphicFramePr>
          <p:cNvPr id="7" name="表 6">
            <a:extLst>
              <a:ext uri="{FF2B5EF4-FFF2-40B4-BE49-F238E27FC236}">
                <a16:creationId xmlns:a16="http://schemas.microsoft.com/office/drawing/2014/main" id="{8FB2809C-CEB0-9977-35DC-918389B69822}"/>
              </a:ext>
            </a:extLst>
          </p:cNvPr>
          <p:cNvGraphicFramePr>
            <a:graphicFrameLocks noGrp="1"/>
          </p:cNvGraphicFramePr>
          <p:nvPr>
            <p:extLst>
              <p:ext uri="{D42A27DB-BD31-4B8C-83A1-F6EECF244321}">
                <p14:modId xmlns:p14="http://schemas.microsoft.com/office/powerpoint/2010/main" val="2827531830"/>
              </p:ext>
            </p:extLst>
          </p:nvPr>
        </p:nvGraphicFramePr>
        <p:xfrm>
          <a:off x="406401" y="1907416"/>
          <a:ext cx="3623733" cy="685800"/>
        </p:xfrm>
        <a:graphic>
          <a:graphicData uri="http://schemas.openxmlformats.org/drawingml/2006/table">
            <a:tbl>
              <a:tblPr firstRow="1" bandRow="1">
                <a:tableStyleId>{5C22544A-7EE6-4342-B048-85BDC9FD1C3A}</a:tableStyleId>
              </a:tblPr>
              <a:tblGrid>
                <a:gridCol w="1207911">
                  <a:extLst>
                    <a:ext uri="{9D8B030D-6E8A-4147-A177-3AD203B41FA5}">
                      <a16:colId xmlns:a16="http://schemas.microsoft.com/office/drawing/2014/main" val="2857708969"/>
                    </a:ext>
                  </a:extLst>
                </a:gridCol>
                <a:gridCol w="1207911">
                  <a:extLst>
                    <a:ext uri="{9D8B030D-6E8A-4147-A177-3AD203B41FA5}">
                      <a16:colId xmlns:a16="http://schemas.microsoft.com/office/drawing/2014/main" val="73671047"/>
                    </a:ext>
                  </a:extLst>
                </a:gridCol>
                <a:gridCol w="1207911">
                  <a:extLst>
                    <a:ext uri="{9D8B030D-6E8A-4147-A177-3AD203B41FA5}">
                      <a16:colId xmlns:a16="http://schemas.microsoft.com/office/drawing/2014/main" val="1518255009"/>
                    </a:ext>
                  </a:extLst>
                </a:gridCol>
              </a:tblGrid>
              <a:tr h="0">
                <a:tc>
                  <a:txBody>
                    <a:bodyPr/>
                    <a:lstStyle/>
                    <a:p>
                      <a:endParaRPr kumimoji="1" lang="ja-JP" altLang="en-US" sz="850" b="1">
                        <a:solidFill>
                          <a:srgbClr val="FFFFFF"/>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実行時に解く</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焼く</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3582065727"/>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得意</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形が変わってもすぐ追従する</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探索を尽くせるので音が良い</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706904480"/>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苦手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時間が無いので探索を打ち切る＝品質が落ちる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形が変わると古くなる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407558694"/>
                  </a:ext>
                </a:extLst>
              </a:tr>
            </a:tbl>
          </a:graphicData>
        </a:graphic>
      </p:graphicFrame>
      <p:sp>
        <p:nvSpPr>
          <p:cNvPr id="8" name="テキスト ボックス 7">
            <a:extLst>
              <a:ext uri="{FF2B5EF4-FFF2-40B4-BE49-F238E27FC236}">
                <a16:creationId xmlns:a16="http://schemas.microsoft.com/office/drawing/2014/main" id="{60D84AA1-41E9-3435-F855-41879B7FA43A}"/>
              </a:ext>
            </a:extLst>
          </p:cNvPr>
          <p:cNvSpPr txBox="1"/>
          <p:nvPr/>
        </p:nvSpPr>
        <p:spPr>
          <a:xfrm>
            <a:off x="508000" y="2974216"/>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ここを取り違えて「こだわる所を実行時に」と切ると、こだわる所ほど品質が落ちます。 判断の軸は品質へのこだわりではなく、その成分が変わるかどうかです。</a:t>
            </a:r>
          </a:p>
        </p:txBody>
      </p:sp>
      <p:sp>
        <p:nvSpPr>
          <p:cNvPr id="10" name="テキスト ボックス 9">
            <a:extLst>
              <a:ext uri="{FF2B5EF4-FFF2-40B4-BE49-F238E27FC236}">
                <a16:creationId xmlns:a16="http://schemas.microsoft.com/office/drawing/2014/main" id="{7583CBD6-33EB-1A0B-F705-D7CBCB1F179B}"/>
              </a:ext>
            </a:extLst>
          </p:cNvPr>
          <p:cNvSpPr txBox="1"/>
          <p:nvPr/>
        </p:nvSpPr>
        <p:spPr>
          <a:xfrm>
            <a:off x="508000" y="3721069"/>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★この判断を一度間違えました。「部屋の形」と「音の通り道」を同じものだと思っていた。部屋の形は動かないが、音が通る道には扉が入ります。測って初めて分かりました（右）。</a:t>
            </a:r>
          </a:p>
        </p:txBody>
      </p:sp>
      <p:sp>
        <p:nvSpPr>
          <p:cNvPr id="12" name="テキスト ボックス 11">
            <a:extLst>
              <a:ext uri="{FF2B5EF4-FFF2-40B4-BE49-F238E27FC236}">
                <a16:creationId xmlns:a16="http://schemas.microsoft.com/office/drawing/2014/main" id="{E4F4F490-E0DF-FB7B-BFCC-74D6F741108B}"/>
              </a:ext>
            </a:extLst>
          </p:cNvPr>
          <p:cNvSpPr txBox="1"/>
          <p:nvPr/>
        </p:nvSpPr>
        <p:spPr>
          <a:xfrm>
            <a:off x="406400" y="4404422"/>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実行時に解き切ろうとすると出る限界（実測）</a:t>
            </a:r>
          </a:p>
        </p:txBody>
      </p:sp>
      <p:graphicFrame>
        <p:nvGraphicFramePr>
          <p:cNvPr id="13" name="表 12">
            <a:extLst>
              <a:ext uri="{FF2B5EF4-FFF2-40B4-BE49-F238E27FC236}">
                <a16:creationId xmlns:a16="http://schemas.microsoft.com/office/drawing/2014/main" id="{5AD89710-4620-45EE-189C-75E3BBC025EC}"/>
              </a:ext>
            </a:extLst>
          </p:cNvPr>
          <p:cNvGraphicFramePr>
            <a:graphicFrameLocks noGrp="1"/>
          </p:cNvGraphicFramePr>
          <p:nvPr>
            <p:extLst>
              <p:ext uri="{D42A27DB-BD31-4B8C-83A1-F6EECF244321}">
                <p14:modId xmlns:p14="http://schemas.microsoft.com/office/powerpoint/2010/main" val="3227206553"/>
              </p:ext>
            </p:extLst>
          </p:nvPr>
        </p:nvGraphicFramePr>
        <p:xfrm>
          <a:off x="406401" y="4681455"/>
          <a:ext cx="3623733" cy="1143000"/>
        </p:xfrm>
        <a:graphic>
          <a:graphicData uri="http://schemas.openxmlformats.org/drawingml/2006/table">
            <a:tbl>
              <a:tblPr firstRow="1" bandRow="1">
                <a:tableStyleId>{5C22544A-7EE6-4342-B048-85BDC9FD1C3A}</a:tableStyleId>
              </a:tblPr>
              <a:tblGrid>
                <a:gridCol w="1811867">
                  <a:extLst>
                    <a:ext uri="{9D8B030D-6E8A-4147-A177-3AD203B41FA5}">
                      <a16:colId xmlns:a16="http://schemas.microsoft.com/office/drawing/2014/main" val="519327821"/>
                    </a:ext>
                  </a:extLst>
                </a:gridCol>
                <a:gridCol w="1811867">
                  <a:extLst>
                    <a:ext uri="{9D8B030D-6E8A-4147-A177-3AD203B41FA5}">
                      <a16:colId xmlns:a16="http://schemas.microsoft.com/office/drawing/2014/main" val="2700117198"/>
                    </a:ext>
                  </a:extLst>
                </a:gridCol>
              </a:tblGrid>
              <a:tr h="0">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症状</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実測</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2298567912"/>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回折候補が死角で点滅する</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51 </a:t>
                      </a:r>
                      <a:r>
                        <a:rPr kumimoji="1" lang="ja-JP" altLang="en-US" sz="850" b="0">
                          <a:solidFill>
                            <a:srgbClr val="1A2233"/>
                          </a:solidFill>
                          <a:latin typeface="Yu Gothic UI" panose="020B0500000000000000" pitchFamily="50" charset="-128"/>
                          <a:ea typeface="Yu Gothic UI" panose="020B0500000000000000" pitchFamily="50" charset="-128"/>
                        </a:rPr>
                        <a:t>点中 </a:t>
                      </a:r>
                      <a:r>
                        <a:rPr kumimoji="1" lang="en-US" altLang="ja-JP" sz="850" b="0">
                          <a:solidFill>
                            <a:srgbClr val="1A2233"/>
                          </a:solidFill>
                          <a:latin typeface="Yu Gothic UI" panose="020B0500000000000000" pitchFamily="50" charset="-128"/>
                          <a:ea typeface="Yu Gothic UI" panose="020B0500000000000000" pitchFamily="50" charset="-128"/>
                        </a:rPr>
                        <a:t>22 </a:t>
                      </a:r>
                      <a:r>
                        <a:rPr kumimoji="1" lang="ja-JP" altLang="en-US" sz="850" b="0">
                          <a:solidFill>
                            <a:srgbClr val="1A2233"/>
                          </a:solidFill>
                          <a:latin typeface="Yu Gothic UI" panose="020B0500000000000000" pitchFamily="50" charset="-128"/>
                          <a:ea typeface="Yu Gothic UI" panose="020B0500000000000000" pitchFamily="50" charset="-128"/>
                        </a:rPr>
                        <a:t>点・切替 </a:t>
                      </a:r>
                      <a:r>
                        <a:rPr kumimoji="1" lang="en-US" altLang="ja-JP" sz="850" b="0">
                          <a:solidFill>
                            <a:srgbClr val="1A2233"/>
                          </a:solidFill>
                          <a:latin typeface="Yu Gothic UI" panose="020B0500000000000000" pitchFamily="50" charset="-128"/>
                          <a:ea typeface="Yu Gothic UI" panose="020B0500000000000000" pitchFamily="50" charset="-128"/>
                        </a:rPr>
                        <a:t>11 </a:t>
                      </a:r>
                      <a:r>
                        <a:rPr kumimoji="1" lang="ja-JP" altLang="en-US" sz="850" b="0">
                          <a:solidFill>
                            <a:srgbClr val="1A2233"/>
                          </a:solidFill>
                          <a:latin typeface="Yu Gothic UI" panose="020B0500000000000000" pitchFamily="50" charset="-128"/>
                          <a:ea typeface="Yu Gothic UI" panose="020B0500000000000000" pitchFamily="50" charset="-128"/>
                        </a:rPr>
                        <a:t>回</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1251251347"/>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経路探索の空振り</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5 </a:t>
                      </a:r>
                      <a:r>
                        <a:rPr kumimoji="1" lang="ja-JP" altLang="en-US" sz="850" b="0">
                          <a:solidFill>
                            <a:srgbClr val="1A2233"/>
                          </a:solidFill>
                          <a:latin typeface="Yu Gothic UI" panose="020B0500000000000000" pitchFamily="50" charset="-128"/>
                          <a:ea typeface="Yu Gothic UI" panose="020B0500000000000000" pitchFamily="50" charset="-128"/>
                        </a:rPr>
                        <a:t>箇所で像が壁を抜ける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1106177292"/>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深い影で開口積分が </a:t>
                      </a:r>
                      <a:r>
                        <a:rPr kumimoji="1" lang="en-US" altLang="ja-JP" sz="850" b="0">
                          <a:solidFill>
                            <a:srgbClr val="1A2233"/>
                          </a:solidFill>
                          <a:latin typeface="Yu Gothic UI" panose="020B0500000000000000" pitchFamily="50" charset="-128"/>
                          <a:ea typeface="Yu Gothic UI" panose="020B0500000000000000" pitchFamily="50" charset="-128"/>
                        </a:rPr>
                        <a:t>0 </a:t>
                      </a:r>
                      <a:r>
                        <a:rPr kumimoji="1" lang="ja-JP" altLang="en-US" sz="850" b="0">
                          <a:solidFill>
                            <a:srgbClr val="1A2233"/>
                          </a:solidFill>
                          <a:latin typeface="Yu Gothic UI" panose="020B0500000000000000" pitchFamily="50" charset="-128"/>
                          <a:ea typeface="Yu Gothic UI" panose="020B0500000000000000" pitchFamily="50" charset="-128"/>
                        </a:rPr>
                        <a:t>になる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前川なら −</a:t>
                      </a:r>
                      <a:r>
                        <a:rPr kumimoji="1" lang="en-US" altLang="ja-JP" sz="850" b="0">
                          <a:solidFill>
                            <a:srgbClr val="1A2233"/>
                          </a:solidFill>
                          <a:latin typeface="Yu Gothic UI" panose="020B0500000000000000" pitchFamily="50" charset="-128"/>
                          <a:ea typeface="Yu Gothic UI" panose="020B0500000000000000" pitchFamily="50" charset="-128"/>
                        </a:rPr>
                        <a:t>21 dB </a:t>
                      </a:r>
                      <a:r>
                        <a:rPr kumimoji="1" lang="ja-JP" altLang="en-US" sz="850" b="0">
                          <a:solidFill>
                            <a:srgbClr val="1A2233"/>
                          </a:solidFill>
                          <a:latin typeface="Yu Gothic UI" panose="020B0500000000000000" pitchFamily="50" charset="-128"/>
                          <a:ea typeface="Yu Gothic UI" panose="020B0500000000000000" pitchFamily="50" charset="-128"/>
                        </a:rPr>
                        <a:t>の所が無音</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4135881370"/>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音源あたりの費用（遮蔽時）</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6.0 ms/</a:t>
                      </a:r>
                      <a:r>
                        <a:rPr kumimoji="1" lang="ja-JP" altLang="en-US" sz="850" b="0">
                          <a:solidFill>
                            <a:srgbClr val="1A2233"/>
                          </a:solidFill>
                          <a:latin typeface="Yu Gothic UI" panose="020B0500000000000000" pitchFamily="50" charset="-128"/>
                          <a:ea typeface="Yu Gothic UI" panose="020B0500000000000000" pitchFamily="50" charset="-128"/>
                        </a:rPr>
                        <a:t>本 </a:t>
                      </a:r>
                      <a:r>
                        <a:rPr kumimoji="1" lang="en-US" altLang="ja-JP" sz="850" b="0">
                          <a:solidFill>
                            <a:srgbClr val="1A2233"/>
                          </a:solidFill>
                          <a:latin typeface="Yu Gothic UI" panose="020B0500000000000000" pitchFamily="50" charset="-128"/>
                          <a:ea typeface="Yu Gothic UI" panose="020B0500000000000000" pitchFamily="50" charset="-128"/>
                        </a:rPr>
                        <a:t>※Unity </a:t>
                      </a:r>
                      <a:r>
                        <a:rPr kumimoji="1" lang="ja-JP" altLang="en-US" sz="850" b="0">
                          <a:solidFill>
                            <a:srgbClr val="1A2233"/>
                          </a:solidFill>
                          <a:latin typeface="Yu Gothic UI" panose="020B0500000000000000" pitchFamily="50" charset="-128"/>
                          <a:ea typeface="Yu Gothic UI" panose="020B0500000000000000" pitchFamily="50" charset="-128"/>
                        </a:rPr>
                        <a:t>実機・共有前</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406218434"/>
                  </a:ext>
                </a:extLst>
              </a:tr>
            </a:tbl>
          </a:graphicData>
        </a:graphic>
      </p:graphicFrame>
      <p:sp>
        <p:nvSpPr>
          <p:cNvPr id="14" name="テキスト ボックス 13">
            <a:extLst>
              <a:ext uri="{FF2B5EF4-FFF2-40B4-BE49-F238E27FC236}">
                <a16:creationId xmlns:a16="http://schemas.microsoft.com/office/drawing/2014/main" id="{BFFA7B3F-BF0B-D9A1-6F3F-DBC371E2842D}"/>
              </a:ext>
            </a:extLst>
          </p:cNvPr>
          <p:cNvSpPr txBox="1"/>
          <p:nvPr/>
        </p:nvSpPr>
        <p:spPr>
          <a:xfrm>
            <a:off x="406400" y="5722855"/>
            <a:ext cx="3623733" cy="233910"/>
          </a:xfrm>
          <a:prstGeom prst="rect">
            <a:avLst/>
          </a:prstGeom>
          <a:noFill/>
        </p:spPr>
        <p:txBody>
          <a:bodyPr vert="horz" wrap="square" lIns="0" tIns="0" rIns="0" bIns="0" rtlCol="0">
            <a:spAutoFit/>
          </a:bodyPr>
          <a:lstStyle/>
          <a:p>
            <a:pPr>
              <a:lnSpc>
                <a:spcPct val="95000"/>
              </a:lnSpc>
            </a:pPr>
            <a:r>
              <a:rPr kumimoji="1" lang="ja-JP" altLang="en-US" sz="800">
                <a:solidFill>
                  <a:srgbClr val="6B7688"/>
                </a:solidFill>
                <a:latin typeface="Yu Gothic UI" panose="020B0500000000000000" pitchFamily="50" charset="-128"/>
                <a:ea typeface="Yu Gothic UI" panose="020B0500000000000000" pitchFamily="50" charset="-128"/>
              </a:rPr>
              <a:t>どれも「その場で探索している」ことから来ています。動かない形は、時間をかけて解いたほうが良い音になります。</a:t>
            </a:r>
          </a:p>
        </p:txBody>
      </p:sp>
      <p:sp>
        <p:nvSpPr>
          <p:cNvPr id="15" name="テキスト ボックス 14">
            <a:extLst>
              <a:ext uri="{FF2B5EF4-FFF2-40B4-BE49-F238E27FC236}">
                <a16:creationId xmlns:a16="http://schemas.microsoft.com/office/drawing/2014/main" id="{FA1CDD3B-1651-91FB-A5C3-5B9EAD658015}"/>
              </a:ext>
            </a:extLst>
          </p:cNvPr>
          <p:cNvSpPr txBox="1"/>
          <p:nvPr/>
        </p:nvSpPr>
        <p:spPr>
          <a:xfrm>
            <a:off x="406400" y="6096465"/>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切り分けの規則（</a:t>
            </a:r>
            <a:r>
              <a:rPr kumimoji="1" lang="en-US" altLang="ja-JP" sz="1200" b="1">
                <a:solidFill>
                  <a:srgbClr val="21295C"/>
                </a:solidFill>
                <a:latin typeface="Yu Gothic UI" panose="020B0500000000000000" pitchFamily="50" charset="-128"/>
                <a:ea typeface="Yu Gothic UI" panose="020B0500000000000000" pitchFamily="50" charset="-128"/>
              </a:rPr>
              <a:t>2 </a:t>
            </a:r>
            <a:r>
              <a:rPr kumimoji="1" lang="ja-JP" altLang="en-US" sz="1200" b="1">
                <a:solidFill>
                  <a:srgbClr val="21295C"/>
                </a:solidFill>
                <a:latin typeface="Yu Gothic UI" panose="020B0500000000000000" pitchFamily="50" charset="-128"/>
                <a:ea typeface="Yu Gothic UI" panose="020B0500000000000000" pitchFamily="50" charset="-128"/>
              </a:rPr>
              <a:t>つとも守る）</a:t>
            </a:r>
          </a:p>
        </p:txBody>
      </p:sp>
      <p:sp>
        <p:nvSpPr>
          <p:cNvPr id="18" name="テキスト ボックス 17">
            <a:extLst>
              <a:ext uri="{FF2B5EF4-FFF2-40B4-BE49-F238E27FC236}">
                <a16:creationId xmlns:a16="http://schemas.microsoft.com/office/drawing/2014/main" id="{C3EA01D0-82B6-E1C4-918C-47D0FAE366D6}"/>
              </a:ext>
            </a:extLst>
          </p:cNvPr>
          <p:cNvSpPr txBox="1"/>
          <p:nvPr/>
        </p:nvSpPr>
        <p:spPr>
          <a:xfrm>
            <a:off x="4385733" y="1693883"/>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① 「変わるか」で切る。こだわりの度合いでは切らない。</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変わる → 実行時（追従のため／品質は妥協する）　変わらない → 焼く（品質のため）</a:t>
            </a:r>
          </a:p>
        </p:txBody>
      </p:sp>
      <p:sp>
        <p:nvSpPr>
          <p:cNvPr id="20" name="テキスト ボックス 19">
            <a:extLst>
              <a:ext uri="{FF2B5EF4-FFF2-40B4-BE49-F238E27FC236}">
                <a16:creationId xmlns:a16="http://schemas.microsoft.com/office/drawing/2014/main" id="{D403F725-D08F-541B-C27B-73B81B49D6EF}"/>
              </a:ext>
            </a:extLst>
          </p:cNvPr>
          <p:cNvSpPr txBox="1"/>
          <p:nvPr/>
        </p:nvSpPr>
        <p:spPr>
          <a:xfrm>
            <a:off x="4385733" y="2440736"/>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② 混ぜ方は「成分で」。距離や領域では切らない。</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近い／遠いで切ると境目で答えが入れ替わって崖になる ── 第一制約（</a:t>
            </a:r>
            <a:r>
              <a:rPr kumimoji="1" lang="en-US" altLang="ja-JP" sz="950">
                <a:solidFill>
                  <a:srgbClr val="1A2233"/>
                </a:solidFill>
                <a:latin typeface="Yu Gothic UI" panose="020B0500000000000000" pitchFamily="50" charset="-128"/>
                <a:ea typeface="Yu Gothic UI" panose="020B0500000000000000" pitchFamily="50" charset="-128"/>
              </a:rPr>
              <a:t>p16</a:t>
            </a:r>
            <a:r>
              <a:rPr kumimoji="1" lang="ja-JP" altLang="en-US" sz="950">
                <a:solidFill>
                  <a:srgbClr val="1A2233"/>
                </a:solidFill>
                <a:latin typeface="Yu Gothic UI" panose="020B0500000000000000" pitchFamily="50" charset="-128"/>
                <a:ea typeface="Yu Gothic UI" panose="020B0500000000000000" pitchFamily="50" charset="-128"/>
              </a:rPr>
              <a:t>）に反する</a:t>
            </a:r>
          </a:p>
        </p:txBody>
      </p:sp>
      <p:sp>
        <p:nvSpPr>
          <p:cNvPr id="22" name="テキスト ボックス 21">
            <a:extLst>
              <a:ext uri="{FF2B5EF4-FFF2-40B4-BE49-F238E27FC236}">
                <a16:creationId xmlns:a16="http://schemas.microsoft.com/office/drawing/2014/main" id="{FE4C73D1-2E83-D0D0-61CE-3BC2AEF99CDB}"/>
              </a:ext>
            </a:extLst>
          </p:cNvPr>
          <p:cNvSpPr txBox="1"/>
          <p:nvPr/>
        </p:nvSpPr>
        <p:spPr>
          <a:xfrm>
            <a:off x="4385733" y="3187589"/>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③ 焼けるのは「構造」だけ。「エネルギー」は焼けない。</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動く物が通り道に入る量は焼けない ── 実測で「尾も焼けない」と分かった（下）</a:t>
            </a:r>
          </a:p>
        </p:txBody>
      </p:sp>
      <p:graphicFrame>
        <p:nvGraphicFramePr>
          <p:cNvPr id="24" name="表 23">
            <a:extLst>
              <a:ext uri="{FF2B5EF4-FFF2-40B4-BE49-F238E27FC236}">
                <a16:creationId xmlns:a16="http://schemas.microsoft.com/office/drawing/2014/main" id="{93E1B8C8-1979-968B-6E7E-4862D6C9EA6C}"/>
              </a:ext>
            </a:extLst>
          </p:cNvPr>
          <p:cNvGraphicFramePr>
            <a:graphicFrameLocks noGrp="1"/>
          </p:cNvGraphicFramePr>
          <p:nvPr>
            <p:extLst>
              <p:ext uri="{D42A27DB-BD31-4B8C-83A1-F6EECF244321}">
                <p14:modId xmlns:p14="http://schemas.microsoft.com/office/powerpoint/2010/main" val="2936368338"/>
              </p:ext>
            </p:extLst>
          </p:nvPr>
        </p:nvGraphicFramePr>
        <p:xfrm>
          <a:off x="4284134" y="3820142"/>
          <a:ext cx="3623733" cy="1371600"/>
        </p:xfrm>
        <a:graphic>
          <a:graphicData uri="http://schemas.openxmlformats.org/drawingml/2006/table">
            <a:tbl>
              <a:tblPr firstRow="1" bandRow="1">
                <a:tableStyleId>{5C22544A-7EE6-4342-B048-85BDC9FD1C3A}</a:tableStyleId>
              </a:tblPr>
              <a:tblGrid>
                <a:gridCol w="1207911">
                  <a:extLst>
                    <a:ext uri="{9D8B030D-6E8A-4147-A177-3AD203B41FA5}">
                      <a16:colId xmlns:a16="http://schemas.microsoft.com/office/drawing/2014/main" val="3348492513"/>
                    </a:ext>
                  </a:extLst>
                </a:gridCol>
                <a:gridCol w="1207911">
                  <a:extLst>
                    <a:ext uri="{9D8B030D-6E8A-4147-A177-3AD203B41FA5}">
                      <a16:colId xmlns:a16="http://schemas.microsoft.com/office/drawing/2014/main" val="1426452553"/>
                    </a:ext>
                  </a:extLst>
                </a:gridCol>
                <a:gridCol w="1207911">
                  <a:extLst>
                    <a:ext uri="{9D8B030D-6E8A-4147-A177-3AD203B41FA5}">
                      <a16:colId xmlns:a16="http://schemas.microsoft.com/office/drawing/2014/main" val="919724254"/>
                    </a:ext>
                  </a:extLst>
                </a:gridCol>
              </a:tblGrid>
              <a:tr h="0">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成分</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種類</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解き方</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2124287924"/>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部屋の分割・戸口の矩形</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構造</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焼く（実装済み）</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210538264"/>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静的な稜線（角・柱）</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構造</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焼くこれから</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1266210045"/>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直接音の遮蔽・回折・開口</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エネルギー</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zh-TW" altLang="en-US" sz="850" b="0">
                          <a:solidFill>
                            <a:srgbClr val="1A2233"/>
                          </a:solidFill>
                          <a:latin typeface="Yu Gothic UI" panose="020B0500000000000000" pitchFamily="50" charset="-128"/>
                          <a:ea typeface="Yu Gothic UI" panose="020B0500000000000000" pitchFamily="50" charset="-128"/>
                        </a:rPr>
                        <a:t>実行時（主題）</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975708900"/>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早期反射</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エネルギー</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実行時（共有で解決）</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575829180"/>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残響の尾</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エネルギー</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実行時実測で確定</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403905781"/>
                  </a:ext>
                </a:extLst>
              </a:tr>
            </a:tbl>
          </a:graphicData>
        </a:graphic>
      </p:graphicFrame>
      <p:sp>
        <p:nvSpPr>
          <p:cNvPr id="25" name="テキスト ボックス 24">
            <a:extLst>
              <a:ext uri="{FF2B5EF4-FFF2-40B4-BE49-F238E27FC236}">
                <a16:creationId xmlns:a16="http://schemas.microsoft.com/office/drawing/2014/main" id="{E5DAFD42-6018-42E0-ADFE-910460FEA20F}"/>
              </a:ext>
            </a:extLst>
          </p:cNvPr>
          <p:cNvSpPr txBox="1"/>
          <p:nvPr/>
        </p:nvSpPr>
        <p:spPr>
          <a:xfrm>
            <a:off x="4284133" y="5234922"/>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★「尾は焼ける」を実測で撤回しました</a:t>
            </a:r>
          </a:p>
        </p:txBody>
      </p:sp>
      <p:sp>
        <p:nvSpPr>
          <p:cNvPr id="26" name="テキスト ボックス 25">
            <a:extLst>
              <a:ext uri="{FF2B5EF4-FFF2-40B4-BE49-F238E27FC236}">
                <a16:creationId xmlns:a16="http://schemas.microsoft.com/office/drawing/2014/main" id="{2F6B3417-58C8-6B71-C011-957F1FF69D51}"/>
              </a:ext>
            </a:extLst>
          </p:cNvPr>
          <p:cNvSpPr txBox="1"/>
          <p:nvPr/>
        </p:nvSpPr>
        <p:spPr>
          <a:xfrm>
            <a:off x="4284133" y="5499255"/>
            <a:ext cx="3623733" cy="277768"/>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尾は部屋の形にしか依存しない、と考えて焼く側に置いていました。測ったら違いました。</a:t>
            </a:r>
          </a:p>
        </p:txBody>
      </p:sp>
      <p:graphicFrame>
        <p:nvGraphicFramePr>
          <p:cNvPr id="28" name="表 27">
            <a:extLst>
              <a:ext uri="{FF2B5EF4-FFF2-40B4-BE49-F238E27FC236}">
                <a16:creationId xmlns:a16="http://schemas.microsoft.com/office/drawing/2014/main" id="{052B7DBA-08BA-558C-0839-D76B8820539F}"/>
              </a:ext>
            </a:extLst>
          </p:cNvPr>
          <p:cNvGraphicFramePr>
            <a:graphicFrameLocks noGrp="1"/>
          </p:cNvGraphicFramePr>
          <p:nvPr>
            <p:extLst>
              <p:ext uri="{D42A27DB-BD31-4B8C-83A1-F6EECF244321}">
                <p14:modId xmlns:p14="http://schemas.microsoft.com/office/powerpoint/2010/main" val="1106520980"/>
              </p:ext>
            </p:extLst>
          </p:nvPr>
        </p:nvGraphicFramePr>
        <p:xfrm>
          <a:off x="8161868" y="1579583"/>
          <a:ext cx="3623733" cy="685800"/>
        </p:xfrm>
        <a:graphic>
          <a:graphicData uri="http://schemas.openxmlformats.org/drawingml/2006/table">
            <a:tbl>
              <a:tblPr firstRow="1" bandRow="1">
                <a:tableStyleId>{5C22544A-7EE6-4342-B048-85BDC9FD1C3A}</a:tableStyleId>
              </a:tblPr>
              <a:tblGrid>
                <a:gridCol w="905933">
                  <a:extLst>
                    <a:ext uri="{9D8B030D-6E8A-4147-A177-3AD203B41FA5}">
                      <a16:colId xmlns:a16="http://schemas.microsoft.com/office/drawing/2014/main" val="3998147975"/>
                    </a:ext>
                  </a:extLst>
                </a:gridCol>
                <a:gridCol w="905933">
                  <a:extLst>
                    <a:ext uri="{9D8B030D-6E8A-4147-A177-3AD203B41FA5}">
                      <a16:colId xmlns:a16="http://schemas.microsoft.com/office/drawing/2014/main" val="3177040011"/>
                    </a:ext>
                  </a:extLst>
                </a:gridCol>
                <a:gridCol w="905933">
                  <a:extLst>
                    <a:ext uri="{9D8B030D-6E8A-4147-A177-3AD203B41FA5}">
                      <a16:colId xmlns:a16="http://schemas.microsoft.com/office/drawing/2014/main" val="2717554159"/>
                    </a:ext>
                  </a:extLst>
                </a:gridCol>
                <a:gridCol w="905933">
                  <a:extLst>
                    <a:ext uri="{9D8B030D-6E8A-4147-A177-3AD203B41FA5}">
                      <a16:colId xmlns:a16="http://schemas.microsoft.com/office/drawing/2014/main" val="646394927"/>
                    </a:ext>
                  </a:extLst>
                </a:gridCol>
              </a:tblGrid>
              <a:tr h="0">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吸う小部屋（音源も同室）</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減衰</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en-US" altLang="ja-JP" sz="850" b="1">
                          <a:solidFill>
                            <a:srgbClr val="FFFFFF"/>
                          </a:solidFill>
                          <a:latin typeface="Yu Gothic UI" panose="020B0500000000000000" pitchFamily="50" charset="-128"/>
                          <a:ea typeface="Yu Gothic UI" panose="020B0500000000000000" pitchFamily="50" charset="-128"/>
                        </a:rPr>
                        <a:t>RT60</a:t>
                      </a:r>
                      <a:endParaRPr kumimoji="1" lang="ja-JP" altLang="en-US" sz="850" b="1">
                        <a:solidFill>
                          <a:srgbClr val="FFFFFF"/>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音量</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1122237821"/>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扉 開</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181 dB/s</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0.33 s</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13.50 dB</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4227274502"/>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扉 閉</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447 dB/s</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0.13 s</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13.56 dB</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1800965118"/>
                  </a:ext>
                </a:extLst>
              </a:tr>
            </a:tbl>
          </a:graphicData>
        </a:graphic>
      </p:graphicFrame>
      <p:sp>
        <p:nvSpPr>
          <p:cNvPr id="29" name="テキスト ボックス 28">
            <a:extLst>
              <a:ext uri="{FF2B5EF4-FFF2-40B4-BE49-F238E27FC236}">
                <a16:creationId xmlns:a16="http://schemas.microsoft.com/office/drawing/2014/main" id="{CF300F5B-9FA1-23F5-8CA6-4DAC6843CF61}"/>
              </a:ext>
            </a:extLst>
          </p:cNvPr>
          <p:cNvSpPr txBox="1"/>
          <p:nvPr/>
        </p:nvSpPr>
        <p:spPr>
          <a:xfrm>
            <a:off x="8161867" y="2389843"/>
            <a:ext cx="36237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音量は </a:t>
            </a:r>
            <a:r>
              <a:rPr kumimoji="1" lang="en-US" altLang="ja-JP" sz="950">
                <a:solidFill>
                  <a:srgbClr val="1A2233"/>
                </a:solidFill>
                <a:latin typeface="Yu Gothic UI" panose="020B0500000000000000" pitchFamily="50" charset="-128"/>
                <a:ea typeface="Yu Gothic UI" panose="020B0500000000000000" pitchFamily="50" charset="-128"/>
              </a:rPr>
              <a:t>0.1 dB </a:t>
            </a:r>
            <a:r>
              <a:rPr kumimoji="1" lang="ja-JP" altLang="en-US" sz="950">
                <a:solidFill>
                  <a:srgbClr val="1A2233"/>
                </a:solidFill>
                <a:latin typeface="Yu Gothic UI" panose="020B0500000000000000" pitchFamily="50" charset="-128"/>
                <a:ea typeface="Yu Gothic UI" panose="020B0500000000000000" pitchFamily="50" charset="-128"/>
              </a:rPr>
              <a:t>しか動かないのに、減衰の形が </a:t>
            </a:r>
            <a:r>
              <a:rPr kumimoji="1" lang="en-US" altLang="ja-JP" sz="950">
                <a:solidFill>
                  <a:srgbClr val="1A2233"/>
                </a:solidFill>
                <a:latin typeface="Yu Gothic UI" panose="020B0500000000000000" pitchFamily="50" charset="-128"/>
                <a:ea typeface="Yu Gothic UI" panose="020B0500000000000000" pitchFamily="50" charset="-128"/>
              </a:rPr>
              <a:t>266 dB/s </a:t>
            </a:r>
            <a:r>
              <a:rPr kumimoji="1" lang="ja-JP" altLang="en-US" sz="950">
                <a:solidFill>
                  <a:srgbClr val="1A2233"/>
                </a:solidFill>
                <a:latin typeface="Yu Gothic UI" panose="020B0500000000000000" pitchFamily="50" charset="-128"/>
                <a:ea typeface="Yu Gothic UI" panose="020B0500000000000000" pitchFamily="50" charset="-128"/>
              </a:rPr>
              <a:t>変わります。連成残響 ── 扉が開いていると響く隣室とつながって減衰が遅くなり、閉めると自分の速さに戻る。部屋ごとに </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本焼くと、この変化が丸ごと消えます。</a:t>
            </a:r>
          </a:p>
        </p:txBody>
      </p:sp>
      <p:sp>
        <p:nvSpPr>
          <p:cNvPr id="30" name="テキスト ボックス 29">
            <a:extLst>
              <a:ext uri="{FF2B5EF4-FFF2-40B4-BE49-F238E27FC236}">
                <a16:creationId xmlns:a16="http://schemas.microsoft.com/office/drawing/2014/main" id="{E6D597D4-03DF-C2A2-42E7-9D646AE636B0}"/>
              </a:ext>
            </a:extLst>
          </p:cNvPr>
          <p:cNvSpPr txBox="1"/>
          <p:nvPr/>
        </p:nvSpPr>
        <p:spPr>
          <a:xfrm>
            <a:off x="8161867" y="2882696"/>
            <a:ext cx="3623733" cy="350865"/>
          </a:xfrm>
          <a:prstGeom prst="rect">
            <a:avLst/>
          </a:prstGeom>
          <a:noFill/>
        </p:spPr>
        <p:txBody>
          <a:bodyPr vert="horz" wrap="square" lIns="0" tIns="0" rIns="0" bIns="0" rtlCol="0">
            <a:spAutoFit/>
          </a:bodyPr>
          <a:lstStyle/>
          <a:p>
            <a:pPr>
              <a:lnSpc>
                <a:spcPct val="95000"/>
              </a:lnSpc>
            </a:pPr>
            <a:r>
              <a:rPr kumimoji="1" lang="ja-JP" altLang="en-US" sz="800">
                <a:solidFill>
                  <a:srgbClr val="6B7688"/>
                </a:solidFill>
                <a:latin typeface="Yu Gothic UI" panose="020B0500000000000000" pitchFamily="50" charset="-128"/>
                <a:ea typeface="Yu Gothic UI" panose="020B0500000000000000" pitchFamily="50" charset="-128"/>
              </a:rPr>
              <a:t>裏取り</a:t>
            </a:r>
            <a:r>
              <a:rPr kumimoji="1" lang="en-US" altLang="ja-JP" sz="800">
                <a:solidFill>
                  <a:srgbClr val="6B7688"/>
                </a:solidFill>
                <a:latin typeface="Yu Gothic UI" panose="020B0500000000000000" pitchFamily="50" charset="-128"/>
                <a:ea typeface="Yu Gothic UI" panose="020B0500000000000000" pitchFamily="50" charset="-128"/>
              </a:rPr>
              <a:t>: </a:t>
            </a:r>
            <a:r>
              <a:rPr kumimoji="1" lang="ja-JP" altLang="en-US" sz="800">
                <a:solidFill>
                  <a:srgbClr val="6B7688"/>
                </a:solidFill>
                <a:latin typeface="Yu Gothic UI" panose="020B0500000000000000" pitchFamily="50" charset="-128"/>
                <a:ea typeface="Yu Gothic UI" panose="020B0500000000000000" pitchFamily="50" charset="-128"/>
              </a:rPr>
              <a:t>小部屋の吸音率を振ると、扉の効きは隣室との残響差で決まった（</a:t>
            </a:r>
            <a:r>
              <a:rPr kumimoji="1" lang="en-US" altLang="ja-JP" sz="800">
                <a:solidFill>
                  <a:srgbClr val="6B7688"/>
                </a:solidFill>
                <a:latin typeface="Yu Gothic UI" panose="020B0500000000000000" pitchFamily="50" charset="-128"/>
                <a:ea typeface="Yu Gothic UI" panose="020B0500000000000000" pitchFamily="50" charset="-128"/>
              </a:rPr>
              <a:t>α 0.10 </a:t>
            </a:r>
            <a:r>
              <a:rPr kumimoji="1" lang="ja-JP" altLang="en-US" sz="800">
                <a:solidFill>
                  <a:srgbClr val="6B7688"/>
                </a:solidFill>
                <a:latin typeface="Yu Gothic UI" panose="020B0500000000000000" pitchFamily="50" charset="-128"/>
                <a:ea typeface="Yu Gothic UI" panose="020B0500000000000000" pitchFamily="50" charset="-128"/>
              </a:rPr>
              <a:t>で </a:t>
            </a:r>
            <a:r>
              <a:rPr kumimoji="1" lang="en-US" altLang="ja-JP" sz="800">
                <a:solidFill>
                  <a:srgbClr val="6B7688"/>
                </a:solidFill>
                <a:latin typeface="Yu Gothic UI" panose="020B0500000000000000" pitchFamily="50" charset="-128"/>
                <a:ea typeface="Yu Gothic UI" panose="020B0500000000000000" pitchFamily="50" charset="-128"/>
              </a:rPr>
              <a:t>1.0 dB/s </a:t>
            </a:r>
            <a:r>
              <a:rPr kumimoji="1" lang="ja-JP" altLang="en-US" sz="800">
                <a:solidFill>
                  <a:srgbClr val="6B7688"/>
                </a:solidFill>
                <a:latin typeface="Yu Gothic UI" panose="020B0500000000000000" pitchFamily="50" charset="-128"/>
                <a:ea typeface="Yu Gothic UI" panose="020B0500000000000000" pitchFamily="50" charset="-128"/>
              </a:rPr>
              <a:t>＝ ほぼゼロ、</a:t>
            </a:r>
            <a:r>
              <a:rPr kumimoji="1" lang="en-US" altLang="ja-JP" sz="800">
                <a:solidFill>
                  <a:srgbClr val="6B7688"/>
                </a:solidFill>
                <a:latin typeface="Yu Gothic UI" panose="020B0500000000000000" pitchFamily="50" charset="-128"/>
                <a:ea typeface="Yu Gothic UI" panose="020B0500000000000000" pitchFamily="50" charset="-128"/>
              </a:rPr>
              <a:t>α 0.60 </a:t>
            </a:r>
            <a:r>
              <a:rPr kumimoji="1" lang="ja-JP" altLang="en-US" sz="800">
                <a:solidFill>
                  <a:srgbClr val="6B7688"/>
                </a:solidFill>
                <a:latin typeface="Yu Gothic UI" panose="020B0500000000000000" pitchFamily="50" charset="-128"/>
                <a:ea typeface="Yu Gothic UI" panose="020B0500000000000000" pitchFamily="50" charset="-128"/>
              </a:rPr>
              <a:t>で </a:t>
            </a:r>
            <a:r>
              <a:rPr kumimoji="1" lang="en-US" altLang="ja-JP" sz="800">
                <a:solidFill>
                  <a:srgbClr val="6B7688"/>
                </a:solidFill>
                <a:latin typeface="Yu Gothic UI" panose="020B0500000000000000" pitchFamily="50" charset="-128"/>
                <a:ea typeface="Yu Gothic UI" panose="020B0500000000000000" pitchFamily="50" charset="-128"/>
              </a:rPr>
              <a:t>158 dB/s</a:t>
            </a:r>
            <a:r>
              <a:rPr kumimoji="1" lang="ja-JP" altLang="en-US" sz="800">
                <a:solidFill>
                  <a:srgbClr val="6B7688"/>
                </a:solidFill>
                <a:latin typeface="Yu Gothic UI" panose="020B0500000000000000" pitchFamily="50" charset="-128"/>
                <a:ea typeface="Yu Gothic UI" panose="020B0500000000000000" pitchFamily="50" charset="-128"/>
              </a:rPr>
              <a:t>）。一般論として尾が焼けないのではなく、この作品の狙いが焼けなくしている。</a:t>
            </a:r>
          </a:p>
        </p:txBody>
      </p:sp>
    </p:spTree>
    <p:extLst>
      <p:ext uri="{BB962C8B-B14F-4D97-AF65-F5344CB8AC3E}">
        <p14:creationId xmlns:p14="http://schemas.microsoft.com/office/powerpoint/2010/main" val="1000745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四角形: 角を丸くする 13">
            <a:extLst>
              <a:ext uri="{FF2B5EF4-FFF2-40B4-BE49-F238E27FC236}">
                <a16:creationId xmlns:a16="http://schemas.microsoft.com/office/drawing/2014/main" id="{D39FF8F3-D27D-03D3-09EC-CCD1D9AA2054}"/>
              </a:ext>
            </a:extLst>
          </p:cNvPr>
          <p:cNvSpPr/>
          <p:nvPr/>
        </p:nvSpPr>
        <p:spPr>
          <a:xfrm>
            <a:off x="4284133" y="3035003"/>
            <a:ext cx="3623734"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A317C07A-6D74-F11A-0C86-2B7D1158CCE3}"/>
              </a:ext>
            </a:extLst>
          </p:cNvPr>
          <p:cNvSpPr/>
          <p:nvPr/>
        </p:nvSpPr>
        <p:spPr>
          <a:xfrm>
            <a:off x="406400" y="906195"/>
            <a:ext cx="11379200" cy="49558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A0C3784D-2285-A1D9-6B3B-FBBF7AB827E0}"/>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ARCHITECTURE</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AA838CF4-1D49-10BA-250F-C94DE3E95861}"/>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仕様・技術 ② 構成と、ホストとの境界</a:t>
            </a:r>
          </a:p>
        </p:txBody>
      </p:sp>
      <p:sp>
        <p:nvSpPr>
          <p:cNvPr id="4" name="テキスト ボックス 3">
            <a:extLst>
              <a:ext uri="{FF2B5EF4-FFF2-40B4-BE49-F238E27FC236}">
                <a16:creationId xmlns:a16="http://schemas.microsoft.com/office/drawing/2014/main" id="{FA54C60E-B876-7E1A-1C40-3520B2886C92}"/>
              </a:ext>
            </a:extLst>
          </p:cNvPr>
          <p:cNvSpPr txBox="1"/>
          <p:nvPr/>
        </p:nvSpPr>
        <p:spPr>
          <a:xfrm>
            <a:off x="508000" y="1007795"/>
            <a:ext cx="11176000" cy="292388"/>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ホストは形と材質と音源を渡し、結果を鳴らすだけ。音をどうするかはエンジンが決めます。</a:t>
            </a:r>
          </a:p>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ホストが良かれと思って音をいじると、必ず二重に掛かります。</a:t>
            </a:r>
          </a:p>
        </p:txBody>
      </p:sp>
      <p:pic>
        <p:nvPicPr>
          <p:cNvPr id="7" name="グラフィックス 6">
            <a:extLst>
              <a:ext uri="{FF2B5EF4-FFF2-40B4-BE49-F238E27FC236}">
                <a16:creationId xmlns:a16="http://schemas.microsoft.com/office/drawing/2014/main" id="{755755ED-FCE3-5568-B834-B47E86BA0918}"/>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406400" y="1592283"/>
            <a:ext cx="3623733" cy="2536613"/>
          </a:xfrm>
          <a:prstGeom prst="rect">
            <a:avLst/>
          </a:prstGeom>
        </p:spPr>
      </p:pic>
      <p:sp>
        <p:nvSpPr>
          <p:cNvPr id="8" name="テキスト ボックス 7">
            <a:extLst>
              <a:ext uri="{FF2B5EF4-FFF2-40B4-BE49-F238E27FC236}">
                <a16:creationId xmlns:a16="http://schemas.microsoft.com/office/drawing/2014/main" id="{A98E3EF4-7578-827A-FB5D-123CC604303E}"/>
              </a:ext>
            </a:extLst>
          </p:cNvPr>
          <p:cNvSpPr txBox="1"/>
          <p:nvPr/>
        </p:nvSpPr>
        <p:spPr>
          <a:xfrm>
            <a:off x="406400" y="4293996"/>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オーディオスレッドで守っていること</a:t>
            </a:r>
          </a:p>
        </p:txBody>
      </p:sp>
      <p:sp>
        <p:nvSpPr>
          <p:cNvPr id="9" name="テキスト ボックス 8">
            <a:extLst>
              <a:ext uri="{FF2B5EF4-FFF2-40B4-BE49-F238E27FC236}">
                <a16:creationId xmlns:a16="http://schemas.microsoft.com/office/drawing/2014/main" id="{AD5F24A5-5F7F-145A-695D-4C977FFA4A22}"/>
              </a:ext>
            </a:extLst>
          </p:cNvPr>
          <p:cNvSpPr txBox="1"/>
          <p:nvPr/>
        </p:nvSpPr>
        <p:spPr>
          <a:xfrm>
            <a:off x="406400" y="4558330"/>
            <a:ext cx="3623733" cy="694421"/>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ロックを取らない／毎フレームの確保をしない（</a:t>
            </a:r>
            <a:r>
              <a:rPr kumimoji="1" lang="en-US" altLang="ja-JP" sz="950">
                <a:solidFill>
                  <a:srgbClr val="1A2233"/>
                </a:solidFill>
                <a:latin typeface="Yu Gothic UI" panose="020B0500000000000000" pitchFamily="50" charset="-128"/>
                <a:ea typeface="Yu Gothic UI" panose="020B0500000000000000" pitchFamily="50" charset="-128"/>
              </a:rPr>
              <a:t>GC </a:t>
            </a:r>
            <a:r>
              <a:rPr kumimoji="1" lang="ja-JP" altLang="en-US" sz="950">
                <a:solidFill>
                  <a:srgbClr val="1A2233"/>
                </a:solidFill>
                <a:latin typeface="Yu Gothic UI" panose="020B0500000000000000" pitchFamily="50" charset="-128"/>
                <a:ea typeface="Yu Gothic UI" panose="020B0500000000000000" pitchFamily="50" charset="-128"/>
              </a:rPr>
              <a:t>ゼロ）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オーディオスレッドから配列を辿らない（必要な値はメインで写す） </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IR </a:t>
            </a:r>
            <a:r>
              <a:rPr kumimoji="1" lang="ja-JP" altLang="en-US" sz="950">
                <a:solidFill>
                  <a:srgbClr val="1A2233"/>
                </a:solidFill>
                <a:latin typeface="Yu Gothic UI" panose="020B0500000000000000" pitchFamily="50" charset="-128"/>
                <a:ea typeface="Yu Gothic UI" panose="020B0500000000000000" pitchFamily="50" charset="-128"/>
              </a:rPr>
              <a:t>の差し替えは参照の入れ替え＋クロスフェード</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つの器で差し替えると、遅延線に残った入力が新しい </a:t>
            </a:r>
            <a:r>
              <a:rPr kumimoji="1" lang="en-US" altLang="ja-JP" sz="950">
                <a:solidFill>
                  <a:srgbClr val="1A2233"/>
                </a:solidFill>
                <a:latin typeface="Yu Gothic UI" panose="020B0500000000000000" pitchFamily="50" charset="-128"/>
                <a:ea typeface="Yu Gothic UI" panose="020B0500000000000000" pitchFamily="50" charset="-128"/>
              </a:rPr>
              <a:t>IR </a:t>
            </a:r>
            <a:r>
              <a:rPr kumimoji="1" lang="ja-JP" altLang="en-US" sz="950">
                <a:solidFill>
                  <a:srgbClr val="1A2233"/>
                </a:solidFill>
                <a:latin typeface="Yu Gothic UI" panose="020B0500000000000000" pitchFamily="50" charset="-128"/>
                <a:ea typeface="Yu Gothic UI" panose="020B0500000000000000" pitchFamily="50" charset="-128"/>
              </a:rPr>
              <a:t>で畳み直され、実測 </a:t>
            </a:r>
            <a:r>
              <a:rPr kumimoji="1" lang="en-US" altLang="ja-JP" sz="950">
                <a:solidFill>
                  <a:srgbClr val="1A2233"/>
                </a:solidFill>
                <a:latin typeface="Yu Gothic UI" panose="020B0500000000000000" pitchFamily="50" charset="-128"/>
                <a:ea typeface="Yu Gothic UI" panose="020B0500000000000000" pitchFamily="50" charset="-128"/>
              </a:rPr>
              <a:t>+1.97 dB </a:t>
            </a:r>
            <a:r>
              <a:rPr kumimoji="1" lang="ja-JP" altLang="en-US" sz="950">
                <a:solidFill>
                  <a:srgbClr val="1A2233"/>
                </a:solidFill>
                <a:latin typeface="Yu Gothic UI" panose="020B0500000000000000" pitchFamily="50" charset="-128"/>
                <a:ea typeface="Yu Gothic UI" panose="020B0500000000000000" pitchFamily="50" charset="-128"/>
              </a:rPr>
              <a:t>のふくらみが </a:t>
            </a:r>
            <a:r>
              <a:rPr kumimoji="1" lang="en-US" altLang="ja-JP" sz="950">
                <a:solidFill>
                  <a:srgbClr val="1A2233"/>
                </a:solidFill>
                <a:latin typeface="Yu Gothic UI" panose="020B0500000000000000" pitchFamily="50" charset="-128"/>
                <a:ea typeface="Yu Gothic UI" panose="020B0500000000000000" pitchFamily="50" charset="-128"/>
              </a:rPr>
              <a:t>0.35 </a:t>
            </a:r>
            <a:r>
              <a:rPr kumimoji="1" lang="ja-JP" altLang="en-US" sz="950">
                <a:solidFill>
                  <a:srgbClr val="1A2233"/>
                </a:solidFill>
                <a:latin typeface="Yu Gothic UI" panose="020B0500000000000000" pitchFamily="50" charset="-128"/>
                <a:ea typeface="Yu Gothic UI" panose="020B0500000000000000" pitchFamily="50" charset="-128"/>
              </a:rPr>
              <a:t>秒続く</a:t>
            </a:r>
          </a:p>
        </p:txBody>
      </p:sp>
      <p:sp>
        <p:nvSpPr>
          <p:cNvPr id="10" name="テキスト ボックス 9">
            <a:extLst>
              <a:ext uri="{FF2B5EF4-FFF2-40B4-BE49-F238E27FC236}">
                <a16:creationId xmlns:a16="http://schemas.microsoft.com/office/drawing/2014/main" id="{2355035B-A7F3-D0B3-2701-D3F51A3E34E7}"/>
              </a:ext>
            </a:extLst>
          </p:cNvPr>
          <p:cNvSpPr txBox="1"/>
          <p:nvPr/>
        </p:nvSpPr>
        <p:spPr>
          <a:xfrm>
            <a:off x="406400" y="5392450"/>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ホスト側に課した契約</a:t>
            </a:r>
          </a:p>
        </p:txBody>
      </p:sp>
      <p:graphicFrame>
        <p:nvGraphicFramePr>
          <p:cNvPr id="12" name="表 11">
            <a:extLst>
              <a:ext uri="{FF2B5EF4-FFF2-40B4-BE49-F238E27FC236}">
                <a16:creationId xmlns:a16="http://schemas.microsoft.com/office/drawing/2014/main" id="{4B482877-B723-F370-DD2A-68C40922AE33}"/>
              </a:ext>
            </a:extLst>
          </p:cNvPr>
          <p:cNvGraphicFramePr>
            <a:graphicFrameLocks noGrp="1"/>
          </p:cNvGraphicFramePr>
          <p:nvPr>
            <p:extLst>
              <p:ext uri="{D42A27DB-BD31-4B8C-83A1-F6EECF244321}">
                <p14:modId xmlns:p14="http://schemas.microsoft.com/office/powerpoint/2010/main" val="3653238693"/>
              </p:ext>
            </p:extLst>
          </p:nvPr>
        </p:nvGraphicFramePr>
        <p:xfrm>
          <a:off x="4284134" y="1579583"/>
          <a:ext cx="3623733" cy="1143000"/>
        </p:xfrm>
        <a:graphic>
          <a:graphicData uri="http://schemas.openxmlformats.org/drawingml/2006/table">
            <a:tbl>
              <a:tblPr firstRow="1" bandRow="1">
                <a:tableStyleId>{5C22544A-7EE6-4342-B048-85BDC9FD1C3A}</a:tableStyleId>
              </a:tblPr>
              <a:tblGrid>
                <a:gridCol w="1811867">
                  <a:extLst>
                    <a:ext uri="{9D8B030D-6E8A-4147-A177-3AD203B41FA5}">
                      <a16:colId xmlns:a16="http://schemas.microsoft.com/office/drawing/2014/main" val="3454017940"/>
                    </a:ext>
                  </a:extLst>
                </a:gridCol>
                <a:gridCol w="1811867">
                  <a:extLst>
                    <a:ext uri="{9D8B030D-6E8A-4147-A177-3AD203B41FA5}">
                      <a16:colId xmlns:a16="http://schemas.microsoft.com/office/drawing/2014/main" val="3592963245"/>
                    </a:ext>
                  </a:extLst>
                </a:gridCol>
              </a:tblGrid>
              <a:tr h="0">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契約</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破ると起きること</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4126792240"/>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音量も遮蔽もホストで触らない</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エンジンの遮蔽と二重に掛かり、壁裏で音が消える</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224131513"/>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見えないコライダーを置かない</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何も無い場所から早期反射が返る ── 音が世界について嘘をつく</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1919007277"/>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一つの問いに答えを二つ持たせない</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物理側の答えと食い違い、定位が濁る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171517330"/>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材質はエンジン側を正とする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両側に表を持っていた時期、透過が </a:t>
                      </a:r>
                      <a:r>
                        <a:rPr kumimoji="1" lang="en-US" altLang="ja-JP" sz="850" b="0">
                          <a:solidFill>
                            <a:srgbClr val="1A2233"/>
                          </a:solidFill>
                          <a:latin typeface="Yu Gothic UI" panose="020B0500000000000000" pitchFamily="50" charset="-128"/>
                          <a:ea typeface="Yu Gothic UI" panose="020B0500000000000000" pitchFamily="50" charset="-128"/>
                        </a:rPr>
                        <a:t>6〜8 dB </a:t>
                      </a:r>
                      <a:r>
                        <a:rPr kumimoji="1" lang="ja-JP" altLang="en-US" sz="850" b="0">
                          <a:solidFill>
                            <a:srgbClr val="1A2233"/>
                          </a:solidFill>
                          <a:latin typeface="Yu Gothic UI" panose="020B0500000000000000" pitchFamily="50" charset="-128"/>
                          <a:ea typeface="Yu Gothic UI" panose="020B0500000000000000" pitchFamily="50" charset="-128"/>
                        </a:rPr>
                        <a:t>ずれていた</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4279010957"/>
                  </a:ext>
                </a:extLst>
              </a:tr>
            </a:tbl>
          </a:graphicData>
        </a:graphic>
      </p:graphicFrame>
      <p:sp>
        <p:nvSpPr>
          <p:cNvPr id="13" name="テキスト ボックス 12">
            <a:extLst>
              <a:ext uri="{FF2B5EF4-FFF2-40B4-BE49-F238E27FC236}">
                <a16:creationId xmlns:a16="http://schemas.microsoft.com/office/drawing/2014/main" id="{4F7BB61B-9EE3-7B6F-3D5E-46A07861BD78}"/>
              </a:ext>
            </a:extLst>
          </p:cNvPr>
          <p:cNvSpPr txBox="1"/>
          <p:nvPr/>
        </p:nvSpPr>
        <p:spPr>
          <a:xfrm>
            <a:off x="4385733" y="3136603"/>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口約束にしない。材質プリセットは </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か所から配り、</a:t>
            </a:r>
            <a:r>
              <a:rPr kumimoji="1" lang="en-US" altLang="ja-JP" sz="950">
                <a:solidFill>
                  <a:srgbClr val="1A2233"/>
                </a:solidFill>
                <a:latin typeface="Yu Gothic UI" panose="020B0500000000000000" pitchFamily="50" charset="-128"/>
                <a:ea typeface="Yu Gothic UI" panose="020B0500000000000000" pitchFamily="50" charset="-128"/>
              </a:rPr>
              <a:t>C++</a:t>
            </a:r>
            <a:r>
              <a:rPr kumimoji="1" lang="ja-JP" altLang="en-US" sz="950">
                <a:solidFill>
                  <a:srgbClr val="1A2233"/>
                </a:solidFill>
                <a:latin typeface="Yu Gothic UI" panose="020B0500000000000000" pitchFamily="50" charset="-128"/>
                <a:ea typeface="Yu Gothic UI" panose="020B0500000000000000" pitchFamily="50" charset="-128"/>
              </a:rPr>
              <a:t>／</a:t>
            </a:r>
            <a:r>
              <a:rPr kumimoji="1" lang="en-US" altLang="ja-JP" sz="950">
                <a:solidFill>
                  <a:srgbClr val="1A2233"/>
                </a:solidFill>
                <a:latin typeface="Yu Gothic UI" panose="020B0500000000000000" pitchFamily="50" charset="-128"/>
                <a:ea typeface="Yu Gothic UI" panose="020B0500000000000000" pitchFamily="50" charset="-128"/>
              </a:rPr>
              <a:t>C# </a:t>
            </a:r>
            <a:r>
              <a:rPr kumimoji="1" lang="ja-JP" altLang="en-US" sz="950">
                <a:solidFill>
                  <a:srgbClr val="1A2233"/>
                </a:solidFill>
                <a:latin typeface="Yu Gothic UI" panose="020B0500000000000000" pitchFamily="50" charset="-128"/>
                <a:ea typeface="Yu Gothic UI" panose="020B0500000000000000" pitchFamily="50" charset="-128"/>
              </a:rPr>
              <a:t>の値の一致を自動で突き合わせ、黙って劣化する箇所（格子の自動降格など）は警告を出します。</a:t>
            </a:r>
          </a:p>
        </p:txBody>
      </p:sp>
      <p:sp>
        <p:nvSpPr>
          <p:cNvPr id="15" name="テキスト ボックス 14">
            <a:extLst>
              <a:ext uri="{FF2B5EF4-FFF2-40B4-BE49-F238E27FC236}">
                <a16:creationId xmlns:a16="http://schemas.microsoft.com/office/drawing/2014/main" id="{56F8C1CE-FAD8-5994-DF1C-40993DBC3A69}"/>
              </a:ext>
            </a:extLst>
          </p:cNvPr>
          <p:cNvSpPr txBox="1"/>
          <p:nvPr/>
        </p:nvSpPr>
        <p:spPr>
          <a:xfrm>
            <a:off x="4284133" y="3819956"/>
            <a:ext cx="3623733" cy="175433"/>
          </a:xfrm>
          <a:prstGeom prst="rect">
            <a:avLst/>
          </a:prstGeom>
          <a:noFill/>
        </p:spPr>
        <p:txBody>
          <a:bodyPr vert="horz" wrap="square" lIns="0" tIns="0" rIns="0" bIns="0" rtlCol="0">
            <a:spAutoFit/>
          </a:bodyPr>
          <a:lstStyle/>
          <a:p>
            <a:pPr>
              <a:lnSpc>
                <a:spcPct val="95000"/>
              </a:lnSpc>
            </a:pPr>
            <a:r>
              <a:rPr kumimoji="1" lang="en-US" altLang="ja-JP" sz="1200" b="1">
                <a:solidFill>
                  <a:srgbClr val="21295C"/>
                </a:solidFill>
                <a:latin typeface="Yu Gothic UI" panose="020B0500000000000000" pitchFamily="50" charset="-128"/>
                <a:ea typeface="Yu Gothic UI" panose="020B0500000000000000" pitchFamily="50" charset="-128"/>
              </a:rPr>
              <a:t>1 </a:t>
            </a:r>
            <a:r>
              <a:rPr kumimoji="1" lang="ja-JP" altLang="en-US" sz="1200" b="1">
                <a:solidFill>
                  <a:srgbClr val="21295C"/>
                </a:solidFill>
                <a:latin typeface="Yu Gothic UI" panose="020B0500000000000000" pitchFamily="50" charset="-128"/>
                <a:ea typeface="Yu Gothic UI" panose="020B0500000000000000" pitchFamily="50" charset="-128"/>
              </a:rPr>
              <a:t>音源あたりの実費</a:t>
            </a:r>
          </a:p>
        </p:txBody>
      </p:sp>
      <p:graphicFrame>
        <p:nvGraphicFramePr>
          <p:cNvPr id="16" name="表 15">
            <a:extLst>
              <a:ext uri="{FF2B5EF4-FFF2-40B4-BE49-F238E27FC236}">
                <a16:creationId xmlns:a16="http://schemas.microsoft.com/office/drawing/2014/main" id="{B1417D00-657F-9888-EF81-7D9705B3DEF7}"/>
              </a:ext>
            </a:extLst>
          </p:cNvPr>
          <p:cNvGraphicFramePr>
            <a:graphicFrameLocks noGrp="1"/>
          </p:cNvGraphicFramePr>
          <p:nvPr>
            <p:extLst>
              <p:ext uri="{D42A27DB-BD31-4B8C-83A1-F6EECF244321}">
                <p14:modId xmlns:p14="http://schemas.microsoft.com/office/powerpoint/2010/main" val="392868951"/>
              </p:ext>
            </p:extLst>
          </p:nvPr>
        </p:nvGraphicFramePr>
        <p:xfrm>
          <a:off x="4284134" y="4096989"/>
          <a:ext cx="3623733" cy="685800"/>
        </p:xfrm>
        <a:graphic>
          <a:graphicData uri="http://schemas.openxmlformats.org/drawingml/2006/table">
            <a:tbl>
              <a:tblPr firstRow="1" bandRow="1">
                <a:tableStyleId>{5C22544A-7EE6-4342-B048-85BDC9FD1C3A}</a:tableStyleId>
              </a:tblPr>
              <a:tblGrid>
                <a:gridCol w="1811867">
                  <a:extLst>
                    <a:ext uri="{9D8B030D-6E8A-4147-A177-3AD203B41FA5}">
                      <a16:colId xmlns:a16="http://schemas.microsoft.com/office/drawing/2014/main" val="3434139616"/>
                    </a:ext>
                  </a:extLst>
                </a:gridCol>
                <a:gridCol w="1811867">
                  <a:extLst>
                    <a:ext uri="{9D8B030D-6E8A-4147-A177-3AD203B41FA5}">
                      <a16:colId xmlns:a16="http://schemas.microsoft.com/office/drawing/2014/main" val="2591834770"/>
                    </a:ext>
                  </a:extLst>
                </a:gridCol>
              </a:tblGrid>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直接音のみ</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約 </a:t>
                      </a:r>
                      <a:r>
                        <a:rPr kumimoji="1" lang="en-US" altLang="ja-JP" sz="850" b="0">
                          <a:solidFill>
                            <a:srgbClr val="1A2233"/>
                          </a:solidFill>
                          <a:latin typeface="Yu Gothic UI" panose="020B0500000000000000" pitchFamily="50" charset="-128"/>
                          <a:ea typeface="Yu Gothic UI" panose="020B0500000000000000" pitchFamily="50" charset="-128"/>
                        </a:rPr>
                        <a:t>0.01 ms</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FFFFFF"/>
                    </a:solidFill>
                  </a:tcPr>
                </a:tc>
                <a:extLst>
                  <a:ext uri="{0D108BD9-81ED-4DB2-BD59-A6C34878D82A}">
                    <a16:rowId xmlns:a16="http://schemas.microsoft.com/office/drawing/2014/main" val="323070135"/>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＋早期反射・</a:t>
                      </a:r>
                      <a:r>
                        <a:rPr kumimoji="1" lang="en-US" altLang="ja-JP" sz="850" b="0">
                          <a:solidFill>
                            <a:srgbClr val="1A2233"/>
                          </a:solidFill>
                          <a:latin typeface="Yu Gothic UI" panose="020B0500000000000000" pitchFamily="50" charset="-128"/>
                          <a:ea typeface="Yu Gothic UI" panose="020B0500000000000000" pitchFamily="50" charset="-128"/>
                        </a:rPr>
                        <a:t>HRTF</a:t>
                      </a:r>
                      <a:r>
                        <a:rPr kumimoji="1" lang="ja-JP" altLang="en-US" sz="850" b="0">
                          <a:solidFill>
                            <a:srgbClr val="1A2233"/>
                          </a:solidFill>
                          <a:latin typeface="Yu Gothic UI" panose="020B0500000000000000" pitchFamily="50" charset="-128"/>
                          <a:ea typeface="Yu Gothic UI" panose="020B0500000000000000" pitchFamily="50" charset="-128"/>
                        </a:rPr>
                        <a:t>・後期尾</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zh-TW" altLang="en-US" sz="850" b="0">
                          <a:solidFill>
                            <a:srgbClr val="1A2233"/>
                          </a:solidFill>
                          <a:latin typeface="Yu Gothic UI" panose="020B0500000000000000" pitchFamily="50" charset="-128"/>
                          <a:ea typeface="Yu Gothic UI" panose="020B0500000000000000" pitchFamily="50" charset="-128"/>
                        </a:rPr>
                        <a:t>約 </a:t>
                      </a:r>
                      <a:r>
                        <a:rPr kumimoji="1" lang="en-US" altLang="zh-TW" sz="850" b="0">
                          <a:solidFill>
                            <a:srgbClr val="1A2233"/>
                          </a:solidFill>
                          <a:latin typeface="Yu Gothic UI" panose="020B0500000000000000" pitchFamily="50" charset="-128"/>
                          <a:ea typeface="Yu Gothic UI" panose="020B0500000000000000" pitchFamily="50" charset="-128"/>
                        </a:rPr>
                        <a:t>0.31 ms</a:t>
                      </a:r>
                      <a:r>
                        <a:rPr kumimoji="1" lang="zh-TW" altLang="en-US" sz="850" b="0">
                          <a:solidFill>
                            <a:srgbClr val="1A2233"/>
                          </a:solidFill>
                          <a:latin typeface="Yu Gothic UI" panose="020B0500000000000000" pitchFamily="50" charset="-128"/>
                          <a:ea typeface="Yu Gothic UI" panose="020B0500000000000000" pitchFamily="50" charset="-128"/>
                        </a:rPr>
                        <a:t>（約 </a:t>
                      </a:r>
                      <a:r>
                        <a:rPr kumimoji="1" lang="en-US" altLang="zh-TW" sz="850" b="0">
                          <a:solidFill>
                            <a:srgbClr val="1A2233"/>
                          </a:solidFill>
                          <a:latin typeface="Yu Gothic UI" panose="020B0500000000000000" pitchFamily="50" charset="-128"/>
                          <a:ea typeface="Yu Gothic UI" panose="020B0500000000000000" pitchFamily="50" charset="-128"/>
                        </a:rPr>
                        <a:t>3 %</a:t>
                      </a:r>
                      <a:r>
                        <a:rPr kumimoji="1" lang="zh-TW" altLang="en-US" sz="850" b="0">
                          <a:solidFill>
                            <a:srgbClr val="1A2233"/>
                          </a:solidFill>
                          <a:latin typeface="Yu Gothic UI" panose="020B0500000000000000" pitchFamily="50" charset="-128"/>
                          <a:ea typeface="Yu Gothic UI" panose="020B0500000000000000" pitchFamily="50" charset="-128"/>
                        </a:rPr>
                        <a:t>）</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780619490"/>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＋回折 </a:t>
                      </a:r>
                      <a:r>
                        <a:rPr kumimoji="1" lang="en-US" altLang="ja-JP" sz="850" b="0">
                          <a:solidFill>
                            <a:srgbClr val="1A2233"/>
                          </a:solidFill>
                          <a:latin typeface="Yu Gothic UI" panose="020B0500000000000000" pitchFamily="50" charset="-128"/>
                          <a:ea typeface="Yu Gothic UI" panose="020B0500000000000000" pitchFamily="50" charset="-128"/>
                        </a:rPr>
                        <a:t>HRTF</a:t>
                      </a:r>
                      <a:r>
                        <a:rPr kumimoji="1" lang="ja-JP" altLang="en-US" sz="850" b="0">
                          <a:solidFill>
                            <a:srgbClr val="1A2233"/>
                          </a:solidFill>
                          <a:latin typeface="Yu Gothic UI" panose="020B0500000000000000" pitchFamily="50" charset="-128"/>
                          <a:ea typeface="Yu Gothic UI" panose="020B0500000000000000" pitchFamily="50" charset="-128"/>
                        </a:rPr>
                        <a:t>・反射の両耳化</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zh-TW" altLang="en-US" sz="850" b="0">
                          <a:solidFill>
                            <a:srgbClr val="1A2233"/>
                          </a:solidFill>
                          <a:latin typeface="Yu Gothic UI" panose="020B0500000000000000" pitchFamily="50" charset="-128"/>
                          <a:ea typeface="Yu Gothic UI" panose="020B0500000000000000" pitchFamily="50" charset="-128"/>
                        </a:rPr>
                        <a:t>約 </a:t>
                      </a:r>
                      <a:r>
                        <a:rPr kumimoji="1" lang="en-US" altLang="zh-TW" sz="850" b="0">
                          <a:solidFill>
                            <a:srgbClr val="1A2233"/>
                          </a:solidFill>
                          <a:latin typeface="Yu Gothic UI" panose="020B0500000000000000" pitchFamily="50" charset="-128"/>
                          <a:ea typeface="Yu Gothic UI" panose="020B0500000000000000" pitchFamily="50" charset="-128"/>
                        </a:rPr>
                        <a:t>0.47 ms</a:t>
                      </a:r>
                      <a:r>
                        <a:rPr kumimoji="1" lang="zh-TW" altLang="en-US" sz="850" b="0">
                          <a:solidFill>
                            <a:srgbClr val="1A2233"/>
                          </a:solidFill>
                          <a:latin typeface="Yu Gothic UI" panose="020B0500000000000000" pitchFamily="50" charset="-128"/>
                          <a:ea typeface="Yu Gothic UI" panose="020B0500000000000000" pitchFamily="50" charset="-128"/>
                        </a:rPr>
                        <a:t>（約 </a:t>
                      </a:r>
                      <a:r>
                        <a:rPr kumimoji="1" lang="en-US" altLang="zh-TW" sz="850" b="0">
                          <a:solidFill>
                            <a:srgbClr val="1A2233"/>
                          </a:solidFill>
                          <a:latin typeface="Yu Gothic UI" panose="020B0500000000000000" pitchFamily="50" charset="-128"/>
                          <a:ea typeface="Yu Gothic UI" panose="020B0500000000000000" pitchFamily="50" charset="-128"/>
                        </a:rPr>
                        <a:t>4 %</a:t>
                      </a:r>
                      <a:r>
                        <a:rPr kumimoji="1" lang="zh-TW" altLang="en-US" sz="850" b="0">
                          <a:solidFill>
                            <a:srgbClr val="1A2233"/>
                          </a:solidFill>
                          <a:latin typeface="Yu Gothic UI" panose="020B0500000000000000" pitchFamily="50" charset="-128"/>
                          <a:ea typeface="Yu Gothic UI" panose="020B0500000000000000" pitchFamily="50" charset="-128"/>
                        </a:rPr>
                        <a:t>）</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04041804"/>
                  </a:ext>
                </a:extLst>
              </a:tr>
            </a:tbl>
          </a:graphicData>
        </a:graphic>
      </p:graphicFrame>
      <p:sp>
        <p:nvSpPr>
          <p:cNvPr id="17" name="テキスト ボックス 16">
            <a:extLst>
              <a:ext uri="{FF2B5EF4-FFF2-40B4-BE49-F238E27FC236}">
                <a16:creationId xmlns:a16="http://schemas.microsoft.com/office/drawing/2014/main" id="{DB83B9A7-962C-8BE2-351A-2A7F7DC481C1}"/>
              </a:ext>
            </a:extLst>
          </p:cNvPr>
          <p:cNvSpPr txBox="1"/>
          <p:nvPr/>
        </p:nvSpPr>
        <p:spPr>
          <a:xfrm>
            <a:off x="4284133" y="4777709"/>
            <a:ext cx="3623733" cy="116955"/>
          </a:xfrm>
          <a:prstGeom prst="rect">
            <a:avLst/>
          </a:prstGeom>
          <a:noFill/>
        </p:spPr>
        <p:txBody>
          <a:bodyPr vert="horz" wrap="square" lIns="0" tIns="0" rIns="0" bIns="0" rtlCol="0">
            <a:spAutoFit/>
          </a:bodyPr>
          <a:lstStyle/>
          <a:p>
            <a:pPr>
              <a:lnSpc>
                <a:spcPct val="95000"/>
              </a:lnSpc>
            </a:pPr>
            <a:r>
              <a:rPr kumimoji="1" lang="en-US" altLang="ja-JP" sz="800">
                <a:solidFill>
                  <a:srgbClr val="6B7688"/>
                </a:solidFill>
                <a:latin typeface="Yu Gothic UI" panose="020B0500000000000000" pitchFamily="50" charset="-128"/>
                <a:ea typeface="Yu Gothic UI" panose="020B0500000000000000" pitchFamily="50" charset="-128"/>
              </a:rPr>
              <a:t>1 </a:t>
            </a:r>
            <a:r>
              <a:rPr kumimoji="1" lang="ja-JP" altLang="en-US" sz="800">
                <a:solidFill>
                  <a:srgbClr val="6B7688"/>
                </a:solidFill>
                <a:latin typeface="Yu Gothic UI" panose="020B0500000000000000" pitchFamily="50" charset="-128"/>
                <a:ea typeface="Yu Gothic UI" panose="020B0500000000000000" pitchFamily="50" charset="-128"/>
              </a:rPr>
              <a:t>ブロック＝</a:t>
            </a:r>
            <a:r>
              <a:rPr kumimoji="1" lang="en-US" altLang="ja-JP" sz="800">
                <a:solidFill>
                  <a:srgbClr val="6B7688"/>
                </a:solidFill>
                <a:latin typeface="Yu Gothic UI" panose="020B0500000000000000" pitchFamily="50" charset="-128"/>
                <a:ea typeface="Yu Gothic UI" panose="020B0500000000000000" pitchFamily="50" charset="-128"/>
              </a:rPr>
              <a:t>512 </a:t>
            </a:r>
            <a:r>
              <a:rPr kumimoji="1" lang="ja-JP" altLang="en-US" sz="800">
                <a:solidFill>
                  <a:srgbClr val="6B7688"/>
                </a:solidFill>
                <a:latin typeface="Yu Gothic UI" panose="020B0500000000000000" pitchFamily="50" charset="-128"/>
                <a:ea typeface="Yu Gothic UI" panose="020B0500000000000000" pitchFamily="50" charset="-128"/>
              </a:rPr>
              <a:t>フレーム＝</a:t>
            </a:r>
            <a:r>
              <a:rPr kumimoji="1" lang="en-US" altLang="ja-JP" sz="800">
                <a:solidFill>
                  <a:srgbClr val="6B7688"/>
                </a:solidFill>
                <a:latin typeface="Yu Gothic UI" panose="020B0500000000000000" pitchFamily="50" charset="-128"/>
                <a:ea typeface="Yu Gothic UI" panose="020B0500000000000000" pitchFamily="50" charset="-128"/>
              </a:rPr>
              <a:t>10.67 ms</a:t>
            </a:r>
            <a:r>
              <a:rPr kumimoji="1" lang="ja-JP" altLang="en-US" sz="800">
                <a:solidFill>
                  <a:srgbClr val="6B7688"/>
                </a:solidFill>
                <a:latin typeface="Yu Gothic UI" panose="020B0500000000000000" pitchFamily="50" charset="-128"/>
                <a:ea typeface="Yu Gothic UI" panose="020B0500000000000000" pitchFamily="50" charset="-128"/>
              </a:rPr>
              <a:t>。全部入りでも実時間の約 </a:t>
            </a:r>
            <a:r>
              <a:rPr kumimoji="1" lang="en-US" altLang="ja-JP" sz="800">
                <a:solidFill>
                  <a:srgbClr val="6B7688"/>
                </a:solidFill>
                <a:latin typeface="Yu Gothic UI" panose="020B0500000000000000" pitchFamily="50" charset="-128"/>
                <a:ea typeface="Yu Gothic UI" panose="020B0500000000000000" pitchFamily="50" charset="-128"/>
              </a:rPr>
              <a:t>23 </a:t>
            </a:r>
            <a:r>
              <a:rPr kumimoji="1" lang="ja-JP" altLang="en-US" sz="800">
                <a:solidFill>
                  <a:srgbClr val="6B7688"/>
                </a:solidFill>
                <a:latin typeface="Yu Gothic UI" panose="020B0500000000000000" pitchFamily="50" charset="-128"/>
                <a:ea typeface="Yu Gothic UI" panose="020B0500000000000000" pitchFamily="50" charset="-128"/>
              </a:rPr>
              <a:t>倍速。</a:t>
            </a:r>
          </a:p>
        </p:txBody>
      </p:sp>
    </p:spTree>
    <p:extLst>
      <p:ext uri="{BB962C8B-B14F-4D97-AF65-F5344CB8AC3E}">
        <p14:creationId xmlns:p14="http://schemas.microsoft.com/office/powerpoint/2010/main" val="2274546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四角形: 角を丸くする 15">
            <a:extLst>
              <a:ext uri="{FF2B5EF4-FFF2-40B4-BE49-F238E27FC236}">
                <a16:creationId xmlns:a16="http://schemas.microsoft.com/office/drawing/2014/main" id="{93C33BDD-51DB-6CBF-C49A-95728209BCDE}"/>
              </a:ext>
            </a:extLst>
          </p:cNvPr>
          <p:cNvSpPr/>
          <p:nvPr/>
        </p:nvSpPr>
        <p:spPr>
          <a:xfrm>
            <a:off x="4284133" y="1592283"/>
            <a:ext cx="3623734"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595F533-A888-8853-CBE8-2033A5827212}"/>
              </a:ext>
            </a:extLst>
          </p:cNvPr>
          <p:cNvSpPr/>
          <p:nvPr/>
        </p:nvSpPr>
        <p:spPr>
          <a:xfrm>
            <a:off x="406400" y="3880996"/>
            <a:ext cx="3623733"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1395F544-2031-9493-2417-2F8FF3A819DC}"/>
              </a:ext>
            </a:extLst>
          </p:cNvPr>
          <p:cNvSpPr/>
          <p:nvPr/>
        </p:nvSpPr>
        <p:spPr>
          <a:xfrm>
            <a:off x="406400" y="906195"/>
            <a:ext cx="11379200" cy="49558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AB71B953-476D-46DD-A989-2C0433C85725}"/>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CONCEPT 1 ── WHY THE DOOR</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5599061F-7B11-5F1B-D0E8-844D7B7831C5}"/>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コンセプト ① なぜ「扉」なのか</a:t>
            </a:r>
          </a:p>
        </p:txBody>
      </p:sp>
      <p:sp>
        <p:nvSpPr>
          <p:cNvPr id="4" name="テキスト ボックス 3">
            <a:extLst>
              <a:ext uri="{FF2B5EF4-FFF2-40B4-BE49-F238E27FC236}">
                <a16:creationId xmlns:a16="http://schemas.microsoft.com/office/drawing/2014/main" id="{07898403-3138-D19A-CA91-B8AB02664B1B}"/>
              </a:ext>
            </a:extLst>
          </p:cNvPr>
          <p:cNvSpPr txBox="1"/>
          <p:nvPr/>
        </p:nvSpPr>
        <p:spPr>
          <a:xfrm>
            <a:off x="508000" y="1007795"/>
            <a:ext cx="11176000" cy="292388"/>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扉は 「どのくらい」を伝えられる 数少ない対象です。開いた／閉じたの </a:t>
            </a:r>
            <a:r>
              <a:rPr kumimoji="1" lang="en-US" altLang="ja-JP" sz="1000">
                <a:solidFill>
                  <a:srgbClr val="1A2233"/>
                </a:solidFill>
                <a:latin typeface="Yu Gothic UI" panose="020B0500000000000000" pitchFamily="50" charset="-128"/>
                <a:ea typeface="Yu Gothic UI" panose="020B0500000000000000" pitchFamily="50" charset="-128"/>
              </a:rPr>
              <a:t>2 </a:t>
            </a:r>
            <a:r>
              <a:rPr kumimoji="1" lang="ja-JP" altLang="en-US" sz="1000">
                <a:solidFill>
                  <a:srgbClr val="1A2233"/>
                </a:solidFill>
                <a:latin typeface="Yu Gothic UI" panose="020B0500000000000000" pitchFamily="50" charset="-128"/>
                <a:ea typeface="Yu Gothic UI" panose="020B0500000000000000" pitchFamily="50" charset="-128"/>
              </a:rPr>
              <a:t>値ではなく、</a:t>
            </a:r>
          </a:p>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プレイヤー自身が連続量を作れる ── 音響エンジンを見せる題材として、これ以上のものがありません。</a:t>
            </a:r>
          </a:p>
        </p:txBody>
      </p:sp>
      <p:sp>
        <p:nvSpPr>
          <p:cNvPr id="6" name="テキスト ボックス 5">
            <a:extLst>
              <a:ext uri="{FF2B5EF4-FFF2-40B4-BE49-F238E27FC236}">
                <a16:creationId xmlns:a16="http://schemas.microsoft.com/office/drawing/2014/main" id="{9A189F07-BCE1-D9E9-6E55-6AE58C4BBC19}"/>
              </a:ext>
            </a:extLst>
          </p:cNvPr>
          <p:cNvSpPr txBox="1"/>
          <p:nvPr/>
        </p:nvSpPr>
        <p:spPr>
          <a:xfrm>
            <a:off x="406400" y="1630383"/>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題材として優れている </a:t>
            </a:r>
            <a:r>
              <a:rPr kumimoji="1" lang="en-US" altLang="ja-JP" sz="1200" b="1">
                <a:solidFill>
                  <a:srgbClr val="21295C"/>
                </a:solidFill>
                <a:latin typeface="Yu Gothic UI" panose="020B0500000000000000" pitchFamily="50" charset="-128"/>
                <a:ea typeface="Yu Gothic UI" panose="020B0500000000000000" pitchFamily="50" charset="-128"/>
              </a:rPr>
              <a:t>4 </a:t>
            </a:r>
            <a:r>
              <a:rPr kumimoji="1" lang="ja-JP" altLang="en-US" sz="1200" b="1">
                <a:solidFill>
                  <a:srgbClr val="21295C"/>
                </a:solidFill>
                <a:latin typeface="Yu Gothic UI" panose="020B0500000000000000" pitchFamily="50" charset="-128"/>
                <a:ea typeface="Yu Gothic UI" panose="020B0500000000000000" pitchFamily="50" charset="-128"/>
              </a:rPr>
              <a:t>つの理由</a:t>
            </a:r>
          </a:p>
        </p:txBody>
      </p:sp>
      <p:graphicFrame>
        <p:nvGraphicFramePr>
          <p:cNvPr id="7" name="表 6">
            <a:extLst>
              <a:ext uri="{FF2B5EF4-FFF2-40B4-BE49-F238E27FC236}">
                <a16:creationId xmlns:a16="http://schemas.microsoft.com/office/drawing/2014/main" id="{8E7890E4-5E4E-0E4E-4AC8-2212170DD0A2}"/>
              </a:ext>
            </a:extLst>
          </p:cNvPr>
          <p:cNvGraphicFramePr>
            <a:graphicFrameLocks noGrp="1"/>
          </p:cNvGraphicFramePr>
          <p:nvPr>
            <p:extLst>
              <p:ext uri="{D42A27DB-BD31-4B8C-83A1-F6EECF244321}">
                <p14:modId xmlns:p14="http://schemas.microsoft.com/office/powerpoint/2010/main" val="666601490"/>
              </p:ext>
            </p:extLst>
          </p:nvPr>
        </p:nvGraphicFramePr>
        <p:xfrm>
          <a:off x="406401" y="1907416"/>
          <a:ext cx="3623733" cy="1143000"/>
        </p:xfrm>
        <a:graphic>
          <a:graphicData uri="http://schemas.openxmlformats.org/drawingml/2006/table">
            <a:tbl>
              <a:tblPr firstRow="1" bandRow="1">
                <a:tableStyleId>{5C22544A-7EE6-4342-B048-85BDC9FD1C3A}</a:tableStyleId>
              </a:tblPr>
              <a:tblGrid>
                <a:gridCol w="1811867">
                  <a:extLst>
                    <a:ext uri="{9D8B030D-6E8A-4147-A177-3AD203B41FA5}">
                      <a16:colId xmlns:a16="http://schemas.microsoft.com/office/drawing/2014/main" val="4019241252"/>
                    </a:ext>
                  </a:extLst>
                </a:gridCol>
                <a:gridCol w="1811867">
                  <a:extLst>
                    <a:ext uri="{9D8B030D-6E8A-4147-A177-3AD203B41FA5}">
                      <a16:colId xmlns:a16="http://schemas.microsoft.com/office/drawing/2014/main" val="1869345497"/>
                    </a:ext>
                  </a:extLst>
                </a:gridCol>
              </a:tblGrid>
              <a:tr h="0">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理由</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効いていること</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368636144"/>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誰でも知っている</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説明が要らない。音がどう変わるべきかをプレイヤーが既に知っているので、答え合わせが成立する</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279730049"/>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自分で起こせる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聞かされるのではなく、手を動かした結果として音が変わる。変化の主語がプレイヤーになる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297261496"/>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一度に全部が動く</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遮蔽・回折・開口・残響が同時に変わる。</a:t>
                      </a:r>
                      <a:r>
                        <a:rPr kumimoji="1" lang="en-US" altLang="ja-JP" sz="850" b="0">
                          <a:solidFill>
                            <a:srgbClr val="1A2233"/>
                          </a:solidFill>
                          <a:latin typeface="Yu Gothic UI" panose="020B0500000000000000" pitchFamily="50" charset="-128"/>
                          <a:ea typeface="Yu Gothic UI" panose="020B0500000000000000" pitchFamily="50" charset="-128"/>
                        </a:rPr>
                        <a:t>1 </a:t>
                      </a:r>
                      <a:r>
                        <a:rPr kumimoji="1" lang="ja-JP" altLang="en-US" sz="850" b="0">
                          <a:solidFill>
                            <a:srgbClr val="1A2233"/>
                          </a:solidFill>
                          <a:latin typeface="Yu Gothic UI" panose="020B0500000000000000" pitchFamily="50" charset="-128"/>
                          <a:ea typeface="Yu Gothic UI" panose="020B0500000000000000" pitchFamily="50" charset="-128"/>
                        </a:rPr>
                        <a:t>つの操作で音響の全成分が試される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191128510"/>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閉じていれば隠せる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隠せるから、開けたときに情報が生まれる。閉じた扉は「想像の余地」を作る装置でもある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129087227"/>
                  </a:ext>
                </a:extLst>
              </a:tr>
            </a:tbl>
          </a:graphicData>
        </a:graphic>
      </p:graphicFrame>
      <p:sp>
        <p:nvSpPr>
          <p:cNvPr id="8" name="テキスト ボックス 7">
            <a:extLst>
              <a:ext uri="{FF2B5EF4-FFF2-40B4-BE49-F238E27FC236}">
                <a16:creationId xmlns:a16="http://schemas.microsoft.com/office/drawing/2014/main" id="{85AA5CAB-E4B5-930C-C1C1-494147C310DF}"/>
              </a:ext>
            </a:extLst>
          </p:cNvPr>
          <p:cNvSpPr txBox="1"/>
          <p:nvPr/>
        </p:nvSpPr>
        <p:spPr>
          <a:xfrm>
            <a:off x="508000" y="3982596"/>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とくに </a:t>
            </a:r>
            <a:r>
              <a:rPr kumimoji="1" lang="en-US" altLang="ja-JP" sz="950">
                <a:solidFill>
                  <a:srgbClr val="1A2233"/>
                </a:solidFill>
                <a:latin typeface="Yu Gothic UI" panose="020B0500000000000000" pitchFamily="50" charset="-128"/>
                <a:ea typeface="Yu Gothic UI" panose="020B0500000000000000" pitchFamily="50" charset="-128"/>
              </a:rPr>
              <a:t>2 </a:t>
            </a:r>
            <a:r>
              <a:rPr kumimoji="1" lang="ja-JP" altLang="en-US" sz="950">
                <a:solidFill>
                  <a:srgbClr val="1A2233"/>
                </a:solidFill>
                <a:latin typeface="Yu Gothic UI" panose="020B0500000000000000" pitchFamily="50" charset="-128"/>
                <a:ea typeface="Yu Gothic UI" panose="020B0500000000000000" pitchFamily="50" charset="-128"/>
              </a:rPr>
              <a:t>つ目が重要です。環境音が勝手に変わるのを聞かされても「そういう演出」で終わります。 自分が半分だけ開けた結果として半分だけ変わるから、音が世界の状態を語っていると分かる。</a:t>
            </a:r>
          </a:p>
        </p:txBody>
      </p:sp>
      <p:sp>
        <p:nvSpPr>
          <p:cNvPr id="10" name="テキスト ボックス 9">
            <a:extLst>
              <a:ext uri="{FF2B5EF4-FFF2-40B4-BE49-F238E27FC236}">
                <a16:creationId xmlns:a16="http://schemas.microsoft.com/office/drawing/2014/main" id="{B6BCAFD8-3322-5FE0-BDC6-6D140DA838EF}"/>
              </a:ext>
            </a:extLst>
          </p:cNvPr>
          <p:cNvSpPr txBox="1"/>
          <p:nvPr/>
        </p:nvSpPr>
        <p:spPr>
          <a:xfrm>
            <a:off x="406400" y="4665949"/>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どう聞こえるか</a:t>
            </a:r>
          </a:p>
        </p:txBody>
      </p:sp>
      <p:graphicFrame>
        <p:nvGraphicFramePr>
          <p:cNvPr id="11" name="表 10">
            <a:extLst>
              <a:ext uri="{FF2B5EF4-FFF2-40B4-BE49-F238E27FC236}">
                <a16:creationId xmlns:a16="http://schemas.microsoft.com/office/drawing/2014/main" id="{6EBA7E38-5F42-617B-AB38-C7769287FFF6}"/>
              </a:ext>
            </a:extLst>
          </p:cNvPr>
          <p:cNvGraphicFramePr>
            <a:graphicFrameLocks noGrp="1"/>
          </p:cNvGraphicFramePr>
          <p:nvPr>
            <p:extLst>
              <p:ext uri="{D42A27DB-BD31-4B8C-83A1-F6EECF244321}">
                <p14:modId xmlns:p14="http://schemas.microsoft.com/office/powerpoint/2010/main" val="2150730302"/>
              </p:ext>
            </p:extLst>
          </p:nvPr>
        </p:nvGraphicFramePr>
        <p:xfrm>
          <a:off x="406401" y="4942982"/>
          <a:ext cx="3623733" cy="914400"/>
        </p:xfrm>
        <a:graphic>
          <a:graphicData uri="http://schemas.openxmlformats.org/drawingml/2006/table">
            <a:tbl>
              <a:tblPr firstRow="1" bandRow="1">
                <a:tableStyleId>{5C22544A-7EE6-4342-B048-85BDC9FD1C3A}</a:tableStyleId>
              </a:tblPr>
              <a:tblGrid>
                <a:gridCol w="1811867">
                  <a:extLst>
                    <a:ext uri="{9D8B030D-6E8A-4147-A177-3AD203B41FA5}">
                      <a16:colId xmlns:a16="http://schemas.microsoft.com/office/drawing/2014/main" val="2333218663"/>
                    </a:ext>
                  </a:extLst>
                </a:gridCol>
                <a:gridCol w="1811867">
                  <a:extLst>
                    <a:ext uri="{9D8B030D-6E8A-4147-A177-3AD203B41FA5}">
                      <a16:colId xmlns:a16="http://schemas.microsoft.com/office/drawing/2014/main" val="79193839"/>
                    </a:ext>
                  </a:extLst>
                </a:gridCol>
              </a:tblGrid>
              <a:tr h="0">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扉の状態</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聞こえ方</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2819240930"/>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ほぼ閉じている</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低域だけが漏れる。こもって、方向が曖昧</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227553101"/>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少し開く</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中域が入りはじめ、輪郭が出る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924397858"/>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大きく開く</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高域まで通り、開口の方向に定位する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463043977"/>
                  </a:ext>
                </a:extLst>
              </a:tr>
            </a:tbl>
          </a:graphicData>
        </a:graphic>
      </p:graphicFrame>
      <p:sp>
        <p:nvSpPr>
          <p:cNvPr id="12" name="テキスト ボックス 11">
            <a:extLst>
              <a:ext uri="{FF2B5EF4-FFF2-40B4-BE49-F238E27FC236}">
                <a16:creationId xmlns:a16="http://schemas.microsoft.com/office/drawing/2014/main" id="{B204AAA8-5B0B-DA6C-E404-C419262BAA9A}"/>
              </a:ext>
            </a:extLst>
          </p:cNvPr>
          <p:cNvSpPr txBox="1"/>
          <p:nvPr/>
        </p:nvSpPr>
        <p:spPr>
          <a:xfrm>
            <a:off x="406400" y="5933582"/>
            <a:ext cx="36237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この </a:t>
            </a:r>
            <a:r>
              <a:rPr kumimoji="1" lang="en-US" altLang="ja-JP" sz="950">
                <a:solidFill>
                  <a:srgbClr val="1A2233"/>
                </a:solidFill>
                <a:latin typeface="Yu Gothic UI" panose="020B0500000000000000" pitchFamily="50" charset="-128"/>
                <a:ea typeface="Yu Gothic UI" panose="020B0500000000000000" pitchFamily="50" charset="-128"/>
              </a:rPr>
              <a:t>3 </a:t>
            </a:r>
            <a:r>
              <a:rPr kumimoji="1" lang="ja-JP" altLang="en-US" sz="950">
                <a:solidFill>
                  <a:srgbClr val="1A2233"/>
                </a:solidFill>
                <a:latin typeface="Yu Gothic UI" panose="020B0500000000000000" pitchFamily="50" charset="-128"/>
                <a:ea typeface="Yu Gothic UI" panose="020B0500000000000000" pitchFamily="50" charset="-128"/>
              </a:rPr>
              <a:t>段が連続に繋がっている必要があります。途中に段差があると「開いた／閉じた」の </a:t>
            </a:r>
            <a:r>
              <a:rPr kumimoji="1" lang="en-US" altLang="ja-JP" sz="950">
                <a:solidFill>
                  <a:srgbClr val="1A2233"/>
                </a:solidFill>
                <a:latin typeface="Yu Gothic UI" panose="020B0500000000000000" pitchFamily="50" charset="-128"/>
                <a:ea typeface="Yu Gothic UI" panose="020B0500000000000000" pitchFamily="50" charset="-128"/>
              </a:rPr>
              <a:t>2 </a:t>
            </a:r>
            <a:r>
              <a:rPr kumimoji="1" lang="ja-JP" altLang="en-US" sz="950">
                <a:solidFill>
                  <a:srgbClr val="1A2233"/>
                </a:solidFill>
                <a:latin typeface="Yu Gothic UI" panose="020B0500000000000000" pitchFamily="50" charset="-128"/>
                <a:ea typeface="Yu Gothic UI" panose="020B0500000000000000" pitchFamily="50" charset="-128"/>
              </a:rPr>
              <a:t>値に戻ってしまい、「どのくらい」という情報がまるごと消えます（</a:t>
            </a:r>
            <a:r>
              <a:rPr kumimoji="1" lang="en-US" altLang="ja-JP" sz="950">
                <a:solidFill>
                  <a:srgbClr val="1A2233"/>
                </a:solidFill>
                <a:latin typeface="Yu Gothic UI" panose="020B0500000000000000" pitchFamily="50" charset="-128"/>
                <a:ea typeface="Yu Gothic UI" panose="020B0500000000000000" pitchFamily="50" charset="-128"/>
              </a:rPr>
              <a:t>p16</a:t>
            </a:r>
            <a:r>
              <a:rPr kumimoji="1" lang="ja-JP" altLang="en-US" sz="950">
                <a:solidFill>
                  <a:srgbClr val="1A2233"/>
                </a:solidFill>
                <a:latin typeface="Yu Gothic UI" panose="020B0500000000000000" pitchFamily="50" charset="-128"/>
                <a:ea typeface="Yu Gothic UI" panose="020B0500000000000000" pitchFamily="50" charset="-128"/>
              </a:rPr>
              <a:t>）。</a:t>
            </a:r>
          </a:p>
        </p:txBody>
      </p:sp>
      <p:sp>
        <p:nvSpPr>
          <p:cNvPr id="15" name="テキスト ボックス 14">
            <a:extLst>
              <a:ext uri="{FF2B5EF4-FFF2-40B4-BE49-F238E27FC236}">
                <a16:creationId xmlns:a16="http://schemas.microsoft.com/office/drawing/2014/main" id="{759D8234-2B35-F98C-42C8-D03539B3EC1D}"/>
              </a:ext>
            </a:extLst>
          </p:cNvPr>
          <p:cNvSpPr txBox="1"/>
          <p:nvPr/>
        </p:nvSpPr>
        <p:spPr>
          <a:xfrm>
            <a:off x="4385733" y="1693883"/>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現実の扉を収録して確かめた形も同じでした。開くと低域は </a:t>
            </a:r>
            <a:r>
              <a:rPr kumimoji="1" lang="en-US" altLang="ja-JP" sz="950">
                <a:solidFill>
                  <a:srgbClr val="1A2233"/>
                </a:solidFill>
                <a:latin typeface="Yu Gothic UI" panose="020B0500000000000000" pitchFamily="50" charset="-128"/>
                <a:ea typeface="Yu Gothic UI" panose="020B0500000000000000" pitchFamily="50" charset="-128"/>
              </a:rPr>
              <a:t>+2.6 dB </a:t>
            </a:r>
            <a:r>
              <a:rPr kumimoji="1" lang="ja-JP" altLang="en-US" sz="950">
                <a:solidFill>
                  <a:srgbClr val="1A2233"/>
                </a:solidFill>
                <a:latin typeface="Yu Gothic UI" panose="020B0500000000000000" pitchFamily="50" charset="-128"/>
                <a:ea typeface="Yu Gothic UI" panose="020B0500000000000000" pitchFamily="50" charset="-128"/>
              </a:rPr>
              <a:t>しか動かないのに、</a:t>
            </a:r>
            <a:r>
              <a:rPr kumimoji="1" lang="en-US" altLang="ja-JP" sz="950">
                <a:solidFill>
                  <a:srgbClr val="1A2233"/>
                </a:solidFill>
                <a:latin typeface="Yu Gothic UI" panose="020B0500000000000000" pitchFamily="50" charset="-128"/>
                <a:ea typeface="Yu Gothic UI" panose="020B0500000000000000" pitchFamily="50" charset="-128"/>
              </a:rPr>
              <a:t>1 kHz </a:t>
            </a:r>
            <a:r>
              <a:rPr kumimoji="1" lang="ja-JP" altLang="en-US" sz="950">
                <a:solidFill>
                  <a:srgbClr val="1A2233"/>
                </a:solidFill>
                <a:latin typeface="Yu Gothic UI" panose="020B0500000000000000" pitchFamily="50" charset="-128"/>
                <a:ea typeface="Yu Gothic UI" panose="020B0500000000000000" pitchFamily="50" charset="-128"/>
              </a:rPr>
              <a:t>は </a:t>
            </a:r>
            <a:r>
              <a:rPr kumimoji="1" lang="en-US" altLang="ja-JP" sz="950">
                <a:solidFill>
                  <a:srgbClr val="1A2233"/>
                </a:solidFill>
                <a:latin typeface="Yu Gothic UI" panose="020B0500000000000000" pitchFamily="50" charset="-128"/>
                <a:ea typeface="Yu Gothic UI" panose="020B0500000000000000" pitchFamily="50" charset="-128"/>
              </a:rPr>
              <a:t>+10.3 dB </a:t>
            </a:r>
            <a:r>
              <a:rPr kumimoji="1" lang="ja-JP" altLang="en-US" sz="950">
                <a:solidFill>
                  <a:srgbClr val="1A2233"/>
                </a:solidFill>
                <a:latin typeface="Yu Gothic UI" panose="020B0500000000000000" pitchFamily="50" charset="-128"/>
                <a:ea typeface="Yu Gothic UI" panose="020B0500000000000000" pitchFamily="50" charset="-128"/>
              </a:rPr>
              <a:t>動く ── 音量ではなく音色が開くという構造は現実そのものです。</a:t>
            </a:r>
          </a:p>
        </p:txBody>
      </p:sp>
      <p:sp>
        <p:nvSpPr>
          <p:cNvPr id="17" name="テキスト ボックス 16">
            <a:extLst>
              <a:ext uri="{FF2B5EF4-FFF2-40B4-BE49-F238E27FC236}">
                <a16:creationId xmlns:a16="http://schemas.microsoft.com/office/drawing/2014/main" id="{D0D3BE31-B5A5-8CBF-17BF-6BF80FE4CBBA}"/>
              </a:ext>
            </a:extLst>
          </p:cNvPr>
          <p:cNvSpPr txBox="1"/>
          <p:nvPr/>
        </p:nvSpPr>
        <p:spPr>
          <a:xfrm>
            <a:off x="4284133" y="2313736"/>
            <a:ext cx="3623733" cy="233910"/>
          </a:xfrm>
          <a:prstGeom prst="rect">
            <a:avLst/>
          </a:prstGeom>
          <a:noFill/>
        </p:spPr>
        <p:txBody>
          <a:bodyPr vert="horz" wrap="square" lIns="0" tIns="0" rIns="0" bIns="0" rtlCol="0">
            <a:spAutoFit/>
          </a:bodyPr>
          <a:lstStyle/>
          <a:p>
            <a:pPr>
              <a:lnSpc>
                <a:spcPct val="95000"/>
              </a:lnSpc>
            </a:pPr>
            <a:r>
              <a:rPr kumimoji="1" lang="en-US" altLang="ja-JP" sz="800">
                <a:solidFill>
                  <a:srgbClr val="6B7688"/>
                </a:solidFill>
                <a:latin typeface="Yu Gothic UI" panose="020B0500000000000000" pitchFamily="50" charset="-128"/>
                <a:ea typeface="Yu Gothic UI" panose="020B0500000000000000" pitchFamily="50" charset="-128"/>
              </a:rPr>
              <a:t>※ </a:t>
            </a:r>
            <a:r>
              <a:rPr kumimoji="1" lang="ja-JP" altLang="en-US" sz="800">
                <a:solidFill>
                  <a:srgbClr val="6B7688"/>
                </a:solidFill>
                <a:latin typeface="Yu Gothic UI" panose="020B0500000000000000" pitchFamily="50" charset="-128"/>
                <a:ea typeface="Yu Gothic UI" panose="020B0500000000000000" pitchFamily="50" charset="-128"/>
              </a:rPr>
              <a:t>この「形」は採用しましたが、開閉差の絶対量は現実（</a:t>
            </a:r>
            <a:r>
              <a:rPr kumimoji="1" lang="en-US" altLang="ja-JP" sz="800">
                <a:solidFill>
                  <a:srgbClr val="6B7688"/>
                </a:solidFill>
                <a:latin typeface="Yu Gothic UI" panose="020B0500000000000000" pitchFamily="50" charset="-128"/>
                <a:ea typeface="Yu Gothic UI" panose="020B0500000000000000" pitchFamily="50" charset="-128"/>
              </a:rPr>
              <a:t>8.4 dB</a:t>
            </a:r>
            <a:r>
              <a:rPr kumimoji="1" lang="ja-JP" altLang="en-US" sz="800">
                <a:solidFill>
                  <a:srgbClr val="6B7688"/>
                </a:solidFill>
                <a:latin typeface="Yu Gothic UI" panose="020B0500000000000000" pitchFamily="50" charset="-128"/>
                <a:ea typeface="Yu Gothic UI" panose="020B0500000000000000" pitchFamily="50" charset="-128"/>
              </a:rPr>
              <a:t>）ではなくゲームとして必要なコントラスト（約 </a:t>
            </a:r>
            <a:r>
              <a:rPr kumimoji="1" lang="en-US" altLang="ja-JP" sz="800">
                <a:solidFill>
                  <a:srgbClr val="6B7688"/>
                </a:solidFill>
                <a:latin typeface="Yu Gothic UI" panose="020B0500000000000000" pitchFamily="50" charset="-128"/>
                <a:ea typeface="Yu Gothic UI" panose="020B0500000000000000" pitchFamily="50" charset="-128"/>
              </a:rPr>
              <a:t>20 dB</a:t>
            </a:r>
            <a:r>
              <a:rPr kumimoji="1" lang="ja-JP" altLang="en-US" sz="800">
                <a:solidFill>
                  <a:srgbClr val="6B7688"/>
                </a:solidFill>
                <a:latin typeface="Yu Gothic UI" panose="020B0500000000000000" pitchFamily="50" charset="-128"/>
                <a:ea typeface="Yu Gothic UI" panose="020B0500000000000000" pitchFamily="50" charset="-128"/>
              </a:rPr>
              <a:t>）を採っています。判断の経緯は </a:t>
            </a:r>
            <a:r>
              <a:rPr kumimoji="1" lang="en-US" altLang="ja-JP" sz="800">
                <a:solidFill>
                  <a:srgbClr val="6B7688"/>
                </a:solidFill>
                <a:latin typeface="Yu Gothic UI" panose="020B0500000000000000" pitchFamily="50" charset="-128"/>
                <a:ea typeface="Yu Gothic UI" panose="020B0500000000000000" pitchFamily="50" charset="-128"/>
              </a:rPr>
              <a:t>p17 ②</a:t>
            </a:r>
            <a:r>
              <a:rPr kumimoji="1" lang="ja-JP" altLang="en-US" sz="800">
                <a:solidFill>
                  <a:srgbClr val="6B7688"/>
                </a:solidFill>
                <a:latin typeface="Yu Gothic UI" panose="020B0500000000000000" pitchFamily="50" charset="-128"/>
                <a:ea typeface="Yu Gothic UI" panose="020B0500000000000000" pitchFamily="50" charset="-128"/>
              </a:rPr>
              <a:t>。</a:t>
            </a:r>
          </a:p>
        </p:txBody>
      </p:sp>
    </p:spTree>
    <p:extLst>
      <p:ext uri="{BB962C8B-B14F-4D97-AF65-F5344CB8AC3E}">
        <p14:creationId xmlns:p14="http://schemas.microsoft.com/office/powerpoint/2010/main" val="997296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四角形: 角を丸くする 27">
            <a:extLst>
              <a:ext uri="{FF2B5EF4-FFF2-40B4-BE49-F238E27FC236}">
                <a16:creationId xmlns:a16="http://schemas.microsoft.com/office/drawing/2014/main" id="{ED14DDB6-07F4-50CB-8962-251C96C8637B}"/>
              </a:ext>
            </a:extLst>
          </p:cNvPr>
          <p:cNvSpPr/>
          <p:nvPr/>
        </p:nvSpPr>
        <p:spPr>
          <a:xfrm>
            <a:off x="4284133" y="4633772"/>
            <a:ext cx="3623734" cy="758737"/>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014EFAD3-3A07-A8D7-0DAD-87088DA21446}"/>
              </a:ext>
            </a:extLst>
          </p:cNvPr>
          <p:cNvSpPr/>
          <p:nvPr/>
        </p:nvSpPr>
        <p:spPr>
          <a:xfrm>
            <a:off x="4284133" y="3269699"/>
            <a:ext cx="3623734"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7B1557F5-121B-6915-98A7-7A99E545B6E9}"/>
              </a:ext>
            </a:extLst>
          </p:cNvPr>
          <p:cNvSpPr/>
          <p:nvPr/>
        </p:nvSpPr>
        <p:spPr>
          <a:xfrm>
            <a:off x="406400" y="5487809"/>
            <a:ext cx="3623733"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EE9945CC-29B4-33AD-F3CC-020F19C6E1BA}"/>
              </a:ext>
            </a:extLst>
          </p:cNvPr>
          <p:cNvSpPr/>
          <p:nvPr/>
        </p:nvSpPr>
        <p:spPr>
          <a:xfrm>
            <a:off x="406400" y="906195"/>
            <a:ext cx="11379200" cy="49558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10F0F782-41E3-DD43-4035-85C40DFC0643}"/>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CONCEPT 1 ── APERTURE</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BF33F6B0-049E-7FEE-1B1D-20CD50844710}"/>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コンセプト ① 開口の向きと開き具合で、音の入り方が決まる</a:t>
            </a:r>
          </a:p>
        </p:txBody>
      </p:sp>
      <p:sp>
        <p:nvSpPr>
          <p:cNvPr id="4" name="テキスト ボックス 3">
            <a:extLst>
              <a:ext uri="{FF2B5EF4-FFF2-40B4-BE49-F238E27FC236}">
                <a16:creationId xmlns:a16="http://schemas.microsoft.com/office/drawing/2014/main" id="{E071D81B-F74A-B97F-5CB5-44BE8706AC5D}"/>
              </a:ext>
            </a:extLst>
          </p:cNvPr>
          <p:cNvSpPr txBox="1"/>
          <p:nvPr/>
        </p:nvSpPr>
        <p:spPr>
          <a:xfrm>
            <a:off x="508000" y="1007795"/>
            <a:ext cx="11176000" cy="292388"/>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扉を開けていくと、開口が向いた方向から順に音が入ってきます。</a:t>
            </a:r>
          </a:p>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開き具合が「どれだけ」を、開口の向きが「どこから」を決める。同じ部屋で扉の角度だけを振って実測しました。</a:t>
            </a:r>
          </a:p>
        </p:txBody>
      </p:sp>
      <p:pic>
        <p:nvPicPr>
          <p:cNvPr id="7" name="グラフィックス 6">
            <a:extLst>
              <a:ext uri="{FF2B5EF4-FFF2-40B4-BE49-F238E27FC236}">
                <a16:creationId xmlns:a16="http://schemas.microsoft.com/office/drawing/2014/main" id="{CDAEEBEB-2874-01A2-918D-9BA7918A8962}"/>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406400" y="1592283"/>
            <a:ext cx="2214880" cy="1550416"/>
          </a:xfrm>
          <a:prstGeom prst="rect">
            <a:avLst/>
          </a:prstGeom>
        </p:spPr>
      </p:pic>
      <p:pic>
        <p:nvPicPr>
          <p:cNvPr id="9" name="グラフィックス 8">
            <a:extLst>
              <a:ext uri="{FF2B5EF4-FFF2-40B4-BE49-F238E27FC236}">
                <a16:creationId xmlns:a16="http://schemas.microsoft.com/office/drawing/2014/main" id="{C1C7528F-29DA-C906-039B-D0D7D4F47824}"/>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2697480" y="1592283"/>
            <a:ext cx="2214880" cy="1550416"/>
          </a:xfrm>
          <a:prstGeom prst="rect">
            <a:avLst/>
          </a:prstGeom>
        </p:spPr>
      </p:pic>
      <p:pic>
        <p:nvPicPr>
          <p:cNvPr id="11" name="グラフィックス 10">
            <a:extLst>
              <a:ext uri="{FF2B5EF4-FFF2-40B4-BE49-F238E27FC236}">
                <a16:creationId xmlns:a16="http://schemas.microsoft.com/office/drawing/2014/main" id="{880D852D-4A7E-21BC-B11A-E65690671698}"/>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4988560" y="1592283"/>
            <a:ext cx="2214880" cy="1550416"/>
          </a:xfrm>
          <a:prstGeom prst="rect">
            <a:avLst/>
          </a:prstGeom>
        </p:spPr>
      </p:pic>
      <p:pic>
        <p:nvPicPr>
          <p:cNvPr id="13" name="グラフィックス 12">
            <a:extLst>
              <a:ext uri="{FF2B5EF4-FFF2-40B4-BE49-F238E27FC236}">
                <a16:creationId xmlns:a16="http://schemas.microsoft.com/office/drawing/2014/main" id="{EF1ADFE7-E74B-F377-E77B-A8B96B5D46A0}"/>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279640" y="1592283"/>
            <a:ext cx="2214880" cy="1550416"/>
          </a:xfrm>
          <a:prstGeom prst="rect">
            <a:avLst/>
          </a:prstGeom>
        </p:spPr>
      </p:pic>
      <p:pic>
        <p:nvPicPr>
          <p:cNvPr id="15" name="グラフィックス 14">
            <a:extLst>
              <a:ext uri="{FF2B5EF4-FFF2-40B4-BE49-F238E27FC236}">
                <a16:creationId xmlns:a16="http://schemas.microsoft.com/office/drawing/2014/main" id="{40F62BDE-1747-C6EF-EC58-5184CAC9347A}"/>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9570720" y="1592283"/>
            <a:ext cx="2214880" cy="1550416"/>
          </a:xfrm>
          <a:prstGeom prst="rect">
            <a:avLst/>
          </a:prstGeom>
        </p:spPr>
      </p:pic>
      <p:graphicFrame>
        <p:nvGraphicFramePr>
          <p:cNvPr id="16" name="表 15">
            <a:extLst>
              <a:ext uri="{FF2B5EF4-FFF2-40B4-BE49-F238E27FC236}">
                <a16:creationId xmlns:a16="http://schemas.microsoft.com/office/drawing/2014/main" id="{733377CE-A0DA-C013-E9EA-720058585409}"/>
              </a:ext>
            </a:extLst>
          </p:cNvPr>
          <p:cNvGraphicFramePr>
            <a:graphicFrameLocks noGrp="1"/>
          </p:cNvGraphicFramePr>
          <p:nvPr>
            <p:extLst>
              <p:ext uri="{D42A27DB-BD31-4B8C-83A1-F6EECF244321}">
                <p14:modId xmlns:p14="http://schemas.microsoft.com/office/powerpoint/2010/main" val="3990149154"/>
              </p:ext>
            </p:extLst>
          </p:nvPr>
        </p:nvGraphicFramePr>
        <p:xfrm>
          <a:off x="406401" y="3256999"/>
          <a:ext cx="3623733" cy="1371600"/>
        </p:xfrm>
        <a:graphic>
          <a:graphicData uri="http://schemas.openxmlformats.org/drawingml/2006/table">
            <a:tbl>
              <a:tblPr firstRow="1" bandRow="1">
                <a:tableStyleId>{5C22544A-7EE6-4342-B048-85BDC9FD1C3A}</a:tableStyleId>
              </a:tblPr>
              <a:tblGrid>
                <a:gridCol w="905933">
                  <a:extLst>
                    <a:ext uri="{9D8B030D-6E8A-4147-A177-3AD203B41FA5}">
                      <a16:colId xmlns:a16="http://schemas.microsoft.com/office/drawing/2014/main" val="407381310"/>
                    </a:ext>
                  </a:extLst>
                </a:gridCol>
                <a:gridCol w="905933">
                  <a:extLst>
                    <a:ext uri="{9D8B030D-6E8A-4147-A177-3AD203B41FA5}">
                      <a16:colId xmlns:a16="http://schemas.microsoft.com/office/drawing/2014/main" val="1461441498"/>
                    </a:ext>
                  </a:extLst>
                </a:gridCol>
                <a:gridCol w="905933">
                  <a:extLst>
                    <a:ext uri="{9D8B030D-6E8A-4147-A177-3AD203B41FA5}">
                      <a16:colId xmlns:a16="http://schemas.microsoft.com/office/drawing/2014/main" val="2270440817"/>
                    </a:ext>
                  </a:extLst>
                </a:gridCol>
                <a:gridCol w="905933">
                  <a:extLst>
                    <a:ext uri="{9D8B030D-6E8A-4147-A177-3AD203B41FA5}">
                      <a16:colId xmlns:a16="http://schemas.microsoft.com/office/drawing/2014/main" val="3252399234"/>
                    </a:ext>
                  </a:extLst>
                </a:gridCol>
              </a:tblGrid>
              <a:tr h="0">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パターン</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音源</a:t>
                      </a:r>
                      <a:r>
                        <a:rPr kumimoji="1" lang="en-US" altLang="ja-JP" sz="850" b="1">
                          <a:solidFill>
                            <a:srgbClr val="FFFFFF"/>
                          </a:solidFill>
                          <a:latin typeface="Yu Gothic UI" panose="020B0500000000000000" pitchFamily="50" charset="-128"/>
                          <a:ea typeface="Yu Gothic UI" panose="020B0500000000000000" pitchFamily="50" charset="-128"/>
                        </a:rPr>
                        <a:t>1</a:t>
                      </a:r>
                      <a:r>
                        <a:rPr kumimoji="1" lang="ja-JP" altLang="en-US" sz="850" b="1">
                          <a:solidFill>
                            <a:srgbClr val="FFFFFF"/>
                          </a:solidFill>
                          <a:latin typeface="Yu Gothic UI" panose="020B0500000000000000" pitchFamily="50" charset="-128"/>
                          <a:ea typeface="Yu Gothic UI" panose="020B0500000000000000" pitchFamily="50" charset="-128"/>
                        </a:rPr>
                        <a:t>（左）</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音源</a:t>
                      </a:r>
                      <a:r>
                        <a:rPr kumimoji="1" lang="en-US" altLang="ja-JP" sz="850" b="1">
                          <a:solidFill>
                            <a:srgbClr val="FFFFFF"/>
                          </a:solidFill>
                          <a:latin typeface="Yu Gothic UI" panose="020B0500000000000000" pitchFamily="50" charset="-128"/>
                          <a:ea typeface="Yu Gothic UI" panose="020B0500000000000000" pitchFamily="50" charset="-128"/>
                        </a:rPr>
                        <a:t>2</a:t>
                      </a:r>
                      <a:r>
                        <a:rPr kumimoji="1" lang="ja-JP" altLang="en-US" sz="850" b="1">
                          <a:solidFill>
                            <a:srgbClr val="FFFFFF"/>
                          </a:solidFill>
                          <a:latin typeface="Yu Gothic UI" panose="020B0500000000000000" pitchFamily="50" charset="-128"/>
                          <a:ea typeface="Yu Gothic UI" panose="020B0500000000000000" pitchFamily="50" charset="-128"/>
                        </a:rPr>
                        <a:t>（正面）</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音源</a:t>
                      </a:r>
                      <a:r>
                        <a:rPr kumimoji="1" lang="en-US" altLang="ja-JP" sz="850" b="1">
                          <a:solidFill>
                            <a:srgbClr val="FFFFFF"/>
                          </a:solidFill>
                          <a:latin typeface="Yu Gothic UI" panose="020B0500000000000000" pitchFamily="50" charset="-128"/>
                          <a:ea typeface="Yu Gothic UI" panose="020B0500000000000000" pitchFamily="50" charset="-128"/>
                        </a:rPr>
                        <a:t>3</a:t>
                      </a:r>
                      <a:r>
                        <a:rPr kumimoji="1" lang="ja-JP" altLang="en-US" sz="850" b="1">
                          <a:solidFill>
                            <a:srgbClr val="FFFFFF"/>
                          </a:solidFill>
                          <a:latin typeface="Yu Gothic UI" panose="020B0500000000000000" pitchFamily="50" charset="-128"/>
                          <a:ea typeface="Yu Gothic UI" panose="020B0500000000000000" pitchFamily="50" charset="-128"/>
                        </a:rPr>
                        <a:t>（右・蝶番側）</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3050500253"/>
                  </a:ext>
                </a:extLst>
              </a:tr>
              <a:tr h="0">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0°</a:t>
                      </a:r>
                      <a:r>
                        <a:rPr kumimoji="1" lang="ja-JP" altLang="en-US" sz="850" b="0">
                          <a:solidFill>
                            <a:srgbClr val="1A2233"/>
                          </a:solidFill>
                          <a:latin typeface="Yu Gothic UI" panose="020B0500000000000000" pitchFamily="50" charset="-128"/>
                          <a:ea typeface="Yu Gothic UI" panose="020B0500000000000000" pitchFamily="50" charset="-128"/>
                        </a:rPr>
                        <a:t>（閉）</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36.9</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36.3</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37.0</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4268203348"/>
                  </a:ext>
                </a:extLst>
              </a:tr>
              <a:tr h="0">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40°</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4.1</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8.9</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11.1</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195354405"/>
                  </a:ext>
                </a:extLst>
              </a:tr>
              <a:tr h="0">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80°</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4.3</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0.0</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10.4</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1799031662"/>
                  </a:ext>
                </a:extLst>
              </a:tr>
              <a:tr h="0">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160°</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4.4</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0.0</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5.5</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763360623"/>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ドアなし（基準）</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4.4</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0.0</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4.4</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691539191"/>
                  </a:ext>
                </a:extLst>
              </a:tr>
            </a:tbl>
          </a:graphicData>
        </a:graphic>
      </p:graphicFrame>
      <p:sp>
        <p:nvSpPr>
          <p:cNvPr id="17" name="テキスト ボックス 16">
            <a:extLst>
              <a:ext uri="{FF2B5EF4-FFF2-40B4-BE49-F238E27FC236}">
                <a16:creationId xmlns:a16="http://schemas.microsoft.com/office/drawing/2014/main" id="{FCDA25D4-626D-7101-B485-DCCD8ED0F476}"/>
              </a:ext>
            </a:extLst>
          </p:cNvPr>
          <p:cNvSpPr txBox="1"/>
          <p:nvPr/>
        </p:nvSpPr>
        <p:spPr>
          <a:xfrm>
            <a:off x="406400" y="4608279"/>
            <a:ext cx="3623733" cy="350865"/>
          </a:xfrm>
          <a:prstGeom prst="rect">
            <a:avLst/>
          </a:prstGeom>
          <a:noFill/>
        </p:spPr>
        <p:txBody>
          <a:bodyPr vert="horz" wrap="square" lIns="0" tIns="0" rIns="0" bIns="0" rtlCol="0">
            <a:spAutoFit/>
          </a:bodyPr>
          <a:lstStyle/>
          <a:p>
            <a:pPr>
              <a:lnSpc>
                <a:spcPct val="95000"/>
              </a:lnSpc>
            </a:pPr>
            <a:r>
              <a:rPr kumimoji="1" lang="ja-JP" altLang="en-US" sz="800">
                <a:solidFill>
                  <a:srgbClr val="6B7688"/>
                </a:solidFill>
                <a:latin typeface="Yu Gothic UI" panose="020B0500000000000000" pitchFamily="50" charset="-128"/>
                <a:ea typeface="Yu Gothic UI" panose="020B0500000000000000" pitchFamily="50" charset="-128"/>
              </a:rPr>
              <a:t>● 音源／▲ リスナー（戸口の正面・外側）。部屋 </a:t>
            </a:r>
            <a:r>
              <a:rPr kumimoji="1" lang="en-US" altLang="ja-JP" sz="800">
                <a:solidFill>
                  <a:srgbClr val="6B7688"/>
                </a:solidFill>
                <a:latin typeface="Yu Gothic UI" panose="020B0500000000000000" pitchFamily="50" charset="-128"/>
                <a:ea typeface="Yu Gothic UI" panose="020B0500000000000000" pitchFamily="50" charset="-128"/>
              </a:rPr>
              <a:t>7.08 × 3.48 × 3.0 m </a:t>
            </a:r>
            <a:r>
              <a:rPr kumimoji="1" lang="ja-JP" altLang="en-US" sz="800">
                <a:solidFill>
                  <a:srgbClr val="6B7688"/>
                </a:solidFill>
                <a:latin typeface="Yu Gothic UI" panose="020B0500000000000000" pitchFamily="50" charset="-128"/>
                <a:ea typeface="Yu Gothic UI" panose="020B0500000000000000" pitchFamily="50" charset="-128"/>
              </a:rPr>
              <a:t>／ 戸口 </a:t>
            </a:r>
            <a:r>
              <a:rPr kumimoji="1" lang="en-US" altLang="ja-JP" sz="800">
                <a:solidFill>
                  <a:srgbClr val="6B7688"/>
                </a:solidFill>
                <a:latin typeface="Yu Gothic UI" panose="020B0500000000000000" pitchFamily="50" charset="-128"/>
                <a:ea typeface="Yu Gothic UI" panose="020B0500000000000000" pitchFamily="50" charset="-128"/>
              </a:rPr>
              <a:t>1.40 m </a:t>
            </a:r>
            <a:r>
              <a:rPr kumimoji="1" lang="ja-JP" altLang="en-US" sz="800">
                <a:solidFill>
                  <a:srgbClr val="6B7688"/>
                </a:solidFill>
                <a:latin typeface="Yu Gothic UI" panose="020B0500000000000000" pitchFamily="50" charset="-128"/>
                <a:ea typeface="Yu Gothic UI" panose="020B0500000000000000" pitchFamily="50" charset="-128"/>
              </a:rPr>
              <a:t>幅 ／ 壁厚 </a:t>
            </a:r>
            <a:r>
              <a:rPr kumimoji="1" lang="en-US" altLang="ja-JP" sz="800">
                <a:solidFill>
                  <a:srgbClr val="6B7688"/>
                </a:solidFill>
                <a:latin typeface="Yu Gothic UI" panose="020B0500000000000000" pitchFamily="50" charset="-128"/>
                <a:ea typeface="Yu Gothic UI" panose="020B0500000000000000" pitchFamily="50" charset="-128"/>
              </a:rPr>
              <a:t>0.16 m </a:t>
            </a:r>
            <a:r>
              <a:rPr kumimoji="1" lang="ja-JP" altLang="en-US" sz="800">
                <a:solidFill>
                  <a:srgbClr val="6B7688"/>
                </a:solidFill>
                <a:latin typeface="Yu Gothic UI" panose="020B0500000000000000" pitchFamily="50" charset="-128"/>
                <a:ea typeface="Yu Gothic UI" panose="020B0500000000000000" pitchFamily="50" charset="-128"/>
              </a:rPr>
              <a:t>／ 蝶番は右端・内開き。値は帯域別の生存ゲイン（透過⊕回折⊕反射）を </a:t>
            </a:r>
            <a:r>
              <a:rPr kumimoji="1" lang="en-US" altLang="ja-JP" sz="800">
                <a:solidFill>
                  <a:srgbClr val="6B7688"/>
                </a:solidFill>
                <a:latin typeface="Yu Gothic UI" panose="020B0500000000000000" pitchFamily="50" charset="-128"/>
                <a:ea typeface="Yu Gothic UI" panose="020B0500000000000000" pitchFamily="50" charset="-128"/>
              </a:rPr>
              <a:t>dB </a:t>
            </a:r>
            <a:r>
              <a:rPr kumimoji="1" lang="ja-JP" altLang="en-US" sz="800">
                <a:solidFill>
                  <a:srgbClr val="6B7688"/>
                </a:solidFill>
                <a:latin typeface="Yu Gothic UI" panose="020B0500000000000000" pitchFamily="50" charset="-128"/>
                <a:ea typeface="Yu Gothic UI" panose="020B0500000000000000" pitchFamily="50" charset="-128"/>
              </a:rPr>
              <a:t>にしたもの。この表は測定用の実行ファイル </a:t>
            </a:r>
            <a:r>
              <a:rPr kumimoji="1" lang="en-US" altLang="ja-JP" sz="800">
                <a:solidFill>
                  <a:srgbClr val="6B7688"/>
                </a:solidFill>
                <a:latin typeface="Yu Gothic UI" panose="020B0500000000000000" pitchFamily="50" charset="-128"/>
                <a:ea typeface="Yu Gothic UI" panose="020B0500000000000000" pitchFamily="50" charset="-128"/>
              </a:rPr>
              <a:t>1 </a:t>
            </a:r>
            <a:r>
              <a:rPr kumimoji="1" lang="ja-JP" altLang="en-US" sz="800">
                <a:solidFill>
                  <a:srgbClr val="6B7688"/>
                </a:solidFill>
                <a:latin typeface="Yu Gothic UI" panose="020B0500000000000000" pitchFamily="50" charset="-128"/>
                <a:ea typeface="Yu Gothic UI" panose="020B0500000000000000" pitchFamily="50" charset="-128"/>
              </a:rPr>
              <a:t>本で再現できます。</a:t>
            </a:r>
          </a:p>
        </p:txBody>
      </p:sp>
      <p:sp>
        <p:nvSpPr>
          <p:cNvPr id="18" name="テキスト ボックス 17">
            <a:extLst>
              <a:ext uri="{FF2B5EF4-FFF2-40B4-BE49-F238E27FC236}">
                <a16:creationId xmlns:a16="http://schemas.microsoft.com/office/drawing/2014/main" id="{5E2405EC-AE55-9E9D-BB37-088C12687F2C}"/>
              </a:ext>
            </a:extLst>
          </p:cNvPr>
          <p:cNvSpPr txBox="1"/>
          <p:nvPr/>
        </p:nvSpPr>
        <p:spPr>
          <a:xfrm>
            <a:off x="406400" y="5035344"/>
            <a:ext cx="3623733" cy="350865"/>
          </a:xfrm>
          <a:prstGeom prst="rect">
            <a:avLst/>
          </a:prstGeom>
          <a:noFill/>
        </p:spPr>
        <p:txBody>
          <a:bodyPr vert="horz" wrap="square" lIns="0" tIns="0" rIns="0" bIns="0" rtlCol="0">
            <a:spAutoFit/>
          </a:bodyPr>
          <a:lstStyle/>
          <a:p>
            <a:pPr>
              <a:lnSpc>
                <a:spcPct val="95000"/>
              </a:lnSpc>
            </a:pPr>
            <a:r>
              <a:rPr kumimoji="1" lang="ja-JP" altLang="en-US" sz="800">
                <a:solidFill>
                  <a:srgbClr val="6B7688"/>
                </a:solidFill>
                <a:latin typeface="Yu Gothic UI" panose="020B0500000000000000" pitchFamily="50" charset="-128"/>
                <a:ea typeface="Yu Gothic UI" panose="020B0500000000000000" pitchFamily="50" charset="-128"/>
              </a:rPr>
              <a:t>★見るのは いちばん下の「ドアなし」との差です。音源</a:t>
            </a:r>
            <a:r>
              <a:rPr kumimoji="1" lang="en-US" altLang="ja-JP" sz="800">
                <a:solidFill>
                  <a:srgbClr val="6B7688"/>
                </a:solidFill>
                <a:latin typeface="Yu Gothic UI" panose="020B0500000000000000" pitchFamily="50" charset="-128"/>
                <a:ea typeface="Yu Gothic UI" panose="020B0500000000000000" pitchFamily="50" charset="-128"/>
              </a:rPr>
              <a:t>1</a:t>
            </a:r>
            <a:r>
              <a:rPr kumimoji="1" lang="ja-JP" altLang="en-US" sz="800">
                <a:solidFill>
                  <a:srgbClr val="6B7688"/>
                </a:solidFill>
                <a:latin typeface="Yu Gothic UI" panose="020B0500000000000000" pitchFamily="50" charset="-128"/>
                <a:ea typeface="Yu Gothic UI" panose="020B0500000000000000" pitchFamily="50" charset="-128"/>
              </a:rPr>
              <a:t>・</a:t>
            </a:r>
            <a:r>
              <a:rPr kumimoji="1" lang="en-US" altLang="ja-JP" sz="800">
                <a:solidFill>
                  <a:srgbClr val="6B7688"/>
                </a:solidFill>
                <a:latin typeface="Yu Gothic UI" panose="020B0500000000000000" pitchFamily="50" charset="-128"/>
                <a:ea typeface="Yu Gothic UI" panose="020B0500000000000000" pitchFamily="50" charset="-128"/>
              </a:rPr>
              <a:t>3 </a:t>
            </a:r>
            <a:r>
              <a:rPr kumimoji="1" lang="ja-JP" altLang="en-US" sz="800">
                <a:solidFill>
                  <a:srgbClr val="6B7688"/>
                </a:solidFill>
                <a:latin typeface="Yu Gothic UI" panose="020B0500000000000000" pitchFamily="50" charset="-128"/>
                <a:ea typeface="Yu Gothic UI" panose="020B0500000000000000" pitchFamily="50" charset="-128"/>
              </a:rPr>
              <a:t>は斜めから覗く位置なので、扉が無くても戸口の縁（壁）に −</a:t>
            </a:r>
            <a:r>
              <a:rPr kumimoji="1" lang="en-US" altLang="ja-JP" sz="800">
                <a:solidFill>
                  <a:srgbClr val="6B7688"/>
                </a:solidFill>
                <a:latin typeface="Yu Gothic UI" panose="020B0500000000000000" pitchFamily="50" charset="-128"/>
                <a:ea typeface="Yu Gothic UI" panose="020B0500000000000000" pitchFamily="50" charset="-128"/>
              </a:rPr>
              <a:t>4.4 dB </a:t>
            </a:r>
            <a:r>
              <a:rPr kumimoji="1" lang="ja-JP" altLang="en-US" sz="800">
                <a:solidFill>
                  <a:srgbClr val="6B7688"/>
                </a:solidFill>
                <a:latin typeface="Yu Gothic UI" panose="020B0500000000000000" pitchFamily="50" charset="-128"/>
                <a:ea typeface="Yu Gothic UI" panose="020B0500000000000000" pitchFamily="50" charset="-128"/>
              </a:rPr>
              <a:t>分だけ遮られます。扉の効果と、戸口そのものの効果は別物です。</a:t>
            </a:r>
          </a:p>
        </p:txBody>
      </p:sp>
      <p:sp>
        <p:nvSpPr>
          <p:cNvPr id="19" name="テキスト ボックス 18">
            <a:extLst>
              <a:ext uri="{FF2B5EF4-FFF2-40B4-BE49-F238E27FC236}">
                <a16:creationId xmlns:a16="http://schemas.microsoft.com/office/drawing/2014/main" id="{37584282-49E6-50A0-BDBE-E69CF11ABDA1}"/>
              </a:ext>
            </a:extLst>
          </p:cNvPr>
          <p:cNvSpPr txBox="1"/>
          <p:nvPr/>
        </p:nvSpPr>
        <p:spPr>
          <a:xfrm>
            <a:off x="508000" y="5589409"/>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① 開口が向いた側から順に入ってくる。 蝶番は右なので、隙間はまず左から開きます。音源</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と 音源</a:t>
            </a:r>
            <a:r>
              <a:rPr kumimoji="1" lang="en-US" altLang="ja-JP" sz="950">
                <a:solidFill>
                  <a:srgbClr val="1A2233"/>
                </a:solidFill>
                <a:latin typeface="Yu Gothic UI" panose="020B0500000000000000" pitchFamily="50" charset="-128"/>
                <a:ea typeface="Yu Gothic UI" panose="020B0500000000000000" pitchFamily="50" charset="-128"/>
              </a:rPr>
              <a:t>3 </a:t>
            </a:r>
            <a:r>
              <a:rPr kumimoji="1" lang="ja-JP" altLang="en-US" sz="950">
                <a:solidFill>
                  <a:srgbClr val="1A2233"/>
                </a:solidFill>
                <a:latin typeface="Yu Gothic UI" panose="020B0500000000000000" pitchFamily="50" charset="-128"/>
                <a:ea typeface="Yu Gothic UI" panose="020B0500000000000000" pitchFamily="50" charset="-128"/>
              </a:rPr>
              <a:t>は左右対称＝距離が同じなのに、入ってくる順が違う ── 距離ではなく開口の向きが決めています。</a:t>
            </a:r>
          </a:p>
        </p:txBody>
      </p:sp>
      <p:sp>
        <p:nvSpPr>
          <p:cNvPr id="24" name="テキスト ボックス 23">
            <a:extLst>
              <a:ext uri="{FF2B5EF4-FFF2-40B4-BE49-F238E27FC236}">
                <a16:creationId xmlns:a16="http://schemas.microsoft.com/office/drawing/2014/main" id="{1FE89C33-505D-EB28-E586-6AE5F038483A}"/>
              </a:ext>
            </a:extLst>
          </p:cNvPr>
          <p:cNvSpPr txBox="1"/>
          <p:nvPr/>
        </p:nvSpPr>
        <p:spPr>
          <a:xfrm>
            <a:off x="4385733" y="3371299"/>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★蝶番を左へ振ると、きれいに鏡像になります。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入る側だけが入れ替わり、中央の音源</a:t>
            </a:r>
            <a:r>
              <a:rPr kumimoji="1" lang="en-US" altLang="ja-JP" sz="950">
                <a:solidFill>
                  <a:srgbClr val="1A2233"/>
                </a:solidFill>
                <a:latin typeface="Yu Gothic UI" panose="020B0500000000000000" pitchFamily="50" charset="-128"/>
                <a:ea typeface="Yu Gothic UI" panose="020B0500000000000000" pitchFamily="50" charset="-128"/>
              </a:rPr>
              <a:t>2 </a:t>
            </a:r>
            <a:r>
              <a:rPr kumimoji="1" lang="ja-JP" altLang="en-US" sz="950">
                <a:solidFill>
                  <a:srgbClr val="1A2233"/>
                </a:solidFill>
                <a:latin typeface="Yu Gothic UI" panose="020B0500000000000000" pitchFamily="50" charset="-128"/>
                <a:ea typeface="Yu Gothic UI" panose="020B0500000000000000" pitchFamily="50" charset="-128"/>
              </a:rPr>
              <a:t>は −</a:t>
            </a:r>
            <a:r>
              <a:rPr kumimoji="1" lang="en-US" altLang="ja-JP" sz="950">
                <a:solidFill>
                  <a:srgbClr val="1A2233"/>
                </a:solidFill>
                <a:latin typeface="Yu Gothic UI" panose="020B0500000000000000" pitchFamily="50" charset="-128"/>
                <a:ea typeface="Yu Gothic UI" panose="020B0500000000000000" pitchFamily="50" charset="-128"/>
              </a:rPr>
              <a:t>8.9 </a:t>
            </a:r>
            <a:r>
              <a:rPr kumimoji="1" lang="ja-JP" altLang="en-US" sz="950">
                <a:solidFill>
                  <a:srgbClr val="1A2233"/>
                </a:solidFill>
                <a:latin typeface="Yu Gothic UI" panose="020B0500000000000000" pitchFamily="50" charset="-128"/>
                <a:ea typeface="Yu Gothic UI" panose="020B0500000000000000" pitchFamily="50" charset="-128"/>
              </a:rPr>
              <a:t>のまま動かない。幾何がそのまま出ていることの確認です。</a:t>
            </a:r>
          </a:p>
        </p:txBody>
      </p:sp>
      <p:graphicFrame>
        <p:nvGraphicFramePr>
          <p:cNvPr id="26" name="表 25">
            <a:extLst>
              <a:ext uri="{FF2B5EF4-FFF2-40B4-BE49-F238E27FC236}">
                <a16:creationId xmlns:a16="http://schemas.microsoft.com/office/drawing/2014/main" id="{7A09F571-BEB3-AD96-7BD8-412402744857}"/>
              </a:ext>
            </a:extLst>
          </p:cNvPr>
          <p:cNvGraphicFramePr>
            <a:graphicFrameLocks noGrp="1"/>
          </p:cNvGraphicFramePr>
          <p:nvPr>
            <p:extLst>
              <p:ext uri="{D42A27DB-BD31-4B8C-83A1-F6EECF244321}">
                <p14:modId xmlns:p14="http://schemas.microsoft.com/office/powerpoint/2010/main" val="2474310947"/>
              </p:ext>
            </p:extLst>
          </p:nvPr>
        </p:nvGraphicFramePr>
        <p:xfrm>
          <a:off x="4284134" y="3927652"/>
          <a:ext cx="3623733" cy="685800"/>
        </p:xfrm>
        <a:graphic>
          <a:graphicData uri="http://schemas.openxmlformats.org/drawingml/2006/table">
            <a:tbl>
              <a:tblPr firstRow="1" bandRow="1">
                <a:tableStyleId>{5C22544A-7EE6-4342-B048-85BDC9FD1C3A}</a:tableStyleId>
              </a:tblPr>
              <a:tblGrid>
                <a:gridCol w="905933">
                  <a:extLst>
                    <a:ext uri="{9D8B030D-6E8A-4147-A177-3AD203B41FA5}">
                      <a16:colId xmlns:a16="http://schemas.microsoft.com/office/drawing/2014/main" val="1502323601"/>
                    </a:ext>
                  </a:extLst>
                </a:gridCol>
                <a:gridCol w="905933">
                  <a:extLst>
                    <a:ext uri="{9D8B030D-6E8A-4147-A177-3AD203B41FA5}">
                      <a16:colId xmlns:a16="http://schemas.microsoft.com/office/drawing/2014/main" val="3810226572"/>
                    </a:ext>
                  </a:extLst>
                </a:gridCol>
                <a:gridCol w="905933">
                  <a:extLst>
                    <a:ext uri="{9D8B030D-6E8A-4147-A177-3AD203B41FA5}">
                      <a16:colId xmlns:a16="http://schemas.microsoft.com/office/drawing/2014/main" val="3673416407"/>
                    </a:ext>
                  </a:extLst>
                </a:gridCol>
                <a:gridCol w="905933">
                  <a:extLst>
                    <a:ext uri="{9D8B030D-6E8A-4147-A177-3AD203B41FA5}">
                      <a16:colId xmlns:a16="http://schemas.microsoft.com/office/drawing/2014/main" val="1958096384"/>
                    </a:ext>
                  </a:extLst>
                </a:gridCol>
              </a:tblGrid>
              <a:tr h="0">
                <a:tc>
                  <a:txBody>
                    <a:bodyPr/>
                    <a:lstStyle/>
                    <a:p>
                      <a:r>
                        <a:rPr kumimoji="1" lang="en-US" altLang="ja-JP" sz="850" b="1">
                          <a:solidFill>
                            <a:srgbClr val="FFFFFF"/>
                          </a:solidFill>
                          <a:latin typeface="Yu Gothic UI" panose="020B0500000000000000" pitchFamily="50" charset="-128"/>
                          <a:ea typeface="Yu Gothic UI" panose="020B0500000000000000" pitchFamily="50" charset="-128"/>
                        </a:rPr>
                        <a:t>40°</a:t>
                      </a:r>
                      <a:endParaRPr kumimoji="1" lang="ja-JP" altLang="en-US" sz="850" b="1">
                        <a:solidFill>
                          <a:srgbClr val="FFFFFF"/>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音源</a:t>
                      </a:r>
                      <a:r>
                        <a:rPr kumimoji="1" lang="en-US" altLang="ja-JP" sz="850" b="1">
                          <a:solidFill>
                            <a:srgbClr val="FFFFFF"/>
                          </a:solidFill>
                          <a:latin typeface="Yu Gothic UI" panose="020B0500000000000000" pitchFamily="50" charset="-128"/>
                          <a:ea typeface="Yu Gothic UI" panose="020B0500000000000000" pitchFamily="50" charset="-128"/>
                        </a:rPr>
                        <a:t>1</a:t>
                      </a:r>
                      <a:endParaRPr kumimoji="1" lang="ja-JP" altLang="en-US" sz="850" b="1">
                        <a:solidFill>
                          <a:srgbClr val="FFFFFF"/>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音源</a:t>
                      </a:r>
                      <a:r>
                        <a:rPr kumimoji="1" lang="en-US" altLang="ja-JP" sz="850" b="1">
                          <a:solidFill>
                            <a:srgbClr val="FFFFFF"/>
                          </a:solidFill>
                          <a:latin typeface="Yu Gothic UI" panose="020B0500000000000000" pitchFamily="50" charset="-128"/>
                          <a:ea typeface="Yu Gothic UI" panose="020B0500000000000000" pitchFamily="50" charset="-128"/>
                        </a:rPr>
                        <a:t>2</a:t>
                      </a:r>
                      <a:endParaRPr kumimoji="1" lang="ja-JP" altLang="en-US" sz="850" b="1">
                        <a:solidFill>
                          <a:srgbClr val="FFFFFF"/>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音源</a:t>
                      </a:r>
                      <a:r>
                        <a:rPr kumimoji="1" lang="en-US" altLang="ja-JP" sz="850" b="1">
                          <a:solidFill>
                            <a:srgbClr val="FFFFFF"/>
                          </a:solidFill>
                          <a:latin typeface="Yu Gothic UI" panose="020B0500000000000000" pitchFamily="50" charset="-128"/>
                          <a:ea typeface="Yu Gothic UI" panose="020B0500000000000000" pitchFamily="50" charset="-128"/>
                        </a:rPr>
                        <a:t>3</a:t>
                      </a:r>
                      <a:endParaRPr kumimoji="1" lang="ja-JP" altLang="en-US" sz="850" b="1">
                        <a:solidFill>
                          <a:srgbClr val="FFFFFF"/>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770387121"/>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蝶番 右</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4.1</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8.9</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11.1</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259117748"/>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蝶番 左</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11.0</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8.9</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4.0</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503103467"/>
                  </a:ext>
                </a:extLst>
              </a:tr>
            </a:tbl>
          </a:graphicData>
        </a:graphic>
      </p:graphicFrame>
      <p:sp>
        <p:nvSpPr>
          <p:cNvPr id="27" name="テキスト ボックス 26">
            <a:extLst>
              <a:ext uri="{FF2B5EF4-FFF2-40B4-BE49-F238E27FC236}">
                <a16:creationId xmlns:a16="http://schemas.microsoft.com/office/drawing/2014/main" id="{37B56497-A539-D791-7160-B9F23DD4DC8D}"/>
              </a:ext>
            </a:extLst>
          </p:cNvPr>
          <p:cNvSpPr txBox="1"/>
          <p:nvPr/>
        </p:nvSpPr>
        <p:spPr>
          <a:xfrm>
            <a:off x="4385733" y="4735372"/>
            <a:ext cx="3420533" cy="555537"/>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② 閉じているときは「こもる」だけで、位置が分からない。 </a:t>
            </a:r>
            <a:r>
              <a:rPr kumimoji="1" lang="en-US" altLang="ja-JP" sz="950">
                <a:solidFill>
                  <a:srgbClr val="1A2233"/>
                </a:solidFill>
                <a:latin typeface="Yu Gothic UI" panose="020B0500000000000000" pitchFamily="50" charset="-128"/>
                <a:ea typeface="Yu Gothic UI" panose="020B0500000000000000" pitchFamily="50" charset="-128"/>
              </a:rPr>
              <a:t>3 </a:t>
            </a:r>
            <a:r>
              <a:rPr kumimoji="1" lang="ja-JP" altLang="en-US" sz="950">
                <a:solidFill>
                  <a:srgbClr val="1A2233"/>
                </a:solidFill>
                <a:latin typeface="Yu Gothic UI" panose="020B0500000000000000" pitchFamily="50" charset="-128"/>
                <a:ea typeface="Yu Gothic UI" panose="020B0500000000000000" pitchFamily="50" charset="-128"/>
              </a:rPr>
              <a:t>本とも −</a:t>
            </a:r>
            <a:r>
              <a:rPr kumimoji="1" lang="en-US" altLang="ja-JP" sz="950">
                <a:solidFill>
                  <a:srgbClr val="1A2233"/>
                </a:solidFill>
                <a:latin typeface="Yu Gothic UI" panose="020B0500000000000000" pitchFamily="50" charset="-128"/>
                <a:ea typeface="Yu Gothic UI" panose="020B0500000000000000" pitchFamily="50" charset="-128"/>
              </a:rPr>
              <a:t>36.3〜−37.0 dB </a:t>
            </a:r>
            <a:r>
              <a:rPr kumimoji="1" lang="ja-JP" altLang="en-US" sz="950">
                <a:solidFill>
                  <a:srgbClr val="1A2233"/>
                </a:solidFill>
                <a:latin typeface="Yu Gothic UI" panose="020B0500000000000000" pitchFamily="50" charset="-128"/>
                <a:ea typeface="Yu Gothic UI" panose="020B0500000000000000" pitchFamily="50" charset="-128"/>
              </a:rPr>
              <a:t>とほぼ同じ値で、低域−高域は </a:t>
            </a:r>
            <a:r>
              <a:rPr kumimoji="1" lang="en-US" altLang="ja-JP" sz="950">
                <a:solidFill>
                  <a:srgbClr val="1A2233"/>
                </a:solidFill>
                <a:latin typeface="Yu Gothic UI" panose="020B0500000000000000" pitchFamily="50" charset="-128"/>
                <a:ea typeface="Yu Gothic UI" panose="020B0500000000000000" pitchFamily="50" charset="-128"/>
              </a:rPr>
              <a:t>+21.3 dB</a:t>
            </a:r>
            <a:r>
              <a:rPr kumimoji="1" lang="ja-JP" altLang="en-US" sz="950">
                <a:solidFill>
                  <a:srgbClr val="1A2233"/>
                </a:solidFill>
                <a:latin typeface="Yu Gothic UI" panose="020B0500000000000000" pitchFamily="50" charset="-128"/>
                <a:ea typeface="Yu Gothic UI" panose="020B0500000000000000" pitchFamily="50" charset="-128"/>
              </a:rPr>
              <a:t>（扉板を透過してくる低域だけが残る）。開けた瞬間に分かれる ── これが </a:t>
            </a:r>
            <a:r>
              <a:rPr kumimoji="1" lang="en-US" altLang="ja-JP" sz="950">
                <a:solidFill>
                  <a:srgbClr val="1A2233"/>
                </a:solidFill>
                <a:latin typeface="Yu Gothic UI" panose="020B0500000000000000" pitchFamily="50" charset="-128"/>
                <a:ea typeface="Yu Gothic UI" panose="020B0500000000000000" pitchFamily="50" charset="-128"/>
              </a:rPr>
              <a:t>p2 </a:t>
            </a:r>
            <a:r>
              <a:rPr kumimoji="1" lang="ja-JP" altLang="en-US" sz="950">
                <a:solidFill>
                  <a:srgbClr val="1A2233"/>
                </a:solidFill>
                <a:latin typeface="Yu Gothic UI" panose="020B0500000000000000" pitchFamily="50" charset="-128"/>
                <a:ea typeface="Yu Gothic UI" panose="020B0500000000000000" pitchFamily="50" charset="-128"/>
              </a:rPr>
              <a:t>の「答え合わせ」です。</a:t>
            </a:r>
          </a:p>
        </p:txBody>
      </p:sp>
      <p:sp>
        <p:nvSpPr>
          <p:cNvPr id="30" name="テキスト ボックス 29">
            <a:extLst>
              <a:ext uri="{FF2B5EF4-FFF2-40B4-BE49-F238E27FC236}">
                <a16:creationId xmlns:a16="http://schemas.microsoft.com/office/drawing/2014/main" id="{0FD46F3C-C95C-46CB-AF57-5292CD80375E}"/>
              </a:ext>
            </a:extLst>
          </p:cNvPr>
          <p:cNvSpPr txBox="1"/>
          <p:nvPr/>
        </p:nvSpPr>
        <p:spPr>
          <a:xfrm>
            <a:off x="8161867" y="3244299"/>
            <a:ext cx="3623733" cy="1286506"/>
          </a:xfrm>
          <a:prstGeom prst="rect">
            <a:avLst/>
          </a:prstGeom>
          <a:noFill/>
        </p:spPr>
        <p:txBody>
          <a:bodyPr vert="horz" wrap="square" lIns="0" tIns="0" rIns="0" bIns="0" rtlCol="0">
            <a:spAutoFit/>
          </a:bodyPr>
          <a:lstStyle/>
          <a:p>
            <a:pPr>
              <a:lnSpc>
                <a:spcPct val="95000"/>
              </a:lnSpc>
            </a:pPr>
            <a:r>
              <a:rPr kumimoji="1" lang="ja-JP" altLang="en-US" sz="800">
                <a:solidFill>
                  <a:srgbClr val="6B7688"/>
                </a:solidFill>
                <a:latin typeface="Yu Gothic UI" panose="020B0500000000000000" pitchFamily="50" charset="-128"/>
                <a:ea typeface="Yu Gothic UI" panose="020B0500000000000000" pitchFamily="50" charset="-128"/>
              </a:rPr>
              <a:t>★</a:t>
            </a:r>
            <a:r>
              <a:rPr kumimoji="1" lang="en-US" altLang="ja-JP" sz="800">
                <a:solidFill>
                  <a:srgbClr val="6B7688"/>
                </a:solidFill>
                <a:latin typeface="Yu Gothic UI" panose="020B0500000000000000" pitchFamily="50" charset="-128"/>
                <a:ea typeface="Yu Gothic UI" panose="020B0500000000000000" pitchFamily="50" charset="-128"/>
              </a:rPr>
              <a:t>4 </a:t>
            </a:r>
            <a:r>
              <a:rPr kumimoji="1" lang="ja-JP" altLang="en-US" sz="800">
                <a:solidFill>
                  <a:srgbClr val="6B7688"/>
                </a:solidFill>
                <a:latin typeface="Yu Gothic UI" panose="020B0500000000000000" pitchFamily="50" charset="-128"/>
                <a:ea typeface="Yu Gothic UI" panose="020B0500000000000000" pitchFamily="50" charset="-128"/>
              </a:rPr>
              <a:t>点だけでなく全域を </a:t>
            </a:r>
            <a:r>
              <a:rPr kumimoji="1" lang="en-US" altLang="ja-JP" sz="800">
                <a:solidFill>
                  <a:srgbClr val="6B7688"/>
                </a:solidFill>
                <a:latin typeface="Yu Gothic UI" panose="020B0500000000000000" pitchFamily="50" charset="-128"/>
                <a:ea typeface="Yu Gothic UI" panose="020B0500000000000000" pitchFamily="50" charset="-128"/>
              </a:rPr>
              <a:t>10° </a:t>
            </a:r>
            <a:r>
              <a:rPr kumimoji="1" lang="ja-JP" altLang="en-US" sz="800">
                <a:solidFill>
                  <a:srgbClr val="6B7688"/>
                </a:solidFill>
                <a:latin typeface="Yu Gothic UI" panose="020B0500000000000000" pitchFamily="50" charset="-128"/>
                <a:ea typeface="Yu Gothic UI" panose="020B0500000000000000" pitchFamily="50" charset="-128"/>
              </a:rPr>
              <a:t>刻み・境目は </a:t>
            </a:r>
            <a:r>
              <a:rPr kumimoji="1" lang="en-US" altLang="ja-JP" sz="800">
                <a:solidFill>
                  <a:srgbClr val="6B7688"/>
                </a:solidFill>
                <a:latin typeface="Yu Gothic UI" panose="020B0500000000000000" pitchFamily="50" charset="-128"/>
                <a:ea typeface="Yu Gothic UI" panose="020B0500000000000000" pitchFamily="50" charset="-128"/>
              </a:rPr>
              <a:t>1° </a:t>
            </a:r>
            <a:r>
              <a:rPr kumimoji="1" lang="ja-JP" altLang="en-US" sz="800">
                <a:solidFill>
                  <a:srgbClr val="6B7688"/>
                </a:solidFill>
                <a:latin typeface="Yu Gothic UI" panose="020B0500000000000000" pitchFamily="50" charset="-128"/>
                <a:ea typeface="Yu Gothic UI" panose="020B0500000000000000" pitchFamily="50" charset="-128"/>
              </a:rPr>
              <a:t>刻みで振って形を確かめました（音源</a:t>
            </a:r>
            <a:r>
              <a:rPr kumimoji="1" lang="en-US" altLang="ja-JP" sz="800">
                <a:solidFill>
                  <a:srgbClr val="6B7688"/>
                </a:solidFill>
                <a:latin typeface="Yu Gothic UI" panose="020B0500000000000000" pitchFamily="50" charset="-128"/>
                <a:ea typeface="Yu Gothic UI" panose="020B0500000000000000" pitchFamily="50" charset="-128"/>
              </a:rPr>
              <a:t>3</a:t>
            </a:r>
            <a:r>
              <a:rPr kumimoji="1" lang="ja-JP" altLang="en-US" sz="800">
                <a:solidFill>
                  <a:srgbClr val="6B7688"/>
                </a:solidFill>
                <a:latin typeface="Yu Gothic UI" panose="020B0500000000000000" pitchFamily="50" charset="-128"/>
                <a:ea typeface="Yu Gothic UI" panose="020B0500000000000000" pitchFamily="50" charset="-128"/>
              </a:rPr>
              <a:t>・広帯域 </a:t>
            </a:r>
            <a:r>
              <a:rPr kumimoji="1" lang="en-US" altLang="ja-JP" sz="800">
                <a:solidFill>
                  <a:srgbClr val="6B7688"/>
                </a:solidFill>
                <a:latin typeface="Yu Gothic UI" panose="020B0500000000000000" pitchFamily="50" charset="-128"/>
                <a:ea typeface="Yu Gothic UI" panose="020B0500000000000000" pitchFamily="50" charset="-128"/>
              </a:rPr>
              <a:t>dB</a:t>
            </a:r>
            <a:r>
              <a:rPr kumimoji="1" lang="ja-JP" altLang="en-US" sz="800">
                <a:solidFill>
                  <a:srgbClr val="6B7688"/>
                </a:solidFill>
                <a:latin typeface="Yu Gothic UI" panose="020B0500000000000000" pitchFamily="50" charset="-128"/>
                <a:ea typeface="Yu Gothic UI" panose="020B0500000000000000" pitchFamily="50" charset="-128"/>
              </a:rPr>
              <a:t>）。 閉 −</a:t>
            </a:r>
            <a:r>
              <a:rPr kumimoji="1" lang="en-US" altLang="ja-JP" sz="800">
                <a:solidFill>
                  <a:srgbClr val="6B7688"/>
                </a:solidFill>
                <a:latin typeface="Yu Gothic UI" panose="020B0500000000000000" pitchFamily="50" charset="-128"/>
                <a:ea typeface="Yu Gothic UI" panose="020B0500000000000000" pitchFamily="50" charset="-128"/>
              </a:rPr>
              <a:t>37.0 → 10° −14.0 → 20° −12.1 → 40° −11.1 → 60° −10.6 → 80° −10.4 → 120° −11.1 → 140° −6.5 → 160° −5.5 → </a:t>
            </a:r>
            <a:r>
              <a:rPr kumimoji="1" lang="ja-JP" altLang="en-US" sz="800">
                <a:solidFill>
                  <a:srgbClr val="6B7688"/>
                </a:solidFill>
                <a:latin typeface="Yu Gothic UI" panose="020B0500000000000000" pitchFamily="50" charset="-128"/>
                <a:ea typeface="Yu Gothic UI" panose="020B0500000000000000" pitchFamily="50" charset="-128"/>
              </a:rPr>
              <a:t>ドアなし −</a:t>
            </a:r>
            <a:r>
              <a:rPr kumimoji="1" lang="en-US" altLang="ja-JP" sz="800">
                <a:solidFill>
                  <a:srgbClr val="6B7688"/>
                </a:solidFill>
                <a:latin typeface="Yu Gothic UI" panose="020B0500000000000000" pitchFamily="50" charset="-128"/>
                <a:ea typeface="Yu Gothic UI" panose="020B0500000000000000" pitchFamily="50" charset="-128"/>
              </a:rPr>
              <a:t>4.4</a:t>
            </a:r>
            <a:r>
              <a:rPr kumimoji="1" lang="ja-JP" altLang="en-US" sz="800">
                <a:solidFill>
                  <a:srgbClr val="6B7688"/>
                </a:solidFill>
                <a:latin typeface="Yu Gothic UI" panose="020B0500000000000000" pitchFamily="50" charset="-128"/>
                <a:ea typeface="Yu Gothic UI" panose="020B0500000000000000" pitchFamily="50" charset="-128"/>
              </a:rPr>
              <a:t>。閉から </a:t>
            </a:r>
            <a:r>
              <a:rPr kumimoji="1" lang="en-US" altLang="ja-JP" sz="800">
                <a:solidFill>
                  <a:srgbClr val="6B7688"/>
                </a:solidFill>
                <a:latin typeface="Yu Gothic UI" panose="020B0500000000000000" pitchFamily="50" charset="-128"/>
                <a:ea typeface="Yu Gothic UI" panose="020B0500000000000000" pitchFamily="50" charset="-128"/>
              </a:rPr>
              <a:t>80° </a:t>
            </a:r>
            <a:r>
              <a:rPr kumimoji="1" lang="ja-JP" altLang="en-US" sz="800">
                <a:solidFill>
                  <a:srgbClr val="6B7688"/>
                </a:solidFill>
                <a:latin typeface="Yu Gothic UI" panose="020B0500000000000000" pitchFamily="50" charset="-128"/>
                <a:ea typeface="Yu Gothic UI" panose="020B0500000000000000" pitchFamily="50" charset="-128"/>
              </a:rPr>
              <a:t>までは素直に良くなります。</a:t>
            </a:r>
          </a:p>
          <a:p>
            <a:pPr>
              <a:lnSpc>
                <a:spcPct val="95000"/>
              </a:lnSpc>
            </a:pPr>
            <a:r>
              <a:rPr kumimoji="1" lang="ja-JP" altLang="en-US" sz="800">
                <a:solidFill>
                  <a:srgbClr val="6B7688"/>
                </a:solidFill>
                <a:latin typeface="Yu Gothic UI" panose="020B0500000000000000" pitchFamily="50" charset="-128"/>
                <a:ea typeface="Yu Gothic UI" panose="020B0500000000000000" pitchFamily="50" charset="-128"/>
              </a:rPr>
              <a:t>⚠ ただし </a:t>
            </a:r>
            <a:r>
              <a:rPr kumimoji="1" lang="en-US" altLang="ja-JP" sz="800">
                <a:solidFill>
                  <a:srgbClr val="6B7688"/>
                </a:solidFill>
                <a:latin typeface="Yu Gothic UI" panose="020B0500000000000000" pitchFamily="50" charset="-128"/>
                <a:ea typeface="Yu Gothic UI" panose="020B0500000000000000" pitchFamily="50" charset="-128"/>
              </a:rPr>
              <a:t>89°→90°→91° </a:t>
            </a:r>
            <a:r>
              <a:rPr kumimoji="1" lang="ja-JP" altLang="en-US" sz="800">
                <a:solidFill>
                  <a:srgbClr val="6B7688"/>
                </a:solidFill>
                <a:latin typeface="Yu Gothic UI" panose="020B0500000000000000" pitchFamily="50" charset="-128"/>
                <a:ea typeface="Yu Gothic UI" panose="020B0500000000000000" pitchFamily="50" charset="-128"/>
              </a:rPr>
              <a:t>に段差があり、そこは信用できません（−</a:t>
            </a:r>
            <a:r>
              <a:rPr kumimoji="1" lang="en-US" altLang="ja-JP" sz="800">
                <a:solidFill>
                  <a:srgbClr val="6B7688"/>
                </a:solidFill>
                <a:latin typeface="Yu Gothic UI" panose="020B0500000000000000" pitchFamily="50" charset="-128"/>
                <a:ea typeface="Yu Gothic UI" panose="020B0500000000000000" pitchFamily="50" charset="-128"/>
              </a:rPr>
              <a:t>10.2 → −17.3 → −12.7</a:t>
            </a:r>
            <a:r>
              <a:rPr kumimoji="1" lang="ja-JP" altLang="en-US" sz="800">
                <a:solidFill>
                  <a:srgbClr val="6B7688"/>
                </a:solidFill>
                <a:latin typeface="Yu Gothic UI" panose="020B0500000000000000" pitchFamily="50" charset="-128"/>
                <a:ea typeface="Yu Gothic UI" panose="020B0500000000000000" pitchFamily="50" charset="-128"/>
              </a:rPr>
              <a:t>）。 </a:t>
            </a:r>
            <a:r>
              <a:rPr kumimoji="1" lang="en-US" altLang="ja-JP" sz="800">
                <a:solidFill>
                  <a:srgbClr val="6B7688"/>
                </a:solidFill>
                <a:latin typeface="Yu Gothic UI" panose="020B0500000000000000" pitchFamily="50" charset="-128"/>
                <a:ea typeface="Yu Gothic UI" panose="020B0500000000000000" pitchFamily="50" charset="-128"/>
              </a:rPr>
              <a:t>1° </a:t>
            </a:r>
            <a:r>
              <a:rPr kumimoji="1" lang="ja-JP" altLang="en-US" sz="800">
                <a:solidFill>
                  <a:srgbClr val="6B7688"/>
                </a:solidFill>
                <a:latin typeface="Yu Gothic UI" panose="020B0500000000000000" pitchFamily="50" charset="-128"/>
                <a:ea typeface="Yu Gothic UI" panose="020B0500000000000000" pitchFamily="50" charset="-128"/>
              </a:rPr>
              <a:t>で </a:t>
            </a:r>
            <a:r>
              <a:rPr kumimoji="1" lang="en-US" altLang="ja-JP" sz="800">
                <a:solidFill>
                  <a:srgbClr val="6B7688"/>
                </a:solidFill>
                <a:latin typeface="Yu Gothic UI" panose="020B0500000000000000" pitchFamily="50" charset="-128"/>
                <a:ea typeface="Yu Gothic UI" panose="020B0500000000000000" pitchFamily="50" charset="-128"/>
              </a:rPr>
              <a:t>7 dB </a:t>
            </a:r>
            <a:r>
              <a:rPr kumimoji="1" lang="ja-JP" altLang="en-US" sz="800">
                <a:solidFill>
                  <a:srgbClr val="6B7688"/>
                </a:solidFill>
                <a:latin typeface="Yu Gothic UI" panose="020B0500000000000000" pitchFamily="50" charset="-128"/>
                <a:ea typeface="Yu Gothic UI" panose="020B0500000000000000" pitchFamily="50" charset="-128"/>
              </a:rPr>
              <a:t>突出し、そのあと </a:t>
            </a:r>
            <a:r>
              <a:rPr kumimoji="1" lang="en-US" altLang="ja-JP" sz="800">
                <a:solidFill>
                  <a:srgbClr val="6B7688"/>
                </a:solidFill>
                <a:latin typeface="Yu Gothic UI" panose="020B0500000000000000" pitchFamily="50" charset="-128"/>
                <a:ea typeface="Yu Gothic UI" panose="020B0500000000000000" pitchFamily="50" charset="-128"/>
              </a:rPr>
              <a:t>2.5 dB </a:t>
            </a:r>
            <a:r>
              <a:rPr kumimoji="1" lang="ja-JP" altLang="en-US" sz="800">
                <a:solidFill>
                  <a:srgbClr val="6B7688"/>
                </a:solidFill>
                <a:latin typeface="Yu Gothic UI" panose="020B0500000000000000" pitchFamily="50" charset="-128"/>
                <a:ea typeface="Yu Gothic UI" panose="020B0500000000000000" pitchFamily="50" charset="-128"/>
              </a:rPr>
              <a:t>低い枝に移って </a:t>
            </a:r>
            <a:r>
              <a:rPr kumimoji="1" lang="en-US" altLang="ja-JP" sz="800">
                <a:solidFill>
                  <a:srgbClr val="6B7688"/>
                </a:solidFill>
                <a:latin typeface="Yu Gothic UI" panose="020B0500000000000000" pitchFamily="50" charset="-128"/>
                <a:ea typeface="Yu Gothic UI" panose="020B0500000000000000" pitchFamily="50" charset="-128"/>
              </a:rPr>
              <a:t>30° </a:t>
            </a:r>
            <a:r>
              <a:rPr kumimoji="1" lang="ja-JP" altLang="en-US" sz="800">
                <a:solidFill>
                  <a:srgbClr val="6B7688"/>
                </a:solidFill>
                <a:latin typeface="Yu Gothic UI" panose="020B0500000000000000" pitchFamily="50" charset="-128"/>
                <a:ea typeface="Yu Gothic UI" panose="020B0500000000000000" pitchFamily="50" charset="-128"/>
              </a:rPr>
              <a:t>以上戻らない ── 板が壁とちょうど直角になる退化した配置で分岐がぶれています。 連続性に反するのでこれはバグで、未解決として </a:t>
            </a:r>
            <a:r>
              <a:rPr kumimoji="1" lang="en-US" altLang="ja-JP" sz="800">
                <a:solidFill>
                  <a:srgbClr val="6B7688"/>
                </a:solidFill>
                <a:latin typeface="Yu Gothic UI" panose="020B0500000000000000" pitchFamily="50" charset="-128"/>
                <a:ea typeface="Yu Gothic UI" panose="020B0500000000000000" pitchFamily="50" charset="-128"/>
              </a:rPr>
              <a:t>p18 </a:t>
            </a:r>
            <a:r>
              <a:rPr kumimoji="1" lang="ja-JP" altLang="en-US" sz="800">
                <a:solidFill>
                  <a:srgbClr val="6B7688"/>
                </a:solidFill>
                <a:latin typeface="Yu Gothic UI" panose="020B0500000000000000" pitchFamily="50" charset="-128"/>
                <a:ea typeface="Yu Gothic UI" panose="020B0500000000000000" pitchFamily="50" charset="-128"/>
              </a:rPr>
              <a:t>に挙げています。この表の角度は、その区間を避けて選んでいます。</a:t>
            </a:r>
          </a:p>
          <a:p>
            <a:pPr>
              <a:lnSpc>
                <a:spcPct val="95000"/>
              </a:lnSpc>
            </a:pPr>
            <a:r>
              <a:rPr kumimoji="1" lang="ja-JP" altLang="en-US" sz="800">
                <a:solidFill>
                  <a:srgbClr val="6B7688"/>
                </a:solidFill>
                <a:latin typeface="Yu Gothic UI" panose="020B0500000000000000" pitchFamily="50" charset="-128"/>
                <a:ea typeface="Yu Gothic UI" panose="020B0500000000000000" pitchFamily="50" charset="-128"/>
              </a:rPr>
              <a:t>★外開きにすると </a:t>
            </a:r>
            <a:r>
              <a:rPr kumimoji="1" lang="en-US" altLang="ja-JP" sz="800">
                <a:solidFill>
                  <a:srgbClr val="6B7688"/>
                </a:solidFill>
                <a:latin typeface="Yu Gothic UI" panose="020B0500000000000000" pitchFamily="50" charset="-128"/>
                <a:ea typeface="Yu Gothic UI" panose="020B0500000000000000" pitchFamily="50" charset="-128"/>
              </a:rPr>
              <a:t>40° </a:t>
            </a:r>
            <a:r>
              <a:rPr kumimoji="1" lang="ja-JP" altLang="en-US" sz="800">
                <a:solidFill>
                  <a:srgbClr val="6B7688"/>
                </a:solidFill>
                <a:latin typeface="Yu Gothic UI" panose="020B0500000000000000" pitchFamily="50" charset="-128"/>
                <a:ea typeface="Yu Gothic UI" panose="020B0500000000000000" pitchFamily="50" charset="-128"/>
              </a:rPr>
              <a:t>で </a:t>
            </a:r>
            <a:r>
              <a:rPr kumimoji="1" lang="en-US" altLang="ja-JP" sz="800">
                <a:solidFill>
                  <a:srgbClr val="6B7688"/>
                </a:solidFill>
                <a:latin typeface="Yu Gothic UI" panose="020B0500000000000000" pitchFamily="50" charset="-128"/>
                <a:ea typeface="Yu Gothic UI" panose="020B0500000000000000" pitchFamily="50" charset="-128"/>
              </a:rPr>
              <a:t>3 </a:t>
            </a:r>
            <a:r>
              <a:rPr kumimoji="1" lang="ja-JP" altLang="en-US" sz="800">
                <a:solidFill>
                  <a:srgbClr val="6B7688"/>
                </a:solidFill>
                <a:latin typeface="Yu Gothic UI" panose="020B0500000000000000" pitchFamily="50" charset="-128"/>
                <a:ea typeface="Yu Gothic UI" panose="020B0500000000000000" pitchFamily="50" charset="-128"/>
              </a:rPr>
              <a:t>本とも一気に開きます ── 板が音源側ではなくリスナー側に立つからで、「どちらへ開くか」まで音が変わることの実測です。</a:t>
            </a:r>
          </a:p>
        </p:txBody>
      </p:sp>
    </p:spTree>
    <p:extLst>
      <p:ext uri="{BB962C8B-B14F-4D97-AF65-F5344CB8AC3E}">
        <p14:creationId xmlns:p14="http://schemas.microsoft.com/office/powerpoint/2010/main" val="2329489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6C8302AC-AA0F-759A-F490-24D7FDCAF09A}"/>
              </a:ext>
            </a:extLst>
          </p:cNvPr>
          <p:cNvSpPr/>
          <p:nvPr/>
        </p:nvSpPr>
        <p:spPr>
          <a:xfrm>
            <a:off x="406400" y="906195"/>
            <a:ext cx="11379200" cy="49558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2006D6B7-8B7E-C46D-FB7F-A41A610BD30D}"/>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CONCEPT 2 ── ROOM</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48F6FA99-CD93-81C7-765A-6EC83D2BC8CB}"/>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コンセプト ② 周辺空間から残響を作る</a:t>
            </a:r>
          </a:p>
        </p:txBody>
      </p:sp>
      <p:sp>
        <p:nvSpPr>
          <p:cNvPr id="4" name="テキスト ボックス 3">
            <a:extLst>
              <a:ext uri="{FF2B5EF4-FFF2-40B4-BE49-F238E27FC236}">
                <a16:creationId xmlns:a16="http://schemas.microsoft.com/office/drawing/2014/main" id="{AB890A7A-F10C-0F68-ADB7-3F2E5F7D050F}"/>
              </a:ext>
            </a:extLst>
          </p:cNvPr>
          <p:cNvSpPr txBox="1"/>
          <p:nvPr/>
        </p:nvSpPr>
        <p:spPr>
          <a:xfrm>
            <a:off x="508000" y="1007795"/>
            <a:ext cx="11176000" cy="292388"/>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残響プリセットを置くのではなく、まわりの形と材質から部屋を見つけて、その場所の響きを組み立てます。</a:t>
            </a:r>
          </a:p>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部屋を作れば響き、壁を壊せば響きが変わる ── 作者が響きを指定する場所がありません。</a:t>
            </a:r>
          </a:p>
        </p:txBody>
      </p:sp>
      <p:sp>
        <p:nvSpPr>
          <p:cNvPr id="6" name="テキスト ボックス 5">
            <a:extLst>
              <a:ext uri="{FF2B5EF4-FFF2-40B4-BE49-F238E27FC236}">
                <a16:creationId xmlns:a16="http://schemas.microsoft.com/office/drawing/2014/main" id="{CC7B9A2B-A1E6-9393-AA9E-448EB9A4C8F2}"/>
              </a:ext>
            </a:extLst>
          </p:cNvPr>
          <p:cNvSpPr txBox="1"/>
          <p:nvPr/>
        </p:nvSpPr>
        <p:spPr>
          <a:xfrm>
            <a:off x="406400" y="1566883"/>
            <a:ext cx="11379200" cy="1666610"/>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★図：これから撮る（</a:t>
            </a:r>
            <a:r>
              <a:rPr kumimoji="1" lang="en-US" altLang="ja-JP" sz="950">
                <a:solidFill>
                  <a:srgbClr val="1A2233"/>
                </a:solidFill>
                <a:latin typeface="Yu Gothic UI" panose="020B0500000000000000" pitchFamily="50" charset="-128"/>
                <a:ea typeface="Yu Gothic UI" panose="020B0500000000000000" pitchFamily="50" charset="-128"/>
              </a:rPr>
              <a:t>S1</a:t>
            </a: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Scene </a:t>
            </a:r>
            <a:r>
              <a:rPr kumimoji="1" lang="ja-JP" altLang="en-US" sz="950">
                <a:solidFill>
                  <a:srgbClr val="1A2233"/>
                </a:solidFill>
                <a:latin typeface="Yu Gothic UI" panose="020B0500000000000000" pitchFamily="50" charset="-128"/>
                <a:ea typeface="Yu Gothic UI" panose="020B0500000000000000" pitchFamily="50" charset="-128"/>
              </a:rPr>
              <a:t>ビュー：抽出された部屋を色分け表示</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2 </a:t>
            </a:r>
            <a:r>
              <a:rPr kumimoji="1" lang="ja-JP" altLang="en-US" sz="950">
                <a:solidFill>
                  <a:srgbClr val="1A2233"/>
                </a:solidFill>
                <a:latin typeface="Yu Gothic UI" panose="020B0500000000000000" pitchFamily="50" charset="-128"/>
                <a:ea typeface="Yu Gothic UI" panose="020B0500000000000000" pitchFamily="50" charset="-128"/>
              </a:rPr>
              <a:t>部屋＋戸口。扉を開けると開口が立つところ</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部屋ごとに色／リスナーの占有割合を数字で重ねる</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約 </a:t>
            </a:r>
            <a:r>
              <a:rPr kumimoji="1" lang="en-US" altLang="ja-JP" sz="950">
                <a:solidFill>
                  <a:srgbClr val="1A2233"/>
                </a:solidFill>
                <a:latin typeface="Yu Gothic UI" panose="020B0500000000000000" pitchFamily="50" charset="-128"/>
                <a:ea typeface="Yu Gothic UI" panose="020B0500000000000000" pitchFamily="50" charset="-128"/>
              </a:rPr>
              <a:t>3.4 ms</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全再構築（</a:t>
            </a:r>
            <a:r>
              <a:rPr kumimoji="1" lang="en-US" altLang="ja-JP" sz="950">
                <a:solidFill>
                  <a:srgbClr val="1A2233"/>
                </a:solidFill>
                <a:latin typeface="Yu Gothic UI" panose="020B0500000000000000" pitchFamily="50" charset="-128"/>
                <a:ea typeface="Yu Gothic UI" panose="020B0500000000000000" pitchFamily="50" charset="-128"/>
              </a:rPr>
              <a:t>0.25 m </a:t>
            </a:r>
            <a:r>
              <a:rPr kumimoji="1" lang="ja-JP" altLang="en-US" sz="950">
                <a:solidFill>
                  <a:srgbClr val="1A2233"/>
                </a:solidFill>
                <a:latin typeface="Yu Gothic UI" panose="020B0500000000000000" pitchFamily="50" charset="-128"/>
                <a:ea typeface="Yu Gothic UI" panose="020B0500000000000000" pitchFamily="50" charset="-128"/>
              </a:rPr>
              <a:t>格子）</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約 </a:t>
            </a:r>
            <a:r>
              <a:rPr kumimoji="1" lang="en-US" altLang="ja-JP" sz="950">
                <a:solidFill>
                  <a:srgbClr val="1A2233"/>
                </a:solidFill>
                <a:latin typeface="Yu Gothic UI" panose="020B0500000000000000" pitchFamily="50" charset="-128"/>
                <a:ea typeface="Yu Gothic UI" panose="020B0500000000000000" pitchFamily="50" charset="-128"/>
              </a:rPr>
              <a:t>2.4 ms</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壁を壊したときの差分更新</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12.3 µs</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部屋の占め方 </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回</a:t>
            </a:r>
          </a:p>
        </p:txBody>
      </p:sp>
      <p:sp>
        <p:nvSpPr>
          <p:cNvPr id="7" name="テキスト ボックス 6">
            <a:extLst>
              <a:ext uri="{FF2B5EF4-FFF2-40B4-BE49-F238E27FC236}">
                <a16:creationId xmlns:a16="http://schemas.microsoft.com/office/drawing/2014/main" id="{B1568B8A-4416-018A-3BAE-95547457059F}"/>
              </a:ext>
            </a:extLst>
          </p:cNvPr>
          <p:cNvSpPr txBox="1"/>
          <p:nvPr/>
        </p:nvSpPr>
        <p:spPr>
          <a:xfrm>
            <a:off x="406400" y="3309693"/>
            <a:ext cx="11379200" cy="1388842"/>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ボクセル化→部屋を抽出→</a:t>
            </a:r>
            <a:r>
              <a:rPr kumimoji="1" lang="en-US" altLang="ja-JP" sz="950">
                <a:solidFill>
                  <a:srgbClr val="1A2233"/>
                </a:solidFill>
                <a:latin typeface="Yu Gothic UI" panose="020B0500000000000000" pitchFamily="50" charset="-128"/>
                <a:ea typeface="Yu Gothic UI" panose="020B0500000000000000" pitchFamily="50" charset="-128"/>
              </a:rPr>
              <a:t>Sabine</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形を刻む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セル </a:t>
            </a:r>
            <a:r>
              <a:rPr kumimoji="1" lang="en-US" altLang="ja-JP" sz="950">
                <a:solidFill>
                  <a:srgbClr val="1A2233"/>
                </a:solidFill>
                <a:latin typeface="Yu Gothic UI" panose="020B0500000000000000" pitchFamily="50" charset="-128"/>
                <a:ea typeface="Yu Gothic UI" panose="020B0500000000000000" pitchFamily="50" charset="-128"/>
              </a:rPr>
              <a:t>0.25 m </a:t>
            </a:r>
            <a:r>
              <a:rPr kumimoji="1" lang="ja-JP" altLang="en-US" sz="950">
                <a:solidFill>
                  <a:srgbClr val="1A2233"/>
                </a:solidFill>
                <a:latin typeface="Yu Gothic UI" panose="020B0500000000000000" pitchFamily="50" charset="-128"/>
                <a:ea typeface="Yu Gothic UI" panose="020B0500000000000000" pitchFamily="50" charset="-128"/>
              </a:rPr>
              <a:t>／ 約 </a:t>
            </a:r>
            <a:r>
              <a:rPr kumimoji="1" lang="en-US" altLang="ja-JP" sz="950">
                <a:solidFill>
                  <a:srgbClr val="1A2233"/>
                </a:solidFill>
                <a:latin typeface="Yu Gothic UI" panose="020B0500000000000000" pitchFamily="50" charset="-128"/>
                <a:ea typeface="Yu Gothic UI" panose="020B0500000000000000" pitchFamily="50" charset="-128"/>
              </a:rPr>
              <a:t>74,000 </a:t>
            </a:r>
            <a:r>
              <a:rPr kumimoji="1" lang="ja-JP" altLang="en-US" sz="950">
                <a:solidFill>
                  <a:srgbClr val="1A2233"/>
                </a:solidFill>
                <a:latin typeface="Yu Gothic UI" panose="020B0500000000000000" pitchFamily="50" charset="-128"/>
                <a:ea typeface="Yu Gothic UI" panose="020B0500000000000000" pitchFamily="50" charset="-128"/>
              </a:rPr>
              <a:t>ボクセル。シーンをそのまま刻みます。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閉じた空間を見つける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天井が無ければ部屋にしない（屋外が吸われる）。</a:t>
            </a:r>
            <a:r>
              <a:rPr kumimoji="1" lang="en-US" altLang="ja-JP" sz="950">
                <a:solidFill>
                  <a:srgbClr val="1A2233"/>
                </a:solidFill>
                <a:latin typeface="Yu Gothic UI" panose="020B0500000000000000" pitchFamily="50" charset="-128"/>
                <a:ea typeface="Yu Gothic UI" panose="020B0500000000000000" pitchFamily="50" charset="-128"/>
              </a:rPr>
              <a:t>16 </a:t>
            </a:r>
            <a:r>
              <a:rPr kumimoji="1" lang="ja-JP" altLang="en-US" sz="950">
                <a:solidFill>
                  <a:srgbClr val="1A2233"/>
                </a:solidFill>
                <a:latin typeface="Yu Gothic UI" panose="020B0500000000000000" pitchFamily="50" charset="-128"/>
                <a:ea typeface="Yu Gothic UI" panose="020B0500000000000000" pitchFamily="50" charset="-128"/>
              </a:rPr>
              <a:t>ボクセル未満は捨てる（隙間を部屋と誤認する）。</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響きを求める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体積・表面積・帯域別の吸音率から </a:t>
            </a:r>
            <a:r>
              <a:rPr kumimoji="1" lang="en-US" altLang="ja-JP" sz="950">
                <a:solidFill>
                  <a:srgbClr val="1A2233"/>
                </a:solidFill>
                <a:latin typeface="Yu Gothic UI" panose="020B0500000000000000" pitchFamily="50" charset="-128"/>
                <a:ea typeface="Yu Gothic UI" panose="020B0500000000000000" pitchFamily="50" charset="-128"/>
              </a:rPr>
              <a:t>RT60 = 0.161V / ΣSα </a:t>
            </a:r>
            <a:r>
              <a:rPr kumimoji="1" lang="ja-JP" altLang="en-US" sz="950">
                <a:solidFill>
                  <a:srgbClr val="1A2233"/>
                </a:solidFill>
                <a:latin typeface="Yu Gothic UI" panose="020B0500000000000000" pitchFamily="50" charset="-128"/>
                <a:ea typeface="Yu Gothic UI" panose="020B0500000000000000" pitchFamily="50" charset="-128"/>
              </a:rPr>
              <a:t>で求めます。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占有割合で混ぜる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リスナーがどの部屋にどれだけ属しているかで混ぜる。戸口では両方が効きます。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黙って劣化しないようにした。格子が上限に当たるとセルが自動で粗くなりますが、それが無警告だったため「なぜか音が変わった」の原因に。いまは降格を検知して警告します。</a:t>
            </a:r>
          </a:p>
        </p:txBody>
      </p:sp>
    </p:spTree>
    <p:extLst>
      <p:ext uri="{BB962C8B-B14F-4D97-AF65-F5344CB8AC3E}">
        <p14:creationId xmlns:p14="http://schemas.microsoft.com/office/powerpoint/2010/main" val="4141862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四角形: 角を丸くする 14">
            <a:extLst>
              <a:ext uri="{FF2B5EF4-FFF2-40B4-BE49-F238E27FC236}">
                <a16:creationId xmlns:a16="http://schemas.microsoft.com/office/drawing/2014/main" id="{1430F7AF-2358-0A0E-4705-6D3998CF3342}"/>
              </a:ext>
            </a:extLst>
          </p:cNvPr>
          <p:cNvSpPr/>
          <p:nvPr/>
        </p:nvSpPr>
        <p:spPr>
          <a:xfrm>
            <a:off x="4284133" y="5030540"/>
            <a:ext cx="3623734" cy="48096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4FE5C80B-3F00-36E6-FD12-9154C7E3E81D}"/>
              </a:ext>
            </a:extLst>
          </p:cNvPr>
          <p:cNvSpPr/>
          <p:nvPr/>
        </p:nvSpPr>
        <p:spPr>
          <a:xfrm>
            <a:off x="406400" y="906195"/>
            <a:ext cx="11379200" cy="49558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76149CA2-3D1F-DB8A-270F-06C9F77B6B48}"/>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CONCEPT 2 ── REVERB</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E802862F-D8FF-02C6-8B28-4A6437E61E68}"/>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コンセプト ② 響きを「どちらから」まで出す</a:t>
            </a:r>
          </a:p>
        </p:txBody>
      </p:sp>
      <p:sp>
        <p:nvSpPr>
          <p:cNvPr id="4" name="テキスト ボックス 3">
            <a:extLst>
              <a:ext uri="{FF2B5EF4-FFF2-40B4-BE49-F238E27FC236}">
                <a16:creationId xmlns:a16="http://schemas.microsoft.com/office/drawing/2014/main" id="{1D9ECA70-63D5-8871-28C8-E6AD08991AA0}"/>
              </a:ext>
            </a:extLst>
          </p:cNvPr>
          <p:cNvSpPr txBox="1"/>
          <p:nvPr/>
        </p:nvSpPr>
        <p:spPr>
          <a:xfrm>
            <a:off x="508000" y="1007795"/>
            <a:ext cx="11176000" cy="292388"/>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残響時間が合っているだけでは「部屋に入った」は伝わりません。</a:t>
            </a:r>
          </a:p>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いつ・どちらから返ってくるかまで作って、はじめて空間の形が聞こえます。</a:t>
            </a:r>
          </a:p>
        </p:txBody>
      </p:sp>
      <p:pic>
        <p:nvPicPr>
          <p:cNvPr id="7" name="グラフィックス 6">
            <a:extLst>
              <a:ext uri="{FF2B5EF4-FFF2-40B4-BE49-F238E27FC236}">
                <a16:creationId xmlns:a16="http://schemas.microsoft.com/office/drawing/2014/main" id="{B94EB183-5019-63CF-400E-CABC8E53FB1F}"/>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4082854" y="1592283"/>
            <a:ext cx="4026291" cy="2818404"/>
          </a:xfrm>
          <a:prstGeom prst="rect">
            <a:avLst/>
          </a:prstGeom>
        </p:spPr>
      </p:pic>
      <p:sp>
        <p:nvSpPr>
          <p:cNvPr id="8" name="テキスト ボックス 7">
            <a:extLst>
              <a:ext uri="{FF2B5EF4-FFF2-40B4-BE49-F238E27FC236}">
                <a16:creationId xmlns:a16="http://schemas.microsoft.com/office/drawing/2014/main" id="{7A473335-02CC-BB85-0E8E-A13A388E1B5F}"/>
              </a:ext>
            </a:extLst>
          </p:cNvPr>
          <p:cNvSpPr txBox="1"/>
          <p:nvPr/>
        </p:nvSpPr>
        <p:spPr>
          <a:xfrm>
            <a:off x="406400" y="4575787"/>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区間ごとに作り方を変えている</a:t>
            </a:r>
          </a:p>
        </p:txBody>
      </p:sp>
      <p:graphicFrame>
        <p:nvGraphicFramePr>
          <p:cNvPr id="9" name="表 8">
            <a:extLst>
              <a:ext uri="{FF2B5EF4-FFF2-40B4-BE49-F238E27FC236}">
                <a16:creationId xmlns:a16="http://schemas.microsoft.com/office/drawing/2014/main" id="{922E2851-6DF5-D2DA-EA54-98841D040C0F}"/>
              </a:ext>
            </a:extLst>
          </p:cNvPr>
          <p:cNvGraphicFramePr>
            <a:graphicFrameLocks noGrp="1"/>
          </p:cNvGraphicFramePr>
          <p:nvPr>
            <p:extLst>
              <p:ext uri="{D42A27DB-BD31-4B8C-83A1-F6EECF244321}">
                <p14:modId xmlns:p14="http://schemas.microsoft.com/office/powerpoint/2010/main" val="3943444546"/>
              </p:ext>
            </p:extLst>
          </p:nvPr>
        </p:nvGraphicFramePr>
        <p:xfrm>
          <a:off x="406401" y="4852820"/>
          <a:ext cx="3623733" cy="914400"/>
        </p:xfrm>
        <a:graphic>
          <a:graphicData uri="http://schemas.openxmlformats.org/drawingml/2006/table">
            <a:tbl>
              <a:tblPr firstRow="1" bandRow="1">
                <a:tableStyleId>{5C22544A-7EE6-4342-B048-85BDC9FD1C3A}</a:tableStyleId>
              </a:tblPr>
              <a:tblGrid>
                <a:gridCol w="1811867">
                  <a:extLst>
                    <a:ext uri="{9D8B030D-6E8A-4147-A177-3AD203B41FA5}">
                      <a16:colId xmlns:a16="http://schemas.microsoft.com/office/drawing/2014/main" val="3720168006"/>
                    </a:ext>
                  </a:extLst>
                </a:gridCol>
                <a:gridCol w="1811867">
                  <a:extLst>
                    <a:ext uri="{9D8B030D-6E8A-4147-A177-3AD203B41FA5}">
                      <a16:colId xmlns:a16="http://schemas.microsoft.com/office/drawing/2014/main" val="4056551902"/>
                    </a:ext>
                  </a:extLst>
                </a:gridCol>
              </a:tblGrid>
              <a:tr h="0">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区間</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作り方</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4273471329"/>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直接音</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遮蔽・回折を通した </a:t>
                      </a:r>
                      <a:r>
                        <a:rPr kumimoji="1" lang="en-US" altLang="ja-JP" sz="850" b="0">
                          <a:solidFill>
                            <a:srgbClr val="1A2233"/>
                          </a:solidFill>
                          <a:latin typeface="Yu Gothic UI" panose="020B0500000000000000" pitchFamily="50" charset="-128"/>
                          <a:ea typeface="Yu Gothic UI" panose="020B0500000000000000" pitchFamily="50" charset="-128"/>
                        </a:rPr>
                        <a:t>6 </a:t>
                      </a:r>
                      <a:r>
                        <a:rPr kumimoji="1" lang="ja-JP" altLang="en-US" sz="850" b="0">
                          <a:solidFill>
                            <a:srgbClr val="1A2233"/>
                          </a:solidFill>
                          <a:latin typeface="Yu Gothic UI" panose="020B0500000000000000" pitchFamily="50" charset="-128"/>
                          <a:ea typeface="Yu Gothic UI" panose="020B0500000000000000" pitchFamily="50" charset="-128"/>
                        </a:rPr>
                        <a:t>帯域</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901812500"/>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早期反射</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像源法。方向つきのタップ</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55626564"/>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後期残響</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エコグラム → </a:t>
                      </a:r>
                      <a:r>
                        <a:rPr kumimoji="1" lang="en-US" altLang="ja-JP" sz="850" b="0">
                          <a:solidFill>
                            <a:srgbClr val="1A2233"/>
                          </a:solidFill>
                          <a:latin typeface="Yu Gothic UI" panose="020B0500000000000000" pitchFamily="50" charset="-128"/>
                          <a:ea typeface="Yu Gothic UI" panose="020B0500000000000000" pitchFamily="50" charset="-128"/>
                        </a:rPr>
                        <a:t>IR </a:t>
                      </a:r>
                      <a:r>
                        <a:rPr kumimoji="1" lang="ja-JP" altLang="en-US" sz="850" b="0">
                          <a:solidFill>
                            <a:srgbClr val="1A2233"/>
                          </a:solidFill>
                          <a:latin typeface="Yu Gothic UI" panose="020B0500000000000000" pitchFamily="50" charset="-128"/>
                          <a:ea typeface="Yu Gothic UI" panose="020B0500000000000000" pitchFamily="50" charset="-128"/>
                        </a:rPr>
                        <a:t>畳み込み</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1638929879"/>
                  </a:ext>
                </a:extLst>
              </a:tr>
            </a:tbl>
          </a:graphicData>
        </a:graphic>
      </p:graphicFrame>
      <p:sp>
        <p:nvSpPr>
          <p:cNvPr id="10" name="テキスト ボックス 9">
            <a:extLst>
              <a:ext uri="{FF2B5EF4-FFF2-40B4-BE49-F238E27FC236}">
                <a16:creationId xmlns:a16="http://schemas.microsoft.com/office/drawing/2014/main" id="{A4E5C40C-9CF9-A921-2BF5-F08AD1E073DD}"/>
              </a:ext>
            </a:extLst>
          </p:cNvPr>
          <p:cNvSpPr txBox="1"/>
          <p:nvPr/>
        </p:nvSpPr>
        <p:spPr>
          <a:xfrm>
            <a:off x="406400" y="5713880"/>
            <a:ext cx="3623733" cy="233910"/>
          </a:xfrm>
          <a:prstGeom prst="rect">
            <a:avLst/>
          </a:prstGeom>
          <a:noFill/>
        </p:spPr>
        <p:txBody>
          <a:bodyPr vert="horz" wrap="square" lIns="0" tIns="0" rIns="0" bIns="0" rtlCol="0">
            <a:spAutoFit/>
          </a:bodyPr>
          <a:lstStyle/>
          <a:p>
            <a:pPr>
              <a:lnSpc>
                <a:spcPct val="95000"/>
              </a:lnSpc>
            </a:pPr>
            <a:r>
              <a:rPr kumimoji="1" lang="ja-JP" altLang="en-US" sz="800">
                <a:solidFill>
                  <a:srgbClr val="6B7688"/>
                </a:solidFill>
                <a:latin typeface="Yu Gothic UI" panose="020B0500000000000000" pitchFamily="50" charset="-128"/>
                <a:ea typeface="Yu Gothic UI" panose="020B0500000000000000" pitchFamily="50" charset="-128"/>
              </a:rPr>
              <a:t>境目に </a:t>
            </a:r>
            <a:r>
              <a:rPr kumimoji="1" lang="en-US" altLang="ja-JP" sz="800">
                <a:solidFill>
                  <a:srgbClr val="6B7688"/>
                </a:solidFill>
                <a:latin typeface="Yu Gothic UI" panose="020B0500000000000000" pitchFamily="50" charset="-128"/>
                <a:ea typeface="Yu Gothic UI" panose="020B0500000000000000" pitchFamily="50" charset="-128"/>
              </a:rPr>
              <a:t>mixing time ≒ √V </a:t>
            </a:r>
            <a:r>
              <a:rPr kumimoji="1" lang="ja-JP" altLang="en-US" sz="800">
                <a:solidFill>
                  <a:srgbClr val="6B7688"/>
                </a:solidFill>
                <a:latin typeface="Yu Gothic UI" panose="020B0500000000000000" pitchFamily="50" charset="-128"/>
                <a:ea typeface="Yu Gothic UI" panose="020B0500000000000000" pitchFamily="50" charset="-128"/>
              </a:rPr>
              <a:t>を使うのは、</a:t>
            </a:r>
            <a:r>
              <a:rPr kumimoji="1" lang="en-US" altLang="ja-JP" sz="800">
                <a:solidFill>
                  <a:srgbClr val="6B7688"/>
                </a:solidFill>
                <a:latin typeface="Yu Gothic UI" panose="020B0500000000000000" pitchFamily="50" charset="-128"/>
                <a:ea typeface="Yu Gothic UI" panose="020B0500000000000000" pitchFamily="50" charset="-128"/>
              </a:rPr>
              <a:t>RT60 × </a:t>
            </a:r>
            <a:r>
              <a:rPr kumimoji="1" lang="ja-JP" altLang="en-US" sz="800">
                <a:solidFill>
                  <a:srgbClr val="6B7688"/>
                </a:solidFill>
                <a:latin typeface="Yu Gothic UI" panose="020B0500000000000000" pitchFamily="50" charset="-128"/>
                <a:ea typeface="Yu Gothic UI" panose="020B0500000000000000" pitchFamily="50" charset="-128"/>
              </a:rPr>
              <a:t>係数だと特大の部屋で遠壁の反射（</a:t>
            </a:r>
            <a:r>
              <a:rPr kumimoji="1" lang="en-US" altLang="ja-JP" sz="800">
                <a:solidFill>
                  <a:srgbClr val="6B7688"/>
                </a:solidFill>
                <a:latin typeface="Yu Gothic UI" panose="020B0500000000000000" pitchFamily="50" charset="-128"/>
                <a:ea typeface="Yu Gothic UI" panose="020B0500000000000000" pitchFamily="50" charset="-128"/>
              </a:rPr>
              <a:t>100〜300 ms</a:t>
            </a:r>
            <a:r>
              <a:rPr kumimoji="1" lang="ja-JP" altLang="en-US" sz="800">
                <a:solidFill>
                  <a:srgbClr val="6B7688"/>
                </a:solidFill>
                <a:latin typeface="Yu Gothic UI" panose="020B0500000000000000" pitchFamily="50" charset="-128"/>
                <a:ea typeface="Yu Gothic UI" panose="020B0500000000000000" pitchFamily="50" charset="-128"/>
              </a:rPr>
              <a:t>）が早期の窓から漏れるためです。</a:t>
            </a:r>
          </a:p>
        </p:txBody>
      </p:sp>
      <p:sp>
        <p:nvSpPr>
          <p:cNvPr id="11" name="テキスト ボックス 10">
            <a:extLst>
              <a:ext uri="{FF2B5EF4-FFF2-40B4-BE49-F238E27FC236}">
                <a16:creationId xmlns:a16="http://schemas.microsoft.com/office/drawing/2014/main" id="{78E4BBE5-6138-B71F-0DAF-E5931AF0B71F}"/>
              </a:ext>
            </a:extLst>
          </p:cNvPr>
          <p:cNvSpPr txBox="1"/>
          <p:nvPr/>
        </p:nvSpPr>
        <p:spPr>
          <a:xfrm>
            <a:off x="406400" y="6087490"/>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★尾に方向を持たせた</a:t>
            </a:r>
          </a:p>
        </p:txBody>
      </p:sp>
      <p:sp>
        <p:nvSpPr>
          <p:cNvPr id="13" name="テキスト ボックス 12">
            <a:extLst>
              <a:ext uri="{FF2B5EF4-FFF2-40B4-BE49-F238E27FC236}">
                <a16:creationId xmlns:a16="http://schemas.microsoft.com/office/drawing/2014/main" id="{11377BB7-DBD8-DABE-89EA-9835A9665AC2}"/>
              </a:ext>
            </a:extLst>
          </p:cNvPr>
          <p:cNvSpPr txBox="1"/>
          <p:nvPr/>
        </p:nvSpPr>
        <p:spPr>
          <a:xfrm>
            <a:off x="4284133" y="4512287"/>
            <a:ext cx="36237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後期残響は本来ほぼ拡散ですが、開口が片側にあればそちら側から強く返ります。耳ごと</a:t>
            </a:r>
            <a:r>
              <a:rPr kumimoji="1" lang="en-US" altLang="ja-JP" sz="950">
                <a:solidFill>
                  <a:srgbClr val="1A2233"/>
                </a:solidFill>
                <a:latin typeface="Yu Gothic UI" panose="020B0500000000000000" pitchFamily="50" charset="-128"/>
                <a:ea typeface="Yu Gothic UI" panose="020B0500000000000000" pitchFamily="50" charset="-128"/>
              </a:rPr>
              <a:t>×6 </a:t>
            </a:r>
            <a:r>
              <a:rPr kumimoji="1" lang="ja-JP" altLang="en-US" sz="950">
                <a:solidFill>
                  <a:srgbClr val="1A2233"/>
                </a:solidFill>
                <a:latin typeface="Yu Gothic UI" panose="020B0500000000000000" pitchFamily="50" charset="-128"/>
                <a:ea typeface="Yu Gothic UI" panose="020B0500000000000000" pitchFamily="50" charset="-128"/>
              </a:rPr>
              <a:t>帯域のバランスを持たせ、音量は変えずに「どちらから響くか」だけを変えています。</a:t>
            </a:r>
          </a:p>
        </p:txBody>
      </p:sp>
      <p:sp>
        <p:nvSpPr>
          <p:cNvPr id="14" name="テキスト ボックス 13">
            <a:extLst>
              <a:ext uri="{FF2B5EF4-FFF2-40B4-BE49-F238E27FC236}">
                <a16:creationId xmlns:a16="http://schemas.microsoft.com/office/drawing/2014/main" id="{39611270-FBB0-8B09-4D4E-A11177C40CA5}"/>
              </a:ext>
            </a:extLst>
          </p:cNvPr>
          <p:cNvSpPr txBox="1"/>
          <p:nvPr/>
        </p:nvSpPr>
        <p:spPr>
          <a:xfrm>
            <a:off x="4385733" y="5132140"/>
            <a:ext cx="3420533" cy="277768"/>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ここがコンセプトに効く場所です。戸口の手前と奥で、音量ではなく響きの向きが変わる ── それが「部屋に入った」の正体になります。</a:t>
            </a:r>
          </a:p>
        </p:txBody>
      </p:sp>
    </p:spTree>
    <p:extLst>
      <p:ext uri="{BB962C8B-B14F-4D97-AF65-F5344CB8AC3E}">
        <p14:creationId xmlns:p14="http://schemas.microsoft.com/office/powerpoint/2010/main" val="174432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四角形: 角を丸くする 30">
            <a:extLst>
              <a:ext uri="{FF2B5EF4-FFF2-40B4-BE49-F238E27FC236}">
                <a16:creationId xmlns:a16="http://schemas.microsoft.com/office/drawing/2014/main" id="{E75F3DD5-7897-5B02-7107-CA255F17445C}"/>
              </a:ext>
            </a:extLst>
          </p:cNvPr>
          <p:cNvSpPr/>
          <p:nvPr/>
        </p:nvSpPr>
        <p:spPr>
          <a:xfrm>
            <a:off x="8161867" y="2478020"/>
            <a:ext cx="3623733" cy="758737"/>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 角を丸くする 28">
            <a:extLst>
              <a:ext uri="{FF2B5EF4-FFF2-40B4-BE49-F238E27FC236}">
                <a16:creationId xmlns:a16="http://schemas.microsoft.com/office/drawing/2014/main" id="{A9057D29-E1CA-FF58-422B-F28BED9F2DEB}"/>
              </a:ext>
            </a:extLst>
          </p:cNvPr>
          <p:cNvSpPr/>
          <p:nvPr/>
        </p:nvSpPr>
        <p:spPr>
          <a:xfrm>
            <a:off x="8161867" y="1592283"/>
            <a:ext cx="3623733" cy="758737"/>
          </a:xfrm>
          <a:prstGeom prst="roundRect">
            <a:avLst>
              <a:gd name="adj" fmla="val 6000"/>
            </a:avLst>
          </a:prstGeom>
          <a:solidFill>
            <a:srgbClr val="FDF1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71D92AC8-7D88-A431-C4AB-F3A7775C868C}"/>
              </a:ext>
            </a:extLst>
          </p:cNvPr>
          <p:cNvSpPr/>
          <p:nvPr/>
        </p:nvSpPr>
        <p:spPr>
          <a:xfrm>
            <a:off x="4284133" y="3276776"/>
            <a:ext cx="3623734" cy="342084"/>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8F270DA1-BF8D-463A-594B-EC0721FFEEFB}"/>
              </a:ext>
            </a:extLst>
          </p:cNvPr>
          <p:cNvSpPr/>
          <p:nvPr/>
        </p:nvSpPr>
        <p:spPr>
          <a:xfrm>
            <a:off x="4284133" y="1785438"/>
            <a:ext cx="3623734" cy="1036505"/>
          </a:xfrm>
          <a:prstGeom prst="roundRect">
            <a:avLst>
              <a:gd name="adj" fmla="val 6000"/>
            </a:avLst>
          </a:prstGeom>
          <a:solidFill>
            <a:srgbClr val="FDF1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39B217CC-A172-A69A-2800-69049D72223E}"/>
              </a:ext>
            </a:extLst>
          </p:cNvPr>
          <p:cNvSpPr/>
          <p:nvPr/>
        </p:nvSpPr>
        <p:spPr>
          <a:xfrm>
            <a:off x="406400" y="5021228"/>
            <a:ext cx="3623733"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680A7D3E-515D-AC23-94D8-554920A79081}"/>
              </a:ext>
            </a:extLst>
          </p:cNvPr>
          <p:cNvSpPr/>
          <p:nvPr/>
        </p:nvSpPr>
        <p:spPr>
          <a:xfrm>
            <a:off x="406400" y="906195"/>
            <a:ext cx="11379200" cy="49558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BDD9F3BC-A421-DFB7-89BC-8ED6DFA090FF}"/>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PERFORMANCE</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DFAE32EE-7B4B-E23E-5D7C-7B7F656E94E0}"/>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性能 ── フレームの実測</a:t>
            </a:r>
          </a:p>
        </p:txBody>
      </p:sp>
      <p:sp>
        <p:nvSpPr>
          <p:cNvPr id="4" name="テキスト ボックス 3">
            <a:extLst>
              <a:ext uri="{FF2B5EF4-FFF2-40B4-BE49-F238E27FC236}">
                <a16:creationId xmlns:a16="http://schemas.microsoft.com/office/drawing/2014/main" id="{2935BBDB-46DD-148E-A5AD-75D54AED8761}"/>
              </a:ext>
            </a:extLst>
          </p:cNvPr>
          <p:cNvSpPr txBox="1"/>
          <p:nvPr/>
        </p:nvSpPr>
        <p:spPr>
          <a:xfrm>
            <a:off x="508000" y="1007795"/>
            <a:ext cx="11176000" cy="292388"/>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ホスト既定の </a:t>
            </a:r>
            <a:r>
              <a:rPr kumimoji="1" lang="en-US" altLang="ja-JP" sz="1000">
                <a:solidFill>
                  <a:srgbClr val="1A2233"/>
                </a:solidFill>
                <a:latin typeface="Yu Gothic UI" panose="020B0500000000000000" pitchFamily="50" charset="-128"/>
                <a:ea typeface="Yu Gothic UI" panose="020B0500000000000000" pitchFamily="50" charset="-128"/>
              </a:rPr>
              <a:t>4 </a:t>
            </a:r>
            <a:r>
              <a:rPr kumimoji="1" lang="ja-JP" altLang="en-US" sz="1000">
                <a:solidFill>
                  <a:srgbClr val="1A2233"/>
                </a:solidFill>
                <a:latin typeface="Yu Gothic UI" panose="020B0500000000000000" pitchFamily="50" charset="-128"/>
                <a:ea typeface="Yu Gothic UI" panose="020B0500000000000000" pitchFamily="50" charset="-128"/>
              </a:rPr>
              <a:t>コア で、</a:t>
            </a:r>
            <a:r>
              <a:rPr kumimoji="1" lang="en-US" altLang="ja-JP" sz="1000">
                <a:solidFill>
                  <a:srgbClr val="1A2233"/>
                </a:solidFill>
                <a:latin typeface="Yu Gothic UI" panose="020B0500000000000000" pitchFamily="50" charset="-128"/>
                <a:ea typeface="Yu Gothic UI" panose="020B0500000000000000" pitchFamily="50" charset="-128"/>
              </a:rPr>
              <a:t>60fps </a:t>
            </a:r>
            <a:r>
              <a:rPr kumimoji="1" lang="ja-JP" altLang="en-US" sz="1000">
                <a:solidFill>
                  <a:srgbClr val="1A2233"/>
                </a:solidFill>
                <a:latin typeface="Yu Gothic UI" panose="020B0500000000000000" pitchFamily="50" charset="-128"/>
                <a:ea typeface="Yu Gothic UI" panose="020B0500000000000000" pitchFamily="50" charset="-128"/>
              </a:rPr>
              <a:t>の予算 </a:t>
            </a:r>
            <a:r>
              <a:rPr kumimoji="1" lang="en-US" altLang="ja-JP" sz="1000">
                <a:solidFill>
                  <a:srgbClr val="1A2233"/>
                </a:solidFill>
                <a:latin typeface="Yu Gothic UI" panose="020B0500000000000000" pitchFamily="50" charset="-128"/>
                <a:ea typeface="Yu Gothic UI" panose="020B0500000000000000" pitchFamily="50" charset="-128"/>
              </a:rPr>
              <a:t>16.7 ms </a:t>
            </a:r>
            <a:r>
              <a:rPr kumimoji="1" lang="ja-JP" altLang="en-US" sz="1000">
                <a:solidFill>
                  <a:srgbClr val="1A2233"/>
                </a:solidFill>
                <a:latin typeface="Yu Gothic UI" panose="020B0500000000000000" pitchFamily="50" charset="-128"/>
                <a:ea typeface="Yu Gothic UI" panose="020B0500000000000000" pitchFamily="50" charset="-128"/>
              </a:rPr>
              <a:t>に対して音響が使うのは 平均 </a:t>
            </a:r>
            <a:r>
              <a:rPr kumimoji="1" lang="en-US" altLang="ja-JP" sz="1000">
                <a:solidFill>
                  <a:srgbClr val="1A2233"/>
                </a:solidFill>
                <a:latin typeface="Yu Gothic UI" panose="020B0500000000000000" pitchFamily="50" charset="-128"/>
                <a:ea typeface="Yu Gothic UI" panose="020B0500000000000000" pitchFamily="50" charset="-128"/>
              </a:rPr>
              <a:t>12〜15 % / </a:t>
            </a:r>
            <a:r>
              <a:rPr kumimoji="1" lang="ja-JP" altLang="en-US" sz="1000">
                <a:solidFill>
                  <a:srgbClr val="1A2233"/>
                </a:solidFill>
                <a:latin typeface="Yu Gothic UI" panose="020B0500000000000000" pitchFamily="50" charset="-128"/>
                <a:ea typeface="Yu Gothic UI" panose="020B0500000000000000" pitchFamily="50" charset="-128"/>
              </a:rPr>
              <a:t>最悪 </a:t>
            </a:r>
            <a:r>
              <a:rPr kumimoji="1" lang="en-US" altLang="ja-JP" sz="1000">
                <a:solidFill>
                  <a:srgbClr val="1A2233"/>
                </a:solidFill>
                <a:latin typeface="Yu Gothic UI" panose="020B0500000000000000" pitchFamily="50" charset="-128"/>
                <a:ea typeface="Yu Gothic UI" panose="020B0500000000000000" pitchFamily="50" charset="-128"/>
              </a:rPr>
              <a:t>34〜47 %</a:t>
            </a:r>
            <a:r>
              <a:rPr kumimoji="1" lang="ja-JP" altLang="en-US" sz="1000">
                <a:solidFill>
                  <a:srgbClr val="1A2233"/>
                </a:solidFill>
                <a:latin typeface="Yu Gothic UI" panose="020B0500000000000000" pitchFamily="50" charset="-128"/>
                <a:ea typeface="Yu Gothic UI" panose="020B0500000000000000" pitchFamily="50" charset="-128"/>
              </a:rPr>
              <a:t>。</a:t>
            </a:r>
          </a:p>
          <a:p>
            <a:pPr>
              <a:lnSpc>
                <a:spcPct val="95000"/>
              </a:lnSpc>
            </a:pPr>
            <a:r>
              <a:rPr kumimoji="1" lang="en-US" altLang="ja-JP" sz="1000">
                <a:solidFill>
                  <a:srgbClr val="1A2233"/>
                </a:solidFill>
                <a:latin typeface="Yu Gothic UI" panose="020B0500000000000000" pitchFamily="50" charset="-128"/>
                <a:ea typeface="Yu Gothic UI" panose="020B0500000000000000" pitchFamily="50" charset="-128"/>
              </a:rPr>
              <a:t>1 </a:t>
            </a:r>
            <a:r>
              <a:rPr kumimoji="1" lang="ja-JP" altLang="en-US" sz="1000">
                <a:solidFill>
                  <a:srgbClr val="1A2233"/>
                </a:solidFill>
                <a:latin typeface="Yu Gothic UI" panose="020B0500000000000000" pitchFamily="50" charset="-128"/>
                <a:ea typeface="Yu Gothic UI" panose="020B0500000000000000" pitchFamily="50" charset="-128"/>
              </a:rPr>
              <a:t>コアなら平均 </a:t>
            </a:r>
            <a:r>
              <a:rPr kumimoji="1" lang="en-US" altLang="ja-JP" sz="1000">
                <a:solidFill>
                  <a:srgbClr val="1A2233"/>
                </a:solidFill>
                <a:latin typeface="Yu Gothic UI" panose="020B0500000000000000" pitchFamily="50" charset="-128"/>
                <a:ea typeface="Yu Gothic UI" panose="020B0500000000000000" pitchFamily="50" charset="-128"/>
              </a:rPr>
              <a:t>26〜29 %</a:t>
            </a:r>
            <a:r>
              <a:rPr kumimoji="1" lang="ja-JP" altLang="en-US" sz="1000">
                <a:solidFill>
                  <a:srgbClr val="1A2233"/>
                </a:solidFill>
                <a:latin typeface="Yu Gothic UI" panose="020B0500000000000000" pitchFamily="50" charset="-128"/>
                <a:ea typeface="Yu Gothic UI" panose="020B0500000000000000" pitchFamily="50" charset="-128"/>
              </a:rPr>
              <a:t>。並列にしても結果は直列とビット一致です（</a:t>
            </a:r>
            <a:r>
              <a:rPr kumimoji="1" lang="en-US" altLang="ja-JP" sz="1000">
                <a:solidFill>
                  <a:srgbClr val="1A2233"/>
                </a:solidFill>
                <a:latin typeface="Yu Gothic UI" panose="020B0500000000000000" pitchFamily="50" charset="-128"/>
                <a:ea typeface="Yu Gothic UI" panose="020B0500000000000000" pitchFamily="50" charset="-128"/>
              </a:rPr>
              <a:t>p10</a:t>
            </a:r>
            <a:r>
              <a:rPr kumimoji="1" lang="ja-JP" altLang="en-US" sz="1000">
                <a:solidFill>
                  <a:srgbClr val="1A2233"/>
                </a:solidFill>
                <a:latin typeface="Yu Gothic UI" panose="020B0500000000000000" pitchFamily="50" charset="-128"/>
                <a:ea typeface="Yu Gothic UI" panose="020B0500000000000000" pitchFamily="50" charset="-128"/>
              </a:rPr>
              <a:t>）。</a:t>
            </a:r>
          </a:p>
        </p:txBody>
      </p:sp>
      <p:sp>
        <p:nvSpPr>
          <p:cNvPr id="6" name="テキスト ボックス 5">
            <a:extLst>
              <a:ext uri="{FF2B5EF4-FFF2-40B4-BE49-F238E27FC236}">
                <a16:creationId xmlns:a16="http://schemas.microsoft.com/office/drawing/2014/main" id="{BB0D1D5C-A1F4-42B9-B9D6-BBB78FBE67F0}"/>
              </a:ext>
            </a:extLst>
          </p:cNvPr>
          <p:cNvSpPr txBox="1"/>
          <p:nvPr/>
        </p:nvSpPr>
        <p:spPr>
          <a:xfrm>
            <a:off x="406400" y="1630383"/>
            <a:ext cx="3623733" cy="175433"/>
          </a:xfrm>
          <a:prstGeom prst="rect">
            <a:avLst/>
          </a:prstGeom>
          <a:noFill/>
        </p:spPr>
        <p:txBody>
          <a:bodyPr vert="horz" wrap="square" lIns="0" tIns="0" rIns="0" bIns="0" rtlCol="0">
            <a:spAutoFit/>
          </a:bodyPr>
          <a:lstStyle/>
          <a:p>
            <a:pPr>
              <a:lnSpc>
                <a:spcPct val="95000"/>
              </a:lnSpc>
            </a:pPr>
            <a:r>
              <a:rPr kumimoji="1" lang="en-US" altLang="ja-JP" sz="1200" b="1">
                <a:solidFill>
                  <a:srgbClr val="21295C"/>
                </a:solidFill>
                <a:latin typeface="Yu Gothic UI" panose="020B0500000000000000" pitchFamily="50" charset="-128"/>
                <a:ea typeface="Yu Gothic UI" panose="020B0500000000000000" pitchFamily="50" charset="-128"/>
              </a:rPr>
              <a:t>60fps </a:t>
            </a:r>
            <a:r>
              <a:rPr kumimoji="1" lang="ja-JP" altLang="en-US" sz="1200" b="1">
                <a:solidFill>
                  <a:srgbClr val="21295C"/>
                </a:solidFill>
                <a:latin typeface="Yu Gothic UI" panose="020B0500000000000000" pitchFamily="50" charset="-128"/>
                <a:ea typeface="Yu Gothic UI" panose="020B0500000000000000" pitchFamily="50" charset="-128"/>
              </a:rPr>
              <a:t>の </a:t>
            </a:r>
            <a:r>
              <a:rPr kumimoji="1" lang="en-US" altLang="ja-JP" sz="1200" b="1">
                <a:solidFill>
                  <a:srgbClr val="21295C"/>
                </a:solidFill>
                <a:latin typeface="Yu Gothic UI" panose="020B0500000000000000" pitchFamily="50" charset="-128"/>
                <a:ea typeface="Yu Gothic UI" panose="020B0500000000000000" pitchFamily="50" charset="-128"/>
              </a:rPr>
              <a:t>1 </a:t>
            </a:r>
            <a:r>
              <a:rPr kumimoji="1" lang="ja-JP" altLang="en-US" sz="1200" b="1">
                <a:solidFill>
                  <a:srgbClr val="21295C"/>
                </a:solidFill>
                <a:latin typeface="Yu Gothic UI" panose="020B0500000000000000" pitchFamily="50" charset="-128"/>
                <a:ea typeface="Yu Gothic UI" panose="020B0500000000000000" pitchFamily="50" charset="-128"/>
              </a:rPr>
              <a:t>フレーム（</a:t>
            </a:r>
            <a:r>
              <a:rPr kumimoji="1" lang="en-US" altLang="ja-JP" sz="1200" b="1">
                <a:solidFill>
                  <a:srgbClr val="21295C"/>
                </a:solidFill>
                <a:latin typeface="Yu Gothic UI" panose="020B0500000000000000" pitchFamily="50" charset="-128"/>
                <a:ea typeface="Yu Gothic UI" panose="020B0500000000000000" pitchFamily="50" charset="-128"/>
              </a:rPr>
              <a:t>16.7 ms</a:t>
            </a:r>
            <a:r>
              <a:rPr kumimoji="1" lang="ja-JP" altLang="en-US" sz="1200" b="1">
                <a:solidFill>
                  <a:srgbClr val="21295C"/>
                </a:solidFill>
                <a:latin typeface="Yu Gothic UI" panose="020B0500000000000000" pitchFamily="50" charset="-128"/>
                <a:ea typeface="Yu Gothic UI" panose="020B0500000000000000" pitchFamily="50" charset="-128"/>
              </a:rPr>
              <a:t>）のうち、音響が使う量</a:t>
            </a:r>
          </a:p>
        </p:txBody>
      </p:sp>
      <p:sp>
        <p:nvSpPr>
          <p:cNvPr id="7" name="テキスト ボックス 6">
            <a:extLst>
              <a:ext uri="{FF2B5EF4-FFF2-40B4-BE49-F238E27FC236}">
                <a16:creationId xmlns:a16="http://schemas.microsoft.com/office/drawing/2014/main" id="{F3EA87B2-43C3-22E8-7F50-478C10B9ED6B}"/>
              </a:ext>
            </a:extLst>
          </p:cNvPr>
          <p:cNvSpPr txBox="1"/>
          <p:nvPr/>
        </p:nvSpPr>
        <p:spPr>
          <a:xfrm>
            <a:off x="406400" y="1894716"/>
            <a:ext cx="3623733" cy="972189"/>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平均</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2.0〜2.5 ms</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15%</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最悪</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5.7〜7.8 ms</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47%</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016.7 ms </a:t>
            </a:r>
            <a:r>
              <a:rPr kumimoji="1" lang="ja-JP" altLang="en-US" sz="950">
                <a:solidFill>
                  <a:srgbClr val="1A2233"/>
                </a:solidFill>
                <a:latin typeface="Yu Gothic UI" panose="020B0500000000000000" pitchFamily="50" charset="-128"/>
                <a:ea typeface="Yu Gothic UI" panose="020B0500000000000000" pitchFamily="50" charset="-128"/>
              </a:rPr>
              <a:t>＝ </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フレームの予算</a:t>
            </a:r>
          </a:p>
        </p:txBody>
      </p:sp>
      <p:sp>
        <p:nvSpPr>
          <p:cNvPr id="8" name="テキスト ボックス 7">
            <a:extLst>
              <a:ext uri="{FF2B5EF4-FFF2-40B4-BE49-F238E27FC236}">
                <a16:creationId xmlns:a16="http://schemas.microsoft.com/office/drawing/2014/main" id="{DC30F436-E8E3-3B1E-E6EB-0E62563F8438}"/>
              </a:ext>
            </a:extLst>
          </p:cNvPr>
          <p:cNvSpPr txBox="1"/>
          <p:nvPr/>
        </p:nvSpPr>
        <p:spPr>
          <a:xfrm>
            <a:off x="406400" y="2943105"/>
            <a:ext cx="3623733" cy="233910"/>
          </a:xfrm>
          <a:prstGeom prst="rect">
            <a:avLst/>
          </a:prstGeom>
          <a:noFill/>
        </p:spPr>
        <p:txBody>
          <a:bodyPr vert="horz" wrap="square" lIns="0" tIns="0" rIns="0" bIns="0" rtlCol="0">
            <a:spAutoFit/>
          </a:bodyPr>
          <a:lstStyle/>
          <a:p>
            <a:pPr>
              <a:lnSpc>
                <a:spcPct val="95000"/>
              </a:lnSpc>
            </a:pPr>
            <a:r>
              <a:rPr kumimoji="1" lang="en-US" altLang="ja-JP" sz="800">
                <a:solidFill>
                  <a:srgbClr val="6B7688"/>
                </a:solidFill>
                <a:latin typeface="Yu Gothic UI" panose="020B0500000000000000" pitchFamily="50" charset="-128"/>
                <a:ea typeface="Yu Gothic UI" panose="020B0500000000000000" pitchFamily="50" charset="-128"/>
              </a:rPr>
              <a:t>4 </a:t>
            </a:r>
            <a:r>
              <a:rPr kumimoji="1" lang="ja-JP" altLang="en-US" sz="800">
                <a:solidFill>
                  <a:srgbClr val="6B7688"/>
                </a:solidFill>
                <a:latin typeface="Yu Gothic UI" panose="020B0500000000000000" pitchFamily="50" charset="-128"/>
                <a:ea typeface="Yu Gothic UI" panose="020B0500000000000000" pitchFamily="50" charset="-128"/>
              </a:rPr>
              <a:t>コア（ホスト既定）・</a:t>
            </a:r>
            <a:r>
              <a:rPr kumimoji="1" lang="en-US" altLang="ja-JP" sz="800">
                <a:solidFill>
                  <a:srgbClr val="6B7688"/>
                </a:solidFill>
                <a:latin typeface="Yu Gothic UI" panose="020B0500000000000000" pitchFamily="50" charset="-128"/>
                <a:ea typeface="Yu Gothic UI" panose="020B0500000000000000" pitchFamily="50" charset="-128"/>
              </a:rPr>
              <a:t>4 </a:t>
            </a:r>
            <a:r>
              <a:rPr kumimoji="1" lang="ja-JP" altLang="en-US" sz="800">
                <a:solidFill>
                  <a:srgbClr val="6B7688"/>
                </a:solidFill>
                <a:latin typeface="Yu Gothic UI" panose="020B0500000000000000" pitchFamily="50" charset="-128"/>
                <a:ea typeface="Yu Gothic UI" panose="020B0500000000000000" pitchFamily="50" charset="-128"/>
              </a:rPr>
              <a:t>回測った範囲。</a:t>
            </a:r>
            <a:r>
              <a:rPr kumimoji="1" lang="en-US" altLang="ja-JP" sz="800">
                <a:solidFill>
                  <a:srgbClr val="6B7688"/>
                </a:solidFill>
                <a:latin typeface="Yu Gothic UI" panose="020B0500000000000000" pitchFamily="50" charset="-128"/>
                <a:ea typeface="Yu Gothic UI" panose="020B0500000000000000" pitchFamily="50" charset="-128"/>
              </a:rPr>
              <a:t>1 </a:t>
            </a:r>
            <a:r>
              <a:rPr kumimoji="1" lang="ja-JP" altLang="en-US" sz="800">
                <a:solidFill>
                  <a:srgbClr val="6B7688"/>
                </a:solidFill>
                <a:latin typeface="Yu Gothic UI" panose="020B0500000000000000" pitchFamily="50" charset="-128"/>
                <a:ea typeface="Yu Gothic UI" panose="020B0500000000000000" pitchFamily="50" charset="-128"/>
              </a:rPr>
              <a:t>コアなら平均 </a:t>
            </a:r>
            <a:r>
              <a:rPr kumimoji="1" lang="en-US" altLang="ja-JP" sz="800">
                <a:solidFill>
                  <a:srgbClr val="6B7688"/>
                </a:solidFill>
                <a:latin typeface="Yu Gothic UI" panose="020B0500000000000000" pitchFamily="50" charset="-128"/>
                <a:ea typeface="Yu Gothic UI" panose="020B0500000000000000" pitchFamily="50" charset="-128"/>
              </a:rPr>
              <a:t>4.4〜4.9 ms</a:t>
            </a:r>
            <a:r>
              <a:rPr kumimoji="1" lang="ja-JP" altLang="en-US" sz="800">
                <a:solidFill>
                  <a:srgbClr val="6B7688"/>
                </a:solidFill>
                <a:latin typeface="Yu Gothic UI" panose="020B0500000000000000" pitchFamily="50" charset="-128"/>
                <a:ea typeface="Yu Gothic UI" panose="020B0500000000000000" pitchFamily="50" charset="-128"/>
              </a:rPr>
              <a:t>（</a:t>
            </a:r>
            <a:r>
              <a:rPr kumimoji="1" lang="en-US" altLang="ja-JP" sz="800">
                <a:solidFill>
                  <a:srgbClr val="6B7688"/>
                </a:solidFill>
                <a:latin typeface="Yu Gothic UI" panose="020B0500000000000000" pitchFamily="50" charset="-128"/>
                <a:ea typeface="Yu Gothic UI" panose="020B0500000000000000" pitchFamily="50" charset="-128"/>
              </a:rPr>
              <a:t>26〜29 %</a:t>
            </a:r>
            <a:r>
              <a:rPr kumimoji="1" lang="ja-JP" altLang="en-US" sz="800">
                <a:solidFill>
                  <a:srgbClr val="6B7688"/>
                </a:solidFill>
                <a:latin typeface="Yu Gothic UI" panose="020B0500000000000000" pitchFamily="50" charset="-128"/>
                <a:ea typeface="Yu Gothic UI" panose="020B0500000000000000" pitchFamily="50" charset="-128"/>
              </a:rPr>
              <a:t>）。別勘定の音声スレッドは実機で </a:t>
            </a:r>
            <a:r>
              <a:rPr kumimoji="1" lang="en-US" altLang="ja-JP" sz="800">
                <a:solidFill>
                  <a:srgbClr val="6B7688"/>
                </a:solidFill>
                <a:latin typeface="Yu Gothic UI" panose="020B0500000000000000" pitchFamily="50" charset="-128"/>
                <a:ea typeface="Yu Gothic UI" panose="020B0500000000000000" pitchFamily="50" charset="-128"/>
              </a:rPr>
              <a:t>45 %</a:t>
            </a:r>
            <a:r>
              <a:rPr kumimoji="1" lang="ja-JP" altLang="en-US" sz="800">
                <a:solidFill>
                  <a:srgbClr val="6B7688"/>
                </a:solidFill>
                <a:latin typeface="Yu Gothic UI" panose="020B0500000000000000" pitchFamily="50" charset="-128"/>
                <a:ea typeface="Yu Gothic UI" panose="020B0500000000000000" pitchFamily="50" charset="-128"/>
              </a:rPr>
              <a:t>。</a:t>
            </a:r>
          </a:p>
        </p:txBody>
      </p:sp>
      <p:sp>
        <p:nvSpPr>
          <p:cNvPr id="9" name="テキスト ボックス 8">
            <a:extLst>
              <a:ext uri="{FF2B5EF4-FFF2-40B4-BE49-F238E27FC236}">
                <a16:creationId xmlns:a16="http://schemas.microsoft.com/office/drawing/2014/main" id="{37779AAA-5451-D6B1-7A4B-D53AAC588A2E}"/>
              </a:ext>
            </a:extLst>
          </p:cNvPr>
          <p:cNvSpPr txBox="1"/>
          <p:nvPr/>
        </p:nvSpPr>
        <p:spPr>
          <a:xfrm>
            <a:off x="406400" y="3316715"/>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内訳（その処理を切ったときの差）</a:t>
            </a:r>
          </a:p>
        </p:txBody>
      </p:sp>
      <p:graphicFrame>
        <p:nvGraphicFramePr>
          <p:cNvPr id="10" name="表 9">
            <a:extLst>
              <a:ext uri="{FF2B5EF4-FFF2-40B4-BE49-F238E27FC236}">
                <a16:creationId xmlns:a16="http://schemas.microsoft.com/office/drawing/2014/main" id="{E905C153-BE31-0DFD-B986-110D65492837}"/>
              </a:ext>
            </a:extLst>
          </p:cNvPr>
          <p:cNvGraphicFramePr>
            <a:graphicFrameLocks noGrp="1"/>
          </p:cNvGraphicFramePr>
          <p:nvPr>
            <p:extLst>
              <p:ext uri="{D42A27DB-BD31-4B8C-83A1-F6EECF244321}">
                <p14:modId xmlns:p14="http://schemas.microsoft.com/office/powerpoint/2010/main" val="3033756755"/>
              </p:ext>
            </p:extLst>
          </p:nvPr>
        </p:nvGraphicFramePr>
        <p:xfrm>
          <a:off x="406401" y="3593748"/>
          <a:ext cx="3623733" cy="1600200"/>
        </p:xfrm>
        <a:graphic>
          <a:graphicData uri="http://schemas.openxmlformats.org/drawingml/2006/table">
            <a:tbl>
              <a:tblPr firstRow="1" bandRow="1">
                <a:tableStyleId>{5C22544A-7EE6-4342-B048-85BDC9FD1C3A}</a:tableStyleId>
              </a:tblPr>
              <a:tblGrid>
                <a:gridCol w="1811867">
                  <a:extLst>
                    <a:ext uri="{9D8B030D-6E8A-4147-A177-3AD203B41FA5}">
                      <a16:colId xmlns:a16="http://schemas.microsoft.com/office/drawing/2014/main" val="77439808"/>
                    </a:ext>
                  </a:extLst>
                </a:gridCol>
                <a:gridCol w="1811867">
                  <a:extLst>
                    <a:ext uri="{9D8B030D-6E8A-4147-A177-3AD203B41FA5}">
                      <a16:colId xmlns:a16="http://schemas.microsoft.com/office/drawing/2014/main" val="203229224"/>
                    </a:ext>
                  </a:extLst>
                </a:gridCol>
              </a:tblGrid>
              <a:tr h="0">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処理</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取り分</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2284993772"/>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残響エコグラム</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約 </a:t>
                      </a:r>
                      <a:r>
                        <a:rPr kumimoji="1" lang="en-US" altLang="ja-JP" sz="850" b="0">
                          <a:solidFill>
                            <a:srgbClr val="1A2233"/>
                          </a:solidFill>
                          <a:latin typeface="Yu Gothic UI" panose="020B0500000000000000" pitchFamily="50" charset="-128"/>
                          <a:ea typeface="Yu Gothic UI" panose="020B0500000000000000" pitchFamily="50" charset="-128"/>
                        </a:rPr>
                        <a:t>25 %</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4172307156"/>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反射込み遮蔽</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約 </a:t>
                      </a:r>
                      <a:r>
                        <a:rPr kumimoji="1" lang="en-US" altLang="ja-JP" sz="850" b="0">
                          <a:solidFill>
                            <a:srgbClr val="1A2233"/>
                          </a:solidFill>
                          <a:latin typeface="Yu Gothic UI" panose="020B0500000000000000" pitchFamily="50" charset="-128"/>
                          <a:ea typeface="Yu Gothic UI" panose="020B0500000000000000" pitchFamily="50" charset="-128"/>
                        </a:rPr>
                        <a:t>23 %</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745292476"/>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回折二次音源</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約 </a:t>
                      </a:r>
                      <a:r>
                        <a:rPr kumimoji="1" lang="en-US" altLang="ja-JP" sz="850" b="0">
                          <a:solidFill>
                            <a:srgbClr val="1A2233"/>
                          </a:solidFill>
                          <a:latin typeface="Yu Gothic UI" panose="020B0500000000000000" pitchFamily="50" charset="-128"/>
                          <a:ea typeface="Yu Gothic UI" panose="020B0500000000000000" pitchFamily="50" charset="-128"/>
                        </a:rPr>
                        <a:t>10 %</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023683112"/>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エッジカタログ</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a:t>
                      </a:r>
                      <a:r>
                        <a:rPr kumimoji="1" lang="en-US" altLang="ja-JP" sz="850" b="0">
                          <a:solidFill>
                            <a:srgbClr val="1A2233"/>
                          </a:solidFill>
                          <a:latin typeface="Yu Gothic UI" panose="020B0500000000000000" pitchFamily="50" charset="-128"/>
                          <a:ea typeface="Yu Gothic UI" panose="020B0500000000000000" pitchFamily="50" charset="-128"/>
                        </a:rPr>
                        <a:t>3 〜 +8 %</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023450272"/>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早期反射</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約 </a:t>
                      </a:r>
                      <a:r>
                        <a:rPr kumimoji="1" lang="en-US" altLang="ja-JP" sz="850" b="0">
                          <a:solidFill>
                            <a:srgbClr val="1A2233"/>
                          </a:solidFill>
                          <a:latin typeface="Yu Gothic UI" panose="020B0500000000000000" pitchFamily="50" charset="-128"/>
                          <a:ea typeface="Yu Gothic UI" panose="020B0500000000000000" pitchFamily="50" charset="-128"/>
                        </a:rPr>
                        <a:t>8 %</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729952068"/>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部屋分割・自動ポータル</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約 </a:t>
                      </a:r>
                      <a:r>
                        <a:rPr kumimoji="1" lang="en-US" altLang="ja-JP" sz="850" b="0">
                          <a:solidFill>
                            <a:srgbClr val="1A2233"/>
                          </a:solidFill>
                          <a:latin typeface="Yu Gothic UI" panose="020B0500000000000000" pitchFamily="50" charset="-128"/>
                          <a:ea typeface="Yu Gothic UI" panose="020B0500000000000000" pitchFamily="50" charset="-128"/>
                        </a:rPr>
                        <a:t>0 %</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1246787155"/>
                  </a:ext>
                </a:extLst>
              </a:tr>
            </a:tbl>
          </a:graphicData>
        </a:graphic>
      </p:graphicFrame>
      <p:sp>
        <p:nvSpPr>
          <p:cNvPr id="11" name="テキスト ボックス 10">
            <a:extLst>
              <a:ext uri="{FF2B5EF4-FFF2-40B4-BE49-F238E27FC236}">
                <a16:creationId xmlns:a16="http://schemas.microsoft.com/office/drawing/2014/main" id="{E0FE1CF3-8D38-3DCF-FD28-3656BB99F360}"/>
              </a:ext>
            </a:extLst>
          </p:cNvPr>
          <p:cNvSpPr txBox="1"/>
          <p:nvPr/>
        </p:nvSpPr>
        <p:spPr>
          <a:xfrm>
            <a:off x="508000" y="5122828"/>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残響は </a:t>
            </a:r>
            <a:r>
              <a:rPr kumimoji="1" lang="en-US" altLang="ja-JP" sz="950">
                <a:solidFill>
                  <a:srgbClr val="1A2233"/>
                </a:solidFill>
                <a:latin typeface="Yu Gothic UI" panose="020B0500000000000000" pitchFamily="50" charset="-128"/>
                <a:ea typeface="Yu Gothic UI" panose="020B0500000000000000" pitchFamily="50" charset="-128"/>
              </a:rPr>
              <a:t>48〜51 % </a:t>
            </a:r>
            <a:r>
              <a:rPr kumimoji="1" lang="ja-JP" altLang="en-US" sz="950">
                <a:solidFill>
                  <a:srgbClr val="1A2233"/>
                </a:solidFill>
                <a:latin typeface="Yu Gothic UI" panose="020B0500000000000000" pitchFamily="50" charset="-128"/>
                <a:ea typeface="Yu Gothic UI" panose="020B0500000000000000" pitchFamily="50" charset="-128"/>
              </a:rPr>
              <a:t>だった処理です。尾を部屋ごとに共有して 約 </a:t>
            </a:r>
            <a:r>
              <a:rPr kumimoji="1" lang="en-US" altLang="ja-JP" sz="950">
                <a:solidFill>
                  <a:srgbClr val="1A2233"/>
                </a:solidFill>
                <a:latin typeface="Yu Gothic UI" panose="020B0500000000000000" pitchFamily="50" charset="-128"/>
                <a:ea typeface="Yu Gothic UI" panose="020B0500000000000000" pitchFamily="50" charset="-128"/>
              </a:rPr>
              <a:t>25 % </a:t>
            </a:r>
            <a:r>
              <a:rPr kumimoji="1" lang="ja-JP" altLang="en-US" sz="950">
                <a:solidFill>
                  <a:srgbClr val="1A2233"/>
                </a:solidFill>
                <a:latin typeface="Yu Gothic UI" panose="020B0500000000000000" pitchFamily="50" charset="-128"/>
                <a:ea typeface="Yu Gothic UI" panose="020B0500000000000000" pitchFamily="50" charset="-128"/>
              </a:rPr>
              <a:t>まで落ちました（音源 </a:t>
            </a:r>
            <a:r>
              <a:rPr kumimoji="1" lang="en-US" altLang="ja-JP" sz="950">
                <a:solidFill>
                  <a:srgbClr val="1A2233"/>
                </a:solidFill>
                <a:latin typeface="Yu Gothic UI" panose="020B0500000000000000" pitchFamily="50" charset="-128"/>
                <a:ea typeface="Yu Gothic UI" panose="020B0500000000000000" pitchFamily="50" charset="-128"/>
              </a:rPr>
              <a:t>16 </a:t>
            </a:r>
            <a:r>
              <a:rPr kumimoji="1" lang="ja-JP" altLang="en-US" sz="950">
                <a:solidFill>
                  <a:srgbClr val="1A2233"/>
                </a:solidFill>
                <a:latin typeface="Yu Gothic UI" panose="020B0500000000000000" pitchFamily="50" charset="-128"/>
                <a:ea typeface="Yu Gothic UI" panose="020B0500000000000000" pitchFamily="50" charset="-128"/>
              </a:rPr>
              <a:t>本で </a:t>
            </a:r>
            <a:r>
              <a:rPr kumimoji="1" lang="en-US" altLang="ja-JP" sz="950">
                <a:solidFill>
                  <a:srgbClr val="1A2233"/>
                </a:solidFill>
                <a:latin typeface="Yu Gothic UI" panose="020B0500000000000000" pitchFamily="50" charset="-128"/>
                <a:ea typeface="Yu Gothic UI" panose="020B0500000000000000" pitchFamily="50" charset="-128"/>
              </a:rPr>
              <a:t>16.8 → </a:t>
            </a:r>
            <a:r>
              <a:rPr kumimoji="1" lang="ja-JP" altLang="en-US" sz="950">
                <a:solidFill>
                  <a:srgbClr val="1A2233"/>
                </a:solidFill>
                <a:latin typeface="Yu Gothic UI" panose="020B0500000000000000" pitchFamily="50" charset="-128"/>
                <a:ea typeface="Yu Gothic UI" panose="020B0500000000000000" pitchFamily="50" charset="-128"/>
              </a:rPr>
              <a:t>約 </a:t>
            </a:r>
            <a:r>
              <a:rPr kumimoji="1" lang="en-US" altLang="ja-JP" sz="950">
                <a:solidFill>
                  <a:srgbClr val="1A2233"/>
                </a:solidFill>
                <a:latin typeface="Yu Gothic UI" panose="020B0500000000000000" pitchFamily="50" charset="-128"/>
                <a:ea typeface="Yu Gothic UI" panose="020B0500000000000000" pitchFamily="50" charset="-128"/>
              </a:rPr>
              <a:t>2.6 ms</a:t>
            </a:r>
            <a:r>
              <a:rPr kumimoji="1" lang="ja-JP" altLang="en-US" sz="950">
                <a:solidFill>
                  <a:srgbClr val="1A2233"/>
                </a:solidFill>
                <a:latin typeface="Yu Gothic UI" panose="020B0500000000000000" pitchFamily="50" charset="-128"/>
                <a:ea typeface="Yu Gothic UI" panose="020B0500000000000000" pitchFamily="50" charset="-128"/>
              </a:rPr>
              <a:t>）。焼かずに消えた無駄でした。</a:t>
            </a:r>
          </a:p>
        </p:txBody>
      </p:sp>
      <p:graphicFrame>
        <p:nvGraphicFramePr>
          <p:cNvPr id="13" name="表 12">
            <a:extLst>
              <a:ext uri="{FF2B5EF4-FFF2-40B4-BE49-F238E27FC236}">
                <a16:creationId xmlns:a16="http://schemas.microsoft.com/office/drawing/2014/main" id="{73E63870-F654-7BE0-AD85-BE75EA00019B}"/>
              </a:ext>
            </a:extLst>
          </p:cNvPr>
          <p:cNvGraphicFramePr>
            <a:graphicFrameLocks noGrp="1"/>
          </p:cNvGraphicFramePr>
          <p:nvPr>
            <p:extLst>
              <p:ext uri="{D42A27DB-BD31-4B8C-83A1-F6EECF244321}">
                <p14:modId xmlns:p14="http://schemas.microsoft.com/office/powerpoint/2010/main" val="3576061476"/>
              </p:ext>
            </p:extLst>
          </p:nvPr>
        </p:nvGraphicFramePr>
        <p:xfrm>
          <a:off x="406401" y="5755381"/>
          <a:ext cx="3623733" cy="685800"/>
        </p:xfrm>
        <a:graphic>
          <a:graphicData uri="http://schemas.openxmlformats.org/drawingml/2006/table">
            <a:tbl>
              <a:tblPr firstRow="1" bandRow="1">
                <a:tableStyleId>{5C22544A-7EE6-4342-B048-85BDC9FD1C3A}</a:tableStyleId>
              </a:tblPr>
              <a:tblGrid>
                <a:gridCol w="905933">
                  <a:extLst>
                    <a:ext uri="{9D8B030D-6E8A-4147-A177-3AD203B41FA5}">
                      <a16:colId xmlns:a16="http://schemas.microsoft.com/office/drawing/2014/main" val="1825661003"/>
                    </a:ext>
                  </a:extLst>
                </a:gridCol>
                <a:gridCol w="905933">
                  <a:extLst>
                    <a:ext uri="{9D8B030D-6E8A-4147-A177-3AD203B41FA5}">
                      <a16:colId xmlns:a16="http://schemas.microsoft.com/office/drawing/2014/main" val="2599855519"/>
                    </a:ext>
                  </a:extLst>
                </a:gridCol>
                <a:gridCol w="905933">
                  <a:extLst>
                    <a:ext uri="{9D8B030D-6E8A-4147-A177-3AD203B41FA5}">
                      <a16:colId xmlns:a16="http://schemas.microsoft.com/office/drawing/2014/main" val="3734193436"/>
                    </a:ext>
                  </a:extLst>
                </a:gridCol>
                <a:gridCol w="905933">
                  <a:extLst>
                    <a:ext uri="{9D8B030D-6E8A-4147-A177-3AD203B41FA5}">
                      <a16:colId xmlns:a16="http://schemas.microsoft.com/office/drawing/2014/main" val="3397719861"/>
                    </a:ext>
                  </a:extLst>
                </a:gridCol>
              </a:tblGrid>
              <a:tr h="0">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共有の前後</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音源 </a:t>
                      </a:r>
                      <a:r>
                        <a:rPr kumimoji="1" lang="en-US" altLang="ja-JP" sz="850" b="1">
                          <a:solidFill>
                            <a:srgbClr val="FFFFFF"/>
                          </a:solidFill>
                          <a:latin typeface="Yu Gothic UI" panose="020B0500000000000000" pitchFamily="50" charset="-128"/>
                          <a:ea typeface="Yu Gothic UI" panose="020B0500000000000000" pitchFamily="50" charset="-128"/>
                        </a:rPr>
                        <a:t>4</a:t>
                      </a:r>
                      <a:endParaRPr kumimoji="1" lang="ja-JP" altLang="en-US" sz="850" b="1">
                        <a:solidFill>
                          <a:srgbClr val="FFFFFF"/>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音源 </a:t>
                      </a:r>
                      <a:r>
                        <a:rPr kumimoji="1" lang="en-US" altLang="ja-JP" sz="850" b="1">
                          <a:solidFill>
                            <a:srgbClr val="FFFFFF"/>
                          </a:solidFill>
                          <a:latin typeface="Yu Gothic UI" panose="020B0500000000000000" pitchFamily="50" charset="-128"/>
                          <a:ea typeface="Yu Gothic UI" panose="020B0500000000000000" pitchFamily="50" charset="-128"/>
                        </a:rPr>
                        <a:t>8</a:t>
                      </a:r>
                      <a:endParaRPr kumimoji="1" lang="ja-JP" altLang="en-US" sz="850" b="1">
                        <a:solidFill>
                          <a:srgbClr val="FFFFFF"/>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音源 </a:t>
                      </a:r>
                      <a:r>
                        <a:rPr kumimoji="1" lang="en-US" altLang="ja-JP" sz="850" b="1">
                          <a:solidFill>
                            <a:srgbClr val="FFFFFF"/>
                          </a:solidFill>
                          <a:latin typeface="Yu Gothic UI" panose="020B0500000000000000" pitchFamily="50" charset="-128"/>
                          <a:ea typeface="Yu Gothic UI" panose="020B0500000000000000" pitchFamily="50" charset="-128"/>
                        </a:rPr>
                        <a:t>16</a:t>
                      </a:r>
                      <a:endParaRPr kumimoji="1" lang="ja-JP" altLang="en-US" sz="850" b="1">
                        <a:solidFill>
                          <a:srgbClr val="FFFFFF"/>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1266714599"/>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音源ごとに計算</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5.4</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10.7</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16.8 ms</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256584960"/>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部屋ごとに共有</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2.4</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2.5</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2.6 ms</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1326501187"/>
                  </a:ext>
                </a:extLst>
              </a:tr>
            </a:tbl>
          </a:graphicData>
        </a:graphic>
      </p:graphicFrame>
      <p:sp>
        <p:nvSpPr>
          <p:cNvPr id="15" name="テキスト ボックス 14">
            <a:extLst>
              <a:ext uri="{FF2B5EF4-FFF2-40B4-BE49-F238E27FC236}">
                <a16:creationId xmlns:a16="http://schemas.microsoft.com/office/drawing/2014/main" id="{FF56BA11-1316-7035-3142-CDFE2C91351C}"/>
              </a:ext>
            </a:extLst>
          </p:cNvPr>
          <p:cNvSpPr txBox="1"/>
          <p:nvPr/>
        </p:nvSpPr>
        <p:spPr>
          <a:xfrm>
            <a:off x="4284133" y="1566883"/>
            <a:ext cx="3623733" cy="116955"/>
          </a:xfrm>
          <a:prstGeom prst="rect">
            <a:avLst/>
          </a:prstGeom>
          <a:noFill/>
        </p:spPr>
        <p:txBody>
          <a:bodyPr vert="horz" wrap="square" lIns="0" tIns="0" rIns="0" bIns="0" rtlCol="0">
            <a:spAutoFit/>
          </a:bodyPr>
          <a:lstStyle/>
          <a:p>
            <a:pPr>
              <a:lnSpc>
                <a:spcPct val="95000"/>
              </a:lnSpc>
            </a:pPr>
            <a:r>
              <a:rPr kumimoji="1" lang="ja-JP" altLang="en-US" sz="800">
                <a:solidFill>
                  <a:srgbClr val="6B7688"/>
                </a:solidFill>
                <a:latin typeface="Yu Gothic UI" panose="020B0500000000000000" pitchFamily="50" charset="-128"/>
                <a:ea typeface="Yu Gothic UI" panose="020B0500000000000000" pitchFamily="50" charset="-128"/>
              </a:rPr>
              <a:t>音源数でほぼ伸びなくなりました。残るのはレイ側の固定費だけです。</a:t>
            </a:r>
          </a:p>
        </p:txBody>
      </p:sp>
      <p:sp>
        <p:nvSpPr>
          <p:cNvPr id="16" name="テキスト ボックス 15">
            <a:extLst>
              <a:ext uri="{FF2B5EF4-FFF2-40B4-BE49-F238E27FC236}">
                <a16:creationId xmlns:a16="http://schemas.microsoft.com/office/drawing/2014/main" id="{99494255-1A6C-B4C8-5E54-CBA3D5E194B4}"/>
              </a:ext>
            </a:extLst>
          </p:cNvPr>
          <p:cNvSpPr txBox="1"/>
          <p:nvPr/>
        </p:nvSpPr>
        <p:spPr>
          <a:xfrm>
            <a:off x="4385733" y="1887038"/>
            <a:ext cx="3420533" cy="833305"/>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★時間の数字は </a:t>
            </a:r>
            <a:r>
              <a:rPr kumimoji="1" lang="en-US" altLang="ja-JP" sz="950">
                <a:solidFill>
                  <a:srgbClr val="1A2233"/>
                </a:solidFill>
                <a:latin typeface="Yu Gothic UI" panose="020B0500000000000000" pitchFamily="50" charset="-128"/>
                <a:ea typeface="Yu Gothic UI" panose="020B0500000000000000" pitchFamily="50" charset="-128"/>
              </a:rPr>
              <a:t>2 </a:t>
            </a:r>
            <a:r>
              <a:rPr kumimoji="1" lang="ja-JP" altLang="en-US" sz="950">
                <a:solidFill>
                  <a:srgbClr val="1A2233"/>
                </a:solidFill>
                <a:latin typeface="Yu Gothic UI" panose="020B0500000000000000" pitchFamily="50" charset="-128"/>
                <a:ea typeface="Yu Gothic UI" panose="020B0500000000000000" pitchFamily="50" charset="-128"/>
              </a:rPr>
              <a:t>桁までしか意味がありません。同じ条件で </a:t>
            </a:r>
            <a:r>
              <a:rPr kumimoji="1" lang="en-US" altLang="ja-JP" sz="950">
                <a:solidFill>
                  <a:srgbClr val="1A2233"/>
                </a:solidFill>
                <a:latin typeface="Yu Gothic UI" panose="020B0500000000000000" pitchFamily="50" charset="-128"/>
                <a:ea typeface="Yu Gothic UI" panose="020B0500000000000000" pitchFamily="50" charset="-128"/>
              </a:rPr>
              <a:t>4 </a:t>
            </a:r>
            <a:r>
              <a:rPr kumimoji="1" lang="ja-JP" altLang="en-US" sz="950">
                <a:solidFill>
                  <a:srgbClr val="1A2233"/>
                </a:solidFill>
                <a:latin typeface="Yu Gothic UI" panose="020B0500000000000000" pitchFamily="50" charset="-128"/>
                <a:ea typeface="Yu Gothic UI" panose="020B0500000000000000" pitchFamily="50" charset="-128"/>
              </a:rPr>
              <a:t>回測ると </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コア平均が </a:t>
            </a:r>
            <a:r>
              <a:rPr kumimoji="1" lang="en-US" altLang="ja-JP" sz="950">
                <a:solidFill>
                  <a:srgbClr val="1A2233"/>
                </a:solidFill>
                <a:latin typeface="Yu Gothic UI" panose="020B0500000000000000" pitchFamily="50" charset="-128"/>
                <a:ea typeface="Yu Gothic UI" panose="020B0500000000000000" pitchFamily="50" charset="-128"/>
              </a:rPr>
              <a:t>4.4〜4.9 ms </a:t>
            </a:r>
            <a:r>
              <a:rPr kumimoji="1" lang="ja-JP" altLang="en-US" sz="950">
                <a:solidFill>
                  <a:srgbClr val="1A2233"/>
                </a:solidFill>
                <a:latin typeface="Yu Gothic UI" panose="020B0500000000000000" pitchFamily="50" charset="-128"/>
                <a:ea typeface="Yu Gothic UI" panose="020B0500000000000000" pitchFamily="50" charset="-128"/>
              </a:rPr>
              <a:t>に振れ、取り分の小さい処理は符号すら安定しません。だからこのページは範囲か概数で書いています。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★対照的に、音響の値（</a:t>
            </a:r>
            <a:r>
              <a:rPr kumimoji="1" lang="en-US" altLang="ja-JP" sz="950">
                <a:solidFill>
                  <a:srgbClr val="1A2233"/>
                </a:solidFill>
                <a:latin typeface="Yu Gothic UI" panose="020B0500000000000000" pitchFamily="50" charset="-128"/>
                <a:ea typeface="Yu Gothic UI" panose="020B0500000000000000" pitchFamily="50" charset="-128"/>
              </a:rPr>
              <a:t>p6 </a:t>
            </a:r>
            <a:r>
              <a:rPr kumimoji="1" lang="ja-JP" altLang="en-US" sz="950">
                <a:solidFill>
                  <a:srgbClr val="1A2233"/>
                </a:solidFill>
                <a:latin typeface="Yu Gothic UI" panose="020B0500000000000000" pitchFamily="50" charset="-128"/>
                <a:ea typeface="Yu Gothic UI" panose="020B0500000000000000" pitchFamily="50" charset="-128"/>
              </a:rPr>
              <a:t>の表）は </a:t>
            </a:r>
            <a:r>
              <a:rPr kumimoji="1" lang="en-US" altLang="ja-JP" sz="950">
                <a:solidFill>
                  <a:srgbClr val="1A2233"/>
                </a:solidFill>
                <a:latin typeface="Yu Gothic UI" panose="020B0500000000000000" pitchFamily="50" charset="-128"/>
                <a:ea typeface="Yu Gothic UI" panose="020B0500000000000000" pitchFamily="50" charset="-128"/>
              </a:rPr>
              <a:t>3 </a:t>
            </a:r>
            <a:r>
              <a:rPr kumimoji="1" lang="ja-JP" altLang="en-US" sz="950">
                <a:solidFill>
                  <a:srgbClr val="1A2233"/>
                </a:solidFill>
                <a:latin typeface="Yu Gothic UI" panose="020B0500000000000000" pitchFamily="50" charset="-128"/>
                <a:ea typeface="Yu Gothic UI" panose="020B0500000000000000" pitchFamily="50" charset="-128"/>
              </a:rPr>
              <a:t>回とも </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桁も違わず一致します。時間は測定、音響は計算 ── どちらの数字なのかで信頼度が違うことは、読む側にも分かる形にしています。</a:t>
            </a:r>
          </a:p>
        </p:txBody>
      </p:sp>
      <p:sp>
        <p:nvSpPr>
          <p:cNvPr id="18" name="テキスト ボックス 17">
            <a:extLst>
              <a:ext uri="{FF2B5EF4-FFF2-40B4-BE49-F238E27FC236}">
                <a16:creationId xmlns:a16="http://schemas.microsoft.com/office/drawing/2014/main" id="{ADEE3473-1A2C-C633-EB2B-050BA1AA541D}"/>
              </a:ext>
            </a:extLst>
          </p:cNvPr>
          <p:cNvSpPr txBox="1"/>
          <p:nvPr/>
        </p:nvSpPr>
        <p:spPr>
          <a:xfrm>
            <a:off x="4284133" y="2987043"/>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測って分かった、直感と違うこと</a:t>
            </a:r>
          </a:p>
        </p:txBody>
      </p:sp>
      <p:sp>
        <p:nvSpPr>
          <p:cNvPr id="19" name="テキスト ボックス 18">
            <a:extLst>
              <a:ext uri="{FF2B5EF4-FFF2-40B4-BE49-F238E27FC236}">
                <a16:creationId xmlns:a16="http://schemas.microsoft.com/office/drawing/2014/main" id="{BDC1D077-3C3A-C484-EAA4-F4ABF3A1DAE8}"/>
              </a:ext>
            </a:extLst>
          </p:cNvPr>
          <p:cNvSpPr txBox="1"/>
          <p:nvPr/>
        </p:nvSpPr>
        <p:spPr>
          <a:xfrm>
            <a:off x="4385733" y="3378376"/>
            <a:ext cx="3420533" cy="138884"/>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コストは「音源の本数」ではなく「遮蔽された音源の数」で効きます。</a:t>
            </a:r>
          </a:p>
        </p:txBody>
      </p:sp>
      <p:graphicFrame>
        <p:nvGraphicFramePr>
          <p:cNvPr id="21" name="表 20">
            <a:extLst>
              <a:ext uri="{FF2B5EF4-FFF2-40B4-BE49-F238E27FC236}">
                <a16:creationId xmlns:a16="http://schemas.microsoft.com/office/drawing/2014/main" id="{3A13CA2C-3AF9-6C45-19FE-F70ED5935B74}"/>
              </a:ext>
            </a:extLst>
          </p:cNvPr>
          <p:cNvGraphicFramePr>
            <a:graphicFrameLocks noGrp="1"/>
          </p:cNvGraphicFramePr>
          <p:nvPr>
            <p:extLst>
              <p:ext uri="{D42A27DB-BD31-4B8C-83A1-F6EECF244321}">
                <p14:modId xmlns:p14="http://schemas.microsoft.com/office/powerpoint/2010/main" val="1272518970"/>
              </p:ext>
            </p:extLst>
          </p:nvPr>
        </p:nvGraphicFramePr>
        <p:xfrm>
          <a:off x="4284134" y="3733160"/>
          <a:ext cx="3623733" cy="685800"/>
        </p:xfrm>
        <a:graphic>
          <a:graphicData uri="http://schemas.openxmlformats.org/drawingml/2006/table">
            <a:tbl>
              <a:tblPr firstRow="1" bandRow="1">
                <a:tableStyleId>{5C22544A-7EE6-4342-B048-85BDC9FD1C3A}</a:tableStyleId>
              </a:tblPr>
              <a:tblGrid>
                <a:gridCol w="905933">
                  <a:extLst>
                    <a:ext uri="{9D8B030D-6E8A-4147-A177-3AD203B41FA5}">
                      <a16:colId xmlns:a16="http://schemas.microsoft.com/office/drawing/2014/main" val="3769133993"/>
                    </a:ext>
                  </a:extLst>
                </a:gridCol>
                <a:gridCol w="905933">
                  <a:extLst>
                    <a:ext uri="{9D8B030D-6E8A-4147-A177-3AD203B41FA5}">
                      <a16:colId xmlns:a16="http://schemas.microsoft.com/office/drawing/2014/main" val="3255250501"/>
                    </a:ext>
                  </a:extLst>
                </a:gridCol>
                <a:gridCol w="905933">
                  <a:extLst>
                    <a:ext uri="{9D8B030D-6E8A-4147-A177-3AD203B41FA5}">
                      <a16:colId xmlns:a16="http://schemas.microsoft.com/office/drawing/2014/main" val="3001066503"/>
                    </a:ext>
                  </a:extLst>
                </a:gridCol>
                <a:gridCol w="905933">
                  <a:extLst>
                    <a:ext uri="{9D8B030D-6E8A-4147-A177-3AD203B41FA5}">
                      <a16:colId xmlns:a16="http://schemas.microsoft.com/office/drawing/2014/main" val="2310483002"/>
                    </a:ext>
                  </a:extLst>
                </a:gridCol>
              </a:tblGrid>
              <a:tr h="0">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シーン</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音源</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遮蔽</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フレーム</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1326276885"/>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神殿</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3</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0.00</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3.30 ms</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873847454"/>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洞窟</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3</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0.92</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14.41 ms</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1620568114"/>
                  </a:ext>
                </a:extLst>
              </a:tr>
            </a:tbl>
          </a:graphicData>
        </a:graphic>
      </p:graphicFrame>
      <p:sp>
        <p:nvSpPr>
          <p:cNvPr id="22" name="テキスト ボックス 21">
            <a:extLst>
              <a:ext uri="{FF2B5EF4-FFF2-40B4-BE49-F238E27FC236}">
                <a16:creationId xmlns:a16="http://schemas.microsoft.com/office/drawing/2014/main" id="{416B82C9-BCC1-A673-81F1-583D2912C910}"/>
              </a:ext>
            </a:extLst>
          </p:cNvPr>
          <p:cNvSpPr txBox="1"/>
          <p:nvPr/>
        </p:nvSpPr>
        <p:spPr>
          <a:xfrm>
            <a:off x="4284133" y="4413880"/>
            <a:ext cx="36237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同じ本数で </a:t>
            </a:r>
            <a:r>
              <a:rPr kumimoji="1" lang="en-US" altLang="ja-JP" sz="950">
                <a:solidFill>
                  <a:srgbClr val="1A2233"/>
                </a:solidFill>
                <a:latin typeface="Yu Gothic UI" panose="020B0500000000000000" pitchFamily="50" charset="-128"/>
                <a:ea typeface="Yu Gothic UI" panose="020B0500000000000000" pitchFamily="50" charset="-128"/>
              </a:rPr>
              <a:t>4 </a:t>
            </a:r>
            <a:r>
              <a:rPr kumimoji="1" lang="ja-JP" altLang="en-US" sz="950">
                <a:solidFill>
                  <a:srgbClr val="1A2233"/>
                </a:solidFill>
                <a:latin typeface="Yu Gothic UI" panose="020B0500000000000000" pitchFamily="50" charset="-128"/>
                <a:ea typeface="Yu Gothic UI" panose="020B0500000000000000" pitchFamily="50" charset="-128"/>
              </a:rPr>
              <a:t>倍以上違います。見通せていれば回折の探索が要らないためです。「本数 </a:t>
            </a:r>
            <a:r>
              <a:rPr kumimoji="1" lang="en-US" altLang="ja-JP" sz="950">
                <a:solidFill>
                  <a:srgbClr val="1A2233"/>
                </a:solidFill>
                <a:latin typeface="Yu Gothic UI" panose="020B0500000000000000" pitchFamily="50" charset="-128"/>
                <a:ea typeface="Yu Gothic UI" panose="020B0500000000000000" pitchFamily="50" charset="-128"/>
              </a:rPr>
              <a:t>× 1 </a:t>
            </a:r>
            <a:r>
              <a:rPr kumimoji="1" lang="ja-JP" altLang="en-US" sz="950">
                <a:solidFill>
                  <a:srgbClr val="1A2233"/>
                </a:solidFill>
                <a:latin typeface="Yu Gothic UI" panose="020B0500000000000000" pitchFamily="50" charset="-128"/>
                <a:ea typeface="Yu Gothic UI" panose="020B0500000000000000" pitchFamily="50" charset="-128"/>
              </a:rPr>
              <a:t>本あたりのコスト」という見積りが成立しないので、ツール側でも推定ではなく実測を出す設計にしました（</a:t>
            </a:r>
            <a:r>
              <a:rPr kumimoji="1" lang="en-US" altLang="ja-JP" sz="950">
                <a:solidFill>
                  <a:srgbClr val="1A2233"/>
                </a:solidFill>
                <a:latin typeface="Yu Gothic UI" panose="020B0500000000000000" pitchFamily="50" charset="-128"/>
                <a:ea typeface="Yu Gothic UI" panose="020B0500000000000000" pitchFamily="50" charset="-128"/>
              </a:rPr>
              <a:t>p11 ①</a:t>
            </a:r>
            <a:r>
              <a:rPr kumimoji="1" lang="ja-JP" altLang="en-US" sz="950">
                <a:solidFill>
                  <a:srgbClr val="1A2233"/>
                </a:solidFill>
                <a:latin typeface="Yu Gothic UI" panose="020B0500000000000000" pitchFamily="50" charset="-128"/>
                <a:ea typeface="Yu Gothic UI" panose="020B0500000000000000" pitchFamily="50" charset="-128"/>
              </a:rPr>
              <a:t>）。</a:t>
            </a:r>
          </a:p>
        </p:txBody>
      </p:sp>
      <p:sp>
        <p:nvSpPr>
          <p:cNvPr id="23" name="テキスト ボックス 22">
            <a:extLst>
              <a:ext uri="{FF2B5EF4-FFF2-40B4-BE49-F238E27FC236}">
                <a16:creationId xmlns:a16="http://schemas.microsoft.com/office/drawing/2014/main" id="{86834239-26D9-17D5-66F2-2784106BCD74}"/>
              </a:ext>
            </a:extLst>
          </p:cNvPr>
          <p:cNvSpPr txBox="1"/>
          <p:nvPr/>
        </p:nvSpPr>
        <p:spPr>
          <a:xfrm>
            <a:off x="4284133" y="4906733"/>
            <a:ext cx="3623733" cy="350865"/>
          </a:xfrm>
          <a:prstGeom prst="rect">
            <a:avLst/>
          </a:prstGeom>
          <a:noFill/>
        </p:spPr>
        <p:txBody>
          <a:bodyPr vert="horz" wrap="square" lIns="0" tIns="0" rIns="0" bIns="0" rtlCol="0">
            <a:spAutoFit/>
          </a:bodyPr>
          <a:lstStyle/>
          <a:p>
            <a:pPr>
              <a:lnSpc>
                <a:spcPct val="95000"/>
              </a:lnSpc>
            </a:pPr>
            <a:r>
              <a:rPr kumimoji="1" lang="en-US" altLang="ja-JP" sz="800">
                <a:solidFill>
                  <a:srgbClr val="6B7688"/>
                </a:solidFill>
                <a:latin typeface="Yu Gothic UI" panose="020B0500000000000000" pitchFamily="50" charset="-128"/>
                <a:ea typeface="Yu Gothic UI" panose="020B0500000000000000" pitchFamily="50" charset="-128"/>
              </a:rPr>
              <a:t>※ </a:t>
            </a:r>
            <a:r>
              <a:rPr kumimoji="1" lang="ja-JP" altLang="en-US" sz="800">
                <a:solidFill>
                  <a:srgbClr val="6B7688"/>
                </a:solidFill>
                <a:latin typeface="Yu Gothic UI" panose="020B0500000000000000" pitchFamily="50" charset="-128"/>
                <a:ea typeface="Yu Gothic UI" panose="020B0500000000000000" pitchFamily="50" charset="-128"/>
              </a:rPr>
              <a:t>この </a:t>
            </a:r>
            <a:r>
              <a:rPr kumimoji="1" lang="en-US" altLang="ja-JP" sz="800">
                <a:solidFill>
                  <a:srgbClr val="6B7688"/>
                </a:solidFill>
                <a:latin typeface="Yu Gothic UI" panose="020B0500000000000000" pitchFamily="50" charset="-128"/>
                <a:ea typeface="Yu Gothic UI" panose="020B0500000000000000" pitchFamily="50" charset="-128"/>
              </a:rPr>
              <a:t>2 </a:t>
            </a:r>
            <a:r>
              <a:rPr kumimoji="1" lang="ja-JP" altLang="en-US" sz="800">
                <a:solidFill>
                  <a:srgbClr val="6B7688"/>
                </a:solidFill>
                <a:latin typeface="Yu Gothic UI" panose="020B0500000000000000" pitchFamily="50" charset="-128"/>
                <a:ea typeface="Yu Gothic UI" panose="020B0500000000000000" pitchFamily="50" charset="-128"/>
              </a:rPr>
              <a:t>行だけ </a:t>
            </a:r>
            <a:r>
              <a:rPr kumimoji="1" lang="en-US" altLang="ja-JP" sz="800">
                <a:solidFill>
                  <a:srgbClr val="6B7688"/>
                </a:solidFill>
                <a:latin typeface="Yu Gothic UI" panose="020B0500000000000000" pitchFamily="50" charset="-128"/>
                <a:ea typeface="Yu Gothic UI" panose="020B0500000000000000" pitchFamily="50" charset="-128"/>
              </a:rPr>
              <a:t>Unity </a:t>
            </a:r>
            <a:r>
              <a:rPr kumimoji="1" lang="ja-JP" altLang="en-US" sz="800">
                <a:solidFill>
                  <a:srgbClr val="6B7688"/>
                </a:solidFill>
                <a:latin typeface="Yu Gothic UI" panose="020B0500000000000000" pitchFamily="50" charset="-128"/>
                <a:ea typeface="Yu Gothic UI" panose="020B0500000000000000" pitchFamily="50" charset="-128"/>
              </a:rPr>
              <a:t>実機で採った値で、尾の共有を入れる前のものです。比（</a:t>
            </a:r>
            <a:r>
              <a:rPr kumimoji="1" lang="en-US" altLang="ja-JP" sz="800">
                <a:solidFill>
                  <a:srgbClr val="6B7688"/>
                </a:solidFill>
                <a:latin typeface="Yu Gothic UI" panose="020B0500000000000000" pitchFamily="50" charset="-128"/>
                <a:ea typeface="Yu Gothic UI" panose="020B0500000000000000" pitchFamily="50" charset="-128"/>
              </a:rPr>
              <a:t>4 </a:t>
            </a:r>
            <a:r>
              <a:rPr kumimoji="1" lang="ja-JP" altLang="en-US" sz="800">
                <a:solidFill>
                  <a:srgbClr val="6B7688"/>
                </a:solidFill>
                <a:latin typeface="Yu Gothic UI" panose="020B0500000000000000" pitchFamily="50" charset="-128"/>
                <a:ea typeface="Yu Gothic UI" panose="020B0500000000000000" pitchFamily="50" charset="-128"/>
              </a:rPr>
              <a:t>倍以上）は変わりませんが、絶対値はいまはもっと小さくなります。左の表はすべて現在のエンジンの実測です。</a:t>
            </a:r>
          </a:p>
        </p:txBody>
      </p:sp>
      <p:sp>
        <p:nvSpPr>
          <p:cNvPr id="24" name="テキスト ボックス 23">
            <a:extLst>
              <a:ext uri="{FF2B5EF4-FFF2-40B4-BE49-F238E27FC236}">
                <a16:creationId xmlns:a16="http://schemas.microsoft.com/office/drawing/2014/main" id="{29ECDCC4-BDF5-75EE-3154-B83ADDBB1659}"/>
              </a:ext>
            </a:extLst>
          </p:cNvPr>
          <p:cNvSpPr txBox="1"/>
          <p:nvPr/>
        </p:nvSpPr>
        <p:spPr>
          <a:xfrm>
            <a:off x="4284133" y="5397298"/>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なぜ </a:t>
            </a:r>
            <a:r>
              <a:rPr kumimoji="1" lang="en-US" altLang="ja-JP" sz="1200" b="1">
                <a:solidFill>
                  <a:srgbClr val="21295C"/>
                </a:solidFill>
                <a:latin typeface="Yu Gothic UI" panose="020B0500000000000000" pitchFamily="50" charset="-128"/>
                <a:ea typeface="Yu Gothic UI" panose="020B0500000000000000" pitchFamily="50" charset="-128"/>
              </a:rPr>
              <a:t>GPU </a:t>
            </a:r>
            <a:r>
              <a:rPr kumimoji="1" lang="ja-JP" altLang="en-US" sz="1200" b="1">
                <a:solidFill>
                  <a:srgbClr val="21295C"/>
                </a:solidFill>
                <a:latin typeface="Yu Gothic UI" panose="020B0500000000000000" pitchFamily="50" charset="-128"/>
                <a:ea typeface="Yu Gothic UI" panose="020B0500000000000000" pitchFamily="50" charset="-128"/>
              </a:rPr>
              <a:t>を使わないか</a:t>
            </a:r>
          </a:p>
        </p:txBody>
      </p:sp>
      <p:sp>
        <p:nvSpPr>
          <p:cNvPr id="25" name="テキスト ボックス 24">
            <a:extLst>
              <a:ext uri="{FF2B5EF4-FFF2-40B4-BE49-F238E27FC236}">
                <a16:creationId xmlns:a16="http://schemas.microsoft.com/office/drawing/2014/main" id="{F968DD29-7316-55C0-E49D-C5E2D4BCE622}"/>
              </a:ext>
            </a:extLst>
          </p:cNvPr>
          <p:cNvSpPr txBox="1"/>
          <p:nvPr/>
        </p:nvSpPr>
        <p:spPr>
          <a:xfrm>
            <a:off x="4284133" y="5661631"/>
            <a:ext cx="3623733" cy="694421"/>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ゲームの </a:t>
            </a:r>
            <a:r>
              <a:rPr kumimoji="1" lang="en-US" altLang="ja-JP" sz="950">
                <a:solidFill>
                  <a:srgbClr val="1A2233"/>
                </a:solidFill>
                <a:latin typeface="Yu Gothic UI" panose="020B0500000000000000" pitchFamily="50" charset="-128"/>
                <a:ea typeface="Yu Gothic UI" panose="020B0500000000000000" pitchFamily="50" charset="-128"/>
              </a:rPr>
              <a:t>GPU </a:t>
            </a:r>
            <a:r>
              <a:rPr kumimoji="1" lang="ja-JP" altLang="en-US" sz="950">
                <a:solidFill>
                  <a:srgbClr val="1A2233"/>
                </a:solidFill>
                <a:latin typeface="Yu Gothic UI" panose="020B0500000000000000" pitchFamily="50" charset="-128"/>
                <a:ea typeface="Yu Gothic UI" panose="020B0500000000000000" pitchFamily="50" charset="-128"/>
              </a:rPr>
              <a:t>予算は、すでに描画が使い切っているからです。音響が取りに行くと描画と食い合い、</a:t>
            </a:r>
            <a:r>
              <a:rPr kumimoji="1" lang="en-US" altLang="ja-JP" sz="950">
                <a:solidFill>
                  <a:srgbClr val="1A2233"/>
                </a:solidFill>
                <a:latin typeface="Yu Gothic UI" panose="020B0500000000000000" pitchFamily="50" charset="-128"/>
                <a:ea typeface="Yu Gothic UI" panose="020B0500000000000000" pitchFamily="50" charset="-128"/>
              </a:rPr>
              <a:t>CPU </a:t>
            </a:r>
            <a:r>
              <a:rPr kumimoji="1" lang="ja-JP" altLang="en-US" sz="950">
                <a:solidFill>
                  <a:srgbClr val="1A2233"/>
                </a:solidFill>
                <a:latin typeface="Yu Gothic UI" panose="020B0500000000000000" pitchFamily="50" charset="-128"/>
                <a:ea typeface="Yu Gothic UI" panose="020B0500000000000000" pitchFamily="50" charset="-128"/>
              </a:rPr>
              <a:t>へ戻す待ちも増えます。</a:t>
            </a:r>
            <a:r>
              <a:rPr kumimoji="1" lang="en-US" altLang="ja-JP" sz="950">
                <a:solidFill>
                  <a:srgbClr val="1A2233"/>
                </a:solidFill>
                <a:latin typeface="Yu Gothic UI" panose="020B0500000000000000" pitchFamily="50" charset="-128"/>
                <a:ea typeface="Yu Gothic UI" panose="020B0500000000000000" pitchFamily="50" charset="-128"/>
              </a:rPr>
              <a:t>CPU </a:t>
            </a:r>
            <a:r>
              <a:rPr kumimoji="1" lang="ja-JP" altLang="en-US" sz="950">
                <a:solidFill>
                  <a:srgbClr val="1A2233"/>
                </a:solidFill>
                <a:latin typeface="Yu Gothic UI" panose="020B0500000000000000" pitchFamily="50" charset="-128"/>
                <a:ea typeface="Yu Gothic UI" panose="020B0500000000000000" pitchFamily="50" charset="-128"/>
              </a:rPr>
              <a:t>の予算内に収まるなら、そのほうが組み込みやすい。</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 </a:t>
            </a:r>
            <a:r>
              <a:rPr kumimoji="1" lang="ja-JP" altLang="en-US" sz="950">
                <a:solidFill>
                  <a:srgbClr val="1A2233"/>
                </a:solidFill>
                <a:latin typeface="Yu Gothic UI" panose="020B0500000000000000" pitchFamily="50" charset="-128"/>
                <a:ea typeface="Yu Gothic UI" panose="020B0500000000000000" pitchFamily="50" charset="-128"/>
              </a:rPr>
              <a:t>使わないと決めたのではなく、まだ必要になっていないという状態です（</a:t>
            </a:r>
            <a:r>
              <a:rPr kumimoji="1" lang="en-US" altLang="ja-JP" sz="950">
                <a:solidFill>
                  <a:srgbClr val="1A2233"/>
                </a:solidFill>
                <a:latin typeface="Yu Gothic UI" panose="020B0500000000000000" pitchFamily="50" charset="-128"/>
                <a:ea typeface="Yu Gothic UI" panose="020B0500000000000000" pitchFamily="50" charset="-128"/>
              </a:rPr>
              <a:t>p18</a:t>
            </a:r>
            <a:r>
              <a:rPr kumimoji="1" lang="ja-JP" altLang="en-US" sz="950">
                <a:solidFill>
                  <a:srgbClr val="1A2233"/>
                </a:solidFill>
                <a:latin typeface="Yu Gothic UI" panose="020B0500000000000000" pitchFamily="50" charset="-128"/>
                <a:ea typeface="Yu Gothic UI" panose="020B0500000000000000" pitchFamily="50" charset="-128"/>
              </a:rPr>
              <a:t>）。</a:t>
            </a:r>
          </a:p>
        </p:txBody>
      </p:sp>
      <p:sp>
        <p:nvSpPr>
          <p:cNvPr id="28" name="テキスト ボックス 27">
            <a:extLst>
              <a:ext uri="{FF2B5EF4-FFF2-40B4-BE49-F238E27FC236}">
                <a16:creationId xmlns:a16="http://schemas.microsoft.com/office/drawing/2014/main" id="{7578E6BC-B3A7-625E-BF9F-193A3F84A40D}"/>
              </a:ext>
            </a:extLst>
          </p:cNvPr>
          <p:cNvSpPr txBox="1"/>
          <p:nvPr/>
        </p:nvSpPr>
        <p:spPr>
          <a:xfrm>
            <a:off x="8263467" y="1693883"/>
            <a:ext cx="3420533" cy="555537"/>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この表はシーン側（フレーム）の話です。音声スレッドは別勘定で、実機で </a:t>
            </a:r>
            <a:r>
              <a:rPr kumimoji="1" lang="en-US" altLang="ja-JP" sz="950">
                <a:solidFill>
                  <a:srgbClr val="1A2233"/>
                </a:solidFill>
                <a:latin typeface="Yu Gothic UI" panose="020B0500000000000000" pitchFamily="50" charset="-128"/>
                <a:ea typeface="Yu Gothic UI" panose="020B0500000000000000" pitchFamily="50" charset="-128"/>
              </a:rPr>
              <a:t>75 → 45 % </a:t>
            </a:r>
            <a:r>
              <a:rPr kumimoji="1" lang="ja-JP" altLang="en-US" sz="950">
                <a:solidFill>
                  <a:srgbClr val="1A2233"/>
                </a:solidFill>
                <a:latin typeface="Yu Gothic UI" panose="020B0500000000000000" pitchFamily="50" charset="-128"/>
                <a:ea typeface="Yu Gothic UI" panose="020B0500000000000000" pitchFamily="50" charset="-128"/>
              </a:rPr>
              <a:t>まで下げました。ベイク化しても音声スレッドは </a:t>
            </a:r>
            <a:r>
              <a:rPr kumimoji="1" lang="en-US" altLang="ja-JP" sz="950">
                <a:solidFill>
                  <a:srgbClr val="1A2233"/>
                </a:solidFill>
                <a:latin typeface="Yu Gothic UI" panose="020B0500000000000000" pitchFamily="50" charset="-128"/>
                <a:ea typeface="Yu Gothic UI" panose="020B0500000000000000" pitchFamily="50" charset="-128"/>
              </a:rPr>
              <a:t>1 % </a:t>
            </a:r>
            <a:r>
              <a:rPr kumimoji="1" lang="ja-JP" altLang="en-US" sz="950">
                <a:solidFill>
                  <a:srgbClr val="1A2233"/>
                </a:solidFill>
                <a:latin typeface="Yu Gothic UI" panose="020B0500000000000000" pitchFamily="50" charset="-128"/>
                <a:ea typeface="Yu Gothic UI" panose="020B0500000000000000" pitchFamily="50" charset="-128"/>
              </a:rPr>
              <a:t>も下がりません（声を鳴らすのは実行時なので）。ここを下げる手は段の振り分け（</a:t>
            </a:r>
            <a:r>
              <a:rPr kumimoji="1" lang="en-US" altLang="ja-JP" sz="950">
                <a:solidFill>
                  <a:srgbClr val="1A2233"/>
                </a:solidFill>
                <a:latin typeface="Yu Gothic UI" panose="020B0500000000000000" pitchFamily="50" charset="-128"/>
                <a:ea typeface="Yu Gothic UI" panose="020B0500000000000000" pitchFamily="50" charset="-128"/>
              </a:rPr>
              <a:t>p10 ③</a:t>
            </a:r>
            <a:r>
              <a:rPr kumimoji="1" lang="ja-JP" altLang="en-US" sz="950">
                <a:solidFill>
                  <a:srgbClr val="1A2233"/>
                </a:solidFill>
                <a:latin typeface="Yu Gothic UI" panose="020B0500000000000000" pitchFamily="50" charset="-128"/>
                <a:ea typeface="Yu Gothic UI" panose="020B0500000000000000" pitchFamily="50" charset="-128"/>
              </a:rPr>
              <a:t>）です。</a:t>
            </a:r>
          </a:p>
        </p:txBody>
      </p:sp>
      <p:sp>
        <p:nvSpPr>
          <p:cNvPr id="30" name="テキスト ボックス 29">
            <a:extLst>
              <a:ext uri="{FF2B5EF4-FFF2-40B4-BE49-F238E27FC236}">
                <a16:creationId xmlns:a16="http://schemas.microsoft.com/office/drawing/2014/main" id="{34077A42-9013-A179-C9C6-2DC54A1EDCA4}"/>
              </a:ext>
            </a:extLst>
          </p:cNvPr>
          <p:cNvSpPr txBox="1"/>
          <p:nvPr/>
        </p:nvSpPr>
        <p:spPr>
          <a:xfrm>
            <a:off x="8263467" y="2579620"/>
            <a:ext cx="3420533" cy="555537"/>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残響が </a:t>
            </a:r>
            <a:r>
              <a:rPr kumimoji="1" lang="en-US" altLang="ja-JP" sz="950">
                <a:solidFill>
                  <a:srgbClr val="1A2233"/>
                </a:solidFill>
                <a:latin typeface="Yu Gothic UI" panose="020B0500000000000000" pitchFamily="50" charset="-128"/>
                <a:ea typeface="Yu Gothic UI" panose="020B0500000000000000" pitchFamily="50" charset="-128"/>
              </a:rPr>
              <a:t>Sabine </a:t>
            </a:r>
            <a:r>
              <a:rPr kumimoji="1" lang="ja-JP" altLang="en-US" sz="950">
                <a:solidFill>
                  <a:srgbClr val="1A2233"/>
                </a:solidFill>
                <a:latin typeface="Yu Gothic UI" panose="020B0500000000000000" pitchFamily="50" charset="-128"/>
                <a:ea typeface="Yu Gothic UI" panose="020B0500000000000000" pitchFamily="50" charset="-128"/>
              </a:rPr>
              <a:t>の理論値と </a:t>
            </a:r>
            <a:r>
              <a:rPr kumimoji="1" lang="en-US" altLang="ja-JP" sz="950">
                <a:solidFill>
                  <a:srgbClr val="1A2233"/>
                </a:solidFill>
                <a:latin typeface="Yu Gothic UI" panose="020B0500000000000000" pitchFamily="50" charset="-128"/>
                <a:ea typeface="Yu Gothic UI" panose="020B0500000000000000" pitchFamily="50" charset="-128"/>
              </a:rPr>
              <a:t>±6〜16 % </a:t>
            </a:r>
            <a:r>
              <a:rPr kumimoji="1" lang="ja-JP" altLang="en-US" sz="950">
                <a:solidFill>
                  <a:srgbClr val="1A2233"/>
                </a:solidFill>
                <a:latin typeface="Yu Gothic UI" panose="020B0500000000000000" pitchFamily="50" charset="-128"/>
                <a:ea typeface="Yu Gothic UI" panose="020B0500000000000000" pitchFamily="50" charset="-128"/>
              </a:rPr>
              <a:t>で一致します。扉を閉じて部屋を孤立させ、</a:t>
            </a:r>
            <a:r>
              <a:rPr kumimoji="1" lang="en-US" altLang="ja-JP" sz="950">
                <a:solidFill>
                  <a:srgbClr val="1A2233"/>
                </a:solidFill>
                <a:latin typeface="Yu Gothic UI" panose="020B0500000000000000" pitchFamily="50" charset="-128"/>
                <a:ea typeface="Yu Gothic UI" panose="020B0500000000000000" pitchFamily="50" charset="-128"/>
              </a:rPr>
              <a:t>RT60 = 0.161V/(Sα) </a:t>
            </a:r>
            <a:r>
              <a:rPr kumimoji="1" lang="ja-JP" altLang="en-US" sz="950">
                <a:solidFill>
                  <a:srgbClr val="1A2233"/>
                </a:solidFill>
                <a:latin typeface="Yu Gothic UI" panose="020B0500000000000000" pitchFamily="50" charset="-128"/>
                <a:ea typeface="Yu Gothic UI" panose="020B0500000000000000" pitchFamily="50" charset="-128"/>
              </a:rPr>
              <a:t>と突き合わせた実測です（</a:t>
            </a:r>
            <a:r>
              <a:rPr kumimoji="1" lang="en-US" altLang="ja-JP" sz="950">
                <a:solidFill>
                  <a:srgbClr val="1A2233"/>
                </a:solidFill>
                <a:latin typeface="Yu Gothic UI" panose="020B0500000000000000" pitchFamily="50" charset="-128"/>
                <a:ea typeface="Yu Gothic UI" panose="020B0500000000000000" pitchFamily="50" charset="-128"/>
              </a:rPr>
              <a:t>α 0.2 </a:t>
            </a:r>
            <a:r>
              <a:rPr kumimoji="1" lang="ja-JP" altLang="en-US" sz="950">
                <a:solidFill>
                  <a:srgbClr val="1A2233"/>
                </a:solidFill>
                <a:latin typeface="Yu Gothic UI" panose="020B0500000000000000" pitchFamily="50" charset="-128"/>
                <a:ea typeface="Yu Gothic UI" panose="020B0500000000000000" pitchFamily="50" charset="-128"/>
              </a:rPr>
              <a:t>で </a:t>
            </a:r>
            <a:r>
              <a:rPr kumimoji="1" lang="en-US" altLang="ja-JP" sz="950">
                <a:solidFill>
                  <a:srgbClr val="1A2233"/>
                </a:solidFill>
                <a:latin typeface="Yu Gothic UI" panose="020B0500000000000000" pitchFamily="50" charset="-128"/>
                <a:ea typeface="Yu Gothic UI" panose="020B0500000000000000" pitchFamily="50" charset="-128"/>
              </a:rPr>
              <a:t>0.507 s vs </a:t>
            </a:r>
            <a:r>
              <a:rPr kumimoji="1" lang="ja-JP" altLang="en-US" sz="950">
                <a:solidFill>
                  <a:srgbClr val="1A2233"/>
                </a:solidFill>
                <a:latin typeface="Yu Gothic UI" panose="020B0500000000000000" pitchFamily="50" charset="-128"/>
                <a:ea typeface="Yu Gothic UI" panose="020B0500000000000000" pitchFamily="50" charset="-128"/>
              </a:rPr>
              <a:t>理論 </a:t>
            </a:r>
            <a:r>
              <a:rPr kumimoji="1" lang="en-US" altLang="ja-JP" sz="950">
                <a:solidFill>
                  <a:srgbClr val="1A2233"/>
                </a:solidFill>
                <a:latin typeface="Yu Gothic UI" panose="020B0500000000000000" pitchFamily="50" charset="-128"/>
                <a:ea typeface="Yu Gothic UI" panose="020B0500000000000000" pitchFamily="50" charset="-128"/>
              </a:rPr>
              <a:t>0.537 s</a:t>
            </a:r>
            <a:r>
              <a:rPr kumimoji="1" lang="ja-JP" altLang="en-US" sz="950">
                <a:solidFill>
                  <a:srgbClr val="1A2233"/>
                </a:solidFill>
                <a:latin typeface="Yu Gothic UI" panose="020B0500000000000000" pitchFamily="50" charset="-128"/>
                <a:ea typeface="Yu Gothic UI" panose="020B0500000000000000" pitchFamily="50" charset="-128"/>
              </a:rPr>
              <a:t>）。速さだけでなく、模型が合っていることも数字で言えます。</a:t>
            </a:r>
          </a:p>
        </p:txBody>
      </p:sp>
    </p:spTree>
    <p:extLst>
      <p:ext uri="{BB962C8B-B14F-4D97-AF65-F5344CB8AC3E}">
        <p14:creationId xmlns:p14="http://schemas.microsoft.com/office/powerpoint/2010/main" val="1855164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四角形: 角を丸くする 17">
            <a:extLst>
              <a:ext uri="{FF2B5EF4-FFF2-40B4-BE49-F238E27FC236}">
                <a16:creationId xmlns:a16="http://schemas.microsoft.com/office/drawing/2014/main" id="{5277565C-7068-E738-B9FD-AFFD4B0293B2}"/>
              </a:ext>
            </a:extLst>
          </p:cNvPr>
          <p:cNvSpPr/>
          <p:nvPr/>
        </p:nvSpPr>
        <p:spPr>
          <a:xfrm>
            <a:off x="4284133" y="5065284"/>
            <a:ext cx="3623734" cy="619853"/>
          </a:xfrm>
          <a:prstGeom prst="roundRect">
            <a:avLst>
              <a:gd name="adj" fmla="val 6000"/>
            </a:avLst>
          </a:prstGeom>
          <a:solidFill>
            <a:srgbClr val="FDF1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1C896DFC-E2E9-5ACA-426A-04FA78AAEABA}"/>
              </a:ext>
            </a:extLst>
          </p:cNvPr>
          <p:cNvSpPr/>
          <p:nvPr/>
        </p:nvSpPr>
        <p:spPr>
          <a:xfrm>
            <a:off x="406400" y="4079579"/>
            <a:ext cx="3623733"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5CAA2D84-4A99-8848-3E75-A8F872281E94}"/>
              </a:ext>
            </a:extLst>
          </p:cNvPr>
          <p:cNvSpPr/>
          <p:nvPr/>
        </p:nvSpPr>
        <p:spPr>
          <a:xfrm>
            <a:off x="406400" y="906195"/>
            <a:ext cx="11379200" cy="49558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4F185422-08E8-6C5A-7BC5-C5ADDDC0285D}"/>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OPTIMIZATION</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0C3C8B43-EC39-19B5-898F-11A09ED1244B}"/>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性能 ── 速くするために入れた </a:t>
            </a:r>
            <a:r>
              <a:rPr kumimoji="1" lang="en-US" altLang="ja-JP" sz="1700" b="1">
                <a:solidFill>
                  <a:srgbClr val="21295C"/>
                </a:solidFill>
                <a:latin typeface="Yu Gothic UI" panose="020B0500000000000000" pitchFamily="50" charset="-128"/>
                <a:ea typeface="Yu Gothic UI" panose="020B0500000000000000" pitchFamily="50" charset="-128"/>
              </a:rPr>
              <a:t>3 </a:t>
            </a:r>
            <a:r>
              <a:rPr kumimoji="1" lang="ja-JP" altLang="en-US" sz="1700" b="1">
                <a:solidFill>
                  <a:srgbClr val="21295C"/>
                </a:solidFill>
                <a:latin typeface="Yu Gothic UI" panose="020B0500000000000000" pitchFamily="50" charset="-128"/>
                <a:ea typeface="Yu Gothic UI" panose="020B0500000000000000" pitchFamily="50" charset="-128"/>
              </a:rPr>
              <a:t>つ</a:t>
            </a:r>
          </a:p>
        </p:txBody>
      </p:sp>
      <p:sp>
        <p:nvSpPr>
          <p:cNvPr id="4" name="テキスト ボックス 3">
            <a:extLst>
              <a:ext uri="{FF2B5EF4-FFF2-40B4-BE49-F238E27FC236}">
                <a16:creationId xmlns:a16="http://schemas.microsoft.com/office/drawing/2014/main" id="{233FFB8F-B1CB-168B-1181-F1DEC5CA6274}"/>
              </a:ext>
            </a:extLst>
          </p:cNvPr>
          <p:cNvSpPr txBox="1"/>
          <p:nvPr/>
        </p:nvSpPr>
        <p:spPr>
          <a:xfrm>
            <a:off x="508000" y="1007795"/>
            <a:ext cx="11176000" cy="292388"/>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どれも 「音を変えずに速くする」 ことを条件にしました。</a:t>
            </a:r>
          </a:p>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速くなった代わりに音が変わったなら、それは最適化ではなく仕様変更です。</a:t>
            </a:r>
          </a:p>
        </p:txBody>
      </p:sp>
      <p:sp>
        <p:nvSpPr>
          <p:cNvPr id="6" name="テキスト ボックス 5">
            <a:extLst>
              <a:ext uri="{FF2B5EF4-FFF2-40B4-BE49-F238E27FC236}">
                <a16:creationId xmlns:a16="http://schemas.microsoft.com/office/drawing/2014/main" id="{3AFAD70F-348D-AFF2-71A9-FA451EC5518A}"/>
              </a:ext>
            </a:extLst>
          </p:cNvPr>
          <p:cNvSpPr txBox="1"/>
          <p:nvPr/>
        </p:nvSpPr>
        <p:spPr>
          <a:xfrm>
            <a:off x="406400" y="1630383"/>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① 音源ごとに複数コアへ割る</a:t>
            </a:r>
          </a:p>
        </p:txBody>
      </p:sp>
      <p:sp>
        <p:nvSpPr>
          <p:cNvPr id="7" name="テキスト ボックス 6">
            <a:extLst>
              <a:ext uri="{FF2B5EF4-FFF2-40B4-BE49-F238E27FC236}">
                <a16:creationId xmlns:a16="http://schemas.microsoft.com/office/drawing/2014/main" id="{659A7474-8126-0986-001B-A327B8485E29}"/>
              </a:ext>
            </a:extLst>
          </p:cNvPr>
          <p:cNvSpPr txBox="1"/>
          <p:nvPr/>
        </p:nvSpPr>
        <p:spPr>
          <a:xfrm>
            <a:off x="406400" y="1894716"/>
            <a:ext cx="3623733" cy="2083263"/>
          </a:xfrm>
          <a:prstGeom prst="rect">
            <a:avLst/>
          </a:prstGeom>
          <a:noFill/>
        </p:spPr>
        <p:txBody>
          <a:bodyPr vert="horz" wrap="square" lIns="0" tIns="0" rIns="0" bIns="0" rtlCol="0">
            <a:spAutoFit/>
          </a:bodyPr>
          <a:lstStyle/>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コア</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約 </a:t>
            </a:r>
            <a:r>
              <a:rPr kumimoji="1" lang="en-US" altLang="ja-JP" sz="950">
                <a:solidFill>
                  <a:srgbClr val="1A2233"/>
                </a:solidFill>
                <a:latin typeface="Yu Gothic UI" panose="020B0500000000000000" pitchFamily="50" charset="-128"/>
                <a:ea typeface="Yu Gothic UI" panose="020B0500000000000000" pitchFamily="50" charset="-128"/>
              </a:rPr>
              <a:t>4.7 ms</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2 </a:t>
            </a:r>
            <a:r>
              <a:rPr kumimoji="1" lang="ja-JP" altLang="en-US" sz="950">
                <a:solidFill>
                  <a:srgbClr val="1A2233"/>
                </a:solidFill>
                <a:latin typeface="Yu Gothic UI" panose="020B0500000000000000" pitchFamily="50" charset="-128"/>
                <a:ea typeface="Yu Gothic UI" panose="020B0500000000000000" pitchFamily="50" charset="-128"/>
              </a:rPr>
              <a:t>コア</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約 </a:t>
            </a:r>
            <a:r>
              <a:rPr kumimoji="1" lang="en-US" altLang="ja-JP" sz="950">
                <a:solidFill>
                  <a:srgbClr val="1A2233"/>
                </a:solidFill>
                <a:latin typeface="Yu Gothic UI" panose="020B0500000000000000" pitchFamily="50" charset="-128"/>
                <a:ea typeface="Yu Gothic UI" panose="020B0500000000000000" pitchFamily="50" charset="-128"/>
              </a:rPr>
              <a:t>2.8</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4 </a:t>
            </a:r>
            <a:r>
              <a:rPr kumimoji="1" lang="ja-JP" altLang="en-US" sz="950">
                <a:solidFill>
                  <a:srgbClr val="1A2233"/>
                </a:solidFill>
                <a:latin typeface="Yu Gothic UI" panose="020B0500000000000000" pitchFamily="50" charset="-128"/>
                <a:ea typeface="Yu Gothic UI" panose="020B0500000000000000" pitchFamily="50" charset="-128"/>
              </a:rPr>
              <a:t>コア（既定）</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約 </a:t>
            </a:r>
            <a:r>
              <a:rPr kumimoji="1" lang="en-US" altLang="ja-JP" sz="950">
                <a:solidFill>
                  <a:srgbClr val="1A2233"/>
                </a:solidFill>
                <a:latin typeface="Yu Gothic UI" panose="020B0500000000000000" pitchFamily="50" charset="-128"/>
                <a:ea typeface="Yu Gothic UI" panose="020B0500000000000000" pitchFamily="50" charset="-128"/>
              </a:rPr>
              <a:t>2.2</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8 </a:t>
            </a:r>
            <a:r>
              <a:rPr kumimoji="1" lang="ja-JP" altLang="en-US" sz="950">
                <a:solidFill>
                  <a:srgbClr val="1A2233"/>
                </a:solidFill>
                <a:latin typeface="Yu Gothic UI" panose="020B0500000000000000" pitchFamily="50" charset="-128"/>
                <a:ea typeface="Yu Gothic UI" panose="020B0500000000000000" pitchFamily="50" charset="-128"/>
              </a:rPr>
              <a:t>コア</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約 </a:t>
            </a:r>
            <a:r>
              <a:rPr kumimoji="1" lang="en-US" altLang="ja-JP" sz="950">
                <a:solidFill>
                  <a:srgbClr val="1A2233"/>
                </a:solidFill>
                <a:latin typeface="Yu Gothic UI" panose="020B0500000000000000" pitchFamily="50" charset="-128"/>
                <a:ea typeface="Yu Gothic UI" panose="020B0500000000000000" pitchFamily="50" charset="-128"/>
              </a:rPr>
              <a:t>1.8</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4 </a:t>
            </a:r>
            <a:r>
              <a:rPr kumimoji="1" lang="ja-JP" altLang="en-US" sz="950">
                <a:solidFill>
                  <a:srgbClr val="1A2233"/>
                </a:solidFill>
                <a:latin typeface="Yu Gothic UI" panose="020B0500000000000000" pitchFamily="50" charset="-128"/>
                <a:ea typeface="Yu Gothic UI" panose="020B0500000000000000" pitchFamily="50" charset="-128"/>
              </a:rPr>
              <a:t>コアで 約 </a:t>
            </a:r>
            <a:r>
              <a:rPr kumimoji="1" lang="en-US" altLang="ja-JP" sz="950">
                <a:solidFill>
                  <a:srgbClr val="1A2233"/>
                </a:solidFill>
                <a:latin typeface="Yu Gothic UI" panose="020B0500000000000000" pitchFamily="50" charset="-128"/>
                <a:ea typeface="Yu Gothic UI" panose="020B0500000000000000" pitchFamily="50" charset="-128"/>
              </a:rPr>
              <a:t>2.1 </a:t>
            </a:r>
            <a:r>
              <a:rPr kumimoji="1" lang="ja-JP" altLang="en-US" sz="950">
                <a:solidFill>
                  <a:srgbClr val="1A2233"/>
                </a:solidFill>
                <a:latin typeface="Yu Gothic UI" panose="020B0500000000000000" pitchFamily="50" charset="-128"/>
                <a:ea typeface="Yu Gothic UI" panose="020B0500000000000000" pitchFamily="50" charset="-128"/>
              </a:rPr>
              <a:t>倍、</a:t>
            </a:r>
            <a:r>
              <a:rPr kumimoji="1" lang="en-US" altLang="ja-JP" sz="950">
                <a:solidFill>
                  <a:srgbClr val="1A2233"/>
                </a:solidFill>
                <a:latin typeface="Yu Gothic UI" panose="020B0500000000000000" pitchFamily="50" charset="-128"/>
                <a:ea typeface="Yu Gothic UI" panose="020B0500000000000000" pitchFamily="50" charset="-128"/>
              </a:rPr>
              <a:t>8 </a:t>
            </a:r>
            <a:r>
              <a:rPr kumimoji="1" lang="ja-JP" altLang="en-US" sz="950">
                <a:solidFill>
                  <a:srgbClr val="1A2233"/>
                </a:solidFill>
                <a:latin typeface="Yu Gothic UI" panose="020B0500000000000000" pitchFamily="50" charset="-128"/>
                <a:ea typeface="Yu Gothic UI" panose="020B0500000000000000" pitchFamily="50" charset="-128"/>
              </a:rPr>
              <a:t>コアで約 </a:t>
            </a:r>
            <a:r>
              <a:rPr kumimoji="1" lang="en-US" altLang="ja-JP" sz="950">
                <a:solidFill>
                  <a:srgbClr val="1A2233"/>
                </a:solidFill>
                <a:latin typeface="Yu Gothic UI" panose="020B0500000000000000" pitchFamily="50" charset="-128"/>
                <a:ea typeface="Yu Gothic UI" panose="020B0500000000000000" pitchFamily="50" charset="-128"/>
              </a:rPr>
              <a:t>2.6 </a:t>
            </a:r>
            <a:r>
              <a:rPr kumimoji="1" lang="ja-JP" altLang="en-US" sz="950">
                <a:solidFill>
                  <a:srgbClr val="1A2233"/>
                </a:solidFill>
                <a:latin typeface="Yu Gothic UI" panose="020B0500000000000000" pitchFamily="50" charset="-128"/>
                <a:ea typeface="Yu Gothic UI" panose="020B0500000000000000" pitchFamily="50" charset="-128"/>
              </a:rPr>
              <a:t>倍（</a:t>
            </a:r>
            <a:r>
              <a:rPr kumimoji="1" lang="en-US" altLang="ja-JP" sz="950">
                <a:solidFill>
                  <a:srgbClr val="1A2233"/>
                </a:solidFill>
                <a:latin typeface="Yu Gothic UI" panose="020B0500000000000000" pitchFamily="50" charset="-128"/>
                <a:ea typeface="Yu Gothic UI" panose="020B0500000000000000" pitchFamily="50" charset="-128"/>
              </a:rPr>
              <a:t>4 </a:t>
            </a:r>
            <a:r>
              <a:rPr kumimoji="1" lang="ja-JP" altLang="en-US" sz="950">
                <a:solidFill>
                  <a:srgbClr val="1A2233"/>
                </a:solidFill>
                <a:latin typeface="Yu Gothic UI" panose="020B0500000000000000" pitchFamily="50" charset="-128"/>
                <a:ea typeface="Yu Gothic UI" panose="020B0500000000000000" pitchFamily="50" charset="-128"/>
              </a:rPr>
              <a:t>回測った範囲は </a:t>
            </a:r>
            <a:r>
              <a:rPr kumimoji="1" lang="en-US" altLang="ja-JP" sz="950">
                <a:solidFill>
                  <a:srgbClr val="1A2233"/>
                </a:solidFill>
                <a:latin typeface="Yu Gothic UI" panose="020B0500000000000000" pitchFamily="50" charset="-128"/>
                <a:ea typeface="Yu Gothic UI" panose="020B0500000000000000" pitchFamily="50" charset="-128"/>
              </a:rPr>
              <a:t>2.0〜2.2 </a:t>
            </a:r>
            <a:r>
              <a:rPr kumimoji="1" lang="ja-JP" altLang="en-US" sz="950">
                <a:solidFill>
                  <a:srgbClr val="1A2233"/>
                </a:solidFill>
                <a:latin typeface="Yu Gothic UI" panose="020B0500000000000000" pitchFamily="50" charset="-128"/>
                <a:ea typeface="Yu Gothic UI" panose="020B0500000000000000" pitchFamily="50" charset="-128"/>
              </a:rPr>
              <a:t>倍）。頭打ちなのは 音源ごとに割れない処理（エッジカタログ・部屋の検出）が残るため。</a:t>
            </a:r>
          </a:p>
        </p:txBody>
      </p:sp>
      <p:sp>
        <p:nvSpPr>
          <p:cNvPr id="8" name="テキスト ボックス 7">
            <a:extLst>
              <a:ext uri="{FF2B5EF4-FFF2-40B4-BE49-F238E27FC236}">
                <a16:creationId xmlns:a16="http://schemas.microsoft.com/office/drawing/2014/main" id="{1AD3E960-1BBF-92AB-09D1-87BE153BC1A4}"/>
              </a:ext>
            </a:extLst>
          </p:cNvPr>
          <p:cNvSpPr txBox="1"/>
          <p:nvPr/>
        </p:nvSpPr>
        <p:spPr>
          <a:xfrm>
            <a:off x="508000" y="4181179"/>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結果はビット一致。遮蔽・回折の段は音源ごとに自分の枠にしか書かないので、割っても計算順も丸めも変わりません。テストで毎回突き合わせています。</a:t>
            </a:r>
          </a:p>
        </p:txBody>
      </p:sp>
      <p:sp>
        <p:nvSpPr>
          <p:cNvPr id="10" name="テキスト ボックス 9">
            <a:extLst>
              <a:ext uri="{FF2B5EF4-FFF2-40B4-BE49-F238E27FC236}">
                <a16:creationId xmlns:a16="http://schemas.microsoft.com/office/drawing/2014/main" id="{8CDCB5D3-23B1-5F3D-9CC7-8CEC852B235C}"/>
              </a:ext>
            </a:extLst>
          </p:cNvPr>
          <p:cNvSpPr txBox="1"/>
          <p:nvPr/>
        </p:nvSpPr>
        <p:spPr>
          <a:xfrm>
            <a:off x="406400" y="4801032"/>
            <a:ext cx="3623733" cy="350865"/>
          </a:xfrm>
          <a:prstGeom prst="rect">
            <a:avLst/>
          </a:prstGeom>
          <a:noFill/>
        </p:spPr>
        <p:txBody>
          <a:bodyPr vert="horz" wrap="square" lIns="0" tIns="0" rIns="0" bIns="0" rtlCol="0">
            <a:spAutoFit/>
          </a:bodyPr>
          <a:lstStyle/>
          <a:p>
            <a:pPr>
              <a:lnSpc>
                <a:spcPct val="95000"/>
              </a:lnSpc>
            </a:pPr>
            <a:r>
              <a:rPr kumimoji="1" lang="ja-JP" altLang="en-US" sz="800">
                <a:solidFill>
                  <a:srgbClr val="6B7688"/>
                </a:solidFill>
                <a:latin typeface="Yu Gothic UI" panose="020B0500000000000000" pitchFamily="50" charset="-128"/>
                <a:ea typeface="Yu Gothic UI" panose="020B0500000000000000" pitchFamily="50" charset="-128"/>
              </a:rPr>
              <a:t>★エンジンの既定はスレッドなしで、ホストが </a:t>
            </a:r>
            <a:r>
              <a:rPr kumimoji="1" lang="en-US" altLang="ja-JP" sz="800">
                <a:solidFill>
                  <a:srgbClr val="6B7688"/>
                </a:solidFill>
                <a:latin typeface="Yu Gothic UI" panose="020B0500000000000000" pitchFamily="50" charset="-128"/>
                <a:ea typeface="Yu Gothic UI" panose="020B0500000000000000" pitchFamily="50" charset="-128"/>
              </a:rPr>
              <a:t>4 </a:t>
            </a:r>
            <a:r>
              <a:rPr kumimoji="1" lang="ja-JP" altLang="en-US" sz="800">
                <a:solidFill>
                  <a:srgbClr val="6B7688"/>
                </a:solidFill>
                <a:latin typeface="Yu Gothic UI" panose="020B0500000000000000" pitchFamily="50" charset="-128"/>
                <a:ea typeface="Yu Gothic UI" panose="020B0500000000000000" pitchFamily="50" charset="-128"/>
              </a:rPr>
              <a:t>を指定します。検査ハーネスを直列に保てば厳密差分で回帰を判定でき続けるため、そして </a:t>
            </a:r>
            <a:r>
              <a:rPr kumimoji="1" lang="en-US" altLang="ja-JP" sz="800">
                <a:solidFill>
                  <a:srgbClr val="6B7688"/>
                </a:solidFill>
                <a:latin typeface="Yu Gothic UI" panose="020B0500000000000000" pitchFamily="50" charset="-128"/>
                <a:ea typeface="Yu Gothic UI" panose="020B0500000000000000" pitchFamily="50" charset="-128"/>
              </a:rPr>
              <a:t>Unity </a:t>
            </a:r>
            <a:r>
              <a:rPr kumimoji="1" lang="ja-JP" altLang="en-US" sz="800">
                <a:solidFill>
                  <a:srgbClr val="6B7688"/>
                </a:solidFill>
                <a:latin typeface="Yu Gothic UI" panose="020B0500000000000000" pitchFamily="50" charset="-128"/>
                <a:ea typeface="Yu Gothic UI" panose="020B0500000000000000" pitchFamily="50" charset="-128"/>
              </a:rPr>
              <a:t>は既に全コアでジョブを回しているためです。</a:t>
            </a:r>
          </a:p>
        </p:txBody>
      </p:sp>
      <p:sp>
        <p:nvSpPr>
          <p:cNvPr id="11" name="テキスト ボックス 10">
            <a:extLst>
              <a:ext uri="{FF2B5EF4-FFF2-40B4-BE49-F238E27FC236}">
                <a16:creationId xmlns:a16="http://schemas.microsoft.com/office/drawing/2014/main" id="{804E6681-F5D1-62FA-55E1-5A522F91EF49}"/>
              </a:ext>
            </a:extLst>
          </p:cNvPr>
          <p:cNvSpPr txBox="1"/>
          <p:nvPr/>
        </p:nvSpPr>
        <p:spPr>
          <a:xfrm>
            <a:off x="406400" y="5291597"/>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② 後期残響の尾を音源で共有する</a:t>
            </a:r>
          </a:p>
        </p:txBody>
      </p:sp>
      <p:sp>
        <p:nvSpPr>
          <p:cNvPr id="13" name="テキスト ボックス 12">
            <a:extLst>
              <a:ext uri="{FF2B5EF4-FFF2-40B4-BE49-F238E27FC236}">
                <a16:creationId xmlns:a16="http://schemas.microsoft.com/office/drawing/2014/main" id="{E585AFF5-B4C7-0972-1F2B-2D19AC382EA5}"/>
              </a:ext>
            </a:extLst>
          </p:cNvPr>
          <p:cNvSpPr txBox="1"/>
          <p:nvPr/>
        </p:nvSpPr>
        <p:spPr>
          <a:xfrm>
            <a:off x="4284133" y="1566883"/>
            <a:ext cx="3623733" cy="111107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音源ごとに畳む</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約 </a:t>
            </a:r>
            <a:r>
              <a:rPr kumimoji="1" lang="en-US" altLang="ja-JP" sz="950">
                <a:solidFill>
                  <a:srgbClr val="1A2233"/>
                </a:solidFill>
                <a:latin typeface="Yu Gothic UI" panose="020B0500000000000000" pitchFamily="50" charset="-128"/>
                <a:ea typeface="Yu Gothic UI" panose="020B0500000000000000" pitchFamily="50" charset="-128"/>
              </a:rPr>
              <a:t>1.7 ms</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共有バス</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約 </a:t>
            </a:r>
            <a:r>
              <a:rPr kumimoji="1" lang="en-US" altLang="ja-JP" sz="950">
                <a:solidFill>
                  <a:srgbClr val="1A2233"/>
                </a:solidFill>
                <a:latin typeface="Yu Gothic UI" panose="020B0500000000000000" pitchFamily="50" charset="-128"/>
                <a:ea typeface="Yu Gothic UI" panose="020B0500000000000000" pitchFamily="50" charset="-128"/>
              </a:rPr>
              <a:t>0.32 ms</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音源 </a:t>
            </a:r>
            <a:r>
              <a:rPr kumimoji="1" lang="en-US" altLang="ja-JP" sz="950">
                <a:solidFill>
                  <a:srgbClr val="1A2233"/>
                </a:solidFill>
                <a:latin typeface="Yu Gothic UI" panose="020B0500000000000000" pitchFamily="50" charset="-128"/>
                <a:ea typeface="Yu Gothic UI" panose="020B0500000000000000" pitchFamily="50" charset="-128"/>
              </a:rPr>
              <a:t>8 </a:t>
            </a:r>
            <a:r>
              <a:rPr kumimoji="1" lang="ja-JP" altLang="en-US" sz="950">
                <a:solidFill>
                  <a:srgbClr val="1A2233"/>
                </a:solidFill>
                <a:latin typeface="Yu Gothic UI" panose="020B0500000000000000" pitchFamily="50" charset="-128"/>
                <a:ea typeface="Yu Gothic UI" panose="020B0500000000000000" pitchFamily="50" charset="-128"/>
              </a:rPr>
              <a:t>本・</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ブロック。約 </a:t>
            </a:r>
            <a:r>
              <a:rPr kumimoji="1" lang="en-US" altLang="ja-JP" sz="950">
                <a:solidFill>
                  <a:srgbClr val="1A2233"/>
                </a:solidFill>
                <a:latin typeface="Yu Gothic UI" panose="020B0500000000000000" pitchFamily="50" charset="-128"/>
                <a:ea typeface="Yu Gothic UI" panose="020B0500000000000000" pitchFamily="50" charset="-128"/>
              </a:rPr>
              <a:t>5.3 </a:t>
            </a:r>
            <a:r>
              <a:rPr kumimoji="1" lang="ja-JP" altLang="en-US" sz="950">
                <a:solidFill>
                  <a:srgbClr val="1A2233"/>
                </a:solidFill>
                <a:latin typeface="Yu Gothic UI" panose="020B0500000000000000" pitchFamily="50" charset="-128"/>
                <a:ea typeface="Yu Gothic UI" panose="020B0500000000000000" pitchFamily="50" charset="-128"/>
              </a:rPr>
              <a:t>倍／畳み込みの分割数 </a:t>
            </a:r>
            <a:r>
              <a:rPr kumimoji="1" lang="en-US" altLang="ja-JP" sz="950">
                <a:solidFill>
                  <a:srgbClr val="1A2233"/>
                </a:solidFill>
                <a:latin typeface="Yu Gothic UI" panose="020B0500000000000000" pitchFamily="50" charset="-128"/>
                <a:ea typeface="Yu Gothic UI" panose="020B0500000000000000" pitchFamily="50" charset="-128"/>
              </a:rPr>
              <a:t>104 → 13</a:t>
            </a:r>
            <a:r>
              <a:rPr kumimoji="1" lang="ja-JP" altLang="en-US" sz="950">
                <a:solidFill>
                  <a:srgbClr val="1A2233"/>
                </a:solidFill>
                <a:latin typeface="Yu Gothic UI" panose="020B0500000000000000" pitchFamily="50" charset="-128"/>
                <a:ea typeface="Yu Gothic UI" panose="020B0500000000000000" pitchFamily="50" charset="-128"/>
              </a:rPr>
              <a:t>（これは数えた値なので正確）。出力の差は −</a:t>
            </a:r>
            <a:r>
              <a:rPr kumimoji="1" lang="en-US" altLang="ja-JP" sz="950">
                <a:solidFill>
                  <a:srgbClr val="1A2233"/>
                </a:solidFill>
                <a:latin typeface="Yu Gothic UI" panose="020B0500000000000000" pitchFamily="50" charset="-128"/>
                <a:ea typeface="Yu Gothic UI" panose="020B0500000000000000" pitchFamily="50" charset="-128"/>
              </a:rPr>
              <a:t>123.5 dB</a:t>
            </a:r>
            <a:r>
              <a:rPr kumimoji="1" lang="ja-JP" altLang="en-US" sz="950">
                <a:solidFill>
                  <a:srgbClr val="1A2233"/>
                </a:solidFill>
                <a:latin typeface="Yu Gothic UI" panose="020B0500000000000000" pitchFamily="50" charset="-128"/>
                <a:ea typeface="Yu Gothic UI" panose="020B0500000000000000" pitchFamily="50" charset="-128"/>
              </a:rPr>
              <a:t>（＝一致）。</a:t>
            </a:r>
          </a:p>
        </p:txBody>
      </p:sp>
      <p:sp>
        <p:nvSpPr>
          <p:cNvPr id="14" name="テキスト ボックス 13">
            <a:extLst>
              <a:ext uri="{FF2B5EF4-FFF2-40B4-BE49-F238E27FC236}">
                <a16:creationId xmlns:a16="http://schemas.microsoft.com/office/drawing/2014/main" id="{FBA89FA3-CE86-6D27-A034-47B710F9A288}"/>
              </a:ext>
            </a:extLst>
          </p:cNvPr>
          <p:cNvSpPr txBox="1"/>
          <p:nvPr/>
        </p:nvSpPr>
        <p:spPr>
          <a:xfrm>
            <a:off x="4284133" y="2754156"/>
            <a:ext cx="36237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同じ部屋の音源は同じ </a:t>
            </a:r>
            <a:r>
              <a:rPr kumimoji="1" lang="en-US" altLang="ja-JP" sz="950">
                <a:solidFill>
                  <a:srgbClr val="1A2233"/>
                </a:solidFill>
                <a:latin typeface="Yu Gothic UI" panose="020B0500000000000000" pitchFamily="50" charset="-128"/>
                <a:ea typeface="Yu Gothic UI" panose="020B0500000000000000" pitchFamily="50" charset="-128"/>
              </a:rPr>
              <a:t>IR </a:t>
            </a:r>
            <a:r>
              <a:rPr kumimoji="1" lang="ja-JP" altLang="en-US" sz="950">
                <a:solidFill>
                  <a:srgbClr val="1A2233"/>
                </a:solidFill>
                <a:latin typeface="Yu Gothic UI" panose="020B0500000000000000" pitchFamily="50" charset="-128"/>
                <a:ea typeface="Yu Gothic UI" panose="020B0500000000000000" pitchFamily="50" charset="-128"/>
              </a:rPr>
              <a:t>を使うので、畳み込みは </a:t>
            </a:r>
            <a:r>
              <a:rPr kumimoji="1" lang="en-US" altLang="ja-JP" sz="950">
                <a:solidFill>
                  <a:srgbClr val="1A2233"/>
                </a:solidFill>
                <a:latin typeface="Yu Gothic UI" panose="020B0500000000000000" pitchFamily="50" charset="-128"/>
                <a:ea typeface="Yu Gothic UI" panose="020B0500000000000000" pitchFamily="50" charset="-128"/>
              </a:rPr>
              <a:t>conv(IR, g1·x1) + conv(IR, g2·x2) = conv(IR, g1·x1 + g2·x2) </a:t>
            </a:r>
            <a:r>
              <a:rPr kumimoji="1" lang="ja-JP" altLang="en-US" sz="950">
                <a:solidFill>
                  <a:srgbClr val="1A2233"/>
                </a:solidFill>
                <a:latin typeface="Yu Gothic UI" panose="020B0500000000000000" pitchFamily="50" charset="-128"/>
                <a:ea typeface="Yu Gothic UI" panose="020B0500000000000000" pitchFamily="50" charset="-128"/>
              </a:rPr>
              <a:t>で厳密に </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回にまとめられます。近似ではありません。</a:t>
            </a:r>
          </a:p>
        </p:txBody>
      </p:sp>
      <p:sp>
        <p:nvSpPr>
          <p:cNvPr id="15" name="テキスト ボックス 14">
            <a:extLst>
              <a:ext uri="{FF2B5EF4-FFF2-40B4-BE49-F238E27FC236}">
                <a16:creationId xmlns:a16="http://schemas.microsoft.com/office/drawing/2014/main" id="{9BA4F11E-841F-58A7-796D-63F3EEBF1751}"/>
              </a:ext>
            </a:extLst>
          </p:cNvPr>
          <p:cNvSpPr txBox="1"/>
          <p:nvPr/>
        </p:nvSpPr>
        <p:spPr>
          <a:xfrm>
            <a:off x="4284133" y="3310509"/>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③ 音源ごとに「解く深さ」を段で決める</a:t>
            </a:r>
          </a:p>
        </p:txBody>
      </p:sp>
      <p:sp>
        <p:nvSpPr>
          <p:cNvPr id="16" name="テキスト ボックス 15">
            <a:extLst>
              <a:ext uri="{FF2B5EF4-FFF2-40B4-BE49-F238E27FC236}">
                <a16:creationId xmlns:a16="http://schemas.microsoft.com/office/drawing/2014/main" id="{C9F012DC-D0F5-2B13-A1C9-49F9FEEF10FC}"/>
              </a:ext>
            </a:extLst>
          </p:cNvPr>
          <p:cNvSpPr txBox="1"/>
          <p:nvPr/>
        </p:nvSpPr>
        <p:spPr>
          <a:xfrm>
            <a:off x="4284133" y="3574842"/>
            <a:ext cx="3623733" cy="1388842"/>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厳密</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約 </a:t>
            </a:r>
            <a:r>
              <a:rPr kumimoji="1" lang="en-US" altLang="ja-JP" sz="950">
                <a:solidFill>
                  <a:srgbClr val="1A2233"/>
                </a:solidFill>
                <a:latin typeface="Yu Gothic UI" panose="020B0500000000000000" pitchFamily="50" charset="-128"/>
                <a:ea typeface="Yu Gothic UI" panose="020B0500000000000000" pitchFamily="50" charset="-128"/>
              </a:rPr>
              <a:t>4.1 ms</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簡易</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約 </a:t>
            </a:r>
            <a:r>
              <a:rPr kumimoji="1" lang="en-US" altLang="ja-JP" sz="950">
                <a:solidFill>
                  <a:srgbClr val="1A2233"/>
                </a:solidFill>
                <a:latin typeface="Yu Gothic UI" panose="020B0500000000000000" pitchFamily="50" charset="-128"/>
                <a:ea typeface="Yu Gothic UI" panose="020B0500000000000000" pitchFamily="50" charset="-128"/>
              </a:rPr>
              <a:t>2.2</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バーチャル</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約 </a:t>
            </a:r>
            <a:r>
              <a:rPr kumimoji="1" lang="en-US" altLang="ja-JP" sz="950">
                <a:solidFill>
                  <a:srgbClr val="1A2233"/>
                </a:solidFill>
                <a:latin typeface="Yu Gothic UI" panose="020B0500000000000000" pitchFamily="50" charset="-128"/>
                <a:ea typeface="Yu Gothic UI" panose="020B0500000000000000" pitchFamily="50" charset="-128"/>
              </a:rPr>
              <a:t>1.3</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音源 </a:t>
            </a:r>
            <a:r>
              <a:rPr kumimoji="1" lang="en-US" altLang="ja-JP" sz="950">
                <a:solidFill>
                  <a:srgbClr val="1A2233"/>
                </a:solidFill>
                <a:latin typeface="Yu Gothic UI" panose="020B0500000000000000" pitchFamily="50" charset="-128"/>
                <a:ea typeface="Yu Gothic UI" panose="020B0500000000000000" pitchFamily="50" charset="-128"/>
              </a:rPr>
              <a:t>12 </a:t>
            </a:r>
            <a:r>
              <a:rPr kumimoji="1" lang="ja-JP" altLang="en-US" sz="950">
                <a:solidFill>
                  <a:srgbClr val="1A2233"/>
                </a:solidFill>
                <a:latin typeface="Yu Gothic UI" panose="020B0500000000000000" pitchFamily="50" charset="-128"/>
                <a:ea typeface="Yu Gothic UI" panose="020B0500000000000000" pitchFamily="50" charset="-128"/>
              </a:rPr>
              <a:t>本。バーチャルで 約 </a:t>
            </a:r>
            <a:r>
              <a:rPr kumimoji="1" lang="en-US" altLang="ja-JP" sz="950">
                <a:solidFill>
                  <a:srgbClr val="1A2233"/>
                </a:solidFill>
                <a:latin typeface="Yu Gothic UI" panose="020B0500000000000000" pitchFamily="50" charset="-128"/>
                <a:ea typeface="Yu Gothic UI" panose="020B0500000000000000" pitchFamily="50" charset="-128"/>
              </a:rPr>
              <a:t>3.2 </a:t>
            </a:r>
            <a:r>
              <a:rPr kumimoji="1" lang="ja-JP" altLang="en-US" sz="950">
                <a:solidFill>
                  <a:srgbClr val="1A2233"/>
                </a:solidFill>
                <a:latin typeface="Yu Gothic UI" panose="020B0500000000000000" pitchFamily="50" charset="-128"/>
                <a:ea typeface="Yu Gothic UI" panose="020B0500000000000000" pitchFamily="50" charset="-128"/>
              </a:rPr>
              <a:t>倍。</a:t>
            </a:r>
          </a:p>
        </p:txBody>
      </p:sp>
      <p:sp>
        <p:nvSpPr>
          <p:cNvPr id="17" name="テキスト ボックス 16">
            <a:extLst>
              <a:ext uri="{FF2B5EF4-FFF2-40B4-BE49-F238E27FC236}">
                <a16:creationId xmlns:a16="http://schemas.microsoft.com/office/drawing/2014/main" id="{A8B232BF-14D3-1C93-0669-2939362D3923}"/>
              </a:ext>
            </a:extLst>
          </p:cNvPr>
          <p:cNvSpPr txBox="1"/>
          <p:nvPr/>
        </p:nvSpPr>
        <p:spPr>
          <a:xfrm>
            <a:off x="4385733" y="5166884"/>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落とす条件は距離ではなく「残響が担っているか」。残響半径が聞こえる半径より内側なら落として構わない ── 逆に響く部屋では落としません。往復を防ぐヒステリシスも入れています。</a:t>
            </a:r>
          </a:p>
        </p:txBody>
      </p:sp>
    </p:spTree>
    <p:extLst>
      <p:ext uri="{BB962C8B-B14F-4D97-AF65-F5344CB8AC3E}">
        <p14:creationId xmlns:p14="http://schemas.microsoft.com/office/powerpoint/2010/main" val="158083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39689C11-BF00-2703-6C0B-3C5B80B25F61}"/>
              </a:ext>
            </a:extLst>
          </p:cNvPr>
          <p:cNvSpPr/>
          <p:nvPr/>
        </p:nvSpPr>
        <p:spPr>
          <a:xfrm>
            <a:off x="406400" y="906195"/>
            <a:ext cx="11379200" cy="49558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78812CD4-97D0-84F6-BAEC-6AB660EE4FBE}"/>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TOOL 1 ── METERS</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796A21E0-74C4-4E11-EA8B-0F5E848EDF08}"/>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開発支援ツール ① 音を、数字で見続ける実装済み</a:t>
            </a:r>
          </a:p>
        </p:txBody>
      </p:sp>
      <p:sp>
        <p:nvSpPr>
          <p:cNvPr id="4" name="テキスト ボックス 3">
            <a:extLst>
              <a:ext uri="{FF2B5EF4-FFF2-40B4-BE49-F238E27FC236}">
                <a16:creationId xmlns:a16="http://schemas.microsoft.com/office/drawing/2014/main" id="{C37D182C-3C01-EA51-E4B0-22BF3142D1A1}"/>
              </a:ext>
            </a:extLst>
          </p:cNvPr>
          <p:cNvSpPr txBox="1"/>
          <p:nvPr/>
        </p:nvSpPr>
        <p:spPr>
          <a:xfrm>
            <a:off x="508000" y="1007795"/>
            <a:ext cx="11176000" cy="292388"/>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音は鳴った先から消えていくので、印象では追い込めません。</a:t>
            </a:r>
          </a:p>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だから鳴っているあいだ、ずっと数字が出ている状態にしました。耳で気づいて、数字で切り分ける。</a:t>
            </a:r>
          </a:p>
        </p:txBody>
      </p:sp>
      <p:sp>
        <p:nvSpPr>
          <p:cNvPr id="6" name="テキスト ボックス 5">
            <a:extLst>
              <a:ext uri="{FF2B5EF4-FFF2-40B4-BE49-F238E27FC236}">
                <a16:creationId xmlns:a16="http://schemas.microsoft.com/office/drawing/2014/main" id="{0D9E8F44-2262-91AA-E5CE-0A158C9F9E49}"/>
              </a:ext>
            </a:extLst>
          </p:cNvPr>
          <p:cNvSpPr txBox="1"/>
          <p:nvPr/>
        </p:nvSpPr>
        <p:spPr>
          <a:xfrm>
            <a:off x="406400" y="1566883"/>
            <a:ext cx="11379200" cy="2222147"/>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★図：これから撮る（</a:t>
            </a:r>
            <a:r>
              <a:rPr kumimoji="1" lang="en-US" altLang="ja-JP" sz="950">
                <a:solidFill>
                  <a:srgbClr val="1A2233"/>
                </a:solidFill>
                <a:latin typeface="Yu Gothic UI" panose="020B0500000000000000" pitchFamily="50" charset="-128"/>
                <a:ea typeface="Yu Gothic UI" panose="020B0500000000000000" pitchFamily="50" charset="-128"/>
              </a:rPr>
              <a:t>S3</a:t>
            </a: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監視窓を並べた状態</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Status </a:t>
            </a:r>
            <a:r>
              <a:rPr kumimoji="1" lang="ja-JP" altLang="en-US" sz="950">
                <a:solidFill>
                  <a:srgbClr val="1A2233"/>
                </a:solidFill>
                <a:latin typeface="Yu Gothic UI" panose="020B0500000000000000" pitchFamily="50" charset="-128"/>
                <a:ea typeface="Yu Gothic UI" panose="020B0500000000000000" pitchFamily="50" charset="-128"/>
              </a:rPr>
              <a:t>／ </a:t>
            </a:r>
            <a:r>
              <a:rPr kumimoji="1" lang="en-US" altLang="ja-JP" sz="950">
                <a:solidFill>
                  <a:srgbClr val="1A2233"/>
                </a:solidFill>
                <a:latin typeface="Yu Gothic UI" panose="020B0500000000000000" pitchFamily="50" charset="-128"/>
                <a:ea typeface="Yu Gothic UI" panose="020B0500000000000000" pitchFamily="50" charset="-128"/>
              </a:rPr>
              <a:t>Band </a:t>
            </a:r>
            <a:r>
              <a:rPr kumimoji="1" lang="ja-JP" altLang="en-US" sz="950">
                <a:solidFill>
                  <a:srgbClr val="1A2233"/>
                </a:solidFill>
                <a:latin typeface="Yu Gothic UI" panose="020B0500000000000000" pitchFamily="50" charset="-128"/>
                <a:ea typeface="Yu Gothic UI" panose="020B0500000000000000" pitchFamily="50" charset="-128"/>
              </a:rPr>
              <a:t>／ </a:t>
            </a:r>
            <a:r>
              <a:rPr kumimoji="1" lang="en-US" altLang="ja-JP" sz="950">
                <a:solidFill>
                  <a:srgbClr val="1A2233"/>
                </a:solidFill>
                <a:latin typeface="Yu Gothic UI" panose="020B0500000000000000" pitchFamily="50" charset="-128"/>
                <a:ea typeface="Yu Gothic UI" panose="020B0500000000000000" pitchFamily="50" charset="-128"/>
              </a:rPr>
              <a:t>Output </a:t>
            </a:r>
            <a:r>
              <a:rPr kumimoji="1" lang="ja-JP" altLang="en-US" sz="950">
                <a:solidFill>
                  <a:srgbClr val="1A2233"/>
                </a:solidFill>
                <a:latin typeface="Yu Gothic UI" panose="020B0500000000000000" pitchFamily="50" charset="-128"/>
                <a:ea typeface="Yu Gothic UI" panose="020B0500000000000000" pitchFamily="50" charset="-128"/>
              </a:rPr>
              <a:t>／ </a:t>
            </a:r>
            <a:r>
              <a:rPr kumimoji="1" lang="en-US" altLang="ja-JP" sz="950">
                <a:solidFill>
                  <a:srgbClr val="1A2233"/>
                </a:solidFill>
                <a:latin typeface="Yu Gothic UI" panose="020B0500000000000000" pitchFamily="50" charset="-128"/>
                <a:ea typeface="Yu Gothic UI" panose="020B0500000000000000" pitchFamily="50" charset="-128"/>
              </a:rPr>
              <a:t>Reverb </a:t>
            </a:r>
            <a:r>
              <a:rPr kumimoji="1" lang="ja-JP" altLang="en-US" sz="950">
                <a:solidFill>
                  <a:srgbClr val="1A2233"/>
                </a:solidFill>
                <a:latin typeface="Yu Gothic UI" panose="020B0500000000000000" pitchFamily="50" charset="-128"/>
                <a:ea typeface="Yu Gothic UI" panose="020B0500000000000000" pitchFamily="50" charset="-128"/>
              </a:rPr>
              <a:t>／ </a:t>
            </a:r>
            <a:r>
              <a:rPr kumimoji="1" lang="en-US" altLang="ja-JP" sz="950">
                <a:solidFill>
                  <a:srgbClr val="1A2233"/>
                </a:solidFill>
                <a:latin typeface="Yu Gothic UI" panose="020B0500000000000000" pitchFamily="50" charset="-128"/>
                <a:ea typeface="Yu Gothic UI" panose="020B0500000000000000" pitchFamily="50" charset="-128"/>
              </a:rPr>
              <a:t>Scope</a:t>
            </a:r>
          </a:p>
          <a:p>
            <a:pPr>
              <a:lnSpc>
                <a:spcPct val="95000"/>
              </a:lnSpc>
            </a:pPr>
            <a:endParaRPr kumimoji="1" lang="en-US" altLang="ja-JP"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Game </a:t>
            </a:r>
            <a:r>
              <a:rPr kumimoji="1" lang="ja-JP" altLang="en-US" sz="950">
                <a:solidFill>
                  <a:srgbClr val="1A2233"/>
                </a:solidFill>
                <a:latin typeface="Yu Gothic UI" panose="020B0500000000000000" pitchFamily="50" charset="-128"/>
                <a:ea typeface="Yu Gothic UI" panose="020B0500000000000000" pitchFamily="50" charset="-128"/>
              </a:rPr>
              <a:t>ビューの </a:t>
            </a:r>
            <a:r>
              <a:rPr kumimoji="1" lang="en-US" altLang="ja-JP" sz="950">
                <a:solidFill>
                  <a:srgbClr val="1A2233"/>
                </a:solidFill>
                <a:latin typeface="Yu Gothic UI" panose="020B0500000000000000" pitchFamily="50" charset="-128"/>
                <a:ea typeface="Yu Gothic UI" panose="020B0500000000000000" pitchFamily="50" charset="-128"/>
              </a:rPr>
              <a:t>HUD </a:t>
            </a:r>
            <a:r>
              <a:rPr kumimoji="1" lang="ja-JP" altLang="en-US" sz="950">
                <a:solidFill>
                  <a:srgbClr val="1A2233"/>
                </a:solidFill>
                <a:latin typeface="Yu Gothic UI" panose="020B0500000000000000" pitchFamily="50" charset="-128"/>
                <a:ea typeface="Yu Gothic UI" panose="020B0500000000000000" pitchFamily="50" charset="-128"/>
              </a:rPr>
              <a:t>と同じ数字が出ているところ</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Status</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全体の状態</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Band</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帯域別の通り</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Output</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出音のレベル</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Reverb</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エコグラム</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Scope</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波形</a:t>
            </a:r>
          </a:p>
        </p:txBody>
      </p:sp>
      <p:sp>
        <p:nvSpPr>
          <p:cNvPr id="7" name="テキスト ボックス 6">
            <a:extLst>
              <a:ext uri="{FF2B5EF4-FFF2-40B4-BE49-F238E27FC236}">
                <a16:creationId xmlns:a16="http://schemas.microsoft.com/office/drawing/2014/main" id="{443F0380-F6AD-9680-95D7-43176BA3BE82}"/>
              </a:ext>
            </a:extLst>
          </p:cNvPr>
          <p:cNvSpPr txBox="1"/>
          <p:nvPr/>
        </p:nvSpPr>
        <p:spPr>
          <a:xfrm>
            <a:off x="406400" y="3865230"/>
            <a:ext cx="11379200" cy="1388842"/>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出す→比べる→疑う</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段ごとに分けて出す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直接／早期反射／散乱／尾／最終出力を別々の数字で。どこが鳴っていて、どこが鳴っていないかが切り分けられます。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音源ごとに出す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遮蔽・帯域生存・タップ数・回折</a:t>
            </a:r>
            <a:r>
              <a:rPr kumimoji="1" lang="en-US" altLang="ja-JP" sz="950">
                <a:solidFill>
                  <a:srgbClr val="1A2233"/>
                </a:solidFill>
                <a:latin typeface="Yu Gothic UI" panose="020B0500000000000000" pitchFamily="50" charset="-128"/>
                <a:ea typeface="Yu Gothic UI" panose="020B0500000000000000" pitchFamily="50" charset="-128"/>
              </a:rPr>
              <a:t>δ</a:t>
            </a:r>
            <a:r>
              <a:rPr kumimoji="1" lang="ja-JP" altLang="en-US" sz="950">
                <a:solidFill>
                  <a:srgbClr val="1A2233"/>
                </a:solidFill>
                <a:latin typeface="Yu Gothic UI" panose="020B0500000000000000" pitchFamily="50" charset="-128"/>
                <a:ea typeface="Yu Gothic UI" panose="020B0500000000000000" pitchFamily="50" charset="-128"/>
              </a:rPr>
              <a:t>、そして音源ごとの実費（</a:t>
            </a:r>
            <a:r>
              <a:rPr kumimoji="1" lang="en-US" altLang="ja-JP" sz="950">
                <a:solidFill>
                  <a:srgbClr val="1A2233"/>
                </a:solidFill>
                <a:latin typeface="Yu Gothic UI" panose="020B0500000000000000" pitchFamily="50" charset="-128"/>
                <a:ea typeface="Yu Gothic UI" panose="020B0500000000000000" pitchFamily="50" charset="-128"/>
              </a:rPr>
              <a:t>ms/block</a:t>
            </a:r>
            <a:r>
              <a:rPr kumimoji="1" lang="ja-JP" altLang="en-US" sz="950">
                <a:solidFill>
                  <a:srgbClr val="1A2233"/>
                </a:solidFill>
                <a:latin typeface="Yu Gothic UI" panose="020B0500000000000000" pitchFamily="50" charset="-128"/>
                <a:ea typeface="Yu Gothic UI" panose="020B0500000000000000" pitchFamily="50" charset="-128"/>
              </a:rPr>
              <a:t>）まで。推定ではなく実測です。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同じ計器で </a:t>
            </a:r>
            <a:r>
              <a:rPr kumimoji="1" lang="en-US" altLang="ja-JP" sz="950">
                <a:solidFill>
                  <a:srgbClr val="1A2233"/>
                </a:solidFill>
                <a:latin typeface="Yu Gothic UI" panose="020B0500000000000000" pitchFamily="50" charset="-128"/>
                <a:ea typeface="Yu Gothic UI" panose="020B0500000000000000" pitchFamily="50" charset="-128"/>
              </a:rPr>
              <a:t>A/B </a:t>
            </a:r>
            <a:r>
              <a:rPr kumimoji="1" lang="ja-JP" altLang="en-US" sz="950">
                <a:solidFill>
                  <a:srgbClr val="1A2233"/>
                </a:solidFill>
                <a:latin typeface="Yu Gothic UI" panose="020B0500000000000000" pitchFamily="50" charset="-128"/>
                <a:ea typeface="Yu Gothic UI" panose="020B0500000000000000" pitchFamily="50" charset="-128"/>
              </a:rPr>
              <a:t>する </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C# </a:t>
            </a:r>
            <a:r>
              <a:rPr kumimoji="1" lang="ja-JP" altLang="en-US" sz="950">
                <a:solidFill>
                  <a:srgbClr val="1A2233"/>
                </a:solidFill>
                <a:latin typeface="Yu Gothic UI" panose="020B0500000000000000" pitchFamily="50" charset="-128"/>
                <a:ea typeface="Yu Gothic UI" panose="020B0500000000000000" pitchFamily="50" charset="-128"/>
              </a:rPr>
              <a:t>経路と </a:t>
            </a:r>
            <a:r>
              <a:rPr kumimoji="1" lang="en-US" altLang="ja-JP" sz="950">
                <a:solidFill>
                  <a:srgbClr val="1A2233"/>
                </a:solidFill>
                <a:latin typeface="Yu Gothic UI" panose="020B0500000000000000" pitchFamily="50" charset="-128"/>
                <a:ea typeface="Yu Gothic UI" panose="020B0500000000000000" pitchFamily="50" charset="-128"/>
              </a:rPr>
              <a:t>C++ </a:t>
            </a:r>
            <a:r>
              <a:rPr kumimoji="1" lang="ja-JP" altLang="en-US" sz="950">
                <a:solidFill>
                  <a:srgbClr val="1A2233"/>
                </a:solidFill>
                <a:latin typeface="Yu Gothic UI" panose="020B0500000000000000" pitchFamily="50" charset="-128"/>
                <a:ea typeface="Yu Gothic UI" panose="020B0500000000000000" pitchFamily="50" charset="-128"/>
              </a:rPr>
              <a:t>経路が同じ計器へ書きます。切り替えて数値が動かないことで移植の成否を判定しました（</a:t>
            </a:r>
            <a:r>
              <a:rPr kumimoji="1" lang="en-US" altLang="ja-JP" sz="950">
                <a:solidFill>
                  <a:srgbClr val="1A2233"/>
                </a:solidFill>
                <a:latin typeface="Yu Gothic UI" panose="020B0500000000000000" pitchFamily="50" charset="-128"/>
                <a:ea typeface="Yu Gothic UI" panose="020B0500000000000000" pitchFamily="50" charset="-128"/>
              </a:rPr>
              <a:t>p4</a:t>
            </a: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嘘を見えるようにする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読み込まれた </a:t>
            </a:r>
            <a:r>
              <a:rPr kumimoji="1" lang="en-US" altLang="ja-JP" sz="950">
                <a:solidFill>
                  <a:srgbClr val="1A2233"/>
                </a:solidFill>
                <a:latin typeface="Yu Gothic UI" panose="020B0500000000000000" pitchFamily="50" charset="-128"/>
                <a:ea typeface="Yu Gothic UI" panose="020B0500000000000000" pitchFamily="50" charset="-128"/>
              </a:rPr>
              <a:t>HRTF </a:t>
            </a:r>
            <a:r>
              <a:rPr kumimoji="1" lang="ja-JP" altLang="en-US" sz="950">
                <a:solidFill>
                  <a:srgbClr val="1A2233"/>
                </a:solidFill>
                <a:latin typeface="Yu Gothic UI" panose="020B0500000000000000" pitchFamily="50" charset="-128"/>
                <a:ea typeface="Yu Gothic UI" panose="020B0500000000000000" pitchFamily="50" charset="-128"/>
              </a:rPr>
              <a:t>の名前も出しています ── 「</a:t>
            </a:r>
            <a:r>
              <a:rPr kumimoji="1" lang="en-US" altLang="ja-JP" sz="950">
                <a:solidFill>
                  <a:srgbClr val="1A2233"/>
                </a:solidFill>
                <a:latin typeface="Yu Gothic UI" panose="020B0500000000000000" pitchFamily="50" charset="-128"/>
                <a:ea typeface="Yu Gothic UI" panose="020B0500000000000000" pitchFamily="50" charset="-128"/>
              </a:rPr>
              <a:t>HRTF </a:t>
            </a:r>
            <a:r>
              <a:rPr kumimoji="1" lang="ja-JP" altLang="en-US" sz="950">
                <a:solidFill>
                  <a:srgbClr val="1A2233"/>
                </a:solidFill>
                <a:latin typeface="Yu Gothic UI" panose="020B0500000000000000" pitchFamily="50" charset="-128"/>
                <a:ea typeface="Yu Gothic UI" panose="020B0500000000000000" pitchFamily="50" charset="-128"/>
              </a:rPr>
              <a:t>と表示されているのに中身は合成だった」が実際に起きたので。</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数字が出ていないものは直せません。不具合はほとんど「聞けば変だが、どこが変かは分からない」形で出ます。計器は、耳と原因のあいだを繋ぎます。</a:t>
            </a:r>
          </a:p>
        </p:txBody>
      </p:sp>
    </p:spTree>
    <p:extLst>
      <p:ext uri="{BB962C8B-B14F-4D97-AF65-F5344CB8AC3E}">
        <p14:creationId xmlns:p14="http://schemas.microsoft.com/office/powerpoint/2010/main" val="3132235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2C73B7D0-AE35-4A67-0E59-F41B8FCDBF4A}"/>
              </a:ext>
            </a:extLst>
          </p:cNvPr>
          <p:cNvSpPr/>
          <p:nvPr/>
        </p:nvSpPr>
        <p:spPr>
          <a:xfrm>
            <a:off x="406400" y="906195"/>
            <a:ext cx="11379200" cy="49558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F8EF137B-2E43-91A3-B8E5-7693EA27FB36}"/>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TOOL 2 ── CAPTURE</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451B3130-3C5D-85B4-C01A-3457BA86D0AA}"/>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開発支援ツール ② 変な音を、あとから解く実装済み</a:t>
            </a:r>
          </a:p>
        </p:txBody>
      </p:sp>
      <p:sp>
        <p:nvSpPr>
          <p:cNvPr id="4" name="テキスト ボックス 3">
            <a:extLst>
              <a:ext uri="{FF2B5EF4-FFF2-40B4-BE49-F238E27FC236}">
                <a16:creationId xmlns:a16="http://schemas.microsoft.com/office/drawing/2014/main" id="{306053D8-D5FE-89F6-8D45-3709218FAE79}"/>
              </a:ext>
            </a:extLst>
          </p:cNvPr>
          <p:cNvSpPr txBox="1"/>
          <p:nvPr/>
        </p:nvSpPr>
        <p:spPr>
          <a:xfrm>
            <a:off x="508000" y="1007795"/>
            <a:ext cx="11176000" cy="292388"/>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変な音は 気づいたときには終わっています。「録画開始」を押してからでは間に合わない。</a:t>
            </a:r>
          </a:p>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だから常に録っておいて、押したらさかのぼって切り出す。そして判定は録ったあとにやる。</a:t>
            </a:r>
          </a:p>
        </p:txBody>
      </p:sp>
      <p:sp>
        <p:nvSpPr>
          <p:cNvPr id="6" name="テキスト ボックス 5">
            <a:extLst>
              <a:ext uri="{FF2B5EF4-FFF2-40B4-BE49-F238E27FC236}">
                <a16:creationId xmlns:a16="http://schemas.microsoft.com/office/drawing/2014/main" id="{34B45810-7879-3D2B-236A-B965878B245B}"/>
              </a:ext>
            </a:extLst>
          </p:cNvPr>
          <p:cNvSpPr txBox="1"/>
          <p:nvPr/>
        </p:nvSpPr>
        <p:spPr>
          <a:xfrm>
            <a:off x="406400" y="1566883"/>
            <a:ext cx="11379200" cy="2361031"/>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★図：これから撮る（</a:t>
            </a:r>
            <a:r>
              <a:rPr kumimoji="1" lang="en-US" altLang="ja-JP" sz="950">
                <a:solidFill>
                  <a:srgbClr val="1A2233"/>
                </a:solidFill>
                <a:latin typeface="Yu Gothic UI" panose="020B0500000000000000" pitchFamily="50" charset="-128"/>
                <a:ea typeface="Yu Gothic UI" panose="020B0500000000000000" pitchFamily="50" charset="-128"/>
              </a:rPr>
              <a:t>S4</a:t>
            </a: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キャプチャ一覧（</a:t>
            </a:r>
            <a:r>
              <a:rPr kumimoji="1" lang="en-US" altLang="ja-JP" sz="950">
                <a:solidFill>
                  <a:srgbClr val="1A2233"/>
                </a:solidFill>
                <a:latin typeface="Yu Gothic UI" panose="020B0500000000000000" pitchFamily="50" charset="-128"/>
                <a:ea typeface="Yu Gothic UI" panose="020B0500000000000000" pitchFamily="50" charset="-128"/>
              </a:rPr>
              <a:t>F11 </a:t>
            </a:r>
            <a:r>
              <a:rPr kumimoji="1" lang="ja-JP" altLang="en-US" sz="950">
                <a:solidFill>
                  <a:srgbClr val="1A2233"/>
                </a:solidFill>
                <a:latin typeface="Yu Gothic UI" panose="020B0500000000000000" pitchFamily="50" charset="-128"/>
                <a:ea typeface="Yu Gothic UI" panose="020B0500000000000000" pitchFamily="50" charset="-128"/>
              </a:rPr>
              <a:t>／ </a:t>
            </a:r>
            <a:r>
              <a:rPr kumimoji="1" lang="en-US" altLang="ja-JP" sz="950">
                <a:solidFill>
                  <a:srgbClr val="1A2233"/>
                </a:solidFill>
                <a:latin typeface="Yu Gothic UI" panose="020B0500000000000000" pitchFamily="50" charset="-128"/>
                <a:ea typeface="Yu Gothic UI" panose="020B0500000000000000" pitchFamily="50" charset="-128"/>
              </a:rPr>
              <a:t>Editor </a:t>
            </a:r>
            <a:r>
              <a:rPr kumimoji="1" lang="ja-JP" altLang="en-US" sz="950">
                <a:solidFill>
                  <a:srgbClr val="1A2233"/>
                </a:solidFill>
                <a:latin typeface="Yu Gothic UI" panose="020B0500000000000000" pitchFamily="50" charset="-128"/>
                <a:ea typeface="Yu Gothic UI" panose="020B0500000000000000" pitchFamily="50" charset="-128"/>
              </a:rPr>
              <a:t>窓）</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録れた </a:t>
            </a:r>
            <a:r>
              <a:rPr kumimoji="1" lang="en-US" altLang="ja-JP" sz="950">
                <a:solidFill>
                  <a:srgbClr val="1A2233"/>
                </a:solidFill>
                <a:latin typeface="Yu Gothic UI" panose="020B0500000000000000" pitchFamily="50" charset="-128"/>
                <a:ea typeface="Yu Gothic UI" panose="020B0500000000000000" pitchFamily="50" charset="-128"/>
              </a:rPr>
              <a:t>.afcap </a:t>
            </a:r>
            <a:r>
              <a:rPr kumimoji="1" lang="ja-JP" altLang="en-US" sz="950">
                <a:solidFill>
                  <a:srgbClr val="1A2233"/>
                </a:solidFill>
                <a:latin typeface="Yu Gothic UI" panose="020B0500000000000000" pitchFamily="50" charset="-128"/>
                <a:ea typeface="Yu Gothic UI" panose="020B0500000000000000" pitchFamily="50" charset="-128"/>
              </a:rPr>
              <a:t>と、走査で付いた印</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型紙ごとの内訳が出ている状態</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変だと気づく</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F10 </a:t>
            </a:r>
            <a:r>
              <a:rPr kumimoji="1" lang="ja-JP" altLang="en-US" sz="950">
                <a:solidFill>
                  <a:srgbClr val="1A2233"/>
                </a:solidFill>
                <a:latin typeface="Yu Gothic UI" panose="020B0500000000000000" pitchFamily="50" charset="-128"/>
                <a:ea typeface="Yu Gothic UI" panose="020B0500000000000000" pitchFamily="50" charset="-128"/>
              </a:rPr>
              <a:t>を押す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.afcap</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前 </a:t>
            </a:r>
            <a:r>
              <a:rPr kumimoji="1" lang="en-US" altLang="ja-JP" sz="950">
                <a:solidFill>
                  <a:srgbClr val="1A2233"/>
                </a:solidFill>
                <a:latin typeface="Yu Gothic UI" panose="020B0500000000000000" pitchFamily="50" charset="-128"/>
                <a:ea typeface="Yu Gothic UI" panose="020B0500000000000000" pitchFamily="50" charset="-128"/>
              </a:rPr>
              <a:t>21s </a:t>
            </a:r>
            <a:r>
              <a:rPr kumimoji="1" lang="ja-JP" altLang="en-US" sz="950">
                <a:solidFill>
                  <a:srgbClr val="1A2233"/>
                </a:solidFill>
                <a:latin typeface="Yu Gothic UI" panose="020B0500000000000000" pitchFamily="50" charset="-128"/>
                <a:ea typeface="Yu Gothic UI" panose="020B0500000000000000" pitchFamily="50" charset="-128"/>
              </a:rPr>
              <a:t>＋ 後 </a:t>
            </a:r>
            <a:r>
              <a:rPr kumimoji="1" lang="en-US" altLang="ja-JP" sz="950">
                <a:solidFill>
                  <a:srgbClr val="1A2233"/>
                </a:solidFill>
                <a:latin typeface="Yu Gothic UI" panose="020B0500000000000000" pitchFamily="50" charset="-128"/>
                <a:ea typeface="Yu Gothic UI" panose="020B0500000000000000" pitchFamily="50" charset="-128"/>
              </a:rPr>
              <a:t>5s</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走査</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型紙 </a:t>
            </a:r>
            <a:r>
              <a:rPr kumimoji="1" lang="en-US" altLang="ja-JP" sz="950">
                <a:solidFill>
                  <a:srgbClr val="1A2233"/>
                </a:solidFill>
                <a:latin typeface="Yu Gothic UI" panose="020B0500000000000000" pitchFamily="50" charset="-128"/>
                <a:ea typeface="Yu Gothic UI" panose="020B0500000000000000" pitchFamily="50" charset="-128"/>
              </a:rPr>
              <a:t>9 </a:t>
            </a:r>
            <a:r>
              <a:rPr kumimoji="1" lang="ja-JP" altLang="en-US" sz="950">
                <a:solidFill>
                  <a:srgbClr val="1A2233"/>
                </a:solidFill>
                <a:latin typeface="Yu Gothic UI" panose="020B0500000000000000" pitchFamily="50" charset="-128"/>
                <a:ea typeface="Yu Gothic UI" panose="020B0500000000000000" pitchFamily="50" charset="-128"/>
              </a:rPr>
              <a:t>つ</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回帰テストを吐く</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検査が </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本増える</a:t>
            </a:r>
          </a:p>
        </p:txBody>
      </p:sp>
      <p:sp>
        <p:nvSpPr>
          <p:cNvPr id="7" name="テキスト ボックス 6">
            <a:extLst>
              <a:ext uri="{FF2B5EF4-FFF2-40B4-BE49-F238E27FC236}">
                <a16:creationId xmlns:a16="http://schemas.microsoft.com/office/drawing/2014/main" id="{9532785D-6E0F-9803-D64D-EA3498934003}"/>
              </a:ext>
            </a:extLst>
          </p:cNvPr>
          <p:cNvSpPr txBox="1"/>
          <p:nvPr/>
        </p:nvSpPr>
        <p:spPr>
          <a:xfrm>
            <a:off x="406400" y="4004114"/>
            <a:ext cx="11379200" cy="1388842"/>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録る→走査する→縛る</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出音そのものを録る </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AudioListener </a:t>
            </a:r>
            <a:r>
              <a:rPr kumimoji="1" lang="ja-JP" altLang="en-US" sz="950">
                <a:solidFill>
                  <a:srgbClr val="1A2233"/>
                </a:solidFill>
                <a:latin typeface="Yu Gothic UI" panose="020B0500000000000000" pitchFamily="50" charset="-128"/>
                <a:ea typeface="Yu Gothic UI" panose="020B0500000000000000" pitchFamily="50" charset="-128"/>
              </a:rPr>
              <a:t>に付けるので全音源のミックス後。マスター </a:t>
            </a:r>
            <a:r>
              <a:rPr kumimoji="1" lang="en-US" altLang="ja-JP" sz="950">
                <a:solidFill>
                  <a:srgbClr val="1A2233"/>
                </a:solidFill>
                <a:latin typeface="Yu Gothic UI" panose="020B0500000000000000" pitchFamily="50" charset="-128"/>
                <a:ea typeface="Yu Gothic UI" panose="020B0500000000000000" pitchFamily="50" charset="-128"/>
              </a:rPr>
              <a:t>PCM </a:t>
            </a:r>
            <a:r>
              <a:rPr kumimoji="1" lang="ja-JP" altLang="en-US" sz="950">
                <a:solidFill>
                  <a:srgbClr val="1A2233"/>
                </a:solidFill>
                <a:latin typeface="Yu Gothic UI" panose="020B0500000000000000" pitchFamily="50" charset="-128"/>
                <a:ea typeface="Yu Gothic UI" panose="020B0500000000000000" pitchFamily="50" charset="-128"/>
              </a:rPr>
              <a:t>に加えて、入力・静的な形・材質まで一緒に残します。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判定は録ったあと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実時間で判定すると、録った瞬間の判定で固定されます。あとで回すから検出器を良くすると昔のキャプチャに付け直せる。</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走査と検査は同じ関数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型紙 </a:t>
            </a:r>
            <a:r>
              <a:rPr kumimoji="1" lang="en-US" altLang="ja-JP" sz="950">
                <a:solidFill>
                  <a:srgbClr val="1A2233"/>
                </a:solidFill>
                <a:latin typeface="Yu Gothic UI" panose="020B0500000000000000" pitchFamily="50" charset="-128"/>
                <a:ea typeface="Yu Gothic UI" panose="020B0500000000000000" pitchFamily="50" charset="-128"/>
              </a:rPr>
              <a:t>9 </a:t>
            </a:r>
            <a:r>
              <a:rPr kumimoji="1" lang="ja-JP" altLang="en-US" sz="950">
                <a:solidFill>
                  <a:srgbClr val="1A2233"/>
                </a:solidFill>
                <a:latin typeface="Yu Gothic UI" panose="020B0500000000000000" pitchFamily="50" charset="-128"/>
                <a:ea typeface="Yu Gothic UI" panose="020B0500000000000000" pitchFamily="50" charset="-128"/>
              </a:rPr>
              <a:t>つは </a:t>
            </a:r>
            <a:r>
              <a:rPr kumimoji="1" lang="en-US" altLang="ja-JP" sz="950">
                <a:solidFill>
                  <a:srgbClr val="1A2233"/>
                </a:solidFill>
                <a:latin typeface="Yu Gothic UI" panose="020B0500000000000000" pitchFamily="50" charset="-128"/>
                <a:ea typeface="Yu Gothic UI" panose="020B0500000000000000" pitchFamily="50" charset="-128"/>
              </a:rPr>
              <a:t>DLL </a:t>
            </a:r>
            <a:r>
              <a:rPr kumimoji="1" lang="ja-JP" altLang="en-US" sz="950">
                <a:solidFill>
                  <a:srgbClr val="1A2233"/>
                </a:solidFill>
                <a:latin typeface="Yu Gothic UI" panose="020B0500000000000000" pitchFamily="50" charset="-128"/>
                <a:ea typeface="Yu Gothic UI" panose="020B0500000000000000" pitchFamily="50" charset="-128"/>
              </a:rPr>
              <a:t>の中。写経しないので「画面には印が出るのに検査は通る」が起きません。</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押し直して解き直せる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入力を録ってあるので、同じ操作をもう一度エンジンに通せます。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強いのは「常時録音」ではありません。そのループは既存のミドルウェアにもあります。検出器が、自分のエンジンで実際に出たバグから逆算して書かれていること ── 自分の模型の破れ方を知っている人にしか書けない検出器です。</a:t>
            </a:r>
          </a:p>
        </p:txBody>
      </p:sp>
    </p:spTree>
    <p:extLst>
      <p:ext uri="{BB962C8B-B14F-4D97-AF65-F5344CB8AC3E}">
        <p14:creationId xmlns:p14="http://schemas.microsoft.com/office/powerpoint/2010/main" val="2567333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434299B3-533D-2133-ED04-7BDB69EAB277}"/>
              </a:ext>
            </a:extLst>
          </p:cNvPr>
          <p:cNvSpPr/>
          <p:nvPr/>
        </p:nvSpPr>
        <p:spPr>
          <a:xfrm>
            <a:off x="406400" y="906195"/>
            <a:ext cx="11379200" cy="49558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5E662CE0-2F3D-57D8-0EEE-A708C9859857}"/>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TOOL 3 ── LIVE EDIT</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76192DB5-8506-3AFB-DE8D-21F23569561E}"/>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開発支援ツール ③ 鳴らしたまま、音を触る保存は実装中</a:t>
            </a:r>
          </a:p>
        </p:txBody>
      </p:sp>
      <p:sp>
        <p:nvSpPr>
          <p:cNvPr id="4" name="テキスト ボックス 3">
            <a:extLst>
              <a:ext uri="{FF2B5EF4-FFF2-40B4-BE49-F238E27FC236}">
                <a16:creationId xmlns:a16="http://schemas.microsoft.com/office/drawing/2014/main" id="{A6E6B644-B74A-140E-786F-67435CD04216}"/>
              </a:ext>
            </a:extLst>
          </p:cNvPr>
          <p:cNvSpPr txBox="1"/>
          <p:nvPr/>
        </p:nvSpPr>
        <p:spPr>
          <a:xfrm>
            <a:off x="508000" y="1007795"/>
            <a:ext cx="11176000" cy="292388"/>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止めて直して、また鳴らして ── では記憶の中の音と比べることになります。</a:t>
            </a:r>
          </a:p>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鳴らしたまま触って、その場で比べる。そして良かった状態を残す。</a:t>
            </a:r>
          </a:p>
        </p:txBody>
      </p:sp>
      <p:sp>
        <p:nvSpPr>
          <p:cNvPr id="6" name="テキスト ボックス 5">
            <a:extLst>
              <a:ext uri="{FF2B5EF4-FFF2-40B4-BE49-F238E27FC236}">
                <a16:creationId xmlns:a16="http://schemas.microsoft.com/office/drawing/2014/main" id="{AFABE5BB-486A-0F4C-582B-B46E3FBC79CD}"/>
              </a:ext>
            </a:extLst>
          </p:cNvPr>
          <p:cNvSpPr txBox="1"/>
          <p:nvPr/>
        </p:nvSpPr>
        <p:spPr>
          <a:xfrm>
            <a:off x="406400" y="1566883"/>
            <a:ext cx="11379200" cy="694421"/>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★図：これから撮る（</a:t>
            </a:r>
            <a:r>
              <a:rPr kumimoji="1" lang="en-US" altLang="ja-JP" sz="950">
                <a:solidFill>
                  <a:srgbClr val="1A2233"/>
                </a:solidFill>
                <a:latin typeface="Yu Gothic UI" panose="020B0500000000000000" pitchFamily="50" charset="-128"/>
                <a:ea typeface="Yu Gothic UI" panose="020B0500000000000000" pitchFamily="50" charset="-128"/>
              </a:rPr>
              <a:t>S5</a:t>
            </a: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音源タブ ── 寄与度順の一覧・経路ソロ・タップ内訳（</a:t>
            </a:r>
            <a:r>
              <a:rPr kumimoji="1" lang="en-US" altLang="ja-JP" sz="950">
                <a:solidFill>
                  <a:srgbClr val="1A2233"/>
                </a:solidFill>
                <a:latin typeface="Yu Gothic UI" panose="020B0500000000000000" pitchFamily="50" charset="-128"/>
                <a:ea typeface="Yu Gothic UI" panose="020B0500000000000000" pitchFamily="50" charset="-128"/>
              </a:rPr>
              <a:t>6 </a:t>
            </a:r>
            <a:r>
              <a:rPr kumimoji="1" lang="ja-JP" altLang="en-US" sz="950">
                <a:solidFill>
                  <a:srgbClr val="1A2233"/>
                </a:solidFill>
                <a:latin typeface="Yu Gothic UI" panose="020B0500000000000000" pitchFamily="50" charset="-128"/>
                <a:ea typeface="Yu Gothic UI" panose="020B0500000000000000" pitchFamily="50" charset="-128"/>
              </a:rPr>
              <a:t>帯域バー）</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音源が </a:t>
            </a:r>
            <a:r>
              <a:rPr kumimoji="1" lang="en-US" altLang="ja-JP" sz="950">
                <a:solidFill>
                  <a:srgbClr val="1A2233"/>
                </a:solidFill>
                <a:latin typeface="Yu Gothic UI" panose="020B0500000000000000" pitchFamily="50" charset="-128"/>
                <a:ea typeface="Yu Gothic UI" panose="020B0500000000000000" pitchFamily="50" charset="-128"/>
              </a:rPr>
              <a:t>3 </a:t>
            </a:r>
            <a:r>
              <a:rPr kumimoji="1" lang="ja-JP" altLang="en-US" sz="950">
                <a:solidFill>
                  <a:srgbClr val="1A2233"/>
                </a:solidFill>
                <a:latin typeface="Yu Gothic UI" panose="020B0500000000000000" pitchFamily="50" charset="-128"/>
                <a:ea typeface="Yu Gothic UI" panose="020B0500000000000000" pitchFamily="50" charset="-128"/>
              </a:rPr>
              <a:t>本以上、寄与に差がついている状態</a:t>
            </a:r>
          </a:p>
        </p:txBody>
      </p:sp>
      <p:sp>
        <p:nvSpPr>
          <p:cNvPr id="7" name="テキスト ボックス 6">
            <a:extLst>
              <a:ext uri="{FF2B5EF4-FFF2-40B4-BE49-F238E27FC236}">
                <a16:creationId xmlns:a16="http://schemas.microsoft.com/office/drawing/2014/main" id="{CB8B29B5-8D92-6E8C-26D3-1FAF903B48DB}"/>
              </a:ext>
            </a:extLst>
          </p:cNvPr>
          <p:cNvSpPr txBox="1"/>
          <p:nvPr/>
        </p:nvSpPr>
        <p:spPr>
          <a:xfrm>
            <a:off x="406400" y="2337504"/>
            <a:ext cx="11379200" cy="1388842"/>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選ぶ→切る→残す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寄与度順に選ぶ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基準を「実出力」と「経路ゲイン」で切替。実際に届いている量と、届きやすさは別物なので混ぜません。</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経路単位でソロ／ミュート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直接音・反射・回折・後期残響を個別に。回折だけ切ると痩せる、が耳で分かります。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音源ごとに解く深さを変える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厳密／簡易／バーチャルを実行時に指定。重い音源を落として、音がどう変わるかをその場で聴けます。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良かった状態を残す実装中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いまは再生を止めると戻ります。決めた値をシーンへ書き戻すところがこれからです。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ソロを切り替えても音が飛びません。取捨は </a:t>
            </a:r>
            <a:r>
              <a:rPr kumimoji="1" lang="en-US" altLang="ja-JP" sz="950">
                <a:solidFill>
                  <a:srgbClr val="1A2233"/>
                </a:solidFill>
                <a:latin typeface="Yu Gothic UI" panose="020B0500000000000000" pitchFamily="50" charset="-128"/>
                <a:ea typeface="Yu Gothic UI" panose="020B0500000000000000" pitchFamily="50" charset="-128"/>
              </a:rPr>
              <a:t>IR </a:t>
            </a:r>
            <a:r>
              <a:rPr kumimoji="1" lang="ja-JP" altLang="en-US" sz="950">
                <a:solidFill>
                  <a:srgbClr val="1A2233"/>
                </a:solidFill>
                <a:latin typeface="Yu Gothic UI" panose="020B0500000000000000" pitchFamily="50" charset="-128"/>
                <a:ea typeface="Yu Gothic UI" panose="020B0500000000000000" pitchFamily="50" charset="-128"/>
              </a:rPr>
              <a:t>の組み立て側でやり、既存のクロスフェードに乗せています。計算そのものは止めていません ── 止めると遅延線の状態が進まず、解除した瞬間に不連続が出るからです（</a:t>
            </a:r>
            <a:r>
              <a:rPr kumimoji="1" lang="en-US" altLang="ja-JP" sz="950">
                <a:solidFill>
                  <a:srgbClr val="1A2233"/>
                </a:solidFill>
                <a:latin typeface="Yu Gothic UI" panose="020B0500000000000000" pitchFamily="50" charset="-128"/>
                <a:ea typeface="Yu Gothic UI" panose="020B0500000000000000" pitchFamily="50" charset="-128"/>
              </a:rPr>
              <a:t>p16</a:t>
            </a:r>
            <a:r>
              <a:rPr kumimoji="1" lang="ja-JP" altLang="en-US" sz="950">
                <a:solidFill>
                  <a:srgbClr val="1A2233"/>
                </a:solidFill>
                <a:latin typeface="Yu Gothic UI" panose="020B0500000000000000" pitchFamily="50" charset="-128"/>
                <a:ea typeface="Yu Gothic UI" panose="020B0500000000000000" pitchFamily="50" charset="-128"/>
              </a:rPr>
              <a:t>）。</a:t>
            </a:r>
          </a:p>
        </p:txBody>
      </p:sp>
    </p:spTree>
    <p:extLst>
      <p:ext uri="{BB962C8B-B14F-4D97-AF65-F5344CB8AC3E}">
        <p14:creationId xmlns:p14="http://schemas.microsoft.com/office/powerpoint/2010/main" val="1787510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803F2EF9-CEFE-AAEE-1735-839944309285}"/>
              </a:ext>
            </a:extLst>
          </p:cNvPr>
          <p:cNvSpPr/>
          <p:nvPr/>
        </p:nvSpPr>
        <p:spPr>
          <a:xfrm>
            <a:off x="406400" y="906195"/>
            <a:ext cx="11379200" cy="49558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D00B4610-1201-2671-DDD0-FE879BC654E3}"/>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TOOL 4 ── TUNING</a:t>
            </a:r>
            <a:r>
              <a:rPr kumimoji="1" lang="ja-JP" altLang="en-US" sz="850" b="1">
                <a:solidFill>
                  <a:srgbClr val="1C7293"/>
                </a:solidFill>
                <a:latin typeface="Yu Gothic UI" panose="020B0500000000000000" pitchFamily="50" charset="-128"/>
                <a:ea typeface="Yu Gothic UI" panose="020B0500000000000000" pitchFamily="50" charset="-128"/>
              </a:rPr>
              <a:t>（</a:t>
            </a:r>
            <a:r>
              <a:rPr kumimoji="1" lang="en-US" altLang="ja-JP" sz="850" b="1">
                <a:solidFill>
                  <a:srgbClr val="1C7293"/>
                </a:solidFill>
                <a:latin typeface="Yu Gothic UI" panose="020B0500000000000000" pitchFamily="50" charset="-128"/>
                <a:ea typeface="Yu Gothic UI" panose="020B0500000000000000" pitchFamily="50" charset="-128"/>
              </a:rPr>
              <a:t>F9</a:t>
            </a:r>
            <a:r>
              <a:rPr kumimoji="1" lang="ja-JP" altLang="en-US" sz="850" b="1">
                <a:solidFill>
                  <a:srgbClr val="1C7293"/>
                </a:solidFill>
                <a:latin typeface="Yu Gothic UI" panose="020B0500000000000000" pitchFamily="50" charset="-128"/>
                <a:ea typeface="Yu Gothic UI" panose="020B0500000000000000" pitchFamily="50" charset="-128"/>
              </a:rPr>
              <a:t>）</a:t>
            </a:r>
          </a:p>
        </p:txBody>
      </p:sp>
      <p:sp>
        <p:nvSpPr>
          <p:cNvPr id="3" name="テキスト ボックス 2">
            <a:extLst>
              <a:ext uri="{FF2B5EF4-FFF2-40B4-BE49-F238E27FC236}">
                <a16:creationId xmlns:a16="http://schemas.microsoft.com/office/drawing/2014/main" id="{DF453632-B399-645D-7A22-75223CE07F16}"/>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開発支援ツール ④ 聞こえ方から、壁の材質を決める実装済み</a:t>
            </a:r>
          </a:p>
        </p:txBody>
      </p:sp>
      <p:sp>
        <p:nvSpPr>
          <p:cNvPr id="4" name="テキスト ボックス 3">
            <a:extLst>
              <a:ext uri="{FF2B5EF4-FFF2-40B4-BE49-F238E27FC236}">
                <a16:creationId xmlns:a16="http://schemas.microsoft.com/office/drawing/2014/main" id="{75C1D1FC-0EC3-0D71-F179-0CD6F3C34605}"/>
              </a:ext>
            </a:extLst>
          </p:cNvPr>
          <p:cNvSpPr txBox="1"/>
          <p:nvPr/>
        </p:nvSpPr>
        <p:spPr>
          <a:xfrm>
            <a:off x="508000" y="1007795"/>
            <a:ext cx="11176000" cy="292388"/>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調整の単位は 立っている場所での聞こえ方 であって、材質の数値ではありません。</a:t>
            </a:r>
          </a:p>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材質の表を睨んで </a:t>
            </a:r>
            <a:r>
              <a:rPr kumimoji="1" lang="en-US" altLang="ja-JP" sz="1000">
                <a:solidFill>
                  <a:srgbClr val="1A2233"/>
                </a:solidFill>
                <a:latin typeface="Yu Gothic UI" panose="020B0500000000000000" pitchFamily="50" charset="-128"/>
                <a:ea typeface="Yu Gothic UI" panose="020B0500000000000000" pitchFamily="50" charset="-128"/>
              </a:rPr>
              <a:t>0.003 </a:t>
            </a:r>
            <a:r>
              <a:rPr kumimoji="1" lang="ja-JP" altLang="en-US" sz="1000">
                <a:solidFill>
                  <a:srgbClr val="1A2233"/>
                </a:solidFill>
                <a:latin typeface="Yu Gothic UI" panose="020B0500000000000000" pitchFamily="50" charset="-128"/>
                <a:ea typeface="Yu Gothic UI" panose="020B0500000000000000" pitchFamily="50" charset="-128"/>
              </a:rPr>
              <a:t>を </a:t>
            </a:r>
            <a:r>
              <a:rPr kumimoji="1" lang="en-US" altLang="ja-JP" sz="1000">
                <a:solidFill>
                  <a:srgbClr val="1A2233"/>
                </a:solidFill>
                <a:latin typeface="Yu Gothic UI" panose="020B0500000000000000" pitchFamily="50" charset="-128"/>
                <a:ea typeface="Yu Gothic UI" panose="020B0500000000000000" pitchFamily="50" charset="-128"/>
              </a:rPr>
              <a:t>0.005 </a:t>
            </a:r>
            <a:r>
              <a:rPr kumimoji="1" lang="ja-JP" altLang="en-US" sz="1000">
                <a:solidFill>
                  <a:srgbClr val="1A2233"/>
                </a:solidFill>
                <a:latin typeface="Yu Gothic UI" panose="020B0500000000000000" pitchFamily="50" charset="-128"/>
                <a:ea typeface="Yu Gothic UI" panose="020B0500000000000000" pitchFamily="50" charset="-128"/>
              </a:rPr>
              <a:t>にする作業は耳から遠すぎて追い込めない ── そこを繋ぐ道具です。</a:t>
            </a:r>
          </a:p>
        </p:txBody>
      </p:sp>
      <p:sp>
        <p:nvSpPr>
          <p:cNvPr id="6" name="テキスト ボックス 5">
            <a:extLst>
              <a:ext uri="{FF2B5EF4-FFF2-40B4-BE49-F238E27FC236}">
                <a16:creationId xmlns:a16="http://schemas.microsoft.com/office/drawing/2014/main" id="{E444E0AC-B910-E947-9A01-A8B6C38B0947}"/>
              </a:ext>
            </a:extLst>
          </p:cNvPr>
          <p:cNvSpPr txBox="1"/>
          <p:nvPr/>
        </p:nvSpPr>
        <p:spPr>
          <a:xfrm>
            <a:off x="406400" y="1566883"/>
            <a:ext cx="11379200" cy="2222147"/>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★図：これから撮る（</a:t>
            </a:r>
            <a:r>
              <a:rPr kumimoji="1" lang="en-US" altLang="ja-JP" sz="950">
                <a:solidFill>
                  <a:srgbClr val="1A2233"/>
                </a:solidFill>
                <a:latin typeface="Yu Gothic UI" panose="020B0500000000000000" pitchFamily="50" charset="-128"/>
                <a:ea typeface="Yu Gothic UI" panose="020B0500000000000000" pitchFamily="50" charset="-128"/>
              </a:rPr>
              <a:t>S6</a:t>
            </a: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F9 </a:t>
            </a:r>
            <a:r>
              <a:rPr kumimoji="1" lang="ja-JP" altLang="en-US" sz="950">
                <a:solidFill>
                  <a:srgbClr val="1A2233"/>
                </a:solidFill>
                <a:latin typeface="Yu Gothic UI" panose="020B0500000000000000" pitchFamily="50" charset="-128"/>
                <a:ea typeface="Yu Gothic UI" panose="020B0500000000000000" pitchFamily="50" charset="-128"/>
              </a:rPr>
              <a:t>の調整卓 ── 内訳・担い手の一覧・</a:t>
            </a:r>
            <a:r>
              <a:rPr kumimoji="1" lang="en-US" altLang="ja-JP" sz="950">
                <a:solidFill>
                  <a:srgbClr val="1A2233"/>
                </a:solidFill>
                <a:latin typeface="Yu Gothic UI" panose="020B0500000000000000" pitchFamily="50" charset="-128"/>
                <a:ea typeface="Yu Gothic UI" panose="020B0500000000000000" pitchFamily="50" charset="-128"/>
              </a:rPr>
              <a:t>2 </a:t>
            </a:r>
            <a:r>
              <a:rPr kumimoji="1" lang="ja-JP" altLang="en-US" sz="950">
                <a:solidFill>
                  <a:srgbClr val="1A2233"/>
                </a:solidFill>
                <a:latin typeface="Yu Gothic UI" panose="020B0500000000000000" pitchFamily="50" charset="-128"/>
                <a:ea typeface="Yu Gothic UI" panose="020B0500000000000000" pitchFamily="50" charset="-128"/>
              </a:rPr>
              <a:t>つのつまみ・結果メッセージ</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 この経路の ○</a:t>
            </a:r>
            <a:r>
              <a:rPr kumimoji="1" lang="en-US" altLang="ja-JP" sz="950">
                <a:solidFill>
                  <a:srgbClr val="1A2233"/>
                </a:solidFill>
                <a:latin typeface="Yu Gothic UI" panose="020B0500000000000000" pitchFamily="50" charset="-128"/>
                <a:ea typeface="Yu Gothic UI" panose="020B0500000000000000" pitchFamily="50" charset="-128"/>
              </a:rPr>
              <a:t>% </a:t>
            </a:r>
            <a:r>
              <a:rPr kumimoji="1" lang="ja-JP" altLang="en-US" sz="950">
                <a:solidFill>
                  <a:srgbClr val="1A2233"/>
                </a:solidFill>
                <a:latin typeface="Yu Gothic UI" panose="020B0500000000000000" pitchFamily="50" charset="-128"/>
                <a:ea typeface="Yu Gothic UI" panose="020B0500000000000000" pitchFamily="50" charset="-128"/>
              </a:rPr>
              <a:t>は回り込みが担っています」が出ている状態</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内訳を出す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透過 </a:t>
            </a:r>
            <a:r>
              <a:rPr kumimoji="1" lang="en-US" altLang="ja-JP" sz="950">
                <a:solidFill>
                  <a:srgbClr val="1A2233"/>
                </a:solidFill>
                <a:latin typeface="Yu Gothic UI" panose="020B0500000000000000" pitchFamily="50" charset="-128"/>
                <a:ea typeface="Yu Gothic UI" panose="020B0500000000000000" pitchFamily="50" charset="-128"/>
              </a:rPr>
              <a:t>/ </a:t>
            </a:r>
            <a:r>
              <a:rPr kumimoji="1" lang="ja-JP" altLang="en-US" sz="950">
                <a:solidFill>
                  <a:srgbClr val="1A2233"/>
                </a:solidFill>
                <a:latin typeface="Yu Gothic UI" panose="020B0500000000000000" pitchFamily="50" charset="-128"/>
                <a:ea typeface="Yu Gothic UI" panose="020B0500000000000000" pitchFamily="50" charset="-128"/>
              </a:rPr>
              <a:t>回り込み</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担い手を</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名指しさせる</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目標を置く</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総量 </a:t>
            </a:r>
            <a:r>
              <a:rPr kumimoji="1" lang="en-US" altLang="ja-JP" sz="950">
                <a:solidFill>
                  <a:srgbClr val="1A2233"/>
                </a:solidFill>
                <a:latin typeface="Yu Gothic UI" panose="020B0500000000000000" pitchFamily="50" charset="-128"/>
                <a:ea typeface="Yu Gothic UI" panose="020B0500000000000000" pitchFamily="50" charset="-128"/>
              </a:rPr>
              <a:t>/ </a:t>
            </a:r>
            <a:r>
              <a:rPr kumimoji="1" lang="ja-JP" altLang="en-US" sz="950">
                <a:solidFill>
                  <a:srgbClr val="1A2233"/>
                </a:solidFill>
                <a:latin typeface="Yu Gothic UI" panose="020B0500000000000000" pitchFamily="50" charset="-128"/>
                <a:ea typeface="Yu Gothic UI" panose="020B0500000000000000" pitchFamily="50" charset="-128"/>
              </a:rPr>
              <a:t>こもり倍率</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材質を書き換え</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その場で音が変わる</a:t>
            </a:r>
          </a:p>
        </p:txBody>
      </p:sp>
      <p:sp>
        <p:nvSpPr>
          <p:cNvPr id="7" name="テキスト ボックス 6">
            <a:extLst>
              <a:ext uri="{FF2B5EF4-FFF2-40B4-BE49-F238E27FC236}">
                <a16:creationId xmlns:a16="http://schemas.microsoft.com/office/drawing/2014/main" id="{AFC39340-93BA-9ED0-A88B-112A3596B13A}"/>
              </a:ext>
            </a:extLst>
          </p:cNvPr>
          <p:cNvSpPr txBox="1"/>
          <p:nvPr/>
        </p:nvSpPr>
        <p:spPr>
          <a:xfrm>
            <a:off x="406400" y="3865230"/>
            <a:ext cx="11379200" cy="1388842"/>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つまみは </a:t>
            </a:r>
            <a:r>
              <a:rPr kumimoji="1" lang="en-US" altLang="ja-JP" sz="950">
                <a:solidFill>
                  <a:srgbClr val="1A2233"/>
                </a:solidFill>
                <a:latin typeface="Yu Gothic UI" panose="020B0500000000000000" pitchFamily="50" charset="-128"/>
                <a:ea typeface="Yu Gothic UI" panose="020B0500000000000000" pitchFamily="50" charset="-128"/>
              </a:rPr>
              <a:t>2 </a:t>
            </a:r>
            <a:r>
              <a:rPr kumimoji="1" lang="ja-JP" altLang="en-US" sz="950">
                <a:solidFill>
                  <a:srgbClr val="1A2233"/>
                </a:solidFill>
                <a:latin typeface="Yu Gothic UI" panose="020B0500000000000000" pitchFamily="50" charset="-128"/>
                <a:ea typeface="Yu Gothic UI" panose="020B0500000000000000" pitchFamily="50" charset="-128"/>
              </a:rPr>
              <a:t>つだけ</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総量とこもり倍率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こもり倍率は </a:t>
            </a:r>
            <a:r>
              <a:rPr kumimoji="1" lang="en-US" altLang="ja-JP" sz="950">
                <a:solidFill>
                  <a:srgbClr val="1A2233"/>
                </a:solidFill>
                <a:latin typeface="Yu Gothic UI" panose="020B0500000000000000" pitchFamily="50" charset="-128"/>
                <a:ea typeface="Yu Gothic UI" panose="020B0500000000000000" pitchFamily="50" charset="-128"/>
              </a:rPr>
              <a:t>125 Hz ÷ 4 kHz</a:t>
            </a:r>
            <a:r>
              <a:rPr kumimoji="1" lang="ja-JP" altLang="en-US" sz="950">
                <a:solidFill>
                  <a:srgbClr val="1A2233"/>
                </a:solidFill>
                <a:latin typeface="Yu Gothic UI" panose="020B0500000000000000" pitchFamily="50" charset="-128"/>
                <a:ea typeface="Yu Gothic UI" panose="020B0500000000000000" pitchFamily="50" charset="-128"/>
              </a:rPr>
              <a:t>。扉の実測で使っている尺度と同じ（閉 </a:t>
            </a:r>
            <a:r>
              <a:rPr kumimoji="1" lang="en-US" altLang="ja-JP" sz="950">
                <a:solidFill>
                  <a:srgbClr val="1A2233"/>
                </a:solidFill>
                <a:latin typeface="Yu Gothic UI" panose="020B0500000000000000" pitchFamily="50" charset="-128"/>
                <a:ea typeface="Yu Gothic UI" panose="020B0500000000000000" pitchFamily="50" charset="-128"/>
              </a:rPr>
              <a:t>5.8 → </a:t>
            </a:r>
            <a:r>
              <a:rPr kumimoji="1" lang="ja-JP" altLang="en-US" sz="950">
                <a:solidFill>
                  <a:srgbClr val="1A2233"/>
                </a:solidFill>
                <a:latin typeface="Yu Gothic UI" panose="020B0500000000000000" pitchFamily="50" charset="-128"/>
                <a:ea typeface="Yu Gothic UI" panose="020B0500000000000000" pitchFamily="50" charset="-128"/>
              </a:rPr>
              <a:t>開 </a:t>
            </a:r>
            <a:r>
              <a:rPr kumimoji="1" lang="en-US" altLang="ja-JP" sz="950">
                <a:solidFill>
                  <a:srgbClr val="1A2233"/>
                </a:solidFill>
                <a:latin typeface="Yu Gothic UI" panose="020B0500000000000000" pitchFamily="50" charset="-128"/>
                <a:ea typeface="Yu Gothic UI" panose="020B0500000000000000" pitchFamily="50" charset="-128"/>
              </a:rPr>
              <a:t>1.2</a:t>
            </a:r>
            <a:r>
              <a:rPr kumimoji="1" lang="ja-JP" altLang="en-US" sz="950">
                <a:solidFill>
                  <a:srgbClr val="1A2233"/>
                </a:solidFill>
                <a:latin typeface="Yu Gothic UI" panose="020B0500000000000000" pitchFamily="50" charset="-128"/>
                <a:ea typeface="Yu Gothic UI" panose="020B0500000000000000" pitchFamily="50" charset="-128"/>
              </a:rPr>
              <a:t>）なので、耳の言葉のまま置けます。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書き込み先は必ず材質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音源に </a:t>
            </a:r>
            <a:r>
              <a:rPr kumimoji="1" lang="en-US" altLang="ja-JP" sz="950">
                <a:solidFill>
                  <a:srgbClr val="1A2233"/>
                </a:solidFill>
                <a:latin typeface="Yu Gothic UI" panose="020B0500000000000000" pitchFamily="50" charset="-128"/>
                <a:ea typeface="Yu Gothic UI" panose="020B0500000000000000" pitchFamily="50" charset="-128"/>
              </a:rPr>
              <a:t>EQ </a:t>
            </a:r>
            <a:r>
              <a:rPr kumimoji="1" lang="ja-JP" altLang="en-US" sz="950">
                <a:solidFill>
                  <a:srgbClr val="1A2233"/>
                </a:solidFill>
                <a:latin typeface="Yu Gothic UI" panose="020B0500000000000000" pitchFamily="50" charset="-128"/>
                <a:ea typeface="Yu Gothic UI" panose="020B0500000000000000" pitchFamily="50" charset="-128"/>
              </a:rPr>
              <a:t>を掛ける形にすると、壁を動かしても補正が付いてこない ── ただのミキサーになります。</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届かない目標は突き返す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「この経路の </a:t>
            </a:r>
            <a:r>
              <a:rPr kumimoji="1" lang="en-US" altLang="ja-JP" sz="950">
                <a:solidFill>
                  <a:srgbClr val="1A2233"/>
                </a:solidFill>
                <a:latin typeface="Yu Gothic UI" panose="020B0500000000000000" pitchFamily="50" charset="-128"/>
                <a:ea typeface="Yu Gothic UI" panose="020B0500000000000000" pitchFamily="50" charset="-128"/>
              </a:rPr>
              <a:t>70% </a:t>
            </a:r>
            <a:r>
              <a:rPr kumimoji="1" lang="ja-JP" altLang="en-US" sz="950">
                <a:solidFill>
                  <a:srgbClr val="1A2233"/>
                </a:solidFill>
                <a:latin typeface="Yu Gothic UI" panose="020B0500000000000000" pitchFamily="50" charset="-128"/>
                <a:ea typeface="Yu Gothic UI" panose="020B0500000000000000" pitchFamily="50" charset="-128"/>
              </a:rPr>
              <a:t>は回り込みが担っています」と返す。効かないつまみを回し続けるのが最大の失敗だから。</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担い手は人が選ぶ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自動で選ぶと、触るたびに相手が入れ替わる。「勝手に何かが変わった」を起こさないため。</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合うのは「その </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点」だけ。それが狙いです。材質は </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枚で、聞く場所は無限にある。どこでも目標どおりに鳴るなら、それは焼いたのと同じ。代表の </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点で演出を決め、残りは物理へ。</a:t>
            </a:r>
          </a:p>
        </p:txBody>
      </p:sp>
    </p:spTree>
    <p:extLst>
      <p:ext uri="{BB962C8B-B14F-4D97-AF65-F5344CB8AC3E}">
        <p14:creationId xmlns:p14="http://schemas.microsoft.com/office/powerpoint/2010/main" val="2067116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四角形: 角を丸くする 21">
            <a:extLst>
              <a:ext uri="{FF2B5EF4-FFF2-40B4-BE49-F238E27FC236}">
                <a16:creationId xmlns:a16="http://schemas.microsoft.com/office/drawing/2014/main" id="{03A3152E-F9CF-2CC8-7089-4F39E02E552D}"/>
              </a:ext>
            </a:extLst>
          </p:cNvPr>
          <p:cNvSpPr/>
          <p:nvPr/>
        </p:nvSpPr>
        <p:spPr>
          <a:xfrm>
            <a:off x="4284133" y="2693104"/>
            <a:ext cx="3623734" cy="466349"/>
          </a:xfrm>
          <a:prstGeom prst="roundRect">
            <a:avLst>
              <a:gd name="adj" fmla="val 6000"/>
            </a:avLst>
          </a:prstGeom>
          <a:solidFill>
            <a:srgbClr val="F1F3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AC4C3B50-A5E2-DFF6-5D01-95685739AD11}"/>
              </a:ext>
            </a:extLst>
          </p:cNvPr>
          <p:cNvSpPr/>
          <p:nvPr/>
        </p:nvSpPr>
        <p:spPr>
          <a:xfrm>
            <a:off x="4284133" y="1592283"/>
            <a:ext cx="3623734"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E2FB4CD1-210B-7AA5-B871-88FD079DC5F2}"/>
              </a:ext>
            </a:extLst>
          </p:cNvPr>
          <p:cNvSpPr/>
          <p:nvPr/>
        </p:nvSpPr>
        <p:spPr>
          <a:xfrm>
            <a:off x="406400" y="4701063"/>
            <a:ext cx="3623733" cy="758737"/>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F22EA6BB-31C1-B10B-2EBF-8E390062CF52}"/>
              </a:ext>
            </a:extLst>
          </p:cNvPr>
          <p:cNvSpPr/>
          <p:nvPr/>
        </p:nvSpPr>
        <p:spPr>
          <a:xfrm>
            <a:off x="406400" y="3815326"/>
            <a:ext cx="3623733" cy="758737"/>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82EC3CE1-EA04-18BC-A994-0FBB4FCE09CF}"/>
              </a:ext>
            </a:extLst>
          </p:cNvPr>
          <p:cNvSpPr/>
          <p:nvPr/>
        </p:nvSpPr>
        <p:spPr>
          <a:xfrm>
            <a:off x="406400" y="906195"/>
            <a:ext cx="11379200" cy="49558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2108D441-5E8A-9067-3847-0E5D2F6EEC50}"/>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VERIFICATION</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717C9A6D-720B-7320-F64E-A24522D99FE5}"/>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検証 ── 壊れたことに気づける状態を保つ</a:t>
            </a:r>
          </a:p>
        </p:txBody>
      </p:sp>
      <p:sp>
        <p:nvSpPr>
          <p:cNvPr id="4" name="テキスト ボックス 3">
            <a:extLst>
              <a:ext uri="{FF2B5EF4-FFF2-40B4-BE49-F238E27FC236}">
                <a16:creationId xmlns:a16="http://schemas.microsoft.com/office/drawing/2014/main" id="{90EF4C7D-6A4C-61D8-B75E-34207E780066}"/>
              </a:ext>
            </a:extLst>
          </p:cNvPr>
          <p:cNvSpPr txBox="1"/>
          <p:nvPr/>
        </p:nvSpPr>
        <p:spPr>
          <a:xfrm>
            <a:off x="508000" y="1007795"/>
            <a:ext cx="11176000" cy="292388"/>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音の不具合は「直したら別が壊れる」が起きやすく、しかも壊れたことに耳で気づけないことがあります。</a:t>
            </a:r>
          </a:p>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だから数値で押さえ、</a:t>
            </a:r>
            <a:r>
              <a:rPr kumimoji="1" lang="en-US" altLang="ja-JP" sz="1000">
                <a:solidFill>
                  <a:srgbClr val="1A2233"/>
                </a:solidFill>
                <a:latin typeface="Yu Gothic UI" panose="020B0500000000000000" pitchFamily="50" charset="-128"/>
                <a:ea typeface="Yu Gothic UI" panose="020B0500000000000000" pitchFamily="50" charset="-128"/>
              </a:rPr>
              <a:t>Unity </a:t>
            </a:r>
            <a:r>
              <a:rPr kumimoji="1" lang="ja-JP" altLang="en-US" sz="1000">
                <a:solidFill>
                  <a:srgbClr val="1A2233"/>
                </a:solidFill>
                <a:latin typeface="Yu Gothic UI" panose="020B0500000000000000" pitchFamily="50" charset="-128"/>
                <a:ea typeface="Yu Gothic UI" panose="020B0500000000000000" pitchFamily="50" charset="-128"/>
              </a:rPr>
              <a:t>を開かずに音を確かめられるようにしました。</a:t>
            </a:r>
          </a:p>
        </p:txBody>
      </p:sp>
      <p:sp>
        <p:nvSpPr>
          <p:cNvPr id="6" name="テキスト ボックス 5">
            <a:extLst>
              <a:ext uri="{FF2B5EF4-FFF2-40B4-BE49-F238E27FC236}">
                <a16:creationId xmlns:a16="http://schemas.microsoft.com/office/drawing/2014/main" id="{71C9584D-B8E6-D54B-C5FD-E026018218B0}"/>
              </a:ext>
            </a:extLst>
          </p:cNvPr>
          <p:cNvSpPr txBox="1"/>
          <p:nvPr/>
        </p:nvSpPr>
        <p:spPr>
          <a:xfrm>
            <a:off x="406400" y="1630383"/>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回帰テスト ── 全 </a:t>
            </a:r>
            <a:r>
              <a:rPr kumimoji="1" lang="en-US" altLang="ja-JP" sz="1200" b="1">
                <a:solidFill>
                  <a:srgbClr val="21295C"/>
                </a:solidFill>
                <a:latin typeface="Yu Gothic UI" panose="020B0500000000000000" pitchFamily="50" charset="-128"/>
                <a:ea typeface="Yu Gothic UI" panose="020B0500000000000000" pitchFamily="50" charset="-128"/>
              </a:rPr>
              <a:t>447 </a:t>
            </a:r>
            <a:r>
              <a:rPr kumimoji="1" lang="ja-JP" altLang="en-US" sz="1200" b="1">
                <a:solidFill>
                  <a:srgbClr val="21295C"/>
                </a:solidFill>
                <a:latin typeface="Yu Gothic UI" panose="020B0500000000000000" pitchFamily="50" charset="-128"/>
                <a:ea typeface="Yu Gothic UI" panose="020B0500000000000000" pitchFamily="50" charset="-128"/>
              </a:rPr>
              <a:t>件</a:t>
            </a:r>
          </a:p>
        </p:txBody>
      </p:sp>
      <p:sp>
        <p:nvSpPr>
          <p:cNvPr id="7" name="テキスト ボックス 6">
            <a:extLst>
              <a:ext uri="{FF2B5EF4-FFF2-40B4-BE49-F238E27FC236}">
                <a16:creationId xmlns:a16="http://schemas.microsoft.com/office/drawing/2014/main" id="{9A799E14-A9D9-8994-8108-A21DEC149611}"/>
              </a:ext>
            </a:extLst>
          </p:cNvPr>
          <p:cNvSpPr txBox="1"/>
          <p:nvPr/>
        </p:nvSpPr>
        <p:spPr>
          <a:xfrm>
            <a:off x="406400" y="1894716"/>
            <a:ext cx="3623733" cy="833305"/>
          </a:xfrm>
          <a:prstGeom prst="rect">
            <a:avLst/>
          </a:prstGeom>
          <a:noFill/>
        </p:spPr>
        <p:txBody>
          <a:bodyPr vert="horz" wrap="square" lIns="0" tIns="0" rIns="0" bIns="0" rtlCol="0">
            <a:spAutoFit/>
          </a:bodyPr>
          <a:lstStyle/>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323</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シーン（幾何・回折・部屋）</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117</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DSP</a:t>
            </a:r>
            <a:r>
              <a:rPr kumimoji="1" lang="ja-JP" altLang="en-US" sz="950">
                <a:solidFill>
                  <a:srgbClr val="1A2233"/>
                </a:solidFill>
                <a:latin typeface="Yu Gothic UI" panose="020B0500000000000000" pitchFamily="50" charset="-128"/>
                <a:ea typeface="Yu Gothic UI" panose="020B0500000000000000" pitchFamily="50" charset="-128"/>
              </a:rPr>
              <a:t>（畳み込み・</a:t>
            </a:r>
            <a:r>
              <a:rPr kumimoji="1" lang="en-US" altLang="ja-JP" sz="950">
                <a:solidFill>
                  <a:srgbClr val="1A2233"/>
                </a:solidFill>
                <a:latin typeface="Yu Gothic UI" panose="020B0500000000000000" pitchFamily="50" charset="-128"/>
                <a:ea typeface="Yu Gothic UI" panose="020B0500000000000000" pitchFamily="50" charset="-128"/>
              </a:rPr>
              <a:t>HRTF</a:t>
            </a:r>
            <a:r>
              <a:rPr kumimoji="1" lang="ja-JP" altLang="en-US" sz="950">
                <a:solidFill>
                  <a:srgbClr val="1A2233"/>
                </a:solidFill>
                <a:latin typeface="Yu Gothic UI" panose="020B0500000000000000" pitchFamily="50" charset="-128"/>
                <a:ea typeface="Yu Gothic UI" panose="020B0500000000000000" pitchFamily="50" charset="-128"/>
              </a:rPr>
              <a:t>）</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7</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BTM</a:t>
            </a:r>
            <a:r>
              <a:rPr kumimoji="1" lang="ja-JP" altLang="en-US" sz="950">
                <a:solidFill>
                  <a:srgbClr val="1A2233"/>
                </a:solidFill>
                <a:latin typeface="Yu Gothic UI" panose="020B0500000000000000" pitchFamily="50" charset="-128"/>
                <a:ea typeface="Yu Gothic UI" panose="020B0500000000000000" pitchFamily="50" charset="-128"/>
              </a:rPr>
              <a:t>（解析解と突き合わせ）</a:t>
            </a:r>
          </a:p>
        </p:txBody>
      </p:sp>
      <p:sp>
        <p:nvSpPr>
          <p:cNvPr id="8" name="テキスト ボックス 7">
            <a:extLst>
              <a:ext uri="{FF2B5EF4-FFF2-40B4-BE49-F238E27FC236}">
                <a16:creationId xmlns:a16="http://schemas.microsoft.com/office/drawing/2014/main" id="{999C39B2-E8C3-BAAD-D8F8-BC9AB4C12F14}"/>
              </a:ext>
            </a:extLst>
          </p:cNvPr>
          <p:cNvSpPr txBox="1"/>
          <p:nvPr/>
        </p:nvSpPr>
        <p:spPr>
          <a:xfrm>
            <a:off x="406400" y="2804221"/>
            <a:ext cx="3623733" cy="138884"/>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次のような「壊れても耳では気づけないもの」を、毎回突き合わせています。</a:t>
            </a:r>
          </a:p>
        </p:txBody>
      </p:sp>
      <p:sp>
        <p:nvSpPr>
          <p:cNvPr id="9" name="テキスト ボックス 8">
            <a:extLst>
              <a:ext uri="{FF2B5EF4-FFF2-40B4-BE49-F238E27FC236}">
                <a16:creationId xmlns:a16="http://schemas.microsoft.com/office/drawing/2014/main" id="{6E0A5F53-FFC3-FB43-EE41-68704935FEE0}"/>
              </a:ext>
            </a:extLst>
          </p:cNvPr>
          <p:cNvSpPr txBox="1"/>
          <p:nvPr/>
        </p:nvSpPr>
        <p:spPr>
          <a:xfrm>
            <a:off x="406400" y="3019305"/>
            <a:ext cx="3623733" cy="694421"/>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並列と直列の結果がビット一致するか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共有バスと個別畳み込みが一致するか（−</a:t>
            </a:r>
            <a:r>
              <a:rPr kumimoji="1" lang="en-US" altLang="ja-JP" sz="950">
                <a:solidFill>
                  <a:srgbClr val="1A2233"/>
                </a:solidFill>
                <a:latin typeface="Yu Gothic UI" panose="020B0500000000000000" pitchFamily="50" charset="-128"/>
                <a:ea typeface="Yu Gothic UI" panose="020B0500000000000000" pitchFamily="50" charset="-128"/>
              </a:rPr>
              <a:t>123.5 dB</a:t>
            </a:r>
            <a:r>
              <a:rPr kumimoji="1" lang="ja-JP" altLang="en-US" sz="950">
                <a:solidFill>
                  <a:srgbClr val="1A2233"/>
                </a:solidFill>
                <a:latin typeface="Yu Gothic UI" panose="020B0500000000000000" pitchFamily="50" charset="-128"/>
                <a:ea typeface="Yu Gothic UI" panose="020B0500000000000000" pitchFamily="50" charset="-128"/>
              </a:rPr>
              <a:t>） </a:t>
            </a:r>
          </a:p>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C++ </a:t>
            </a:r>
            <a:r>
              <a:rPr kumimoji="1" lang="ja-JP" altLang="en-US" sz="950">
                <a:solidFill>
                  <a:srgbClr val="1A2233"/>
                </a:solidFill>
                <a:latin typeface="Yu Gothic UI" panose="020B0500000000000000" pitchFamily="50" charset="-128"/>
                <a:ea typeface="Yu Gothic UI" panose="020B0500000000000000" pitchFamily="50" charset="-128"/>
              </a:rPr>
              <a:t>と </a:t>
            </a:r>
            <a:r>
              <a:rPr kumimoji="1" lang="en-US" altLang="ja-JP" sz="950">
                <a:solidFill>
                  <a:srgbClr val="1A2233"/>
                </a:solidFill>
                <a:latin typeface="Yu Gothic UI" panose="020B0500000000000000" pitchFamily="50" charset="-128"/>
                <a:ea typeface="Yu Gothic UI" panose="020B0500000000000000" pitchFamily="50" charset="-128"/>
              </a:rPr>
              <a:t>C# </a:t>
            </a:r>
            <a:r>
              <a:rPr kumimoji="1" lang="ja-JP" altLang="en-US" sz="950">
                <a:solidFill>
                  <a:srgbClr val="1A2233"/>
                </a:solidFill>
                <a:latin typeface="Yu Gothic UI" panose="020B0500000000000000" pitchFamily="50" charset="-128"/>
                <a:ea typeface="Yu Gothic UI" panose="020B0500000000000000" pitchFamily="50" charset="-128"/>
              </a:rPr>
              <a:t>の値が一致するか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扉の角度を振ったときにレベルが跳ばないか </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残響が </a:t>
            </a:r>
            <a:r>
              <a:rPr kumimoji="1" lang="en-US" altLang="ja-JP" sz="950">
                <a:solidFill>
                  <a:srgbClr val="1A2233"/>
                </a:solidFill>
                <a:latin typeface="Yu Gothic UI" panose="020B0500000000000000" pitchFamily="50" charset="-128"/>
                <a:ea typeface="Yu Gothic UI" panose="020B0500000000000000" pitchFamily="50" charset="-128"/>
              </a:rPr>
              <a:t>Sabine </a:t>
            </a:r>
            <a:r>
              <a:rPr kumimoji="1" lang="ja-JP" altLang="en-US" sz="950">
                <a:solidFill>
                  <a:srgbClr val="1A2233"/>
                </a:solidFill>
                <a:latin typeface="Yu Gothic UI" panose="020B0500000000000000" pitchFamily="50" charset="-128"/>
                <a:ea typeface="Yu Gothic UI" panose="020B0500000000000000" pitchFamily="50" charset="-128"/>
              </a:rPr>
              <a:t>の理論値と合うか（</a:t>
            </a:r>
            <a:r>
              <a:rPr kumimoji="1" lang="en-US" altLang="ja-JP" sz="950">
                <a:solidFill>
                  <a:srgbClr val="1A2233"/>
                </a:solidFill>
                <a:latin typeface="Yu Gothic UI" panose="020B0500000000000000" pitchFamily="50" charset="-128"/>
                <a:ea typeface="Yu Gothic UI" panose="020B0500000000000000" pitchFamily="50" charset="-128"/>
              </a:rPr>
              <a:t>±6〜16 %</a:t>
            </a:r>
            <a:r>
              <a:rPr kumimoji="1" lang="ja-JP" altLang="en-US" sz="950">
                <a:solidFill>
                  <a:srgbClr val="1A2233"/>
                </a:solidFill>
                <a:latin typeface="Yu Gothic UI" panose="020B0500000000000000" pitchFamily="50" charset="-128"/>
                <a:ea typeface="Yu Gothic UI" panose="020B0500000000000000" pitchFamily="50" charset="-128"/>
              </a:rPr>
              <a:t>）</a:t>
            </a:r>
          </a:p>
        </p:txBody>
      </p:sp>
      <p:sp>
        <p:nvSpPr>
          <p:cNvPr id="10" name="テキスト ボックス 9">
            <a:extLst>
              <a:ext uri="{FF2B5EF4-FFF2-40B4-BE49-F238E27FC236}">
                <a16:creationId xmlns:a16="http://schemas.microsoft.com/office/drawing/2014/main" id="{CC494415-C32C-0A42-46AE-D856AEA07C9D}"/>
              </a:ext>
            </a:extLst>
          </p:cNvPr>
          <p:cNvSpPr txBox="1"/>
          <p:nvPr/>
        </p:nvSpPr>
        <p:spPr>
          <a:xfrm>
            <a:off x="508000" y="3916926"/>
            <a:ext cx="3420533" cy="555537"/>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★期待値は「絶対値」ではなく「関係」で書いています。 フレーム </a:t>
            </a:r>
            <a:r>
              <a:rPr kumimoji="1" lang="en-US" altLang="ja-JP" sz="950">
                <a:solidFill>
                  <a:srgbClr val="1A2233"/>
                </a:solidFill>
                <a:latin typeface="Yu Gothic UI" panose="020B0500000000000000" pitchFamily="50" charset="-128"/>
                <a:ea typeface="Yu Gothic UI" panose="020B0500000000000000" pitchFamily="50" charset="-128"/>
              </a:rPr>
              <a:t>412 </a:t>
            </a:r>
            <a:r>
              <a:rPr kumimoji="1" lang="ja-JP" altLang="en-US" sz="950">
                <a:solidFill>
                  <a:srgbClr val="1A2233"/>
                </a:solidFill>
                <a:latin typeface="Yu Gothic UI" panose="020B0500000000000000" pitchFamily="50" charset="-128"/>
                <a:ea typeface="Yu Gothic UI" panose="020B0500000000000000" pitchFamily="50" charset="-128"/>
              </a:rPr>
              <a:t>の </a:t>
            </a:r>
            <a:r>
              <a:rPr kumimoji="1" lang="en-US" altLang="ja-JP" sz="950">
                <a:solidFill>
                  <a:srgbClr val="1A2233"/>
                </a:solidFill>
                <a:latin typeface="Yu Gothic UI" panose="020B0500000000000000" pitchFamily="50" charset="-128"/>
                <a:ea typeface="Yu Gothic UI" panose="020B0500000000000000" pitchFamily="50" charset="-128"/>
              </a:rPr>
              <a:t>0.0837 </a:t>
            </a:r>
            <a:r>
              <a:rPr kumimoji="1" lang="ja-JP" altLang="en-US" sz="950">
                <a:solidFill>
                  <a:srgbClr val="1A2233"/>
                </a:solidFill>
                <a:latin typeface="Yu Gothic UI" panose="020B0500000000000000" pitchFamily="50" charset="-128"/>
                <a:ea typeface="Yu Gothic UI" panose="020B0500000000000000" pitchFamily="50" charset="-128"/>
              </a:rPr>
              <a:t>を焼くと、正当な調整のたびに落ちてすぐ信用されなくなる。「開口へ近づくほど大きい」「並列でもビット一致」のように、性質だけを縛ります。</a:t>
            </a:r>
          </a:p>
        </p:txBody>
      </p:sp>
      <p:sp>
        <p:nvSpPr>
          <p:cNvPr id="12" name="テキスト ボックス 11">
            <a:extLst>
              <a:ext uri="{FF2B5EF4-FFF2-40B4-BE49-F238E27FC236}">
                <a16:creationId xmlns:a16="http://schemas.microsoft.com/office/drawing/2014/main" id="{1B6E3CDA-FB47-9553-AF50-26FB7C065223}"/>
              </a:ext>
            </a:extLst>
          </p:cNvPr>
          <p:cNvSpPr txBox="1"/>
          <p:nvPr/>
        </p:nvSpPr>
        <p:spPr>
          <a:xfrm>
            <a:off x="508000" y="4802663"/>
            <a:ext cx="3420533" cy="555537"/>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★検査そのものも検査しています。 黙っている検査は「健全だから」か「壊れて何も見ていないから」か区別できません。わざと壊した入力を通して、ちゃんと落ちることを確かめてあります（破れの型紙 </a:t>
            </a:r>
            <a:r>
              <a:rPr kumimoji="1" lang="en-US" altLang="ja-JP" sz="950">
                <a:solidFill>
                  <a:srgbClr val="1A2233"/>
                </a:solidFill>
                <a:latin typeface="Yu Gothic UI" panose="020B0500000000000000" pitchFamily="50" charset="-128"/>
                <a:ea typeface="Yu Gothic UI" panose="020B0500000000000000" pitchFamily="50" charset="-128"/>
              </a:rPr>
              <a:t>9 </a:t>
            </a:r>
            <a:r>
              <a:rPr kumimoji="1" lang="ja-JP" altLang="en-US" sz="950">
                <a:solidFill>
                  <a:srgbClr val="1A2233"/>
                </a:solidFill>
                <a:latin typeface="Yu Gothic UI" panose="020B0500000000000000" pitchFamily="50" charset="-128"/>
                <a:ea typeface="Yu Gothic UI" panose="020B0500000000000000" pitchFamily="50" charset="-128"/>
              </a:rPr>
              <a:t>つ・</a:t>
            </a:r>
            <a:r>
              <a:rPr kumimoji="1" lang="en-US" altLang="ja-JP" sz="950">
                <a:solidFill>
                  <a:srgbClr val="1A2233"/>
                </a:solidFill>
                <a:latin typeface="Yu Gothic UI" panose="020B0500000000000000" pitchFamily="50" charset="-128"/>
                <a:ea typeface="Yu Gothic UI" panose="020B0500000000000000" pitchFamily="50" charset="-128"/>
              </a:rPr>
              <a:t>C# </a:t>
            </a:r>
            <a:r>
              <a:rPr kumimoji="1" lang="ja-JP" altLang="en-US" sz="950">
                <a:solidFill>
                  <a:srgbClr val="1A2233"/>
                </a:solidFill>
                <a:latin typeface="Yu Gothic UI" panose="020B0500000000000000" pitchFamily="50" charset="-128"/>
                <a:ea typeface="Yu Gothic UI" panose="020B0500000000000000" pitchFamily="50" charset="-128"/>
              </a:rPr>
              <a:t>の型検査とも）。</a:t>
            </a:r>
          </a:p>
        </p:txBody>
      </p:sp>
      <p:sp>
        <p:nvSpPr>
          <p:cNvPr id="14" name="テキスト ボックス 13">
            <a:extLst>
              <a:ext uri="{FF2B5EF4-FFF2-40B4-BE49-F238E27FC236}">
                <a16:creationId xmlns:a16="http://schemas.microsoft.com/office/drawing/2014/main" id="{31177F28-7438-A98E-C53F-B22E2ABC6D7E}"/>
              </a:ext>
            </a:extLst>
          </p:cNvPr>
          <p:cNvSpPr txBox="1"/>
          <p:nvPr/>
        </p:nvSpPr>
        <p:spPr>
          <a:xfrm>
            <a:off x="406400" y="5624900"/>
            <a:ext cx="3623733" cy="175433"/>
          </a:xfrm>
          <a:prstGeom prst="rect">
            <a:avLst/>
          </a:prstGeom>
          <a:noFill/>
        </p:spPr>
        <p:txBody>
          <a:bodyPr vert="horz" wrap="square" lIns="0" tIns="0" rIns="0" bIns="0" rtlCol="0">
            <a:spAutoFit/>
          </a:bodyPr>
          <a:lstStyle/>
          <a:p>
            <a:pPr>
              <a:lnSpc>
                <a:spcPct val="95000"/>
              </a:lnSpc>
            </a:pPr>
            <a:r>
              <a:rPr kumimoji="1" lang="en-US" altLang="ja-JP" sz="1200" b="1">
                <a:solidFill>
                  <a:srgbClr val="21295C"/>
                </a:solidFill>
                <a:latin typeface="Yu Gothic UI" panose="020B0500000000000000" pitchFamily="50" charset="-128"/>
                <a:ea typeface="Yu Gothic UI" panose="020B0500000000000000" pitchFamily="50" charset="-128"/>
              </a:rPr>
              <a:t>Unity </a:t>
            </a:r>
            <a:r>
              <a:rPr kumimoji="1" lang="ja-JP" altLang="en-US" sz="1200" b="1">
                <a:solidFill>
                  <a:srgbClr val="21295C"/>
                </a:solidFill>
                <a:latin typeface="Yu Gothic UI" panose="020B0500000000000000" pitchFamily="50" charset="-128"/>
                <a:ea typeface="Yu Gothic UI" panose="020B0500000000000000" pitchFamily="50" charset="-128"/>
              </a:rPr>
              <a:t>を開かずに音を確認する</a:t>
            </a:r>
          </a:p>
        </p:txBody>
      </p:sp>
      <p:sp>
        <p:nvSpPr>
          <p:cNvPr id="15" name="テキスト ボックス 14">
            <a:extLst>
              <a:ext uri="{FF2B5EF4-FFF2-40B4-BE49-F238E27FC236}">
                <a16:creationId xmlns:a16="http://schemas.microsoft.com/office/drawing/2014/main" id="{2DC3A2C3-49E9-6BA3-57E0-B034718EFF0D}"/>
              </a:ext>
            </a:extLst>
          </p:cNvPr>
          <p:cNvSpPr txBox="1"/>
          <p:nvPr/>
        </p:nvSpPr>
        <p:spPr>
          <a:xfrm>
            <a:off x="406400" y="5889233"/>
            <a:ext cx="3623733" cy="277768"/>
          </a:xfrm>
          <a:prstGeom prst="rect">
            <a:avLst/>
          </a:prstGeom>
          <a:noFill/>
        </p:spPr>
        <p:txBody>
          <a:bodyPr vert="horz" wrap="square" lIns="0" tIns="0" rIns="0" bIns="0" rtlCol="0">
            <a:spAutoFit/>
          </a:bodyPr>
          <a:lstStyle/>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Unity </a:t>
            </a:r>
            <a:r>
              <a:rPr kumimoji="1" lang="ja-JP" altLang="en-US" sz="950">
                <a:solidFill>
                  <a:srgbClr val="1A2233"/>
                </a:solidFill>
                <a:latin typeface="Yu Gothic UI" panose="020B0500000000000000" pitchFamily="50" charset="-128"/>
                <a:ea typeface="Yu Gothic UI" panose="020B0500000000000000" pitchFamily="50" charset="-128"/>
              </a:rPr>
              <a:t>はネイティブ </a:t>
            </a:r>
            <a:r>
              <a:rPr kumimoji="1" lang="en-US" altLang="ja-JP" sz="950">
                <a:solidFill>
                  <a:srgbClr val="1A2233"/>
                </a:solidFill>
                <a:latin typeface="Yu Gothic UI" panose="020B0500000000000000" pitchFamily="50" charset="-128"/>
                <a:ea typeface="Yu Gothic UI" panose="020B0500000000000000" pitchFamily="50" charset="-128"/>
              </a:rPr>
              <a:t>DLL </a:t>
            </a:r>
            <a:r>
              <a:rPr kumimoji="1" lang="ja-JP" altLang="en-US" sz="950">
                <a:solidFill>
                  <a:srgbClr val="1A2233"/>
                </a:solidFill>
                <a:latin typeface="Yu Gothic UI" panose="020B0500000000000000" pitchFamily="50" charset="-128"/>
                <a:ea typeface="Yu Gothic UI" panose="020B0500000000000000" pitchFamily="50" charset="-128"/>
              </a:rPr>
              <a:t>をロックするため、エンジンを直すたびに </a:t>
            </a:r>
            <a:r>
              <a:rPr kumimoji="1" lang="en-US" altLang="ja-JP" sz="950">
                <a:solidFill>
                  <a:srgbClr val="1A2233"/>
                </a:solidFill>
                <a:latin typeface="Yu Gothic UI" panose="020B0500000000000000" pitchFamily="50" charset="-128"/>
                <a:ea typeface="Yu Gothic UI" panose="020B0500000000000000" pitchFamily="50" charset="-128"/>
              </a:rPr>
              <a:t>Unity </a:t>
            </a:r>
            <a:r>
              <a:rPr kumimoji="1" lang="ja-JP" altLang="en-US" sz="950">
                <a:solidFill>
                  <a:srgbClr val="1A2233"/>
                </a:solidFill>
                <a:latin typeface="Yu Gothic UI" panose="020B0500000000000000" pitchFamily="50" charset="-128"/>
                <a:ea typeface="Yu Gothic UI" panose="020B0500000000000000" pitchFamily="50" charset="-128"/>
              </a:rPr>
              <a:t>を閉じる必要があり、音を一度聴くのに数分かかっていました。</a:t>
            </a:r>
          </a:p>
        </p:txBody>
      </p:sp>
      <p:sp>
        <p:nvSpPr>
          <p:cNvPr id="18" name="テキスト ボックス 17">
            <a:extLst>
              <a:ext uri="{FF2B5EF4-FFF2-40B4-BE49-F238E27FC236}">
                <a16:creationId xmlns:a16="http://schemas.microsoft.com/office/drawing/2014/main" id="{43BC8652-99EA-1B8D-2FF8-9FB0CCF08A88}"/>
              </a:ext>
            </a:extLst>
          </p:cNvPr>
          <p:cNvSpPr txBox="1"/>
          <p:nvPr/>
        </p:nvSpPr>
        <p:spPr>
          <a:xfrm>
            <a:off x="4385733" y="1693883"/>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エンジンだけで </a:t>
            </a:r>
            <a:r>
              <a:rPr kumimoji="1" lang="en-US" altLang="ja-JP" sz="950">
                <a:solidFill>
                  <a:srgbClr val="1A2233"/>
                </a:solidFill>
                <a:latin typeface="Yu Gothic UI" panose="020B0500000000000000" pitchFamily="50" charset="-128"/>
                <a:ea typeface="Yu Gothic UI" panose="020B0500000000000000" pitchFamily="50" charset="-128"/>
              </a:rPr>
              <a:t>WAV </a:t>
            </a:r>
            <a:r>
              <a:rPr kumimoji="1" lang="ja-JP" altLang="en-US" sz="950">
                <a:solidFill>
                  <a:srgbClr val="1A2233"/>
                </a:solidFill>
                <a:latin typeface="Yu Gothic UI" panose="020B0500000000000000" pitchFamily="50" charset="-128"/>
                <a:ea typeface="Yu Gothic UI" panose="020B0500000000000000" pitchFamily="50" charset="-128"/>
              </a:rPr>
              <a:t>を書き出すツールを作りました。密閉した </a:t>
            </a:r>
            <a:r>
              <a:rPr kumimoji="1" lang="en-US" altLang="ja-JP" sz="950">
                <a:solidFill>
                  <a:srgbClr val="1A2233"/>
                </a:solidFill>
                <a:latin typeface="Yu Gothic UI" panose="020B0500000000000000" pitchFamily="50" charset="-128"/>
                <a:ea typeface="Yu Gothic UI" panose="020B0500000000000000" pitchFamily="50" charset="-128"/>
              </a:rPr>
              <a:t>2 </a:t>
            </a:r>
            <a:r>
              <a:rPr kumimoji="1" lang="ja-JP" altLang="en-US" sz="950">
                <a:solidFill>
                  <a:srgbClr val="1A2233"/>
                </a:solidFill>
                <a:latin typeface="Yu Gothic UI" panose="020B0500000000000000" pitchFamily="50" charset="-128"/>
                <a:ea typeface="Yu Gothic UI" panose="020B0500000000000000" pitchFamily="50" charset="-128"/>
              </a:rPr>
              <a:t>部屋を戸口で繋ぎ、扉を </a:t>
            </a:r>
            <a:r>
              <a:rPr kumimoji="1" lang="en-US" altLang="ja-JP" sz="950">
                <a:solidFill>
                  <a:srgbClr val="1A2233"/>
                </a:solidFill>
                <a:latin typeface="Yu Gothic UI" panose="020B0500000000000000" pitchFamily="50" charset="-128"/>
                <a:ea typeface="Yu Gothic UI" panose="020B0500000000000000" pitchFamily="50" charset="-128"/>
              </a:rPr>
              <a:t>0°→90°→0° </a:t>
            </a:r>
            <a:r>
              <a:rPr kumimoji="1" lang="ja-JP" altLang="en-US" sz="950">
                <a:solidFill>
                  <a:srgbClr val="1A2233"/>
                </a:solidFill>
                <a:latin typeface="Yu Gothic UI" panose="020B0500000000000000" pitchFamily="50" charset="-128"/>
                <a:ea typeface="Yu Gothic UI" panose="020B0500000000000000" pitchFamily="50" charset="-128"/>
              </a:rPr>
              <a:t>と動かしながらレンダリングします。数秒で回ります。</a:t>
            </a:r>
          </a:p>
        </p:txBody>
      </p:sp>
      <p:sp>
        <p:nvSpPr>
          <p:cNvPr id="20" name="テキスト ボックス 19">
            <a:extLst>
              <a:ext uri="{FF2B5EF4-FFF2-40B4-BE49-F238E27FC236}">
                <a16:creationId xmlns:a16="http://schemas.microsoft.com/office/drawing/2014/main" id="{2F92A466-541D-7790-738A-B1C840B0983C}"/>
              </a:ext>
            </a:extLst>
          </p:cNvPr>
          <p:cNvSpPr txBox="1"/>
          <p:nvPr/>
        </p:nvSpPr>
        <p:spPr>
          <a:xfrm>
            <a:off x="4284133" y="2313736"/>
            <a:ext cx="3623733" cy="277768"/>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音の調整の反復が「</a:t>
            </a:r>
            <a:r>
              <a:rPr kumimoji="1" lang="en-US" altLang="ja-JP" sz="950">
                <a:solidFill>
                  <a:srgbClr val="1A2233"/>
                </a:solidFill>
                <a:latin typeface="Yu Gothic UI" panose="020B0500000000000000" pitchFamily="50" charset="-128"/>
                <a:ea typeface="Yu Gothic UI" panose="020B0500000000000000" pitchFamily="50" charset="-128"/>
              </a:rPr>
              <a:t>Unity </a:t>
            </a:r>
            <a:r>
              <a:rPr kumimoji="1" lang="ja-JP" altLang="en-US" sz="950">
                <a:solidFill>
                  <a:srgbClr val="1A2233"/>
                </a:solidFill>
                <a:latin typeface="Yu Gothic UI" panose="020B0500000000000000" pitchFamily="50" charset="-128"/>
                <a:ea typeface="Yu Gothic UI" panose="020B0500000000000000" pitchFamily="50" charset="-128"/>
              </a:rPr>
              <a:t>を閉じて開き直す」から「コマンド </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本」になりました。デモ動画の素材もここから作れます。</a:t>
            </a:r>
          </a:p>
        </p:txBody>
      </p:sp>
      <p:sp>
        <p:nvSpPr>
          <p:cNvPr id="21" name="テキスト ボックス 20">
            <a:extLst>
              <a:ext uri="{FF2B5EF4-FFF2-40B4-BE49-F238E27FC236}">
                <a16:creationId xmlns:a16="http://schemas.microsoft.com/office/drawing/2014/main" id="{F0464B6E-8A37-E448-CC86-948A2E3431C3}"/>
              </a:ext>
            </a:extLst>
          </p:cNvPr>
          <p:cNvSpPr txBox="1"/>
          <p:nvPr/>
        </p:nvSpPr>
        <p:spPr>
          <a:xfrm>
            <a:off x="4385733" y="2794704"/>
            <a:ext cx="3420533" cy="263149"/>
          </a:xfrm>
          <a:prstGeom prst="rect">
            <a:avLst/>
          </a:prstGeom>
          <a:noFill/>
        </p:spPr>
        <p:txBody>
          <a:bodyPr vert="horz" wrap="square" lIns="0" tIns="0" rIns="0" bIns="0" rtlCol="0">
            <a:spAutoFit/>
          </a:bodyPr>
          <a:lstStyle/>
          <a:p>
            <a:pPr>
              <a:lnSpc>
                <a:spcPct val="95000"/>
              </a:lnSpc>
            </a:pPr>
            <a:r>
              <a:rPr kumimoji="1" lang="ja-JP" altLang="en-US" sz="900">
                <a:solidFill>
                  <a:srgbClr val="6B7688"/>
                </a:solidFill>
                <a:latin typeface="Yu Gothic UI" panose="020B0500000000000000" pitchFamily="50" charset="-128"/>
                <a:ea typeface="Yu Gothic UI" panose="020B0500000000000000" pitchFamily="50" charset="-128"/>
              </a:rPr>
              <a:t>★図：未作成</a:t>
            </a:r>
          </a:p>
          <a:p>
            <a:pPr>
              <a:lnSpc>
                <a:spcPct val="95000"/>
              </a:lnSpc>
            </a:pPr>
            <a:r>
              <a:rPr kumimoji="1" lang="ja-JP" altLang="en-US" sz="900">
                <a:solidFill>
                  <a:srgbClr val="6B7688"/>
                </a:solidFill>
                <a:latin typeface="Yu Gothic UI" panose="020B0500000000000000" pitchFamily="50" charset="-128"/>
                <a:ea typeface="Yu Gothic UI" panose="020B0500000000000000" pitchFamily="50" charset="-128"/>
              </a:rPr>
              <a:t>扉スイープの波形／スペクトログラム</a:t>
            </a:r>
          </a:p>
        </p:txBody>
      </p:sp>
    </p:spTree>
    <p:extLst>
      <p:ext uri="{BB962C8B-B14F-4D97-AF65-F5344CB8AC3E}">
        <p14:creationId xmlns:p14="http://schemas.microsoft.com/office/powerpoint/2010/main" val="1062915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664162B7-FF08-C105-301C-625D24A027C5}"/>
              </a:ext>
            </a:extLst>
          </p:cNvPr>
          <p:cNvSpPr/>
          <p:nvPr/>
        </p:nvSpPr>
        <p:spPr>
          <a:xfrm>
            <a:off x="406400" y="4109702"/>
            <a:ext cx="3623733" cy="48096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548A38AD-A0E0-7316-3DEA-FC85C62ECA37}"/>
              </a:ext>
            </a:extLst>
          </p:cNvPr>
          <p:cNvSpPr/>
          <p:nvPr/>
        </p:nvSpPr>
        <p:spPr>
          <a:xfrm>
            <a:off x="406400" y="906195"/>
            <a:ext cx="11379200" cy="349394"/>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DF67744D-E079-D03F-B169-C76456A1741D}"/>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WHAT WENT WRONG 1</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B3ABAB66-8BC9-EA05-55A0-3CE52CB684FA}"/>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失敗から決まった原則 ── 連続性</a:t>
            </a:r>
          </a:p>
        </p:txBody>
      </p:sp>
      <p:sp>
        <p:nvSpPr>
          <p:cNvPr id="4" name="テキスト ボックス 3">
            <a:extLst>
              <a:ext uri="{FF2B5EF4-FFF2-40B4-BE49-F238E27FC236}">
                <a16:creationId xmlns:a16="http://schemas.microsoft.com/office/drawing/2014/main" id="{0604188C-691A-ECE4-A881-3491072210A5}"/>
              </a:ext>
            </a:extLst>
          </p:cNvPr>
          <p:cNvSpPr txBox="1"/>
          <p:nvPr/>
        </p:nvSpPr>
        <p:spPr>
          <a:xfrm>
            <a:off x="508000" y="1007795"/>
            <a:ext cx="11176000" cy="146194"/>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潰してきた音の不具合は、ほぼ全部が同じ型でした ── 連続量に二値の判定を置くと、跨いだ瞬間に音が跳ぶ。</a:t>
            </a:r>
          </a:p>
        </p:txBody>
      </p:sp>
      <p:pic>
        <p:nvPicPr>
          <p:cNvPr id="7" name="グラフィックス 6">
            <a:extLst>
              <a:ext uri="{FF2B5EF4-FFF2-40B4-BE49-F238E27FC236}">
                <a16:creationId xmlns:a16="http://schemas.microsoft.com/office/drawing/2014/main" id="{839C844A-A239-9C95-0DAF-C017530BE56A}"/>
              </a:ext>
            </a:extLst>
          </p:cNvPr>
          <p:cNvPicPr>
            <a:picLocks/>
          </p:cNvPicPr>
          <p:nvPr/>
        </p:nvPicPr>
        <p:blipFill>
          <a:blip>
            <a:extLst>
              <a:ext uri="{96DAC541-7B7A-43D3-8B79-37D633B846F1}">
                <asvg:svgBlip xmlns:asvg="http://schemas.microsoft.com/office/drawing/2016/SVG/main" r:embed="rId2"/>
              </a:ext>
            </a:extLst>
          </a:blip>
          <a:stretch>
            <a:fillRect/>
          </a:stretch>
        </p:blipFill>
        <p:spPr>
          <a:xfrm>
            <a:off x="406400" y="1446089"/>
            <a:ext cx="3623733" cy="2536613"/>
          </a:xfrm>
          <a:prstGeom prst="rect">
            <a:avLst/>
          </a:prstGeom>
        </p:spPr>
      </p:pic>
      <p:sp>
        <p:nvSpPr>
          <p:cNvPr id="8" name="テキスト ボックス 7">
            <a:extLst>
              <a:ext uri="{FF2B5EF4-FFF2-40B4-BE49-F238E27FC236}">
                <a16:creationId xmlns:a16="http://schemas.microsoft.com/office/drawing/2014/main" id="{C3159A63-A37B-4EE9-532A-8E67B6719490}"/>
              </a:ext>
            </a:extLst>
          </p:cNvPr>
          <p:cNvSpPr txBox="1"/>
          <p:nvPr/>
        </p:nvSpPr>
        <p:spPr>
          <a:xfrm>
            <a:off x="508000" y="4211302"/>
            <a:ext cx="3420533" cy="277768"/>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数 </a:t>
            </a:r>
            <a:r>
              <a:rPr kumimoji="1" lang="en-US" altLang="ja-JP" sz="950">
                <a:solidFill>
                  <a:srgbClr val="1A2233"/>
                </a:solidFill>
                <a:latin typeface="Yu Gothic UI" panose="020B0500000000000000" pitchFamily="50" charset="-128"/>
                <a:ea typeface="Yu Gothic UI" panose="020B0500000000000000" pitchFamily="50" charset="-128"/>
              </a:rPr>
              <a:t>dB </a:t>
            </a:r>
            <a:r>
              <a:rPr kumimoji="1" lang="ja-JP" altLang="en-US" sz="950">
                <a:solidFill>
                  <a:srgbClr val="1A2233"/>
                </a:solidFill>
                <a:latin typeface="Yu Gothic UI" panose="020B0500000000000000" pitchFamily="50" charset="-128"/>
                <a:ea typeface="Yu Gothic UI" panose="020B0500000000000000" pitchFamily="50" charset="-128"/>
              </a:rPr>
              <a:t>の誤差は誰も気づきませんが、不連続はその場で「バグ」として聞こえます。 だから正しさより先に連続性を守る、という順序にしました。</a:t>
            </a:r>
          </a:p>
        </p:txBody>
      </p:sp>
      <p:sp>
        <p:nvSpPr>
          <p:cNvPr id="10" name="テキスト ボックス 9">
            <a:extLst>
              <a:ext uri="{FF2B5EF4-FFF2-40B4-BE49-F238E27FC236}">
                <a16:creationId xmlns:a16="http://schemas.microsoft.com/office/drawing/2014/main" id="{A8AA9C97-81B9-5102-2439-0F8C5BAC7C2C}"/>
              </a:ext>
            </a:extLst>
          </p:cNvPr>
          <p:cNvSpPr txBox="1"/>
          <p:nvPr/>
        </p:nvSpPr>
        <p:spPr>
          <a:xfrm>
            <a:off x="406400" y="4755770"/>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実際に起きた </a:t>
            </a:r>
            <a:r>
              <a:rPr kumimoji="1" lang="en-US" altLang="ja-JP" sz="1200" b="1">
                <a:solidFill>
                  <a:srgbClr val="21295C"/>
                </a:solidFill>
                <a:latin typeface="Yu Gothic UI" panose="020B0500000000000000" pitchFamily="50" charset="-128"/>
                <a:ea typeface="Yu Gothic UI" panose="020B0500000000000000" pitchFamily="50" charset="-128"/>
              </a:rPr>
              <a:t>4 </a:t>
            </a:r>
            <a:r>
              <a:rPr kumimoji="1" lang="ja-JP" altLang="en-US" sz="1200" b="1">
                <a:solidFill>
                  <a:srgbClr val="21295C"/>
                </a:solidFill>
                <a:latin typeface="Yu Gothic UI" panose="020B0500000000000000" pitchFamily="50" charset="-128"/>
                <a:ea typeface="Yu Gothic UI" panose="020B0500000000000000" pitchFamily="50" charset="-128"/>
              </a:rPr>
              <a:t>件（すべて実測）</a:t>
            </a:r>
          </a:p>
        </p:txBody>
      </p:sp>
      <p:graphicFrame>
        <p:nvGraphicFramePr>
          <p:cNvPr id="11" name="表 10">
            <a:extLst>
              <a:ext uri="{FF2B5EF4-FFF2-40B4-BE49-F238E27FC236}">
                <a16:creationId xmlns:a16="http://schemas.microsoft.com/office/drawing/2014/main" id="{9026DD40-113D-891F-C1C8-12E7C744E291}"/>
              </a:ext>
            </a:extLst>
          </p:cNvPr>
          <p:cNvGraphicFramePr>
            <a:graphicFrameLocks noGrp="1"/>
          </p:cNvGraphicFramePr>
          <p:nvPr>
            <p:extLst>
              <p:ext uri="{D42A27DB-BD31-4B8C-83A1-F6EECF244321}">
                <p14:modId xmlns:p14="http://schemas.microsoft.com/office/powerpoint/2010/main" val="2695309766"/>
              </p:ext>
            </p:extLst>
          </p:nvPr>
        </p:nvGraphicFramePr>
        <p:xfrm>
          <a:off x="406401" y="5032803"/>
          <a:ext cx="3623733" cy="1143000"/>
        </p:xfrm>
        <a:graphic>
          <a:graphicData uri="http://schemas.openxmlformats.org/drawingml/2006/table">
            <a:tbl>
              <a:tblPr firstRow="1" bandRow="1">
                <a:tableStyleId>{5C22544A-7EE6-4342-B048-85BDC9FD1C3A}</a:tableStyleId>
              </a:tblPr>
              <a:tblGrid>
                <a:gridCol w="1811867">
                  <a:extLst>
                    <a:ext uri="{9D8B030D-6E8A-4147-A177-3AD203B41FA5}">
                      <a16:colId xmlns:a16="http://schemas.microsoft.com/office/drawing/2014/main" val="2589150018"/>
                    </a:ext>
                  </a:extLst>
                </a:gridCol>
                <a:gridCol w="1811867">
                  <a:extLst>
                    <a:ext uri="{9D8B030D-6E8A-4147-A177-3AD203B41FA5}">
                      <a16:colId xmlns:a16="http://schemas.microsoft.com/office/drawing/2014/main" val="3674938911"/>
                    </a:ext>
                  </a:extLst>
                </a:gridCol>
              </a:tblGrid>
              <a:tr h="0">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症状</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850" b="1">
                          <a:solidFill>
                            <a:srgbClr val="FFFFFF"/>
                          </a:solidFill>
                          <a:latin typeface="Yu Gothic UI" panose="020B0500000000000000" pitchFamily="50" charset="-128"/>
                          <a:ea typeface="Yu Gothic UI" panose="020B0500000000000000" pitchFamily="50" charset="-128"/>
                        </a:rPr>
                        <a:t>段差</a:t>
                      </a:r>
                    </a:p>
                  </a:txBody>
                  <a:tcPr marL="50800" marR="50800" marT="25400" marB="25400">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3429057080"/>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影の境界で音が跳ぶ</a:t>
                      </a: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12.5 dB</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252201824"/>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音源を </a:t>
                      </a:r>
                      <a:r>
                        <a:rPr kumimoji="1" lang="en-US" altLang="ja-JP" sz="850" b="0">
                          <a:solidFill>
                            <a:srgbClr val="1A2233"/>
                          </a:solidFill>
                          <a:latin typeface="Yu Gothic UI" panose="020B0500000000000000" pitchFamily="50" charset="-128"/>
                          <a:ea typeface="Yu Gothic UI" panose="020B0500000000000000" pitchFamily="50" charset="-128"/>
                        </a:rPr>
                        <a:t>5 cm </a:t>
                      </a:r>
                      <a:r>
                        <a:rPr kumimoji="1" lang="ja-JP" altLang="en-US" sz="850" b="0">
                          <a:solidFill>
                            <a:srgbClr val="1A2233"/>
                          </a:solidFill>
                          <a:latin typeface="Yu Gothic UI" panose="020B0500000000000000" pitchFamily="50" charset="-128"/>
                          <a:ea typeface="Yu Gothic UI" panose="020B0500000000000000" pitchFamily="50" charset="-128"/>
                        </a:rPr>
                        <a:t>動かすと落ちる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8.8 dB</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451366761"/>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扉 </a:t>
                      </a:r>
                      <a:r>
                        <a:rPr kumimoji="1" lang="en-US" altLang="ja-JP" sz="850" b="0">
                          <a:solidFill>
                            <a:srgbClr val="1A2233"/>
                          </a:solidFill>
                          <a:latin typeface="Yu Gothic UI" panose="020B0500000000000000" pitchFamily="50" charset="-128"/>
                          <a:ea typeface="Yu Gothic UI" panose="020B0500000000000000" pitchFamily="50" charset="-128"/>
                        </a:rPr>
                        <a:t>20°→30° </a:t>
                      </a:r>
                      <a:r>
                        <a:rPr kumimoji="1" lang="ja-JP" altLang="en-US" sz="850" b="0">
                          <a:solidFill>
                            <a:srgbClr val="1A2233"/>
                          </a:solidFill>
                          <a:latin typeface="Yu Gothic UI" panose="020B0500000000000000" pitchFamily="50" charset="-128"/>
                          <a:ea typeface="Yu Gothic UI" panose="020B0500000000000000" pitchFamily="50" charset="-128"/>
                        </a:rPr>
                        <a:t>で跳ぶ</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14.9 dB</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730411171"/>
                  </a:ext>
                </a:extLst>
              </a:tr>
              <a:tr h="0">
                <a:tc>
                  <a:txBody>
                    <a:bodyPr/>
                    <a:lstStyle/>
                    <a:p>
                      <a:r>
                        <a:rPr kumimoji="1" lang="ja-JP" altLang="en-US" sz="850" b="0">
                          <a:solidFill>
                            <a:srgbClr val="1A2233"/>
                          </a:solidFill>
                          <a:latin typeface="Yu Gothic UI" panose="020B0500000000000000" pitchFamily="50" charset="-128"/>
                          <a:ea typeface="Yu Gothic UI" panose="020B0500000000000000" pitchFamily="50" charset="-128"/>
                        </a:rPr>
                        <a:t>柱の陰へ </a:t>
                      </a:r>
                      <a:r>
                        <a:rPr kumimoji="1" lang="en-US" altLang="ja-JP" sz="850" b="0">
                          <a:solidFill>
                            <a:srgbClr val="1A2233"/>
                          </a:solidFill>
                          <a:latin typeface="Yu Gothic UI" panose="020B0500000000000000" pitchFamily="50" charset="-128"/>
                          <a:ea typeface="Yu Gothic UI" panose="020B0500000000000000" pitchFamily="50" charset="-128"/>
                        </a:rPr>
                        <a:t>0.1 m </a:t>
                      </a:r>
                      <a:r>
                        <a:rPr kumimoji="1" lang="ja-JP" altLang="en-US" sz="850" b="0">
                          <a:solidFill>
                            <a:srgbClr val="1A2233"/>
                          </a:solidFill>
                          <a:latin typeface="Yu Gothic UI" panose="020B0500000000000000" pitchFamily="50" charset="-128"/>
                          <a:ea typeface="Yu Gothic UI" panose="020B0500000000000000" pitchFamily="50" charset="-128"/>
                        </a:rPr>
                        <a:t>入ると消える</a:t>
                      </a: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850" b="0">
                          <a:solidFill>
                            <a:srgbClr val="1A2233"/>
                          </a:solidFill>
                          <a:latin typeface="Yu Gothic UI" panose="020B0500000000000000" pitchFamily="50" charset="-128"/>
                          <a:ea typeface="Yu Gothic UI" panose="020B0500000000000000" pitchFamily="50" charset="-128"/>
                        </a:rPr>
                        <a:t>27.6 dB</a:t>
                      </a:r>
                      <a:endParaRPr kumimoji="1" lang="ja-JP" altLang="en-US" sz="850" b="0">
                        <a:solidFill>
                          <a:srgbClr val="1A2233"/>
                        </a:solidFill>
                        <a:latin typeface="Yu Gothic UI" panose="020B0500000000000000" pitchFamily="50" charset="-128"/>
                        <a:ea typeface="Yu Gothic UI" panose="020B0500000000000000" pitchFamily="50" charset="-128"/>
                      </a:endParaRPr>
                    </a:p>
                  </a:txBody>
                  <a:tcPr marL="50800" marR="50800" marT="25400" marB="25400">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255511063"/>
                  </a:ext>
                </a:extLst>
              </a:tr>
            </a:tbl>
          </a:graphicData>
        </a:graphic>
      </p:graphicFrame>
      <p:sp>
        <p:nvSpPr>
          <p:cNvPr id="12" name="テキスト ボックス 11">
            <a:extLst>
              <a:ext uri="{FF2B5EF4-FFF2-40B4-BE49-F238E27FC236}">
                <a16:creationId xmlns:a16="http://schemas.microsoft.com/office/drawing/2014/main" id="{EBDA4DB2-7091-A6C1-8C76-3BBD7F4ABFFB}"/>
              </a:ext>
            </a:extLst>
          </p:cNvPr>
          <p:cNvSpPr txBox="1"/>
          <p:nvPr/>
        </p:nvSpPr>
        <p:spPr>
          <a:xfrm>
            <a:off x="406400" y="6074203"/>
            <a:ext cx="3623733" cy="233910"/>
          </a:xfrm>
          <a:prstGeom prst="rect">
            <a:avLst/>
          </a:prstGeom>
          <a:noFill/>
        </p:spPr>
        <p:txBody>
          <a:bodyPr vert="horz" wrap="square" lIns="0" tIns="0" rIns="0" bIns="0" rtlCol="0">
            <a:spAutoFit/>
          </a:bodyPr>
          <a:lstStyle/>
          <a:p>
            <a:pPr>
              <a:lnSpc>
                <a:spcPct val="95000"/>
              </a:lnSpc>
            </a:pPr>
            <a:r>
              <a:rPr kumimoji="1" lang="ja-JP" altLang="en-US" sz="800">
                <a:solidFill>
                  <a:srgbClr val="6B7688"/>
                </a:solidFill>
                <a:latin typeface="Yu Gothic UI" panose="020B0500000000000000" pitchFamily="50" charset="-128"/>
                <a:ea typeface="Yu Gothic UI" panose="020B0500000000000000" pitchFamily="50" charset="-128"/>
              </a:rPr>
              <a:t>原因は毎回ちがって見えても、構造は同じ ──「見通せているか」「直線が矩形を横切るか」で処理を切り替えていた。</a:t>
            </a:r>
          </a:p>
        </p:txBody>
      </p:sp>
      <p:sp>
        <p:nvSpPr>
          <p:cNvPr id="14" name="テキスト ボックス 13">
            <a:extLst>
              <a:ext uri="{FF2B5EF4-FFF2-40B4-BE49-F238E27FC236}">
                <a16:creationId xmlns:a16="http://schemas.microsoft.com/office/drawing/2014/main" id="{A91F3973-C26F-CF09-3C7F-BD940B029576}"/>
              </a:ext>
            </a:extLst>
          </p:cNvPr>
          <p:cNvSpPr txBox="1"/>
          <p:nvPr/>
        </p:nvSpPr>
        <p:spPr>
          <a:xfrm>
            <a:off x="4284133" y="1484189"/>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同じ原則で、厳密解を捨てた</a:t>
            </a:r>
          </a:p>
        </p:txBody>
      </p:sp>
      <p:sp>
        <p:nvSpPr>
          <p:cNvPr id="15" name="テキスト ボックス 14">
            <a:extLst>
              <a:ext uri="{FF2B5EF4-FFF2-40B4-BE49-F238E27FC236}">
                <a16:creationId xmlns:a16="http://schemas.microsoft.com/office/drawing/2014/main" id="{C7C575BE-EA31-978F-14B8-99582FFF0728}"/>
              </a:ext>
            </a:extLst>
          </p:cNvPr>
          <p:cNvSpPr txBox="1"/>
          <p:nvPr/>
        </p:nvSpPr>
        <p:spPr>
          <a:xfrm>
            <a:off x="4284133" y="1748522"/>
            <a:ext cx="3623733" cy="972189"/>
          </a:xfrm>
          <a:prstGeom prst="rect">
            <a:avLst/>
          </a:prstGeom>
          <a:noFill/>
        </p:spPr>
        <p:txBody>
          <a:bodyPr vert="horz" wrap="square" lIns="0" tIns="0" rIns="0" bIns="0" rtlCol="0">
            <a:spAutoFit/>
          </a:bodyPr>
          <a:lstStyle/>
          <a:p>
            <a:pPr>
              <a:lnSpc>
                <a:spcPct val="95000"/>
              </a:lnSpc>
            </a:pPr>
            <a:r>
              <a:rPr kumimoji="1" lang="en-US" altLang="ja-JP" sz="950">
                <a:solidFill>
                  <a:srgbClr val="1A2233"/>
                </a:solidFill>
                <a:latin typeface="Yu Gothic UI" panose="020B0500000000000000" pitchFamily="50" charset="-128"/>
                <a:ea typeface="Yu Gothic UI" panose="020B0500000000000000" pitchFamily="50" charset="-128"/>
              </a:rPr>
              <a:t>UTD</a:t>
            </a:r>
            <a:r>
              <a:rPr kumimoji="1" lang="ja-JP" altLang="en-US" sz="950">
                <a:solidFill>
                  <a:srgbClr val="1A2233"/>
                </a:solidFill>
                <a:latin typeface="Yu Gothic UI" panose="020B0500000000000000" pitchFamily="50" charset="-128"/>
                <a:ea typeface="Yu Gothic UI" panose="020B0500000000000000" pitchFamily="50" charset="-128"/>
              </a:rPr>
              <a:t>（厳密解）</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最大 </a:t>
            </a:r>
            <a:r>
              <a:rPr kumimoji="1" lang="en-US" altLang="ja-JP" sz="950">
                <a:solidFill>
                  <a:srgbClr val="1A2233"/>
                </a:solidFill>
                <a:latin typeface="Yu Gothic UI" panose="020B0500000000000000" pitchFamily="50" charset="-128"/>
                <a:ea typeface="Yu Gothic UI" panose="020B0500000000000000" pitchFamily="50" charset="-128"/>
              </a:rPr>
              <a:t>17.6 dB</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前川の式</a:t>
            </a:r>
          </a:p>
          <a:p>
            <a:pPr>
              <a:lnSpc>
                <a:spcPct val="95000"/>
              </a:lnSpc>
            </a:pPr>
            <a:endParaRPr kumimoji="1" lang="ja-JP" altLang="en-US" sz="950">
              <a:solidFill>
                <a:srgbClr val="1A2233"/>
              </a:solidFill>
              <a:latin typeface="Yu Gothic UI" panose="020B0500000000000000" pitchFamily="50" charset="-128"/>
              <a:ea typeface="Yu Gothic UI" panose="020B0500000000000000" pitchFamily="50" charset="-128"/>
            </a:endParaRP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跳ばない</a:t>
            </a:r>
          </a:p>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影の境界での段差。</a:t>
            </a:r>
            <a:r>
              <a:rPr kumimoji="1" lang="en-US" altLang="ja-JP" sz="950">
                <a:solidFill>
                  <a:srgbClr val="1A2233"/>
                </a:solidFill>
                <a:latin typeface="Yu Gothic UI" panose="020B0500000000000000" pitchFamily="50" charset="-128"/>
                <a:ea typeface="Yu Gothic UI" panose="020B0500000000000000" pitchFamily="50" charset="-128"/>
              </a:rPr>
              <a:t>UTD </a:t>
            </a:r>
            <a:r>
              <a:rPr kumimoji="1" lang="ja-JP" altLang="en-US" sz="950">
                <a:solidFill>
                  <a:srgbClr val="1A2233"/>
                </a:solidFill>
                <a:latin typeface="Yu Gothic UI" panose="020B0500000000000000" pitchFamily="50" charset="-128"/>
                <a:ea typeface="Yu Gothic UI" panose="020B0500000000000000" pitchFamily="50" charset="-128"/>
              </a:rPr>
              <a:t>は精度が高いが、稜線が乗り換わると飛ぶ。</a:t>
            </a:r>
          </a:p>
        </p:txBody>
      </p:sp>
      <p:sp>
        <p:nvSpPr>
          <p:cNvPr id="16" name="テキスト ボックス 15">
            <a:extLst>
              <a:ext uri="{FF2B5EF4-FFF2-40B4-BE49-F238E27FC236}">
                <a16:creationId xmlns:a16="http://schemas.microsoft.com/office/drawing/2014/main" id="{1F1F20C3-DE42-AF9E-F60C-9E0D657EA63E}"/>
              </a:ext>
            </a:extLst>
          </p:cNvPr>
          <p:cNvSpPr txBox="1"/>
          <p:nvPr/>
        </p:nvSpPr>
        <p:spPr>
          <a:xfrm>
            <a:off x="4284133" y="2796911"/>
            <a:ext cx="3623733" cy="138884"/>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「厳密だが跳ぶ」より「粗いが連続」を選びました。</a:t>
            </a:r>
          </a:p>
        </p:txBody>
      </p:sp>
    </p:spTree>
    <p:extLst>
      <p:ext uri="{BB962C8B-B14F-4D97-AF65-F5344CB8AC3E}">
        <p14:creationId xmlns:p14="http://schemas.microsoft.com/office/powerpoint/2010/main" val="544671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四角形: 角を丸くする 24">
            <a:extLst>
              <a:ext uri="{FF2B5EF4-FFF2-40B4-BE49-F238E27FC236}">
                <a16:creationId xmlns:a16="http://schemas.microsoft.com/office/drawing/2014/main" id="{C90C7E46-9FFA-F633-DB08-92DC4B1A330F}"/>
              </a:ext>
            </a:extLst>
          </p:cNvPr>
          <p:cNvSpPr/>
          <p:nvPr/>
        </p:nvSpPr>
        <p:spPr>
          <a:xfrm>
            <a:off x="4284133" y="2546910"/>
            <a:ext cx="3623734" cy="619853"/>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61CBA9B0-ABDF-7BCC-2130-3EC42A7AEC25}"/>
              </a:ext>
            </a:extLst>
          </p:cNvPr>
          <p:cNvSpPr/>
          <p:nvPr/>
        </p:nvSpPr>
        <p:spPr>
          <a:xfrm>
            <a:off x="4284133" y="1446089"/>
            <a:ext cx="3623734" cy="48096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700AE5D8-D14A-527D-8C4F-C8D1F946ADE1}"/>
              </a:ext>
            </a:extLst>
          </p:cNvPr>
          <p:cNvSpPr/>
          <p:nvPr/>
        </p:nvSpPr>
        <p:spPr>
          <a:xfrm>
            <a:off x="406400" y="4542249"/>
            <a:ext cx="3623733" cy="48096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99B9CA5A-B989-40FA-99E5-145B69C8A760}"/>
              </a:ext>
            </a:extLst>
          </p:cNvPr>
          <p:cNvSpPr/>
          <p:nvPr/>
        </p:nvSpPr>
        <p:spPr>
          <a:xfrm>
            <a:off x="406400" y="2620743"/>
            <a:ext cx="3623733" cy="758737"/>
          </a:xfrm>
          <a:prstGeom prst="roundRect">
            <a:avLst>
              <a:gd name="adj" fmla="val 6000"/>
            </a:avLst>
          </a:prstGeom>
          <a:solidFill>
            <a:srgbClr val="FDF1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45CC2FE8-B748-2AB5-B389-3680B0238EB6}"/>
              </a:ext>
            </a:extLst>
          </p:cNvPr>
          <p:cNvSpPr/>
          <p:nvPr/>
        </p:nvSpPr>
        <p:spPr>
          <a:xfrm>
            <a:off x="406400" y="906195"/>
            <a:ext cx="11379200" cy="349394"/>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BEF20AD2-0606-3D88-8B8C-D41E2697A460}"/>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WHAT WENT WRONG 2</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0D5BF4BB-B717-4F0A-B782-4B53BD6357AC}"/>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失敗と、そこで下した判断</a:t>
            </a:r>
          </a:p>
        </p:txBody>
      </p:sp>
      <p:sp>
        <p:nvSpPr>
          <p:cNvPr id="4" name="テキスト ボックス 3">
            <a:extLst>
              <a:ext uri="{FF2B5EF4-FFF2-40B4-BE49-F238E27FC236}">
                <a16:creationId xmlns:a16="http://schemas.microsoft.com/office/drawing/2014/main" id="{4D383CF8-88A6-CF48-F7E0-FDF4C1783D40}"/>
              </a:ext>
            </a:extLst>
          </p:cNvPr>
          <p:cNvSpPr txBox="1"/>
          <p:nvPr/>
        </p:nvSpPr>
        <p:spPr>
          <a:xfrm>
            <a:off x="508000" y="1007795"/>
            <a:ext cx="11176000" cy="146194"/>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試して捨てた案も記録に残しています。同じ検討を二度しないため、 そして「試していない」と「試して捨てた」を区別するためです。</a:t>
            </a:r>
          </a:p>
        </p:txBody>
      </p:sp>
      <p:sp>
        <p:nvSpPr>
          <p:cNvPr id="6" name="テキスト ボックス 5">
            <a:extLst>
              <a:ext uri="{FF2B5EF4-FFF2-40B4-BE49-F238E27FC236}">
                <a16:creationId xmlns:a16="http://schemas.microsoft.com/office/drawing/2014/main" id="{918C2463-DCDD-4A11-90FB-576D2409506E}"/>
              </a:ext>
            </a:extLst>
          </p:cNvPr>
          <p:cNvSpPr txBox="1"/>
          <p:nvPr/>
        </p:nvSpPr>
        <p:spPr>
          <a:xfrm>
            <a:off x="406400" y="1484189"/>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① 開口の測り方を </a:t>
            </a:r>
            <a:r>
              <a:rPr kumimoji="1" lang="en-US" altLang="ja-JP" sz="1200" b="1">
                <a:solidFill>
                  <a:srgbClr val="21295C"/>
                </a:solidFill>
                <a:latin typeface="Yu Gothic UI" panose="020B0500000000000000" pitchFamily="50" charset="-128"/>
                <a:ea typeface="Yu Gothic UI" panose="020B0500000000000000" pitchFamily="50" charset="-128"/>
              </a:rPr>
              <a:t>4 </a:t>
            </a:r>
            <a:r>
              <a:rPr kumimoji="1" lang="ja-JP" altLang="en-US" sz="1200" b="1">
                <a:solidFill>
                  <a:srgbClr val="21295C"/>
                </a:solidFill>
                <a:latin typeface="Yu Gothic UI" panose="020B0500000000000000" pitchFamily="50" charset="-128"/>
                <a:ea typeface="Yu Gothic UI" panose="020B0500000000000000" pitchFamily="50" charset="-128"/>
              </a:rPr>
              <a:t>通り試して、全部失敗した</a:t>
            </a:r>
          </a:p>
        </p:txBody>
      </p:sp>
      <p:sp>
        <p:nvSpPr>
          <p:cNvPr id="7" name="テキスト ボックス 6">
            <a:extLst>
              <a:ext uri="{FF2B5EF4-FFF2-40B4-BE49-F238E27FC236}">
                <a16:creationId xmlns:a16="http://schemas.microsoft.com/office/drawing/2014/main" id="{1114A9F5-1920-9D32-E256-380B47130371}"/>
              </a:ext>
            </a:extLst>
          </p:cNvPr>
          <p:cNvSpPr txBox="1"/>
          <p:nvPr/>
        </p:nvSpPr>
        <p:spPr>
          <a:xfrm>
            <a:off x="406400" y="1748522"/>
            <a:ext cx="36237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「扉がどれだけ開いているか」を実形状から測る方法を </a:t>
            </a:r>
            <a:r>
              <a:rPr kumimoji="1" lang="en-US" altLang="ja-JP" sz="950">
                <a:solidFill>
                  <a:srgbClr val="1A2233"/>
                </a:solidFill>
                <a:latin typeface="Yu Gothic UI" panose="020B0500000000000000" pitchFamily="50" charset="-128"/>
                <a:ea typeface="Yu Gothic UI" panose="020B0500000000000000" pitchFamily="50" charset="-128"/>
              </a:rPr>
              <a:t>4 </a:t>
            </a:r>
            <a:r>
              <a:rPr kumimoji="1" lang="ja-JP" altLang="en-US" sz="950">
                <a:solidFill>
                  <a:srgbClr val="1A2233"/>
                </a:solidFill>
                <a:latin typeface="Yu Gothic UI" panose="020B0500000000000000" pitchFamily="50" charset="-128"/>
                <a:ea typeface="Yu Gothic UI" panose="020B0500000000000000" pitchFamily="50" charset="-128"/>
              </a:rPr>
              <a:t>通り実装しましたが、いずれも連続性か安定性のどちらかを落としました（</a:t>
            </a:r>
            <a:r>
              <a:rPr kumimoji="1" lang="en-US" altLang="ja-JP" sz="950">
                <a:solidFill>
                  <a:srgbClr val="1A2233"/>
                </a:solidFill>
                <a:latin typeface="Yu Gothic UI" panose="020B0500000000000000" pitchFamily="50" charset="-128"/>
                <a:ea typeface="Yu Gothic UI" panose="020B0500000000000000" pitchFamily="50" charset="-128"/>
              </a:rPr>
              <a:t>p16 </a:t>
            </a:r>
            <a:r>
              <a:rPr kumimoji="1" lang="ja-JP" altLang="en-US" sz="950">
                <a:solidFill>
                  <a:srgbClr val="1A2233"/>
                </a:solidFill>
                <a:latin typeface="Yu Gothic UI" panose="020B0500000000000000" pitchFamily="50" charset="-128"/>
                <a:ea typeface="Yu Gothic UI" panose="020B0500000000000000" pitchFamily="50" charset="-128"/>
              </a:rPr>
              <a:t>の </a:t>
            </a:r>
            <a:r>
              <a:rPr kumimoji="1" lang="en-US" altLang="ja-JP" sz="950">
                <a:solidFill>
                  <a:srgbClr val="1A2233"/>
                </a:solidFill>
                <a:latin typeface="Yu Gothic UI" panose="020B0500000000000000" pitchFamily="50" charset="-128"/>
                <a:ea typeface="Yu Gothic UI" panose="020B0500000000000000" pitchFamily="50" charset="-128"/>
              </a:rPr>
              <a:t>8.8 dB </a:t>
            </a:r>
            <a:r>
              <a:rPr kumimoji="1" lang="ja-JP" altLang="en-US" sz="950">
                <a:solidFill>
                  <a:srgbClr val="1A2233"/>
                </a:solidFill>
                <a:latin typeface="Yu Gothic UI" panose="020B0500000000000000" pitchFamily="50" charset="-128"/>
                <a:ea typeface="Yu Gothic UI" panose="020B0500000000000000" pitchFamily="50" charset="-128"/>
              </a:rPr>
              <a:t>はそのうちの </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つ）。</a:t>
            </a:r>
          </a:p>
        </p:txBody>
      </p:sp>
      <p:sp>
        <p:nvSpPr>
          <p:cNvPr id="8" name="テキスト ボックス 7">
            <a:extLst>
              <a:ext uri="{FF2B5EF4-FFF2-40B4-BE49-F238E27FC236}">
                <a16:creationId xmlns:a16="http://schemas.microsoft.com/office/drawing/2014/main" id="{7FF9E912-7AA8-A57D-DBCA-5D74D5C3EFA4}"/>
              </a:ext>
            </a:extLst>
          </p:cNvPr>
          <p:cNvSpPr txBox="1"/>
          <p:nvPr/>
        </p:nvSpPr>
        <p:spPr>
          <a:xfrm>
            <a:off x="406400" y="2241375"/>
            <a:ext cx="3623733" cy="277768"/>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最終的に、ホストが「ここが開口」と矩形だけを宣言し、開き具合・音色・定位は毎フレーム実形状から測る形にしました。</a:t>
            </a:r>
          </a:p>
        </p:txBody>
      </p:sp>
      <p:sp>
        <p:nvSpPr>
          <p:cNvPr id="9" name="テキスト ボックス 8">
            <a:extLst>
              <a:ext uri="{FF2B5EF4-FFF2-40B4-BE49-F238E27FC236}">
                <a16:creationId xmlns:a16="http://schemas.microsoft.com/office/drawing/2014/main" id="{236B1D3E-C691-19B8-5006-73C3F7B2CEA0}"/>
              </a:ext>
            </a:extLst>
          </p:cNvPr>
          <p:cNvSpPr txBox="1"/>
          <p:nvPr/>
        </p:nvSpPr>
        <p:spPr>
          <a:xfrm>
            <a:off x="508000" y="2722343"/>
            <a:ext cx="3420533" cy="555537"/>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自分で歯止めを置いています。宣言が唯一の手段になると、音が抜ける場所を決めているのは幾何ではなく人の注記の網羅性になり、主張が崩れます。判定基準は「宣言を全部消しても音が出るか」。壁の真ん中に宣言を置いても開口率は </a:t>
            </a:r>
            <a:r>
              <a:rPr kumimoji="1" lang="en-US" altLang="ja-JP" sz="950">
                <a:solidFill>
                  <a:srgbClr val="1A2233"/>
                </a:solidFill>
                <a:latin typeface="Yu Gothic UI" panose="020B0500000000000000" pitchFamily="50" charset="-128"/>
                <a:ea typeface="Yu Gothic UI" panose="020B0500000000000000" pitchFamily="50" charset="-128"/>
              </a:rPr>
              <a:t>0 </a:t>
            </a:r>
            <a:r>
              <a:rPr kumimoji="1" lang="ja-JP" altLang="en-US" sz="950">
                <a:solidFill>
                  <a:srgbClr val="1A2233"/>
                </a:solidFill>
                <a:latin typeface="Yu Gothic UI" panose="020B0500000000000000" pitchFamily="50" charset="-128"/>
                <a:ea typeface="Yu Gothic UI" panose="020B0500000000000000" pitchFamily="50" charset="-128"/>
              </a:rPr>
              <a:t>になるので、捏造はできません。</a:t>
            </a:r>
          </a:p>
        </p:txBody>
      </p:sp>
      <p:sp>
        <p:nvSpPr>
          <p:cNvPr id="11" name="テキスト ボックス 10">
            <a:extLst>
              <a:ext uri="{FF2B5EF4-FFF2-40B4-BE49-F238E27FC236}">
                <a16:creationId xmlns:a16="http://schemas.microsoft.com/office/drawing/2014/main" id="{32578305-C8E9-A8A6-6081-A816BD9BFF24}"/>
              </a:ext>
            </a:extLst>
          </p:cNvPr>
          <p:cNvSpPr txBox="1"/>
          <p:nvPr/>
        </p:nvSpPr>
        <p:spPr>
          <a:xfrm>
            <a:off x="406400" y="3544580"/>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② 実測と食い違ったとき、実測に合わせなかった</a:t>
            </a:r>
          </a:p>
        </p:txBody>
      </p:sp>
      <p:sp>
        <p:nvSpPr>
          <p:cNvPr id="12" name="テキスト ボックス 11">
            <a:extLst>
              <a:ext uri="{FF2B5EF4-FFF2-40B4-BE49-F238E27FC236}">
                <a16:creationId xmlns:a16="http://schemas.microsoft.com/office/drawing/2014/main" id="{0D09FC6D-126F-A45D-F378-692CCF18C648}"/>
              </a:ext>
            </a:extLst>
          </p:cNvPr>
          <p:cNvSpPr txBox="1"/>
          <p:nvPr/>
        </p:nvSpPr>
        <p:spPr>
          <a:xfrm>
            <a:off x="406400" y="3808913"/>
            <a:ext cx="3623733" cy="277768"/>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現実の扉の開閉を収録して解析したところ、開閉の差は </a:t>
            </a:r>
            <a:r>
              <a:rPr kumimoji="1" lang="en-US" altLang="ja-JP" sz="950">
                <a:solidFill>
                  <a:srgbClr val="1A2233"/>
                </a:solidFill>
                <a:latin typeface="Yu Gothic UI" panose="020B0500000000000000" pitchFamily="50" charset="-128"/>
                <a:ea typeface="Yu Gothic UI" panose="020B0500000000000000" pitchFamily="50" charset="-128"/>
              </a:rPr>
              <a:t>8.4 dB </a:t>
            </a:r>
            <a:r>
              <a:rPr kumimoji="1" lang="ja-JP" altLang="en-US" sz="950">
                <a:solidFill>
                  <a:srgbClr val="1A2233"/>
                </a:solidFill>
                <a:latin typeface="Yu Gothic UI" panose="020B0500000000000000" pitchFamily="50" charset="-128"/>
                <a:ea typeface="Yu Gothic UI" panose="020B0500000000000000" pitchFamily="50" charset="-128"/>
              </a:rPr>
              <a:t>しかありませんでした。エンジンは約 </a:t>
            </a:r>
            <a:r>
              <a:rPr kumimoji="1" lang="en-US" altLang="ja-JP" sz="950">
                <a:solidFill>
                  <a:srgbClr val="1A2233"/>
                </a:solidFill>
                <a:latin typeface="Yu Gothic UI" panose="020B0500000000000000" pitchFamily="50" charset="-128"/>
                <a:ea typeface="Yu Gothic UI" panose="020B0500000000000000" pitchFamily="50" charset="-128"/>
              </a:rPr>
              <a:t>20 dB </a:t>
            </a:r>
            <a:r>
              <a:rPr kumimoji="1" lang="ja-JP" altLang="en-US" sz="950">
                <a:solidFill>
                  <a:srgbClr val="1A2233"/>
                </a:solidFill>
                <a:latin typeface="Yu Gothic UI" panose="020B0500000000000000" pitchFamily="50" charset="-128"/>
                <a:ea typeface="Yu Gothic UI" panose="020B0500000000000000" pitchFamily="50" charset="-128"/>
              </a:rPr>
              <a:t>です。</a:t>
            </a:r>
          </a:p>
        </p:txBody>
      </p:sp>
      <p:sp>
        <p:nvSpPr>
          <p:cNvPr id="13" name="テキスト ボックス 12">
            <a:extLst>
              <a:ext uri="{FF2B5EF4-FFF2-40B4-BE49-F238E27FC236}">
                <a16:creationId xmlns:a16="http://schemas.microsoft.com/office/drawing/2014/main" id="{37B23371-C514-CF07-A7B8-CCECAF7590F8}"/>
              </a:ext>
            </a:extLst>
          </p:cNvPr>
          <p:cNvSpPr txBox="1"/>
          <p:nvPr/>
        </p:nvSpPr>
        <p:spPr>
          <a:xfrm>
            <a:off x="406400" y="4162881"/>
            <a:ext cx="3623733" cy="277768"/>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最初はこれを「エンジンが強すぎる」＝直すべき乖離として扱おうとしましたが、判断を変えました。</a:t>
            </a:r>
          </a:p>
        </p:txBody>
      </p:sp>
      <p:sp>
        <p:nvSpPr>
          <p:cNvPr id="14" name="テキスト ボックス 13">
            <a:extLst>
              <a:ext uri="{FF2B5EF4-FFF2-40B4-BE49-F238E27FC236}">
                <a16:creationId xmlns:a16="http://schemas.microsoft.com/office/drawing/2014/main" id="{FC885E81-56C5-F124-FEA2-58EA03C9AF4B}"/>
              </a:ext>
            </a:extLst>
          </p:cNvPr>
          <p:cNvSpPr txBox="1"/>
          <p:nvPr/>
        </p:nvSpPr>
        <p:spPr>
          <a:xfrm>
            <a:off x="508000" y="4643849"/>
            <a:ext cx="3420533" cy="277768"/>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実測は参照であって、合わせに行く目標ではない。収録できたのは </a:t>
            </a:r>
            <a:r>
              <a:rPr kumimoji="1" lang="en-US" altLang="ja-JP" sz="950">
                <a:solidFill>
                  <a:srgbClr val="1A2233"/>
                </a:solidFill>
                <a:latin typeface="Yu Gothic UI" panose="020B0500000000000000" pitchFamily="50" charset="-128"/>
                <a:ea typeface="Yu Gothic UI" panose="020B0500000000000000" pitchFamily="50" charset="-128"/>
              </a:rPr>
              <a:t>1 </a:t>
            </a:r>
            <a:r>
              <a:rPr kumimoji="1" lang="ja-JP" altLang="en-US" sz="950">
                <a:solidFill>
                  <a:srgbClr val="1A2233"/>
                </a:solidFill>
                <a:latin typeface="Yu Gothic UI" panose="020B0500000000000000" pitchFamily="50" charset="-128"/>
                <a:ea typeface="Yu Gothic UI" panose="020B0500000000000000" pitchFamily="50" charset="-128"/>
              </a:rPr>
              <a:t>つの部屋の値にすぎず、ゲームとして必要なコントラストのほうが優先されます。</a:t>
            </a:r>
          </a:p>
        </p:txBody>
      </p:sp>
      <p:sp>
        <p:nvSpPr>
          <p:cNvPr id="16" name="テキスト ボックス 15">
            <a:extLst>
              <a:ext uri="{FF2B5EF4-FFF2-40B4-BE49-F238E27FC236}">
                <a16:creationId xmlns:a16="http://schemas.microsoft.com/office/drawing/2014/main" id="{9EDDEF6A-A4DF-1EB1-86A7-0E3B6BCC12AE}"/>
              </a:ext>
            </a:extLst>
          </p:cNvPr>
          <p:cNvSpPr txBox="1"/>
          <p:nvPr/>
        </p:nvSpPr>
        <p:spPr>
          <a:xfrm>
            <a:off x="406400" y="5124817"/>
            <a:ext cx="3623733" cy="277768"/>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ただし「形」は採用しました（</a:t>
            </a:r>
            <a:r>
              <a:rPr kumimoji="1" lang="en-US" altLang="ja-JP" sz="950">
                <a:solidFill>
                  <a:srgbClr val="1A2233"/>
                </a:solidFill>
                <a:latin typeface="Yu Gothic UI" panose="020B0500000000000000" pitchFamily="50" charset="-128"/>
                <a:ea typeface="Yu Gothic UI" panose="020B0500000000000000" pitchFamily="50" charset="-128"/>
              </a:rPr>
              <a:t>p5</a:t>
            </a:r>
            <a:r>
              <a:rPr kumimoji="1" lang="ja-JP" altLang="en-US" sz="950">
                <a:solidFill>
                  <a:srgbClr val="1A2233"/>
                </a:solidFill>
                <a:latin typeface="Yu Gothic UI" panose="020B0500000000000000" pitchFamily="50" charset="-128"/>
                <a:ea typeface="Yu Gothic UI" panose="020B0500000000000000" pitchFamily="50" charset="-128"/>
              </a:rPr>
              <a:t>）。開くと低域は </a:t>
            </a:r>
            <a:r>
              <a:rPr kumimoji="1" lang="en-US" altLang="ja-JP" sz="950">
                <a:solidFill>
                  <a:srgbClr val="1A2233"/>
                </a:solidFill>
                <a:latin typeface="Yu Gothic UI" panose="020B0500000000000000" pitchFamily="50" charset="-128"/>
                <a:ea typeface="Yu Gothic UI" panose="020B0500000000000000" pitchFamily="50" charset="-128"/>
              </a:rPr>
              <a:t>+2.6 dB </a:t>
            </a:r>
            <a:r>
              <a:rPr kumimoji="1" lang="ja-JP" altLang="en-US" sz="950">
                <a:solidFill>
                  <a:srgbClr val="1A2233"/>
                </a:solidFill>
                <a:latin typeface="Yu Gothic UI" panose="020B0500000000000000" pitchFamily="50" charset="-128"/>
                <a:ea typeface="Yu Gothic UI" panose="020B0500000000000000" pitchFamily="50" charset="-128"/>
              </a:rPr>
              <a:t>しか動かないのに </a:t>
            </a:r>
            <a:r>
              <a:rPr kumimoji="1" lang="en-US" altLang="ja-JP" sz="950">
                <a:solidFill>
                  <a:srgbClr val="1A2233"/>
                </a:solidFill>
                <a:latin typeface="Yu Gothic UI" panose="020B0500000000000000" pitchFamily="50" charset="-128"/>
                <a:ea typeface="Yu Gothic UI" panose="020B0500000000000000" pitchFamily="50" charset="-128"/>
              </a:rPr>
              <a:t>1 kHz </a:t>
            </a:r>
            <a:r>
              <a:rPr kumimoji="1" lang="ja-JP" altLang="en-US" sz="950">
                <a:solidFill>
                  <a:srgbClr val="1A2233"/>
                </a:solidFill>
                <a:latin typeface="Yu Gothic UI" panose="020B0500000000000000" pitchFamily="50" charset="-128"/>
                <a:ea typeface="Yu Gothic UI" panose="020B0500000000000000" pitchFamily="50" charset="-128"/>
              </a:rPr>
              <a:t>は </a:t>
            </a:r>
            <a:r>
              <a:rPr kumimoji="1" lang="en-US" altLang="ja-JP" sz="950">
                <a:solidFill>
                  <a:srgbClr val="1A2233"/>
                </a:solidFill>
                <a:latin typeface="Yu Gothic UI" panose="020B0500000000000000" pitchFamily="50" charset="-128"/>
                <a:ea typeface="Yu Gothic UI" panose="020B0500000000000000" pitchFamily="50" charset="-128"/>
              </a:rPr>
              <a:t>+10.3 dB </a:t>
            </a:r>
            <a:r>
              <a:rPr kumimoji="1" lang="ja-JP" altLang="en-US" sz="950">
                <a:solidFill>
                  <a:srgbClr val="1A2233"/>
                </a:solidFill>
                <a:latin typeface="Yu Gothic UI" panose="020B0500000000000000" pitchFamily="50" charset="-128"/>
                <a:ea typeface="Yu Gothic UI" panose="020B0500000000000000" pitchFamily="50" charset="-128"/>
              </a:rPr>
              <a:t>動く ── 音色が開くという構造は現実そのものです。</a:t>
            </a:r>
          </a:p>
        </p:txBody>
      </p:sp>
      <p:sp>
        <p:nvSpPr>
          <p:cNvPr id="17" name="テキスト ボックス 16">
            <a:extLst>
              <a:ext uri="{FF2B5EF4-FFF2-40B4-BE49-F238E27FC236}">
                <a16:creationId xmlns:a16="http://schemas.microsoft.com/office/drawing/2014/main" id="{2AC84EC1-5899-7562-F238-3E6C6681FDE3}"/>
              </a:ext>
            </a:extLst>
          </p:cNvPr>
          <p:cNvSpPr txBox="1"/>
          <p:nvPr/>
        </p:nvSpPr>
        <p:spPr>
          <a:xfrm>
            <a:off x="406400" y="5542285"/>
            <a:ext cx="3623733" cy="175433"/>
          </a:xfrm>
          <a:prstGeom prst="rect">
            <a:avLst/>
          </a:prstGeom>
          <a:noFill/>
        </p:spPr>
        <p:txBody>
          <a:bodyPr vert="horz" wrap="square" lIns="0" tIns="0" rIns="0" bIns="0" rtlCol="0">
            <a:spAutoFit/>
          </a:bodyPr>
          <a:lstStyle/>
          <a:p>
            <a:pPr>
              <a:lnSpc>
                <a:spcPct val="95000"/>
              </a:lnSpc>
            </a:pPr>
            <a:r>
              <a:rPr kumimoji="1" lang="ja-JP" altLang="en-US" sz="1200" b="1">
                <a:solidFill>
                  <a:srgbClr val="21295C"/>
                </a:solidFill>
                <a:latin typeface="Yu Gothic UI" panose="020B0500000000000000" pitchFamily="50" charset="-128"/>
                <a:ea typeface="Yu Gothic UI" panose="020B0500000000000000" pitchFamily="50" charset="-128"/>
              </a:rPr>
              <a:t>③ 焼く／焼かないを、二度考え直した</a:t>
            </a:r>
          </a:p>
        </p:txBody>
      </p:sp>
      <p:sp>
        <p:nvSpPr>
          <p:cNvPr id="18" name="テキスト ボックス 17">
            <a:extLst>
              <a:ext uri="{FF2B5EF4-FFF2-40B4-BE49-F238E27FC236}">
                <a16:creationId xmlns:a16="http://schemas.microsoft.com/office/drawing/2014/main" id="{95DE4021-4F88-884E-3E4B-81BBE81F93CC}"/>
              </a:ext>
            </a:extLst>
          </p:cNvPr>
          <p:cNvSpPr txBox="1"/>
          <p:nvPr/>
        </p:nvSpPr>
        <p:spPr>
          <a:xfrm>
            <a:off x="406400" y="5806618"/>
            <a:ext cx="3623733" cy="277768"/>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はじめは全部を実行時に解く設計で、それが売り文句でもありました。実測が実行時の不利を示したので（</a:t>
            </a:r>
            <a:r>
              <a:rPr kumimoji="1" lang="en-US" altLang="ja-JP" sz="950">
                <a:solidFill>
                  <a:srgbClr val="1A2233"/>
                </a:solidFill>
                <a:latin typeface="Yu Gothic UI" panose="020B0500000000000000" pitchFamily="50" charset="-128"/>
                <a:ea typeface="Yu Gothic UI" panose="020B0500000000000000" pitchFamily="50" charset="-128"/>
              </a:rPr>
              <a:t>p3</a:t>
            </a:r>
            <a:r>
              <a:rPr kumimoji="1" lang="ja-JP" altLang="en-US" sz="950">
                <a:solidFill>
                  <a:srgbClr val="1A2233"/>
                </a:solidFill>
                <a:latin typeface="Yu Gothic UI" panose="020B0500000000000000" pitchFamily="50" charset="-128"/>
                <a:ea typeface="Yu Gothic UI" panose="020B0500000000000000" pitchFamily="50" charset="-128"/>
              </a:rPr>
              <a:t>）、重い残響は焼く方針へ切り替えました。</a:t>
            </a:r>
          </a:p>
        </p:txBody>
      </p:sp>
      <p:sp>
        <p:nvSpPr>
          <p:cNvPr id="21" name="テキスト ボックス 20">
            <a:extLst>
              <a:ext uri="{FF2B5EF4-FFF2-40B4-BE49-F238E27FC236}">
                <a16:creationId xmlns:a16="http://schemas.microsoft.com/office/drawing/2014/main" id="{24480A94-30FF-F568-9D5B-2BC66590A6F3}"/>
              </a:ext>
            </a:extLst>
          </p:cNvPr>
          <p:cNvSpPr txBox="1"/>
          <p:nvPr/>
        </p:nvSpPr>
        <p:spPr>
          <a:xfrm>
            <a:off x="4385733" y="1547689"/>
            <a:ext cx="3420533" cy="277768"/>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一度目の学び：手段を目的にしていた。「非ベイク」は品質のための手段だったのに看板になり、守るために品質を落としかけていた。</a:t>
            </a:r>
          </a:p>
        </p:txBody>
      </p:sp>
      <p:sp>
        <p:nvSpPr>
          <p:cNvPr id="23" name="テキスト ボックス 22">
            <a:extLst>
              <a:ext uri="{FF2B5EF4-FFF2-40B4-BE49-F238E27FC236}">
                <a16:creationId xmlns:a16="http://schemas.microsoft.com/office/drawing/2014/main" id="{222D2999-0025-4353-A038-58CBC6065D30}"/>
              </a:ext>
            </a:extLst>
          </p:cNvPr>
          <p:cNvSpPr txBox="1"/>
          <p:nvPr/>
        </p:nvSpPr>
        <p:spPr>
          <a:xfrm>
            <a:off x="4284133" y="2028657"/>
            <a:ext cx="36237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ところが焼く前に測ったら、尾は焼けませんでした（</a:t>
            </a:r>
            <a:r>
              <a:rPr kumimoji="1" lang="en-US" altLang="ja-JP" sz="950">
                <a:solidFill>
                  <a:srgbClr val="1A2233"/>
                </a:solidFill>
                <a:latin typeface="Yu Gothic UI" panose="020B0500000000000000" pitchFamily="50" charset="-128"/>
                <a:ea typeface="Yu Gothic UI" panose="020B0500000000000000" pitchFamily="50" charset="-128"/>
              </a:rPr>
              <a:t>p3</a:t>
            </a:r>
            <a:r>
              <a:rPr kumimoji="1" lang="ja-JP" altLang="en-US" sz="950">
                <a:solidFill>
                  <a:srgbClr val="1A2233"/>
                </a:solidFill>
                <a:latin typeface="Yu Gothic UI" panose="020B0500000000000000" pitchFamily="50" charset="-128"/>
                <a:ea typeface="Yu Gothic UI" panose="020B0500000000000000" pitchFamily="50" charset="-128"/>
              </a:rPr>
              <a:t>）。扉で減衰そのものが変わるからです。焼く動機だった費用も、焼かずに部屋で共有するだけで </a:t>
            </a:r>
            <a:r>
              <a:rPr kumimoji="1" lang="en-US" altLang="ja-JP" sz="950">
                <a:solidFill>
                  <a:srgbClr val="1A2233"/>
                </a:solidFill>
                <a:latin typeface="Yu Gothic UI" panose="020B0500000000000000" pitchFamily="50" charset="-128"/>
                <a:ea typeface="Yu Gothic UI" panose="020B0500000000000000" pitchFamily="50" charset="-128"/>
              </a:rPr>
              <a:t>16.80 → 2.93 ms </a:t>
            </a:r>
            <a:r>
              <a:rPr kumimoji="1" lang="ja-JP" altLang="en-US" sz="950">
                <a:solidFill>
                  <a:srgbClr val="1A2233"/>
                </a:solidFill>
                <a:latin typeface="Yu Gothic UI" panose="020B0500000000000000" pitchFamily="50" charset="-128"/>
                <a:ea typeface="Yu Gothic UI" panose="020B0500000000000000" pitchFamily="50" charset="-128"/>
              </a:rPr>
              <a:t>に消えていました。</a:t>
            </a:r>
          </a:p>
        </p:txBody>
      </p:sp>
      <p:sp>
        <p:nvSpPr>
          <p:cNvPr id="24" name="テキスト ボックス 23">
            <a:extLst>
              <a:ext uri="{FF2B5EF4-FFF2-40B4-BE49-F238E27FC236}">
                <a16:creationId xmlns:a16="http://schemas.microsoft.com/office/drawing/2014/main" id="{34DA5D71-2BF4-48C8-E20C-D256CBB81C4E}"/>
              </a:ext>
            </a:extLst>
          </p:cNvPr>
          <p:cNvSpPr txBox="1"/>
          <p:nvPr/>
        </p:nvSpPr>
        <p:spPr>
          <a:xfrm>
            <a:off x="4385733" y="2648510"/>
            <a:ext cx="3420533" cy="416653"/>
          </a:xfrm>
          <a:prstGeom prst="rect">
            <a:avLst/>
          </a:prstGeom>
          <a:noFill/>
        </p:spPr>
        <p:txBody>
          <a:bodyPr vert="horz" wrap="square" lIns="0" tIns="0" rIns="0" bIns="0" rtlCol="0">
            <a:spAutoFit/>
          </a:bodyPr>
          <a:lstStyle/>
          <a:p>
            <a:pPr>
              <a:lnSpc>
                <a:spcPct val="95000"/>
              </a:lnSpc>
            </a:pPr>
            <a:r>
              <a:rPr kumimoji="1" lang="ja-JP" altLang="en-US" sz="950">
                <a:solidFill>
                  <a:srgbClr val="1A2233"/>
                </a:solidFill>
                <a:latin typeface="Yu Gothic UI" panose="020B0500000000000000" pitchFamily="50" charset="-128"/>
                <a:ea typeface="Yu Gothic UI" panose="020B0500000000000000" pitchFamily="50" charset="-128"/>
              </a:rPr>
              <a:t>二度目の学び：作る前に測る。「尾は部屋にしか依存しない」は仮説でした。仕組みを作ってから気づいていたら、主題を殺した状態で完成させていた。</a:t>
            </a:r>
          </a:p>
        </p:txBody>
      </p:sp>
      <p:sp>
        <p:nvSpPr>
          <p:cNvPr id="26" name="テキスト ボックス 25">
            <a:extLst>
              <a:ext uri="{FF2B5EF4-FFF2-40B4-BE49-F238E27FC236}">
                <a16:creationId xmlns:a16="http://schemas.microsoft.com/office/drawing/2014/main" id="{080F6E7E-D274-898B-5413-37AC660ED296}"/>
              </a:ext>
            </a:extLst>
          </p:cNvPr>
          <p:cNvSpPr txBox="1"/>
          <p:nvPr/>
        </p:nvSpPr>
        <p:spPr>
          <a:xfrm>
            <a:off x="4284133" y="3268363"/>
            <a:ext cx="3623733" cy="350865"/>
          </a:xfrm>
          <a:prstGeom prst="rect">
            <a:avLst/>
          </a:prstGeom>
          <a:noFill/>
        </p:spPr>
        <p:txBody>
          <a:bodyPr vert="horz" wrap="square" lIns="0" tIns="0" rIns="0" bIns="0" rtlCol="0">
            <a:spAutoFit/>
          </a:bodyPr>
          <a:lstStyle/>
          <a:p>
            <a:pPr>
              <a:lnSpc>
                <a:spcPct val="95000"/>
              </a:lnSpc>
            </a:pPr>
            <a:r>
              <a:rPr kumimoji="1" lang="ja-JP" altLang="en-US" sz="800">
                <a:solidFill>
                  <a:srgbClr val="6B7688"/>
                </a:solidFill>
                <a:latin typeface="Yu Gothic UI" panose="020B0500000000000000" pitchFamily="50" charset="-128"/>
                <a:ea typeface="Yu Gothic UI" panose="020B0500000000000000" pitchFamily="50" charset="-128"/>
              </a:rPr>
              <a:t>この測定の途中でも </a:t>
            </a:r>
            <a:r>
              <a:rPr kumimoji="1" lang="en-US" altLang="ja-JP" sz="800">
                <a:solidFill>
                  <a:srgbClr val="6B7688"/>
                </a:solidFill>
                <a:latin typeface="Yu Gothic UI" panose="020B0500000000000000" pitchFamily="50" charset="-128"/>
                <a:ea typeface="Yu Gothic UI" panose="020B0500000000000000" pitchFamily="50" charset="-128"/>
              </a:rPr>
              <a:t>2 </a:t>
            </a:r>
            <a:r>
              <a:rPr kumimoji="1" lang="ja-JP" altLang="en-US" sz="800">
                <a:solidFill>
                  <a:srgbClr val="6B7688"/>
                </a:solidFill>
                <a:latin typeface="Yu Gothic UI" panose="020B0500000000000000" pitchFamily="50" charset="-128"/>
                <a:ea typeface="Yu Gothic UI" panose="020B0500000000000000" pitchFamily="50" charset="-128"/>
              </a:rPr>
              <a:t>回間違えています ── 試験用の部屋に隙間が空いていて理論値と </a:t>
            </a:r>
            <a:r>
              <a:rPr kumimoji="1" lang="en-US" altLang="ja-JP" sz="800">
                <a:solidFill>
                  <a:srgbClr val="6B7688"/>
                </a:solidFill>
                <a:latin typeface="Yu Gothic UI" panose="020B0500000000000000" pitchFamily="50" charset="-128"/>
                <a:ea typeface="Yu Gothic UI" panose="020B0500000000000000" pitchFamily="50" charset="-128"/>
              </a:rPr>
              <a:t>37% </a:t>
            </a:r>
            <a:r>
              <a:rPr kumimoji="1" lang="ja-JP" altLang="en-US" sz="800">
                <a:solidFill>
                  <a:srgbClr val="6B7688"/>
                </a:solidFill>
                <a:latin typeface="Yu Gothic UI" panose="020B0500000000000000" pitchFamily="50" charset="-128"/>
                <a:ea typeface="Yu Gothic UI" panose="020B0500000000000000" pitchFamily="50" charset="-128"/>
              </a:rPr>
              <a:t>ずれ、指標が数値の床に張り付いて </a:t>
            </a:r>
            <a:r>
              <a:rPr kumimoji="1" lang="en-US" altLang="ja-JP" sz="800">
                <a:solidFill>
                  <a:srgbClr val="6B7688"/>
                </a:solidFill>
                <a:latin typeface="Yu Gothic UI" panose="020B0500000000000000" pitchFamily="50" charset="-128"/>
                <a:ea typeface="Yu Gothic UI" panose="020B0500000000000000" pitchFamily="50" charset="-128"/>
              </a:rPr>
              <a:t>115 dB </a:t>
            </a:r>
            <a:r>
              <a:rPr kumimoji="1" lang="ja-JP" altLang="en-US" sz="800">
                <a:solidFill>
                  <a:srgbClr val="6B7688"/>
                </a:solidFill>
                <a:latin typeface="Yu Gothic UI" panose="020B0500000000000000" pitchFamily="50" charset="-128"/>
                <a:ea typeface="Yu Gothic UI" panose="020B0500000000000000" pitchFamily="50" charset="-128"/>
              </a:rPr>
              <a:t>という無意味な値が出ました。出た数字を疑う手順が要る、という実例として記録しています。</a:t>
            </a:r>
          </a:p>
        </p:txBody>
      </p:sp>
    </p:spTree>
    <p:extLst>
      <p:ext uri="{BB962C8B-B14F-4D97-AF65-F5344CB8AC3E}">
        <p14:creationId xmlns:p14="http://schemas.microsoft.com/office/powerpoint/2010/main" val="3294954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四角形: 角を丸くする 47">
            <a:extLst>
              <a:ext uri="{FF2B5EF4-FFF2-40B4-BE49-F238E27FC236}">
                <a16:creationId xmlns:a16="http://schemas.microsoft.com/office/drawing/2014/main" id="{A2F1F25D-2126-E2BB-85C9-17FC0EE37408}"/>
              </a:ext>
            </a:extLst>
          </p:cNvPr>
          <p:cNvSpPr/>
          <p:nvPr/>
        </p:nvSpPr>
        <p:spPr>
          <a:xfrm>
            <a:off x="4284133" y="3201754"/>
            <a:ext cx="3623734" cy="652575"/>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145F27EE-D032-435D-315B-06C8F3CA2E66}"/>
              </a:ext>
            </a:extLst>
          </p:cNvPr>
          <p:cNvSpPr/>
          <p:nvPr/>
        </p:nvSpPr>
        <p:spPr>
          <a:xfrm>
            <a:off x="406400" y="906195"/>
            <a:ext cx="11379200" cy="495588"/>
          </a:xfrm>
          <a:prstGeom prst="roundRect">
            <a:avLst>
              <a:gd name="adj" fmla="val 6000"/>
            </a:avLst>
          </a:prstGeom>
          <a:solidFill>
            <a:srgbClr val="E8F4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F6812556-25F5-FDB4-546F-9EB830505013}"/>
              </a:ext>
            </a:extLst>
          </p:cNvPr>
          <p:cNvSpPr txBox="1"/>
          <p:nvPr/>
        </p:nvSpPr>
        <p:spPr>
          <a:xfrm>
            <a:off x="406400" y="406400"/>
            <a:ext cx="11379200" cy="124265"/>
          </a:xfrm>
          <a:prstGeom prst="rect">
            <a:avLst/>
          </a:prstGeom>
          <a:noFill/>
        </p:spPr>
        <p:txBody>
          <a:bodyPr vert="horz" wrap="square" lIns="0" tIns="0" rIns="0" bIns="0" rtlCol="0">
            <a:spAutoFit/>
          </a:bodyPr>
          <a:lstStyle/>
          <a:p>
            <a:pPr>
              <a:lnSpc>
                <a:spcPct val="95000"/>
              </a:lnSpc>
            </a:pPr>
            <a:r>
              <a:rPr kumimoji="1" lang="en-US" altLang="ja-JP" sz="850" b="1">
                <a:solidFill>
                  <a:srgbClr val="1C7293"/>
                </a:solidFill>
                <a:latin typeface="Yu Gothic UI" panose="020B0500000000000000" pitchFamily="50" charset="-128"/>
                <a:ea typeface="Yu Gothic UI" panose="020B0500000000000000" pitchFamily="50" charset="-128"/>
              </a:rPr>
              <a:t>NEXT</a:t>
            </a:r>
            <a:endParaRPr kumimoji="1" lang="ja-JP" altLang="en-US" sz="850" b="1">
              <a:solidFill>
                <a:srgbClr val="1C7293"/>
              </a:solidFill>
              <a:latin typeface="Yu Gothic UI" panose="020B0500000000000000" pitchFamily="50" charset="-128"/>
              <a:ea typeface="Yu Gothic UI" panose="020B0500000000000000" pitchFamily="50" charset="-128"/>
            </a:endParaRPr>
          </a:p>
        </p:txBody>
      </p:sp>
      <p:sp>
        <p:nvSpPr>
          <p:cNvPr id="3" name="テキスト ボックス 2">
            <a:extLst>
              <a:ext uri="{FF2B5EF4-FFF2-40B4-BE49-F238E27FC236}">
                <a16:creationId xmlns:a16="http://schemas.microsoft.com/office/drawing/2014/main" id="{C43716E4-2FEE-1E85-50E2-F2DC25400D11}"/>
              </a:ext>
            </a:extLst>
          </p:cNvPr>
          <p:cNvSpPr txBox="1"/>
          <p:nvPr/>
        </p:nvSpPr>
        <p:spPr>
          <a:xfrm>
            <a:off x="406400" y="556065"/>
            <a:ext cx="11379200" cy="248530"/>
          </a:xfrm>
          <a:prstGeom prst="rect">
            <a:avLst/>
          </a:prstGeom>
          <a:noFill/>
        </p:spPr>
        <p:txBody>
          <a:bodyPr vert="horz" wrap="square" lIns="0" tIns="0" rIns="0" bIns="0" rtlCol="0">
            <a:spAutoFit/>
          </a:bodyPr>
          <a:lstStyle/>
          <a:p>
            <a:pPr>
              <a:lnSpc>
                <a:spcPct val="95000"/>
              </a:lnSpc>
            </a:pPr>
            <a:r>
              <a:rPr kumimoji="1" lang="ja-JP" altLang="en-US" sz="1700" b="1">
                <a:solidFill>
                  <a:srgbClr val="21295C"/>
                </a:solidFill>
                <a:latin typeface="Yu Gothic UI" panose="020B0500000000000000" pitchFamily="50" charset="-128"/>
                <a:ea typeface="Yu Gothic UI" panose="020B0500000000000000" pitchFamily="50" charset="-128"/>
              </a:rPr>
              <a:t>今後の改善点</a:t>
            </a:r>
          </a:p>
        </p:txBody>
      </p:sp>
      <p:sp>
        <p:nvSpPr>
          <p:cNvPr id="4" name="テキスト ボックス 3">
            <a:extLst>
              <a:ext uri="{FF2B5EF4-FFF2-40B4-BE49-F238E27FC236}">
                <a16:creationId xmlns:a16="http://schemas.microsoft.com/office/drawing/2014/main" id="{F53C88BB-A520-8D58-1C7B-1A7222FE3ABE}"/>
              </a:ext>
            </a:extLst>
          </p:cNvPr>
          <p:cNvSpPr txBox="1"/>
          <p:nvPr/>
        </p:nvSpPr>
        <p:spPr>
          <a:xfrm>
            <a:off x="508000" y="1007795"/>
            <a:ext cx="11176000" cy="292388"/>
          </a:xfrm>
          <a:prstGeom prst="rect">
            <a:avLst/>
          </a:prstGeom>
          <a:noFill/>
        </p:spPr>
        <p:txBody>
          <a:bodyPr vert="horz" wrap="square" lIns="0" tIns="0" rIns="0" bIns="0" rtlCol="0">
            <a:spAutoFit/>
          </a:bodyPr>
          <a:lstStyle/>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音の不具合はほとんどが「連続量に二値の判定を置いた」形をしていて、原因は毎回ばらばらに見えても構造は同じでした。</a:t>
            </a:r>
          </a:p>
          <a:p>
            <a:pPr>
              <a:lnSpc>
                <a:spcPct val="95000"/>
              </a:lnSpc>
            </a:pPr>
            <a:r>
              <a:rPr kumimoji="1" lang="ja-JP" altLang="en-US" sz="1000">
                <a:solidFill>
                  <a:srgbClr val="1A2233"/>
                </a:solidFill>
                <a:latin typeface="Yu Gothic UI" panose="020B0500000000000000" pitchFamily="50" charset="-128"/>
                <a:ea typeface="Yu Gothic UI" panose="020B0500000000000000" pitchFamily="50" charset="-128"/>
              </a:rPr>
              <a:t>正しさより連続性を先に守る、という順序をこの制作で身につけました。</a:t>
            </a:r>
          </a:p>
        </p:txBody>
      </p:sp>
      <p:sp>
        <p:nvSpPr>
          <p:cNvPr id="42" name="テキスト ボックス 41">
            <a:extLst>
              <a:ext uri="{FF2B5EF4-FFF2-40B4-BE49-F238E27FC236}">
                <a16:creationId xmlns:a16="http://schemas.microsoft.com/office/drawing/2014/main" id="{F36EC217-672F-212A-80FD-8432269438C2}"/>
              </a:ext>
            </a:extLst>
          </p:cNvPr>
          <p:cNvSpPr txBox="1"/>
          <p:nvPr/>
        </p:nvSpPr>
        <p:spPr>
          <a:xfrm>
            <a:off x="406400" y="1616159"/>
            <a:ext cx="3623733" cy="150875"/>
          </a:xfrm>
          <a:prstGeom prst="rect">
            <a:avLst/>
          </a:prstGeom>
          <a:noFill/>
        </p:spPr>
        <p:txBody>
          <a:bodyPr vert="horz" wrap="square" lIns="0" tIns="0" rIns="0" bIns="0" rtlCol="0">
            <a:spAutoFit/>
          </a:bodyPr>
          <a:lstStyle/>
          <a:p>
            <a:pPr>
              <a:lnSpc>
                <a:spcPct val="95000"/>
              </a:lnSpc>
            </a:pPr>
            <a:r>
              <a:rPr kumimoji="1" lang="ja-JP" altLang="en-US" sz="1032" b="1">
                <a:solidFill>
                  <a:srgbClr val="21295C"/>
                </a:solidFill>
                <a:latin typeface="Yu Gothic UI" panose="020B0500000000000000" pitchFamily="50" charset="-128"/>
                <a:ea typeface="Yu Gothic UI" panose="020B0500000000000000" pitchFamily="50" charset="-128"/>
              </a:rPr>
              <a:t>いま出来ていないこと</a:t>
            </a:r>
          </a:p>
        </p:txBody>
      </p:sp>
      <p:graphicFrame>
        <p:nvGraphicFramePr>
          <p:cNvPr id="43" name="表 42">
            <a:extLst>
              <a:ext uri="{FF2B5EF4-FFF2-40B4-BE49-F238E27FC236}">
                <a16:creationId xmlns:a16="http://schemas.microsoft.com/office/drawing/2014/main" id="{E2665F0C-39CB-E9A7-E513-80C47F7F1C3A}"/>
              </a:ext>
            </a:extLst>
          </p:cNvPr>
          <p:cNvGraphicFramePr>
            <a:graphicFrameLocks noGrp="1"/>
          </p:cNvGraphicFramePr>
          <p:nvPr>
            <p:extLst>
              <p:ext uri="{D42A27DB-BD31-4B8C-83A1-F6EECF244321}">
                <p14:modId xmlns:p14="http://schemas.microsoft.com/office/powerpoint/2010/main" val="2846990402"/>
              </p:ext>
            </p:extLst>
          </p:nvPr>
        </p:nvGraphicFramePr>
        <p:xfrm>
          <a:off x="406401" y="1854410"/>
          <a:ext cx="3623733" cy="2057400"/>
        </p:xfrm>
        <a:graphic>
          <a:graphicData uri="http://schemas.openxmlformats.org/drawingml/2006/table">
            <a:tbl>
              <a:tblPr firstRow="1" bandRow="1">
                <a:tableStyleId>{5C22544A-7EE6-4342-B048-85BDC9FD1C3A}</a:tableStyleId>
              </a:tblPr>
              <a:tblGrid>
                <a:gridCol w="1811867">
                  <a:extLst>
                    <a:ext uri="{9D8B030D-6E8A-4147-A177-3AD203B41FA5}">
                      <a16:colId xmlns:a16="http://schemas.microsoft.com/office/drawing/2014/main" val="1077528107"/>
                    </a:ext>
                  </a:extLst>
                </a:gridCol>
                <a:gridCol w="1811867">
                  <a:extLst>
                    <a:ext uri="{9D8B030D-6E8A-4147-A177-3AD203B41FA5}">
                      <a16:colId xmlns:a16="http://schemas.microsoft.com/office/drawing/2014/main" val="1018359331"/>
                    </a:ext>
                  </a:extLst>
                </a:gridCol>
              </a:tblGrid>
              <a:tr h="0">
                <a:tc>
                  <a:txBody>
                    <a:bodyPr/>
                    <a:lstStyle/>
                    <a:p>
                      <a:r>
                        <a:rPr kumimoji="1" lang="ja-JP" altLang="en-US" sz="731" b="1">
                          <a:solidFill>
                            <a:srgbClr val="FFFFFF"/>
                          </a:solidFill>
                          <a:latin typeface="Yu Gothic UI" panose="020B0500000000000000" pitchFamily="50" charset="-128"/>
                          <a:ea typeface="Yu Gothic UI" panose="020B0500000000000000" pitchFamily="50" charset="-128"/>
                        </a:rPr>
                        <a:t>課題</a:t>
                      </a:r>
                    </a:p>
                  </a:txBody>
                  <a:tcPr marL="43688" marR="43688" marT="21844" marB="21844">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tc>
                  <a:txBody>
                    <a:bodyPr/>
                    <a:lstStyle/>
                    <a:p>
                      <a:r>
                        <a:rPr kumimoji="1" lang="ja-JP" altLang="en-US" sz="731" b="1">
                          <a:solidFill>
                            <a:srgbClr val="FFFFFF"/>
                          </a:solidFill>
                          <a:latin typeface="Yu Gothic UI" panose="020B0500000000000000" pitchFamily="50" charset="-128"/>
                          <a:ea typeface="Yu Gothic UI" panose="020B0500000000000000" pitchFamily="50" charset="-128"/>
                        </a:rPr>
                        <a:t>いまの状態</a:t>
                      </a:r>
                    </a:p>
                  </a:txBody>
                  <a:tcPr marL="43688" marR="43688" marT="21844" marB="21844">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1C7293"/>
                    </a:solidFill>
                  </a:tcPr>
                </a:tc>
                <a:extLst>
                  <a:ext uri="{0D108BD9-81ED-4DB2-BD59-A6C34878D82A}">
                    <a16:rowId xmlns:a16="http://schemas.microsoft.com/office/drawing/2014/main" val="3308835455"/>
                  </a:ext>
                </a:extLst>
              </a:tr>
              <a:tr h="0">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構造を焼く実装がこれから</a:t>
                      </a:r>
                    </a:p>
                  </a:txBody>
                  <a:tcPr marL="43688" marR="43688" marT="21844" marB="21844">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尾は焼かないと確定（</a:t>
                      </a:r>
                      <a:r>
                        <a:rPr kumimoji="1" lang="en-US" altLang="ja-JP" sz="731" b="0">
                          <a:solidFill>
                            <a:srgbClr val="1A2233"/>
                          </a:solidFill>
                          <a:latin typeface="Yu Gothic UI" panose="020B0500000000000000" pitchFamily="50" charset="-128"/>
                          <a:ea typeface="Yu Gothic UI" panose="020B0500000000000000" pitchFamily="50" charset="-128"/>
                        </a:rPr>
                        <a:t>p3</a:t>
                      </a:r>
                      <a:r>
                        <a:rPr kumimoji="1" lang="ja-JP" altLang="en-US" sz="731" b="0">
                          <a:solidFill>
                            <a:srgbClr val="1A2233"/>
                          </a:solidFill>
                          <a:latin typeface="Yu Gothic UI" panose="020B0500000000000000" pitchFamily="50" charset="-128"/>
                          <a:ea typeface="Yu Gothic UI" panose="020B0500000000000000" pitchFamily="50" charset="-128"/>
                        </a:rPr>
                        <a:t>）。残るのは静的な稜線を焼いて探索の点滅を消すこと。費用ではなく品質のための作業</a:t>
                      </a:r>
                    </a:p>
                  </a:txBody>
                  <a:tcPr marL="43688" marR="43688" marT="21844" marB="21844">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1655217099"/>
                  </a:ext>
                </a:extLst>
              </a:tr>
              <a:tr h="0">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音源数の上限を測り直せていない</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共有バスで </a:t>
                      </a:r>
                      <a:r>
                        <a:rPr kumimoji="1" lang="en-US" altLang="ja-JP" sz="731" b="0">
                          <a:solidFill>
                            <a:srgbClr val="1A2233"/>
                          </a:solidFill>
                          <a:latin typeface="Yu Gothic UI" panose="020B0500000000000000" pitchFamily="50" charset="-128"/>
                          <a:ea typeface="Yu Gothic UI" panose="020B0500000000000000" pitchFamily="50" charset="-128"/>
                        </a:rPr>
                        <a:t>1 </a:t>
                      </a:r>
                      <a:r>
                        <a:rPr kumimoji="1" lang="ja-JP" altLang="en-US" sz="731" b="0">
                          <a:solidFill>
                            <a:srgbClr val="1A2233"/>
                          </a:solidFill>
                          <a:latin typeface="Yu Gothic UI" panose="020B0500000000000000" pitchFamily="50" charset="-128"/>
                          <a:ea typeface="Yu Gothic UI" panose="020B0500000000000000" pitchFamily="50" charset="-128"/>
                        </a:rPr>
                        <a:t>本あたりの限界費用が下がったので、以前の実測（約 </a:t>
                      </a:r>
                      <a:r>
                        <a:rPr kumimoji="1" lang="en-US" altLang="ja-JP" sz="731" b="0">
                          <a:solidFill>
                            <a:srgbClr val="1A2233"/>
                          </a:solidFill>
                          <a:latin typeface="Yu Gothic UI" panose="020B0500000000000000" pitchFamily="50" charset="-128"/>
                          <a:ea typeface="Yu Gothic UI" panose="020B0500000000000000" pitchFamily="50" charset="-128"/>
                        </a:rPr>
                        <a:t>36 </a:t>
                      </a:r>
                      <a:r>
                        <a:rPr kumimoji="1" lang="ja-JP" altLang="en-US" sz="731" b="0">
                          <a:solidFill>
                            <a:srgbClr val="1A2233"/>
                          </a:solidFill>
                          <a:latin typeface="Yu Gothic UI" panose="020B0500000000000000" pitchFamily="50" charset="-128"/>
                          <a:ea typeface="Yu Gothic UI" panose="020B0500000000000000" pitchFamily="50" charset="-128"/>
                        </a:rPr>
                        <a:t>本）はもう当てはまらない</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849168361"/>
                  </a:ext>
                </a:extLst>
              </a:tr>
              <a:tr h="0">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並列化が </a:t>
                      </a:r>
                      <a:r>
                        <a:rPr kumimoji="1" lang="en-US" altLang="ja-JP" sz="731" b="0">
                          <a:solidFill>
                            <a:srgbClr val="1A2233"/>
                          </a:solidFill>
                          <a:latin typeface="Yu Gothic UI" panose="020B0500000000000000" pitchFamily="50" charset="-128"/>
                          <a:ea typeface="Yu Gothic UI" panose="020B0500000000000000" pitchFamily="50" charset="-128"/>
                        </a:rPr>
                        <a:t>4 </a:t>
                      </a:r>
                      <a:r>
                        <a:rPr kumimoji="1" lang="ja-JP" altLang="en-US" sz="731" b="0">
                          <a:solidFill>
                            <a:srgbClr val="1A2233"/>
                          </a:solidFill>
                          <a:latin typeface="Yu Gothic UI" panose="020B0500000000000000" pitchFamily="50" charset="-128"/>
                          <a:ea typeface="Yu Gothic UI" panose="020B0500000000000000" pitchFamily="50" charset="-128"/>
                        </a:rPr>
                        <a:t>コアで頭打ち</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共有したレイの段（エコグラム・反射）は塊で割れるが、音源ごとに割れない処理（エッジカタログ・部屋の検出）が残る。</a:t>
                      </a:r>
                      <a:r>
                        <a:rPr kumimoji="1" lang="en-US" altLang="ja-JP" sz="731" b="0">
                          <a:solidFill>
                            <a:srgbClr val="1A2233"/>
                          </a:solidFill>
                          <a:latin typeface="Yu Gothic UI" panose="020B0500000000000000" pitchFamily="50" charset="-128"/>
                          <a:ea typeface="Yu Gothic UI" panose="020B0500000000000000" pitchFamily="50" charset="-128"/>
                        </a:rPr>
                        <a:t>4 </a:t>
                      </a:r>
                      <a:r>
                        <a:rPr kumimoji="1" lang="ja-JP" altLang="en-US" sz="731" b="0">
                          <a:solidFill>
                            <a:srgbClr val="1A2233"/>
                          </a:solidFill>
                          <a:latin typeface="Yu Gothic UI" panose="020B0500000000000000" pitchFamily="50" charset="-128"/>
                          <a:ea typeface="Yu Gothic UI" panose="020B0500000000000000" pitchFamily="50" charset="-128"/>
                        </a:rPr>
                        <a:t>コア </a:t>
                      </a:r>
                      <a:r>
                        <a:rPr kumimoji="1" lang="en-US" altLang="ja-JP" sz="731" b="0">
                          <a:solidFill>
                            <a:srgbClr val="1A2233"/>
                          </a:solidFill>
                          <a:latin typeface="Yu Gothic UI" panose="020B0500000000000000" pitchFamily="50" charset="-128"/>
                          <a:ea typeface="Yu Gothic UI" panose="020B0500000000000000" pitchFamily="50" charset="-128"/>
                        </a:rPr>
                        <a:t>2.42 </a:t>
                      </a:r>
                      <a:r>
                        <a:rPr kumimoji="1" lang="ja-JP" altLang="en-US" sz="731" b="0">
                          <a:solidFill>
                            <a:srgbClr val="1A2233"/>
                          </a:solidFill>
                          <a:latin typeface="Yu Gothic UI" panose="020B0500000000000000" pitchFamily="50" charset="-128"/>
                          <a:ea typeface="Yu Gothic UI" panose="020B0500000000000000" pitchFamily="50" charset="-128"/>
                        </a:rPr>
                        <a:t>倍 → </a:t>
                      </a:r>
                      <a:r>
                        <a:rPr kumimoji="1" lang="en-US" altLang="ja-JP" sz="731" b="0">
                          <a:solidFill>
                            <a:srgbClr val="1A2233"/>
                          </a:solidFill>
                          <a:latin typeface="Yu Gothic UI" panose="020B0500000000000000" pitchFamily="50" charset="-128"/>
                          <a:ea typeface="Yu Gothic UI" panose="020B0500000000000000" pitchFamily="50" charset="-128"/>
                        </a:rPr>
                        <a:t>8 </a:t>
                      </a:r>
                      <a:r>
                        <a:rPr kumimoji="1" lang="ja-JP" altLang="en-US" sz="731" b="0">
                          <a:solidFill>
                            <a:srgbClr val="1A2233"/>
                          </a:solidFill>
                          <a:latin typeface="Yu Gothic UI" panose="020B0500000000000000" pitchFamily="50" charset="-128"/>
                          <a:ea typeface="Yu Gothic UI" panose="020B0500000000000000" pitchFamily="50" charset="-128"/>
                        </a:rPr>
                        <a:t>コア </a:t>
                      </a:r>
                      <a:r>
                        <a:rPr kumimoji="1" lang="en-US" altLang="ja-JP" sz="731" b="0">
                          <a:solidFill>
                            <a:srgbClr val="1A2233"/>
                          </a:solidFill>
                          <a:latin typeface="Yu Gothic UI" panose="020B0500000000000000" pitchFamily="50" charset="-128"/>
                          <a:ea typeface="Yu Gothic UI" panose="020B0500000000000000" pitchFamily="50" charset="-128"/>
                        </a:rPr>
                        <a:t>2.74 </a:t>
                      </a:r>
                      <a:r>
                        <a:rPr kumimoji="1" lang="ja-JP" altLang="en-US" sz="731" b="0">
                          <a:solidFill>
                            <a:srgbClr val="1A2233"/>
                          </a:solidFill>
                          <a:latin typeface="Yu Gothic UI" panose="020B0500000000000000" pitchFamily="50" charset="-128"/>
                          <a:ea typeface="Yu Gothic UI" panose="020B0500000000000000" pitchFamily="50" charset="-128"/>
                        </a:rPr>
                        <a:t>倍</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02131410"/>
                  </a:ext>
                </a:extLst>
              </a:tr>
              <a:tr h="0">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★閉じた扉の「幻」</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戸口の幅によっては、閉扉なのに −</a:t>
                      </a:r>
                      <a:r>
                        <a:rPr kumimoji="1" lang="en-US" altLang="ja-JP" sz="731" b="0">
                          <a:solidFill>
                            <a:srgbClr val="1A2233"/>
                          </a:solidFill>
                          <a:latin typeface="Yu Gothic UI" panose="020B0500000000000000" pitchFamily="50" charset="-128"/>
                          <a:ea typeface="Yu Gothic UI" panose="020B0500000000000000" pitchFamily="50" charset="-128"/>
                        </a:rPr>
                        <a:t>11 dB</a:t>
                      </a:r>
                      <a:r>
                        <a:rPr kumimoji="1" lang="ja-JP" altLang="en-US" sz="731" b="0">
                          <a:solidFill>
                            <a:srgbClr val="1A2233"/>
                          </a:solidFill>
                          <a:latin typeface="Yu Gothic UI" panose="020B0500000000000000" pitchFamily="50" charset="-128"/>
                          <a:ea typeface="Yu Gothic UI" panose="020B0500000000000000" pitchFamily="50" charset="-128"/>
                        </a:rPr>
                        <a:t>・帯域がまっすぐという値が出る（正しくは −</a:t>
                      </a:r>
                      <a:r>
                        <a:rPr kumimoji="1" lang="en-US" altLang="ja-JP" sz="731" b="0">
                          <a:solidFill>
                            <a:srgbClr val="1A2233"/>
                          </a:solidFill>
                          <a:latin typeface="Yu Gothic UI" panose="020B0500000000000000" pitchFamily="50" charset="-128"/>
                          <a:ea typeface="Yu Gothic UI" panose="020B0500000000000000" pitchFamily="50" charset="-128"/>
                        </a:rPr>
                        <a:t>37 dB</a:t>
                      </a:r>
                      <a:r>
                        <a:rPr kumimoji="1" lang="ja-JP" altLang="en-US" sz="731" b="0">
                          <a:solidFill>
                            <a:srgbClr val="1A2233"/>
                          </a:solidFill>
                          <a:latin typeface="Yu Gothic UI" panose="020B0500000000000000" pitchFamily="50" charset="-128"/>
                          <a:ea typeface="Yu Gothic UI" panose="020B0500000000000000" pitchFamily="50" charset="-128"/>
                        </a:rPr>
                        <a:t>・低−高 </a:t>
                      </a:r>
                      <a:r>
                        <a:rPr kumimoji="1" lang="en-US" altLang="ja-JP" sz="731" b="0">
                          <a:solidFill>
                            <a:srgbClr val="1A2233"/>
                          </a:solidFill>
                          <a:latin typeface="Yu Gothic UI" panose="020B0500000000000000" pitchFamily="50" charset="-128"/>
                          <a:ea typeface="Yu Gothic UI" panose="020B0500000000000000" pitchFamily="50" charset="-128"/>
                        </a:rPr>
                        <a:t>+21 dB</a:t>
                      </a:r>
                      <a:r>
                        <a:rPr kumimoji="1" lang="ja-JP" altLang="en-US" sz="731" b="0">
                          <a:solidFill>
                            <a:srgbClr val="1A2233"/>
                          </a:solidFill>
                          <a:latin typeface="Yu Gothic UI" panose="020B0500000000000000" pitchFamily="50" charset="-128"/>
                          <a:ea typeface="Yu Gothic UI" panose="020B0500000000000000" pitchFamily="50" charset="-128"/>
                        </a:rPr>
                        <a:t>）。幅 </a:t>
                      </a:r>
                      <a:r>
                        <a:rPr kumimoji="1" lang="en-US" altLang="ja-JP" sz="731" b="0">
                          <a:solidFill>
                            <a:srgbClr val="1A2233"/>
                          </a:solidFill>
                          <a:latin typeface="Yu Gothic UI" panose="020B0500000000000000" pitchFamily="50" charset="-128"/>
                          <a:ea typeface="Yu Gothic UI" panose="020B0500000000000000" pitchFamily="50" charset="-128"/>
                        </a:rPr>
                        <a:t>0.9/1.1/1.8 m </a:t>
                      </a:r>
                      <a:r>
                        <a:rPr kumimoji="1" lang="ja-JP" altLang="en-US" sz="731" b="0">
                          <a:solidFill>
                            <a:srgbClr val="1A2233"/>
                          </a:solidFill>
                          <a:latin typeface="Yu Gothic UI" panose="020B0500000000000000" pitchFamily="50" charset="-128"/>
                          <a:ea typeface="Yu Gothic UI" panose="020B0500000000000000" pitchFamily="50" charset="-128"/>
                        </a:rPr>
                        <a:t>で出て、</a:t>
                      </a:r>
                      <a:r>
                        <a:rPr kumimoji="1" lang="en-US" altLang="ja-JP" sz="731" b="0">
                          <a:solidFill>
                            <a:srgbClr val="1A2233"/>
                          </a:solidFill>
                          <a:latin typeface="Yu Gothic UI" panose="020B0500000000000000" pitchFamily="50" charset="-128"/>
                          <a:ea typeface="Yu Gothic UI" panose="020B0500000000000000" pitchFamily="50" charset="-128"/>
                        </a:rPr>
                        <a:t>1.4/2.2 m </a:t>
                      </a:r>
                      <a:r>
                        <a:rPr kumimoji="1" lang="ja-JP" altLang="en-US" sz="731" b="0">
                          <a:solidFill>
                            <a:srgbClr val="1A2233"/>
                          </a:solidFill>
                          <a:latin typeface="Yu Gothic UI" panose="020B0500000000000000" pitchFamily="50" charset="-128"/>
                          <a:ea typeface="Yu Gothic UI" panose="020B0500000000000000" pitchFamily="50" charset="-128"/>
                        </a:rPr>
                        <a:t>では出ないという非単調な出方をする。部屋を </a:t>
                      </a:r>
                      <a:r>
                        <a:rPr kumimoji="1" lang="en-US" altLang="ja-JP" sz="731" b="0">
                          <a:solidFill>
                            <a:srgbClr val="1A2233"/>
                          </a:solidFill>
                          <a:latin typeface="Yu Gothic UI" panose="020B0500000000000000" pitchFamily="50" charset="-128"/>
                          <a:ea typeface="Yu Gothic UI" panose="020B0500000000000000" pitchFamily="50" charset="-128"/>
                        </a:rPr>
                        <a:t>2.5 </a:t>
                      </a:r>
                      <a:r>
                        <a:rPr kumimoji="1" lang="ja-JP" altLang="en-US" sz="731" b="0">
                          <a:solidFill>
                            <a:srgbClr val="1A2233"/>
                          </a:solidFill>
                          <a:latin typeface="Yu Gothic UI" panose="020B0500000000000000" pitchFamily="50" charset="-128"/>
                          <a:ea typeface="Yu Gothic UI" panose="020B0500000000000000" pitchFamily="50" charset="-128"/>
                        </a:rPr>
                        <a:t>倍に広げても消えないので、原因は部屋ではなく幅。未解決。デバッグツールの型紙 </a:t>
                      </a:r>
                      <a:r>
                        <a:rPr kumimoji="1" lang="en-US" altLang="ja-JP" sz="731" b="0">
                          <a:solidFill>
                            <a:srgbClr val="1A2233"/>
                          </a:solidFill>
                          <a:latin typeface="Yu Gothic UI" panose="020B0500000000000000" pitchFamily="50" charset="-128"/>
                          <a:ea typeface="Yu Gothic UI" panose="020B0500000000000000" pitchFamily="50" charset="-128"/>
                        </a:rPr>
                        <a:t>4 </a:t>
                      </a:r>
                      <a:r>
                        <a:rPr kumimoji="1" lang="ja-JP" altLang="en-US" sz="731" b="0">
                          <a:solidFill>
                            <a:srgbClr val="1A2233"/>
                          </a:solidFill>
                          <a:latin typeface="Yu Gothic UI" panose="020B0500000000000000" pitchFamily="50" charset="-128"/>
                          <a:ea typeface="Yu Gothic UI" panose="020B0500000000000000" pitchFamily="50" charset="-128"/>
                        </a:rPr>
                        <a:t>が自動で拾える</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595268676"/>
                  </a:ext>
                </a:extLst>
              </a:tr>
              <a:tr h="0">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★扉が真横（</a:t>
                      </a:r>
                      <a:r>
                        <a:rPr kumimoji="1" lang="en-US" altLang="ja-JP" sz="731" b="0">
                          <a:solidFill>
                            <a:srgbClr val="1A2233"/>
                          </a:solidFill>
                          <a:latin typeface="Yu Gothic UI" panose="020B0500000000000000" pitchFamily="50" charset="-128"/>
                          <a:ea typeface="Yu Gothic UI" panose="020B0500000000000000" pitchFamily="50" charset="-128"/>
                        </a:rPr>
                        <a:t>90°</a:t>
                      </a:r>
                      <a:r>
                        <a:rPr kumimoji="1" lang="ja-JP" altLang="en-US" sz="731" b="0">
                          <a:solidFill>
                            <a:srgbClr val="1A2233"/>
                          </a:solidFill>
                          <a:latin typeface="Yu Gothic UI" panose="020B0500000000000000" pitchFamily="50" charset="-128"/>
                          <a:ea typeface="Yu Gothic UI" panose="020B0500000000000000" pitchFamily="50" charset="-128"/>
                        </a:rPr>
                        <a:t>）で不連続</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en-US" altLang="ja-JP" sz="731" b="0">
                          <a:solidFill>
                            <a:srgbClr val="1A2233"/>
                          </a:solidFill>
                          <a:latin typeface="Yu Gothic UI" panose="020B0500000000000000" pitchFamily="50" charset="-128"/>
                          <a:ea typeface="Yu Gothic UI" panose="020B0500000000000000" pitchFamily="50" charset="-128"/>
                        </a:rPr>
                        <a:t>1° </a:t>
                      </a:r>
                      <a:r>
                        <a:rPr kumimoji="1" lang="ja-JP" altLang="en-US" sz="731" b="0">
                          <a:solidFill>
                            <a:srgbClr val="1A2233"/>
                          </a:solidFill>
                          <a:latin typeface="Yu Gothic UI" panose="020B0500000000000000" pitchFamily="50" charset="-128"/>
                          <a:ea typeface="Yu Gothic UI" panose="020B0500000000000000" pitchFamily="50" charset="-128"/>
                        </a:rPr>
                        <a:t>刻みで振ると </a:t>
                      </a:r>
                      <a:r>
                        <a:rPr kumimoji="1" lang="en-US" altLang="ja-JP" sz="731" b="0">
                          <a:solidFill>
                            <a:srgbClr val="1A2233"/>
                          </a:solidFill>
                          <a:latin typeface="Yu Gothic UI" panose="020B0500000000000000" pitchFamily="50" charset="-128"/>
                          <a:ea typeface="Yu Gothic UI" panose="020B0500000000000000" pitchFamily="50" charset="-128"/>
                        </a:rPr>
                        <a:t>89° −10.2 → 90° −17.3 → 91° −12.7</a:t>
                      </a:r>
                      <a:r>
                        <a:rPr kumimoji="1" lang="ja-JP" altLang="en-US" sz="731" b="0">
                          <a:solidFill>
                            <a:srgbClr val="1A2233"/>
                          </a:solidFill>
                          <a:latin typeface="Yu Gothic UI" panose="020B0500000000000000" pitchFamily="50" charset="-128"/>
                          <a:ea typeface="Yu Gothic UI" panose="020B0500000000000000" pitchFamily="50" charset="-128"/>
                        </a:rPr>
                        <a:t>。</a:t>
                      </a:r>
                      <a:r>
                        <a:rPr kumimoji="1" lang="en-US" altLang="ja-JP" sz="731" b="0">
                          <a:solidFill>
                            <a:srgbClr val="1A2233"/>
                          </a:solidFill>
                          <a:latin typeface="Yu Gothic UI" panose="020B0500000000000000" pitchFamily="50" charset="-128"/>
                          <a:ea typeface="Yu Gothic UI" panose="020B0500000000000000" pitchFamily="50" charset="-128"/>
                        </a:rPr>
                        <a:t>1° </a:t>
                      </a:r>
                      <a:r>
                        <a:rPr kumimoji="1" lang="ja-JP" altLang="en-US" sz="731" b="0">
                          <a:solidFill>
                            <a:srgbClr val="1A2233"/>
                          </a:solidFill>
                          <a:latin typeface="Yu Gothic UI" panose="020B0500000000000000" pitchFamily="50" charset="-128"/>
                          <a:ea typeface="Yu Gothic UI" panose="020B0500000000000000" pitchFamily="50" charset="-128"/>
                        </a:rPr>
                        <a:t>で </a:t>
                      </a:r>
                      <a:r>
                        <a:rPr kumimoji="1" lang="en-US" altLang="ja-JP" sz="731" b="0">
                          <a:solidFill>
                            <a:srgbClr val="1A2233"/>
                          </a:solidFill>
                          <a:latin typeface="Yu Gothic UI" panose="020B0500000000000000" pitchFamily="50" charset="-128"/>
                          <a:ea typeface="Yu Gothic UI" panose="020B0500000000000000" pitchFamily="50" charset="-128"/>
                        </a:rPr>
                        <a:t>7 dB </a:t>
                      </a:r>
                      <a:r>
                        <a:rPr kumimoji="1" lang="ja-JP" altLang="en-US" sz="731" b="0">
                          <a:solidFill>
                            <a:srgbClr val="1A2233"/>
                          </a:solidFill>
                          <a:latin typeface="Yu Gothic UI" panose="020B0500000000000000" pitchFamily="50" charset="-128"/>
                          <a:ea typeface="Yu Gothic UI" panose="020B0500000000000000" pitchFamily="50" charset="-128"/>
                        </a:rPr>
                        <a:t>突出し、そのあと </a:t>
                      </a:r>
                      <a:r>
                        <a:rPr kumimoji="1" lang="en-US" altLang="ja-JP" sz="731" b="0">
                          <a:solidFill>
                            <a:srgbClr val="1A2233"/>
                          </a:solidFill>
                          <a:latin typeface="Yu Gothic UI" panose="020B0500000000000000" pitchFamily="50" charset="-128"/>
                          <a:ea typeface="Yu Gothic UI" panose="020B0500000000000000" pitchFamily="50" charset="-128"/>
                        </a:rPr>
                        <a:t>2.5 dB </a:t>
                      </a:r>
                      <a:r>
                        <a:rPr kumimoji="1" lang="ja-JP" altLang="en-US" sz="731" b="0">
                          <a:solidFill>
                            <a:srgbClr val="1A2233"/>
                          </a:solidFill>
                          <a:latin typeface="Yu Gothic UI" panose="020B0500000000000000" pitchFamily="50" charset="-128"/>
                          <a:ea typeface="Yu Gothic UI" panose="020B0500000000000000" pitchFamily="50" charset="-128"/>
                        </a:rPr>
                        <a:t>低い枝へ移って </a:t>
                      </a:r>
                      <a:r>
                        <a:rPr kumimoji="1" lang="en-US" altLang="ja-JP" sz="731" b="0">
                          <a:solidFill>
                            <a:srgbClr val="1A2233"/>
                          </a:solidFill>
                          <a:latin typeface="Yu Gothic UI" panose="020B0500000000000000" pitchFamily="50" charset="-128"/>
                          <a:ea typeface="Yu Gothic UI" panose="020B0500000000000000" pitchFamily="50" charset="-128"/>
                        </a:rPr>
                        <a:t>30° </a:t>
                      </a:r>
                      <a:r>
                        <a:rPr kumimoji="1" lang="ja-JP" altLang="en-US" sz="731" b="0">
                          <a:solidFill>
                            <a:srgbClr val="1A2233"/>
                          </a:solidFill>
                          <a:latin typeface="Yu Gothic UI" panose="020B0500000000000000" pitchFamily="50" charset="-128"/>
                          <a:ea typeface="Yu Gothic UI" panose="020B0500000000000000" pitchFamily="50" charset="-128"/>
                        </a:rPr>
                        <a:t>以上戻らない。さらに </a:t>
                      </a:r>
                      <a:r>
                        <a:rPr kumimoji="1" lang="en-US" altLang="ja-JP" sz="731" b="0">
                          <a:solidFill>
                            <a:srgbClr val="1A2233"/>
                          </a:solidFill>
                          <a:latin typeface="Yu Gothic UI" panose="020B0500000000000000" pitchFamily="50" charset="-128"/>
                          <a:ea typeface="Yu Gothic UI" panose="020B0500000000000000" pitchFamily="50" charset="-128"/>
                        </a:rPr>
                        <a:t>90° </a:t>
                      </a:r>
                      <a:r>
                        <a:rPr kumimoji="1" lang="ja-JP" altLang="en-US" sz="731" b="0">
                          <a:solidFill>
                            <a:srgbClr val="1A2233"/>
                          </a:solidFill>
                          <a:latin typeface="Yu Gothic UI" panose="020B0500000000000000" pitchFamily="50" charset="-128"/>
                          <a:ea typeface="Yu Gothic UI" panose="020B0500000000000000" pitchFamily="50" charset="-128"/>
                        </a:rPr>
                        <a:t>の値は同じプロセスで先に何を計算したかで −</a:t>
                      </a:r>
                      <a:r>
                        <a:rPr kumimoji="1" lang="en-US" altLang="ja-JP" sz="731" b="0">
                          <a:solidFill>
                            <a:srgbClr val="1A2233"/>
                          </a:solidFill>
                          <a:latin typeface="Yu Gothic UI" panose="020B0500000000000000" pitchFamily="50" charset="-128"/>
                          <a:ea typeface="Yu Gothic UI" panose="020B0500000000000000" pitchFamily="50" charset="-128"/>
                        </a:rPr>
                        <a:t>12.7 </a:t>
                      </a:r>
                      <a:r>
                        <a:rPr kumimoji="1" lang="ja-JP" altLang="en-US" sz="731" b="0">
                          <a:solidFill>
                            <a:srgbClr val="1A2233"/>
                          </a:solidFill>
                          <a:latin typeface="Yu Gothic UI" panose="020B0500000000000000" pitchFamily="50" charset="-128"/>
                          <a:ea typeface="Yu Gothic UI" panose="020B0500000000000000" pitchFamily="50" charset="-128"/>
                        </a:rPr>
                        <a:t>と −</a:t>
                      </a:r>
                      <a:r>
                        <a:rPr kumimoji="1" lang="en-US" altLang="ja-JP" sz="731" b="0">
                          <a:solidFill>
                            <a:srgbClr val="1A2233"/>
                          </a:solidFill>
                          <a:latin typeface="Yu Gothic UI" panose="020B0500000000000000" pitchFamily="50" charset="-128"/>
                          <a:ea typeface="Yu Gothic UI" panose="020B0500000000000000" pitchFamily="50" charset="-128"/>
                        </a:rPr>
                        <a:t>17.3 </a:t>
                      </a:r>
                      <a:r>
                        <a:rPr kumimoji="1" lang="ja-JP" altLang="en-US" sz="731" b="0">
                          <a:solidFill>
                            <a:srgbClr val="1A2233"/>
                          </a:solidFill>
                          <a:latin typeface="Yu Gothic UI" panose="020B0500000000000000" pitchFamily="50" charset="-128"/>
                          <a:ea typeface="Yu Gothic UI" panose="020B0500000000000000" pitchFamily="50" charset="-128"/>
                        </a:rPr>
                        <a:t>の間を揺れる（単独 </a:t>
                      </a:r>
                      <a:r>
                        <a:rPr kumimoji="1" lang="en-US" altLang="ja-JP" sz="731" b="0">
                          <a:solidFill>
                            <a:srgbClr val="1A2233"/>
                          </a:solidFill>
                          <a:latin typeface="Yu Gothic UI" panose="020B0500000000000000" pitchFamily="50" charset="-128"/>
                          <a:ea typeface="Yu Gothic UI" panose="020B0500000000000000" pitchFamily="50" charset="-128"/>
                        </a:rPr>
                        <a:t>8 </a:t>
                      </a:r>
                      <a:r>
                        <a:rPr kumimoji="1" lang="ja-JP" altLang="en-US" sz="731" b="0">
                          <a:solidFill>
                            <a:srgbClr val="1A2233"/>
                          </a:solidFill>
                          <a:latin typeface="Yu Gothic UI" panose="020B0500000000000000" pitchFamily="50" charset="-128"/>
                          <a:ea typeface="Yu Gothic UI" panose="020B0500000000000000" pitchFamily="50" charset="-128"/>
                        </a:rPr>
                        <a:t>回では安定）。板が壁とちょうど直角になる退化した配置で分岐がぶれており、初期化されていない値を読んでいる疑い。連続性が第一制約なので、これは最優先の未解決課題</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3947836309"/>
                  </a:ext>
                </a:extLst>
              </a:tr>
              <a:tr h="0">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響く空間で尾が短い</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跳ね返りを </a:t>
                      </a:r>
                      <a:r>
                        <a:rPr kumimoji="1" lang="en-US" altLang="ja-JP" sz="731" b="0">
                          <a:solidFill>
                            <a:srgbClr val="1A2233"/>
                          </a:solidFill>
                          <a:latin typeface="Yu Gothic UI" panose="020B0500000000000000" pitchFamily="50" charset="-128"/>
                          <a:ea typeface="Yu Gothic UI" panose="020B0500000000000000" pitchFamily="50" charset="-128"/>
                        </a:rPr>
                        <a:t>32 </a:t>
                      </a:r>
                      <a:r>
                        <a:rPr kumimoji="1" lang="ja-JP" altLang="en-US" sz="731" b="0">
                          <a:solidFill>
                            <a:srgbClr val="1A2233"/>
                          </a:solidFill>
                          <a:latin typeface="Yu Gothic UI" panose="020B0500000000000000" pitchFamily="50" charset="-128"/>
                          <a:ea typeface="Yu Gothic UI" panose="020B0500000000000000" pitchFamily="50" charset="-128"/>
                        </a:rPr>
                        <a:t>回で打ち切っているため、吸音の小さい空間（</a:t>
                      </a:r>
                      <a:r>
                        <a:rPr kumimoji="1" lang="en-US" altLang="ja-JP" sz="731" b="0">
                          <a:solidFill>
                            <a:srgbClr val="1A2233"/>
                          </a:solidFill>
                          <a:latin typeface="Yu Gothic UI" panose="020B0500000000000000" pitchFamily="50" charset="-128"/>
                          <a:ea typeface="Yu Gothic UI" panose="020B0500000000000000" pitchFamily="50" charset="-128"/>
                        </a:rPr>
                        <a:t>α≦0.2</a:t>
                      </a:r>
                      <a:r>
                        <a:rPr kumimoji="1" lang="ja-JP" altLang="en-US" sz="731" b="0">
                          <a:solidFill>
                            <a:srgbClr val="1A2233"/>
                          </a:solidFill>
                          <a:latin typeface="Yu Gothic UI" panose="020B0500000000000000" pitchFamily="50" charset="-128"/>
                          <a:ea typeface="Yu Gothic UI" panose="020B0500000000000000" pitchFamily="50" charset="-128"/>
                        </a:rPr>
                        <a:t>）は減衰しきる前に切れる。</a:t>
                      </a:r>
                      <a:r>
                        <a:rPr kumimoji="1" lang="en-US" altLang="ja-JP" sz="731" b="0">
                          <a:solidFill>
                            <a:srgbClr val="1A2233"/>
                          </a:solidFill>
                          <a:latin typeface="Yu Gothic UI" panose="020B0500000000000000" pitchFamily="50" charset="-128"/>
                          <a:ea typeface="Yu Gothic UI" panose="020B0500000000000000" pitchFamily="50" charset="-128"/>
                        </a:rPr>
                        <a:t>256 </a:t>
                      </a:r>
                      <a:r>
                        <a:rPr kumimoji="1" lang="ja-JP" altLang="en-US" sz="731" b="0">
                          <a:solidFill>
                            <a:srgbClr val="1A2233"/>
                          </a:solidFill>
                          <a:latin typeface="Yu Gothic UI" panose="020B0500000000000000" pitchFamily="50" charset="-128"/>
                          <a:ea typeface="Yu Gothic UI" panose="020B0500000000000000" pitchFamily="50" charset="-128"/>
                        </a:rPr>
                        <a:t>回にすると </a:t>
                      </a:r>
                      <a:r>
                        <a:rPr kumimoji="1" lang="en-US" altLang="ja-JP" sz="731" b="0">
                          <a:solidFill>
                            <a:srgbClr val="1A2233"/>
                          </a:solidFill>
                          <a:latin typeface="Yu Gothic UI" panose="020B0500000000000000" pitchFamily="50" charset="-128"/>
                          <a:ea typeface="Yu Gothic UI" panose="020B0500000000000000" pitchFamily="50" charset="-128"/>
                        </a:rPr>
                        <a:t>RT60 </a:t>
                      </a:r>
                      <a:r>
                        <a:rPr kumimoji="1" lang="ja-JP" altLang="en-US" sz="731" b="0">
                          <a:solidFill>
                            <a:srgbClr val="1A2233"/>
                          </a:solidFill>
                          <a:latin typeface="Yu Gothic UI" panose="020B0500000000000000" pitchFamily="50" charset="-128"/>
                          <a:ea typeface="Yu Gothic UI" panose="020B0500000000000000" pitchFamily="50" charset="-128"/>
                        </a:rPr>
                        <a:t>が </a:t>
                      </a:r>
                      <a:r>
                        <a:rPr kumimoji="1" lang="en-US" altLang="ja-JP" sz="731" b="0">
                          <a:solidFill>
                            <a:srgbClr val="1A2233"/>
                          </a:solidFill>
                          <a:latin typeface="Yu Gothic UI" panose="020B0500000000000000" pitchFamily="50" charset="-128"/>
                          <a:ea typeface="Yu Gothic UI" panose="020B0500000000000000" pitchFamily="50" charset="-128"/>
                        </a:rPr>
                        <a:t>0.70 → 0.93 s</a:t>
                      </a:r>
                      <a:endParaRPr kumimoji="1" lang="ja-JP" altLang="en-US" sz="731" b="0">
                        <a:solidFill>
                          <a:srgbClr val="1A2233"/>
                        </a:solidFill>
                        <a:latin typeface="Yu Gothic UI" panose="020B0500000000000000" pitchFamily="50" charset="-128"/>
                        <a:ea typeface="Yu Gothic UI" panose="020B0500000000000000" pitchFamily="50" charset="-128"/>
                      </a:endParaRP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561442800"/>
                  </a:ext>
                </a:extLst>
              </a:tr>
              <a:tr h="0">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位相を扱わない</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干渉・共鳴は表現できない。連続性を優先した結果の制約</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30203274"/>
                  </a:ext>
                </a:extLst>
              </a:tr>
              <a:tr h="0">
                <a:tc>
                  <a:txBody>
                    <a:bodyPr/>
                    <a:lstStyle/>
                    <a:p>
                      <a:r>
                        <a:rPr kumimoji="1" lang="en-US" altLang="ja-JP" sz="731" b="0">
                          <a:solidFill>
                            <a:srgbClr val="1A2233"/>
                          </a:solidFill>
                          <a:latin typeface="Yu Gothic UI" panose="020B0500000000000000" pitchFamily="50" charset="-128"/>
                          <a:ea typeface="Yu Gothic UI" panose="020B0500000000000000" pitchFamily="50" charset="-128"/>
                        </a:rPr>
                        <a:t>GPU </a:t>
                      </a:r>
                      <a:r>
                        <a:rPr kumimoji="1" lang="ja-JP" altLang="en-US" sz="731" b="0">
                          <a:solidFill>
                            <a:srgbClr val="1A2233"/>
                          </a:solidFill>
                          <a:latin typeface="Yu Gothic UI" panose="020B0500000000000000" pitchFamily="50" charset="-128"/>
                          <a:ea typeface="Yu Gothic UI" panose="020B0500000000000000" pitchFamily="50" charset="-128"/>
                        </a:rPr>
                        <a:t>未使用</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レイの段がフレームの約半分を占める。規模が上がれば必要になる</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1927977217"/>
                  </a:ext>
                </a:extLst>
              </a:tr>
            </a:tbl>
          </a:graphicData>
        </a:graphic>
      </p:graphicFrame>
      <p:sp>
        <p:nvSpPr>
          <p:cNvPr id="44" name="テキスト ボックス 43">
            <a:extLst>
              <a:ext uri="{FF2B5EF4-FFF2-40B4-BE49-F238E27FC236}">
                <a16:creationId xmlns:a16="http://schemas.microsoft.com/office/drawing/2014/main" id="{967D8622-84E5-94C4-8E4D-1198A9FC9EFD}"/>
              </a:ext>
            </a:extLst>
          </p:cNvPr>
          <p:cNvSpPr txBox="1"/>
          <p:nvPr/>
        </p:nvSpPr>
        <p:spPr>
          <a:xfrm>
            <a:off x="406400" y="6209240"/>
            <a:ext cx="3623733" cy="150875"/>
          </a:xfrm>
          <a:prstGeom prst="rect">
            <a:avLst/>
          </a:prstGeom>
          <a:noFill/>
        </p:spPr>
        <p:txBody>
          <a:bodyPr vert="horz" wrap="square" lIns="0" tIns="0" rIns="0" bIns="0" rtlCol="0">
            <a:spAutoFit/>
          </a:bodyPr>
          <a:lstStyle/>
          <a:p>
            <a:pPr>
              <a:lnSpc>
                <a:spcPct val="95000"/>
              </a:lnSpc>
            </a:pPr>
            <a:r>
              <a:rPr kumimoji="1" lang="ja-JP" altLang="en-US" sz="1032" b="1">
                <a:solidFill>
                  <a:srgbClr val="21295C"/>
                </a:solidFill>
                <a:latin typeface="Yu Gothic UI" panose="020B0500000000000000" pitchFamily="50" charset="-128"/>
                <a:ea typeface="Yu Gothic UI" panose="020B0500000000000000" pitchFamily="50" charset="-128"/>
              </a:rPr>
              <a:t>次にやること</a:t>
            </a:r>
          </a:p>
        </p:txBody>
      </p:sp>
      <p:graphicFrame>
        <p:nvGraphicFramePr>
          <p:cNvPr id="46" name="表 45">
            <a:extLst>
              <a:ext uri="{FF2B5EF4-FFF2-40B4-BE49-F238E27FC236}">
                <a16:creationId xmlns:a16="http://schemas.microsoft.com/office/drawing/2014/main" id="{AC35BC27-9B00-08D0-0A97-40DE22721C10}"/>
              </a:ext>
            </a:extLst>
          </p:cNvPr>
          <p:cNvGraphicFramePr>
            <a:graphicFrameLocks noGrp="1"/>
          </p:cNvGraphicFramePr>
          <p:nvPr>
            <p:extLst>
              <p:ext uri="{D42A27DB-BD31-4B8C-83A1-F6EECF244321}">
                <p14:modId xmlns:p14="http://schemas.microsoft.com/office/powerpoint/2010/main" val="2930195139"/>
              </p:ext>
            </p:extLst>
          </p:nvPr>
        </p:nvGraphicFramePr>
        <p:xfrm>
          <a:off x="4284134" y="1572471"/>
          <a:ext cx="3623733" cy="1371600"/>
        </p:xfrm>
        <a:graphic>
          <a:graphicData uri="http://schemas.openxmlformats.org/drawingml/2006/table">
            <a:tbl>
              <a:tblPr firstRow="1" bandRow="1">
                <a:tableStyleId>{5C22544A-7EE6-4342-B048-85BDC9FD1C3A}</a:tableStyleId>
              </a:tblPr>
              <a:tblGrid>
                <a:gridCol w="1811867">
                  <a:extLst>
                    <a:ext uri="{9D8B030D-6E8A-4147-A177-3AD203B41FA5}">
                      <a16:colId xmlns:a16="http://schemas.microsoft.com/office/drawing/2014/main" val="1073284555"/>
                    </a:ext>
                  </a:extLst>
                </a:gridCol>
                <a:gridCol w="1811867">
                  <a:extLst>
                    <a:ext uri="{9D8B030D-6E8A-4147-A177-3AD203B41FA5}">
                      <a16:colId xmlns:a16="http://schemas.microsoft.com/office/drawing/2014/main" val="3295300170"/>
                    </a:ext>
                  </a:extLst>
                </a:gridCol>
              </a:tblGrid>
              <a:tr h="0">
                <a:tc>
                  <a:txBody>
                    <a:bodyPr/>
                    <a:lstStyle/>
                    <a:p>
                      <a:r>
                        <a:rPr kumimoji="1" lang="en-US" altLang="ja-JP" sz="731" b="0">
                          <a:solidFill>
                            <a:srgbClr val="1A2233"/>
                          </a:solidFill>
                          <a:latin typeface="Yu Gothic UI" panose="020B0500000000000000" pitchFamily="50" charset="-128"/>
                          <a:ea typeface="Yu Gothic UI" panose="020B0500000000000000" pitchFamily="50" charset="-128"/>
                        </a:rPr>
                        <a:t>1</a:t>
                      </a:r>
                      <a:endParaRPr kumimoji="1" lang="ja-JP" altLang="en-US" sz="731" b="0">
                        <a:solidFill>
                          <a:srgbClr val="1A2233"/>
                        </a:solidFill>
                        <a:latin typeface="Yu Gothic UI" panose="020B0500000000000000" pitchFamily="50" charset="-128"/>
                        <a:ea typeface="Yu Gothic UI" panose="020B0500000000000000" pitchFamily="50" charset="-128"/>
                      </a:endParaRPr>
                    </a:p>
                  </a:txBody>
                  <a:tcPr marL="43688" marR="43688" marT="21844" marB="21844">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FFFFFF"/>
                    </a:solidFill>
                  </a:tcPr>
                </a:tc>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扉が真横のときの不連続を直す（</a:t>
                      </a:r>
                      <a:r>
                        <a:rPr kumimoji="1" lang="en-US" altLang="ja-JP" sz="731" b="0">
                          <a:solidFill>
                            <a:srgbClr val="1A2233"/>
                          </a:solidFill>
                          <a:latin typeface="Yu Gothic UI" panose="020B0500000000000000" pitchFamily="50" charset="-128"/>
                          <a:ea typeface="Yu Gothic UI" panose="020B0500000000000000" pitchFamily="50" charset="-128"/>
                        </a:rPr>
                        <a:t>1° </a:t>
                      </a:r>
                      <a:r>
                        <a:rPr kumimoji="1" lang="ja-JP" altLang="en-US" sz="731" b="0">
                          <a:solidFill>
                            <a:srgbClr val="1A2233"/>
                          </a:solidFill>
                          <a:latin typeface="Yu Gothic UI" panose="020B0500000000000000" pitchFamily="50" charset="-128"/>
                          <a:ea typeface="Yu Gothic UI" panose="020B0500000000000000" pitchFamily="50" charset="-128"/>
                        </a:rPr>
                        <a:t>で </a:t>
                      </a:r>
                      <a:r>
                        <a:rPr kumimoji="1" lang="en-US" altLang="ja-JP" sz="731" b="0">
                          <a:solidFill>
                            <a:srgbClr val="1A2233"/>
                          </a:solidFill>
                          <a:latin typeface="Yu Gothic UI" panose="020B0500000000000000" pitchFamily="50" charset="-128"/>
                          <a:ea typeface="Yu Gothic UI" panose="020B0500000000000000" pitchFamily="50" charset="-128"/>
                        </a:rPr>
                        <a:t>7 dB</a:t>
                      </a:r>
                      <a:r>
                        <a:rPr kumimoji="1" lang="ja-JP" altLang="en-US" sz="731" b="0">
                          <a:solidFill>
                            <a:srgbClr val="1A2233"/>
                          </a:solidFill>
                          <a:latin typeface="Yu Gothic UI" panose="020B0500000000000000" pitchFamily="50" charset="-128"/>
                          <a:ea typeface="Yu Gothic UI" panose="020B0500000000000000" pitchFamily="50" charset="-128"/>
                        </a:rPr>
                        <a:t>。連続性が第一制約なので、ここが最優先）</a:t>
                      </a:r>
                    </a:p>
                  </a:txBody>
                  <a:tcPr marL="43688" marR="43688" marT="21844" marB="21844">
                    <a:lnL w="12700" cmpd="sng">
                      <a:solidFill>
                        <a:srgbClr val="D8DEE6"/>
                      </a:solidFill>
                    </a:lnL>
                    <a:lnR w="12700" cmpd="sng">
                      <a:solidFill>
                        <a:srgbClr val="D8DEE6"/>
                      </a:solidFill>
                    </a:lnR>
                    <a:lnT w="12700" cmpd="sng">
                      <a:solidFill>
                        <a:srgbClr val="D8DEE6"/>
                      </a:solidFill>
                    </a:lnT>
                    <a:lnB w="38100" cmpd="sng">
                      <a:solidFill>
                        <a:srgbClr val="D8DEE6"/>
                      </a:solidFill>
                    </a:lnB>
                    <a:solidFill>
                      <a:srgbClr val="FFFFFF"/>
                    </a:solidFill>
                  </a:tcPr>
                </a:tc>
                <a:extLst>
                  <a:ext uri="{0D108BD9-81ED-4DB2-BD59-A6C34878D82A}">
                    <a16:rowId xmlns:a16="http://schemas.microsoft.com/office/drawing/2014/main" val="3342063433"/>
                  </a:ext>
                </a:extLst>
              </a:tr>
              <a:tr h="0">
                <a:tc>
                  <a:txBody>
                    <a:bodyPr/>
                    <a:lstStyle/>
                    <a:p>
                      <a:r>
                        <a:rPr kumimoji="1" lang="en-US" altLang="ja-JP" sz="731" b="0">
                          <a:solidFill>
                            <a:srgbClr val="1A2233"/>
                          </a:solidFill>
                          <a:latin typeface="Yu Gothic UI" panose="020B0500000000000000" pitchFamily="50" charset="-128"/>
                          <a:ea typeface="Yu Gothic UI" panose="020B0500000000000000" pitchFamily="50" charset="-128"/>
                        </a:rPr>
                        <a:t>2</a:t>
                      </a:r>
                      <a:endParaRPr kumimoji="1" lang="ja-JP" altLang="en-US" sz="731" b="0">
                        <a:solidFill>
                          <a:srgbClr val="1A2233"/>
                        </a:solidFill>
                        <a:latin typeface="Yu Gothic UI" panose="020B0500000000000000" pitchFamily="50" charset="-128"/>
                        <a:ea typeface="Yu Gothic UI" panose="020B0500000000000000" pitchFamily="50" charset="-128"/>
                      </a:endParaRPr>
                    </a:p>
                  </a:txBody>
                  <a:tcPr marL="43688" marR="43688" marT="21844" marB="21844">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閉じた扉の「幻」を直す（開口積分の分岐。戸口の幅で出方が変わる）</a:t>
                      </a:r>
                    </a:p>
                  </a:txBody>
                  <a:tcPr marL="43688" marR="43688" marT="21844" marB="21844">
                    <a:lnL w="12700" cmpd="sng">
                      <a:solidFill>
                        <a:srgbClr val="D8DEE6"/>
                      </a:solidFill>
                    </a:lnL>
                    <a:lnR w="12700" cmpd="sng">
                      <a:solidFill>
                        <a:srgbClr val="D8DEE6"/>
                      </a:solidFill>
                    </a:lnR>
                    <a:lnT w="381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753859011"/>
                  </a:ext>
                </a:extLst>
              </a:tr>
              <a:tr h="0">
                <a:tc>
                  <a:txBody>
                    <a:bodyPr/>
                    <a:lstStyle/>
                    <a:p>
                      <a:r>
                        <a:rPr kumimoji="1" lang="en-US" altLang="ja-JP" sz="731" b="0">
                          <a:solidFill>
                            <a:srgbClr val="1A2233"/>
                          </a:solidFill>
                          <a:latin typeface="Yu Gothic UI" panose="020B0500000000000000" pitchFamily="50" charset="-128"/>
                          <a:ea typeface="Yu Gothic UI" panose="020B0500000000000000" pitchFamily="50" charset="-128"/>
                        </a:rPr>
                        <a:t>3</a:t>
                      </a:r>
                      <a:endParaRPr kumimoji="1" lang="ja-JP" altLang="en-US" sz="731" b="0">
                        <a:solidFill>
                          <a:srgbClr val="1A2233"/>
                        </a:solidFill>
                        <a:latin typeface="Yu Gothic UI" panose="020B0500000000000000" pitchFamily="50" charset="-128"/>
                        <a:ea typeface="Yu Gothic UI" panose="020B0500000000000000" pitchFamily="50" charset="-128"/>
                      </a:endParaRP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静的な稜線を焼く（探索の点滅を構成から消す。動く物の稜線は実行時に合流）</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2460764350"/>
                  </a:ext>
                </a:extLst>
              </a:tr>
              <a:tr h="0">
                <a:tc>
                  <a:txBody>
                    <a:bodyPr/>
                    <a:lstStyle/>
                    <a:p>
                      <a:r>
                        <a:rPr kumimoji="1" lang="en-US" altLang="ja-JP" sz="731" b="0">
                          <a:solidFill>
                            <a:srgbClr val="1A2233"/>
                          </a:solidFill>
                          <a:latin typeface="Yu Gothic UI" panose="020B0500000000000000" pitchFamily="50" charset="-128"/>
                          <a:ea typeface="Yu Gothic UI" panose="020B0500000000000000" pitchFamily="50" charset="-128"/>
                        </a:rPr>
                        <a:t>4</a:t>
                      </a:r>
                      <a:endParaRPr kumimoji="1" lang="ja-JP" altLang="en-US" sz="731" b="0">
                        <a:solidFill>
                          <a:srgbClr val="1A2233"/>
                        </a:solidFill>
                        <a:latin typeface="Yu Gothic UI" panose="020B0500000000000000" pitchFamily="50" charset="-128"/>
                        <a:ea typeface="Yu Gothic UI" panose="020B0500000000000000" pitchFamily="50" charset="-128"/>
                      </a:endParaRP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キャプチャの入力リプレイを </a:t>
                      </a:r>
                      <a:r>
                        <a:rPr kumimoji="1" lang="en-US" altLang="ja-JP" sz="731" b="0">
                          <a:solidFill>
                            <a:srgbClr val="1A2233"/>
                          </a:solidFill>
                          <a:latin typeface="Yu Gothic UI" panose="020B0500000000000000" pitchFamily="50" charset="-128"/>
                          <a:ea typeface="Yu Gothic UI" panose="020B0500000000000000" pitchFamily="50" charset="-128"/>
                        </a:rPr>
                        <a:t>Unity </a:t>
                      </a:r>
                      <a:r>
                        <a:rPr kumimoji="1" lang="ja-JP" altLang="en-US" sz="731" b="0">
                          <a:solidFill>
                            <a:srgbClr val="1A2233"/>
                          </a:solidFill>
                          <a:latin typeface="Yu Gothic UI" panose="020B0500000000000000" pitchFamily="50" charset="-128"/>
                          <a:ea typeface="Yu Gothic UI" panose="020B0500000000000000" pitchFamily="50" charset="-128"/>
                        </a:rPr>
                        <a:t>側から回せるようにする</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4254695179"/>
                  </a:ext>
                </a:extLst>
              </a:tr>
              <a:tr h="0">
                <a:tc>
                  <a:txBody>
                    <a:bodyPr/>
                    <a:lstStyle/>
                    <a:p>
                      <a:r>
                        <a:rPr kumimoji="1" lang="en-US" altLang="ja-JP" sz="731" b="0">
                          <a:solidFill>
                            <a:srgbClr val="1A2233"/>
                          </a:solidFill>
                          <a:latin typeface="Yu Gothic UI" panose="020B0500000000000000" pitchFamily="50" charset="-128"/>
                          <a:ea typeface="Yu Gothic UI" panose="020B0500000000000000" pitchFamily="50" charset="-128"/>
                        </a:rPr>
                        <a:t>5</a:t>
                      </a:r>
                      <a:endParaRPr kumimoji="1" lang="ja-JP" altLang="en-US" sz="731" b="0">
                        <a:solidFill>
                          <a:srgbClr val="1A2233"/>
                        </a:solidFill>
                        <a:latin typeface="Yu Gothic UI" panose="020B0500000000000000" pitchFamily="50" charset="-128"/>
                        <a:ea typeface="Yu Gothic UI" panose="020B0500000000000000" pitchFamily="50" charset="-128"/>
                      </a:endParaRP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音声スレッド </a:t>
                      </a:r>
                      <a:r>
                        <a:rPr kumimoji="1" lang="en-US" altLang="ja-JP" sz="731" b="0">
                          <a:solidFill>
                            <a:srgbClr val="1A2233"/>
                          </a:solidFill>
                          <a:latin typeface="Yu Gothic UI" panose="020B0500000000000000" pitchFamily="50" charset="-128"/>
                          <a:ea typeface="Yu Gothic UI" panose="020B0500000000000000" pitchFamily="50" charset="-128"/>
                        </a:rPr>
                        <a:t>45 % </a:t>
                      </a:r>
                      <a:r>
                        <a:rPr kumimoji="1" lang="ja-JP" altLang="en-US" sz="731" b="0">
                          <a:solidFill>
                            <a:srgbClr val="1A2233"/>
                          </a:solidFill>
                          <a:latin typeface="Yu Gothic UI" panose="020B0500000000000000" pitchFamily="50" charset="-128"/>
                          <a:ea typeface="Yu Gothic UI" panose="020B0500000000000000" pitchFamily="50" charset="-128"/>
                        </a:rPr>
                        <a:t>をさらに下げる（段の振り分け）</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4231962202"/>
                  </a:ext>
                </a:extLst>
              </a:tr>
              <a:tr h="0">
                <a:tc>
                  <a:txBody>
                    <a:bodyPr/>
                    <a:lstStyle/>
                    <a:p>
                      <a:r>
                        <a:rPr kumimoji="1" lang="en-US" altLang="ja-JP" sz="731" b="0">
                          <a:solidFill>
                            <a:srgbClr val="1A2233"/>
                          </a:solidFill>
                          <a:latin typeface="Yu Gothic UI" panose="020B0500000000000000" pitchFamily="50" charset="-128"/>
                          <a:ea typeface="Yu Gothic UI" panose="020B0500000000000000" pitchFamily="50" charset="-128"/>
                        </a:rPr>
                        <a:t>6</a:t>
                      </a:r>
                      <a:endParaRPr kumimoji="1" lang="ja-JP" altLang="en-US" sz="731" b="0">
                        <a:solidFill>
                          <a:srgbClr val="1A2233"/>
                        </a:solidFill>
                        <a:latin typeface="Yu Gothic UI" panose="020B0500000000000000" pitchFamily="50" charset="-128"/>
                        <a:ea typeface="Yu Gothic UI" panose="020B0500000000000000" pitchFamily="50" charset="-128"/>
                      </a:endParaRP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tc>
                  <a:txBody>
                    <a:bodyPr/>
                    <a:lstStyle/>
                    <a:p>
                      <a:r>
                        <a:rPr kumimoji="1" lang="ja-JP" altLang="en-US" sz="731" b="0">
                          <a:solidFill>
                            <a:srgbClr val="1A2233"/>
                          </a:solidFill>
                          <a:latin typeface="Yu Gothic UI" panose="020B0500000000000000" pitchFamily="50" charset="-128"/>
                          <a:ea typeface="Yu Gothic UI" panose="020B0500000000000000" pitchFamily="50" charset="-128"/>
                        </a:rPr>
                        <a:t>実証用ゲーム </a:t>
                      </a:r>
                      <a:r>
                        <a:rPr kumimoji="1" lang="en-US" altLang="ja-JP" sz="731" b="0">
                          <a:solidFill>
                            <a:srgbClr val="1A2233"/>
                          </a:solidFill>
                          <a:latin typeface="Yu Gothic UI" panose="020B0500000000000000" pitchFamily="50" charset="-128"/>
                          <a:ea typeface="Yu Gothic UI" panose="020B0500000000000000" pitchFamily="50" charset="-128"/>
                        </a:rPr>
                        <a:t>Bell / Door </a:t>
                      </a:r>
                      <a:r>
                        <a:rPr kumimoji="1" lang="ja-JP" altLang="en-US" sz="731" b="0">
                          <a:solidFill>
                            <a:srgbClr val="1A2233"/>
                          </a:solidFill>
                          <a:latin typeface="Yu Gothic UI" panose="020B0500000000000000" pitchFamily="50" charset="-128"/>
                          <a:ea typeface="Yu Gothic UI" panose="020B0500000000000000" pitchFamily="50" charset="-128"/>
                        </a:rPr>
                        <a:t>の完成（制作中）</a:t>
                      </a:r>
                    </a:p>
                  </a:txBody>
                  <a:tcPr marL="43688" marR="43688" marT="21844" marB="21844">
                    <a:lnL w="12700" cmpd="sng">
                      <a:solidFill>
                        <a:srgbClr val="D8DEE6"/>
                      </a:solidFill>
                    </a:lnL>
                    <a:lnR w="12700" cmpd="sng">
                      <a:solidFill>
                        <a:srgbClr val="D8DEE6"/>
                      </a:solidFill>
                    </a:lnR>
                    <a:lnT w="12700" cmpd="sng">
                      <a:solidFill>
                        <a:srgbClr val="D8DEE6"/>
                      </a:solidFill>
                    </a:lnT>
                    <a:lnB w="12700" cmpd="sng">
                      <a:solidFill>
                        <a:srgbClr val="D8DEE6"/>
                      </a:solidFill>
                    </a:lnB>
                    <a:solidFill>
                      <a:srgbClr val="FFFFFF"/>
                    </a:solidFill>
                  </a:tcPr>
                </a:tc>
                <a:extLst>
                  <a:ext uri="{0D108BD9-81ED-4DB2-BD59-A6C34878D82A}">
                    <a16:rowId xmlns:a16="http://schemas.microsoft.com/office/drawing/2014/main" val="1088861416"/>
                  </a:ext>
                </a:extLst>
              </a:tr>
            </a:tbl>
          </a:graphicData>
        </a:graphic>
      </p:graphicFrame>
      <p:sp>
        <p:nvSpPr>
          <p:cNvPr id="47" name="テキスト ボックス 46">
            <a:extLst>
              <a:ext uri="{FF2B5EF4-FFF2-40B4-BE49-F238E27FC236}">
                <a16:creationId xmlns:a16="http://schemas.microsoft.com/office/drawing/2014/main" id="{859141EC-C407-74A7-7585-EFECB2791B70}"/>
              </a:ext>
            </a:extLst>
          </p:cNvPr>
          <p:cNvSpPr txBox="1"/>
          <p:nvPr/>
        </p:nvSpPr>
        <p:spPr>
          <a:xfrm>
            <a:off x="4371510" y="3289130"/>
            <a:ext cx="3448981" cy="477823"/>
          </a:xfrm>
          <a:prstGeom prst="rect">
            <a:avLst/>
          </a:prstGeom>
          <a:noFill/>
        </p:spPr>
        <p:txBody>
          <a:bodyPr vert="horz" wrap="square" lIns="0" tIns="0" rIns="0" bIns="0" rtlCol="0">
            <a:spAutoFit/>
          </a:bodyPr>
          <a:lstStyle/>
          <a:p>
            <a:pPr>
              <a:lnSpc>
                <a:spcPct val="95000"/>
              </a:lnSpc>
            </a:pPr>
            <a:r>
              <a:rPr kumimoji="1" lang="ja-JP" altLang="en-US" sz="817">
                <a:solidFill>
                  <a:srgbClr val="1A2233"/>
                </a:solidFill>
                <a:latin typeface="Yu Gothic UI" panose="020B0500000000000000" pitchFamily="50" charset="-128"/>
                <a:ea typeface="Yu Gothic UI" panose="020B0500000000000000" pitchFamily="50" charset="-128"/>
              </a:rPr>
              <a:t>この作品で身につけたこと </a:t>
            </a:r>
          </a:p>
          <a:p>
            <a:pPr>
              <a:lnSpc>
                <a:spcPct val="95000"/>
              </a:lnSpc>
            </a:pPr>
            <a:r>
              <a:rPr kumimoji="1" lang="ja-JP" altLang="en-US" sz="817">
                <a:solidFill>
                  <a:srgbClr val="1A2233"/>
                </a:solidFill>
                <a:latin typeface="Yu Gothic UI" panose="020B0500000000000000" pitchFamily="50" charset="-128"/>
                <a:ea typeface="Yu Gothic UI" panose="020B0500000000000000" pitchFamily="50" charset="-128"/>
              </a:rPr>
              <a:t>症状 → 実測 → 原因 → 対策 → 再実測 で切り分ける </a:t>
            </a:r>
          </a:p>
          <a:p>
            <a:pPr>
              <a:lnSpc>
                <a:spcPct val="95000"/>
              </a:lnSpc>
            </a:pPr>
            <a:r>
              <a:rPr kumimoji="1" lang="ja-JP" altLang="en-US" sz="817">
                <a:solidFill>
                  <a:srgbClr val="1A2233"/>
                </a:solidFill>
                <a:latin typeface="Yu Gothic UI" panose="020B0500000000000000" pitchFamily="50" charset="-128"/>
                <a:ea typeface="Yu Gothic UI" panose="020B0500000000000000" pitchFamily="50" charset="-128"/>
              </a:rPr>
              <a:t>速くするときは「音が変わっていないこと」を先に担保する </a:t>
            </a:r>
          </a:p>
          <a:p>
            <a:pPr>
              <a:lnSpc>
                <a:spcPct val="95000"/>
              </a:lnSpc>
            </a:pPr>
            <a:r>
              <a:rPr kumimoji="1" lang="ja-JP" altLang="en-US" sz="817">
                <a:solidFill>
                  <a:srgbClr val="1A2233"/>
                </a:solidFill>
                <a:latin typeface="Yu Gothic UI" panose="020B0500000000000000" pitchFamily="50" charset="-128"/>
                <a:ea typeface="Yu Gothic UI" panose="020B0500000000000000" pitchFamily="50" charset="-128"/>
              </a:rPr>
              <a:t>採用しなかった案を記録に残す</a:t>
            </a:r>
          </a:p>
        </p:txBody>
      </p:sp>
      <p:sp>
        <p:nvSpPr>
          <p:cNvPr id="49" name="テキスト ボックス 48">
            <a:extLst>
              <a:ext uri="{FF2B5EF4-FFF2-40B4-BE49-F238E27FC236}">
                <a16:creationId xmlns:a16="http://schemas.microsoft.com/office/drawing/2014/main" id="{DC5AA5AF-7549-F794-DA2E-7CC3826CF169}"/>
              </a:ext>
            </a:extLst>
          </p:cNvPr>
          <p:cNvSpPr txBox="1"/>
          <p:nvPr/>
        </p:nvSpPr>
        <p:spPr>
          <a:xfrm>
            <a:off x="4284133" y="3941705"/>
            <a:ext cx="3623733" cy="100540"/>
          </a:xfrm>
          <a:prstGeom prst="rect">
            <a:avLst/>
          </a:prstGeom>
          <a:noFill/>
        </p:spPr>
        <p:txBody>
          <a:bodyPr vert="horz" wrap="square" lIns="0" tIns="0" rIns="0" bIns="0" rtlCol="0">
            <a:spAutoFit/>
          </a:bodyPr>
          <a:lstStyle/>
          <a:p>
            <a:pPr>
              <a:lnSpc>
                <a:spcPct val="95000"/>
              </a:lnSpc>
            </a:pPr>
            <a:r>
              <a:rPr kumimoji="1" lang="ja-JP" altLang="en-US" sz="688">
                <a:solidFill>
                  <a:srgbClr val="6B7688"/>
                </a:solidFill>
                <a:latin typeface="Yu Gothic UI" panose="020B0500000000000000" pitchFamily="50" charset="-128"/>
                <a:ea typeface="Yu Gothic UI" panose="020B0500000000000000" pitchFamily="50" charset="-128"/>
              </a:rPr>
              <a:t>動画（</a:t>
            </a:r>
            <a:r>
              <a:rPr kumimoji="1" lang="en-US" altLang="ja-JP" sz="688">
                <a:solidFill>
                  <a:srgbClr val="6B7688"/>
                </a:solidFill>
                <a:latin typeface="Yu Gothic UI" panose="020B0500000000000000" pitchFamily="50" charset="-128"/>
                <a:ea typeface="Yu Gothic UI" panose="020B0500000000000000" pitchFamily="50" charset="-128"/>
              </a:rPr>
              <a:t>90 </a:t>
            </a:r>
            <a:r>
              <a:rPr kumimoji="1" lang="ja-JP" altLang="en-US" sz="688">
                <a:solidFill>
                  <a:srgbClr val="6B7688"/>
                </a:solidFill>
                <a:latin typeface="Yu Gothic UI" panose="020B0500000000000000" pitchFamily="50" charset="-128"/>
                <a:ea typeface="Yu Gothic UI" panose="020B0500000000000000" pitchFamily="50" charset="-128"/>
              </a:rPr>
              <a:t>秒）／実行可能ビルド／ソースコードを別途提出します。</a:t>
            </a:r>
          </a:p>
        </p:txBody>
      </p:sp>
    </p:spTree>
    <p:extLst>
      <p:ext uri="{BB962C8B-B14F-4D97-AF65-F5344CB8AC3E}">
        <p14:creationId xmlns:p14="http://schemas.microsoft.com/office/powerpoint/2010/main" val="254861535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7133</Words>
  <Application>Microsoft Office PowerPoint</Application>
  <PresentationFormat>ユーザー設定</PresentationFormat>
  <Paragraphs>585</Paragraphs>
  <Slides>18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18</vt:i4>
      </vt:variant>
    </vt:vector>
  </HeadingPairs>
  <TitlesOfParts>
    <vt:vector size="23" baseType="lpstr">
      <vt:lpstr>Yu Gothic UI</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OHAT13B60714 竹内寛登</dc:creator>
  <cp:lastModifiedBy>OHAT13B60714 竹内寛登</cp:lastModifiedBy>
  <cp:revision>1</cp:revision>
  <dcterms:created xsi:type="dcterms:W3CDTF">2026-08-24T09:09:32Z</dcterms:created>
  <dcterms:modified xsi:type="dcterms:W3CDTF">2026-08-24T09:09:32Z</dcterms:modified>
</cp:coreProperties>
</file>