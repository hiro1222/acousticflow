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77" r:id="rId5"/>
    <p:sldId id="293" r:id="rId6"/>
    <p:sldId id="290" r:id="rId7"/>
    <p:sldId id="291" r:id="rId8"/>
    <p:sldId id="294" r:id="rId9"/>
    <p:sldId id="295" r:id="rId10"/>
    <p:sldId id="297" r:id="rId11"/>
    <p:sldId id="298" r:id="rId12"/>
    <p:sldId id="257" r:id="rId13"/>
    <p:sldId id="258" r:id="rId14"/>
    <p:sldId id="259" r:id="rId15"/>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p:scale>
          <a:sx n="150" d="100"/>
          <a:sy n="150" d="100"/>
        </p:scale>
        <p:origin x="630" y="2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F4A3C4E-8514-8B83-FE2A-285A012FEC58}"/>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7BB4E6E5-5D29-FC97-B0D8-65C087F3C5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E3E8099-FAC6-747A-D4F4-C5D98AC9B7C3}"/>
              </a:ext>
            </a:extLst>
          </p:cNvPr>
          <p:cNvSpPr>
            <a:spLocks noGrp="1"/>
          </p:cNvSpPr>
          <p:nvPr>
            <p:ph type="dt" sz="half" idx="10"/>
          </p:nvPr>
        </p:nvSpPr>
        <p:spPr/>
        <p:txBody>
          <a:bodyPr/>
          <a:lstStyle/>
          <a:p>
            <a:fld id="{B0C9BC3C-C340-4B51-95ED-243F9F16900A}" type="datetimeFigureOut">
              <a:rPr kumimoji="1" lang="ja-JP" altLang="en-US" smtClean="0"/>
              <a:t>2026/9/24</a:t>
            </a:fld>
            <a:endParaRPr kumimoji="1" lang="ja-JP" altLang="en-US"/>
          </a:p>
        </p:txBody>
      </p:sp>
      <p:sp>
        <p:nvSpPr>
          <p:cNvPr id="5" name="フッター プレースホルダー 4">
            <a:extLst>
              <a:ext uri="{FF2B5EF4-FFF2-40B4-BE49-F238E27FC236}">
                <a16:creationId xmlns:a16="http://schemas.microsoft.com/office/drawing/2014/main" id="{E3CF228D-9DF8-77C4-8FAD-B8A2FAD3446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B43E47A-C368-58CF-EC75-65ECEFFDCE57}"/>
              </a:ext>
            </a:extLst>
          </p:cNvPr>
          <p:cNvSpPr>
            <a:spLocks noGrp="1"/>
          </p:cNvSpPr>
          <p:nvPr>
            <p:ph type="sldNum" sz="quarter" idx="12"/>
          </p:nvPr>
        </p:nvSpPr>
        <p:spPr/>
        <p:txBody>
          <a:bodyPr/>
          <a:lstStyle/>
          <a:p>
            <a:fld id="{0E224D13-AE03-4197-9CD9-8F37CF8DB663}" type="slidenum">
              <a:rPr kumimoji="1" lang="ja-JP" altLang="en-US" smtClean="0"/>
              <a:t>‹#›</a:t>
            </a:fld>
            <a:endParaRPr kumimoji="1" lang="ja-JP" altLang="en-US"/>
          </a:p>
        </p:txBody>
      </p:sp>
    </p:spTree>
    <p:extLst>
      <p:ext uri="{BB962C8B-B14F-4D97-AF65-F5344CB8AC3E}">
        <p14:creationId xmlns:p14="http://schemas.microsoft.com/office/powerpoint/2010/main" val="29160112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7673D49-A275-870A-2280-4BE155512F2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12E6ECC-378D-3FC7-1318-86F2BFE485F2}"/>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7101848-5A1C-B5BF-E1D6-869489184DF4}"/>
              </a:ext>
            </a:extLst>
          </p:cNvPr>
          <p:cNvSpPr>
            <a:spLocks noGrp="1"/>
          </p:cNvSpPr>
          <p:nvPr>
            <p:ph type="dt" sz="half" idx="10"/>
          </p:nvPr>
        </p:nvSpPr>
        <p:spPr/>
        <p:txBody>
          <a:bodyPr/>
          <a:lstStyle/>
          <a:p>
            <a:fld id="{B0C9BC3C-C340-4B51-95ED-243F9F16900A}" type="datetimeFigureOut">
              <a:rPr kumimoji="1" lang="ja-JP" altLang="en-US" smtClean="0"/>
              <a:t>2026/9/24</a:t>
            </a:fld>
            <a:endParaRPr kumimoji="1" lang="ja-JP" altLang="en-US"/>
          </a:p>
        </p:txBody>
      </p:sp>
      <p:sp>
        <p:nvSpPr>
          <p:cNvPr id="5" name="フッター プレースホルダー 4">
            <a:extLst>
              <a:ext uri="{FF2B5EF4-FFF2-40B4-BE49-F238E27FC236}">
                <a16:creationId xmlns:a16="http://schemas.microsoft.com/office/drawing/2014/main" id="{6A558946-5E32-ACE4-4D3D-8C5578D71DE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CEA2615-1972-AFA4-90B4-F236DC6423FE}"/>
              </a:ext>
            </a:extLst>
          </p:cNvPr>
          <p:cNvSpPr>
            <a:spLocks noGrp="1"/>
          </p:cNvSpPr>
          <p:nvPr>
            <p:ph type="sldNum" sz="quarter" idx="12"/>
          </p:nvPr>
        </p:nvSpPr>
        <p:spPr/>
        <p:txBody>
          <a:bodyPr/>
          <a:lstStyle/>
          <a:p>
            <a:fld id="{0E224D13-AE03-4197-9CD9-8F37CF8DB663}" type="slidenum">
              <a:rPr kumimoji="1" lang="ja-JP" altLang="en-US" smtClean="0"/>
              <a:t>‹#›</a:t>
            </a:fld>
            <a:endParaRPr kumimoji="1" lang="ja-JP" altLang="en-US"/>
          </a:p>
        </p:txBody>
      </p:sp>
    </p:spTree>
    <p:extLst>
      <p:ext uri="{BB962C8B-B14F-4D97-AF65-F5344CB8AC3E}">
        <p14:creationId xmlns:p14="http://schemas.microsoft.com/office/powerpoint/2010/main" val="25025312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9544C78-41E0-EDC0-5F61-FF9329BFA549}"/>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F5BAF89-C37F-D418-E319-325F4BFC7BA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775EEB06-4C91-47F8-EB6D-8EEFBB6CEC1C}"/>
              </a:ext>
            </a:extLst>
          </p:cNvPr>
          <p:cNvSpPr>
            <a:spLocks noGrp="1"/>
          </p:cNvSpPr>
          <p:nvPr>
            <p:ph type="dt" sz="half" idx="10"/>
          </p:nvPr>
        </p:nvSpPr>
        <p:spPr/>
        <p:txBody>
          <a:bodyPr/>
          <a:lstStyle/>
          <a:p>
            <a:fld id="{B0C9BC3C-C340-4B51-95ED-243F9F16900A}" type="datetimeFigureOut">
              <a:rPr kumimoji="1" lang="ja-JP" altLang="en-US" smtClean="0"/>
              <a:t>2026/9/24</a:t>
            </a:fld>
            <a:endParaRPr kumimoji="1" lang="ja-JP" altLang="en-US"/>
          </a:p>
        </p:txBody>
      </p:sp>
      <p:sp>
        <p:nvSpPr>
          <p:cNvPr id="5" name="フッター プレースホルダー 4">
            <a:extLst>
              <a:ext uri="{FF2B5EF4-FFF2-40B4-BE49-F238E27FC236}">
                <a16:creationId xmlns:a16="http://schemas.microsoft.com/office/drawing/2014/main" id="{865D894D-8DCA-A853-8ACC-67D8BE4F40D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F189333-C615-560C-08B0-1860C9544F2E}"/>
              </a:ext>
            </a:extLst>
          </p:cNvPr>
          <p:cNvSpPr>
            <a:spLocks noGrp="1"/>
          </p:cNvSpPr>
          <p:nvPr>
            <p:ph type="sldNum" sz="quarter" idx="12"/>
          </p:nvPr>
        </p:nvSpPr>
        <p:spPr/>
        <p:txBody>
          <a:bodyPr/>
          <a:lstStyle/>
          <a:p>
            <a:fld id="{0E224D13-AE03-4197-9CD9-8F37CF8DB663}" type="slidenum">
              <a:rPr kumimoji="1" lang="ja-JP" altLang="en-US" smtClean="0"/>
              <a:t>‹#›</a:t>
            </a:fld>
            <a:endParaRPr kumimoji="1" lang="ja-JP" altLang="en-US"/>
          </a:p>
        </p:txBody>
      </p:sp>
    </p:spTree>
    <p:extLst>
      <p:ext uri="{BB962C8B-B14F-4D97-AF65-F5344CB8AC3E}">
        <p14:creationId xmlns:p14="http://schemas.microsoft.com/office/powerpoint/2010/main" val="26539572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3B1F7C-5BC9-0D03-C7ED-533754084545}"/>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32D0388-AD30-0476-3C05-4523E7CCFC35}"/>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A3903D71-8BCD-CA04-C544-99FA04FFDF6F}"/>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83A6EB03-B126-EB4C-89BD-5EDD6206541E}"/>
              </a:ext>
            </a:extLst>
          </p:cNvPr>
          <p:cNvSpPr>
            <a:spLocks noGrp="1"/>
          </p:cNvSpPr>
          <p:nvPr>
            <p:ph type="dt" sz="half" idx="10"/>
          </p:nvPr>
        </p:nvSpPr>
        <p:spPr/>
        <p:txBody>
          <a:bodyPr/>
          <a:lstStyle/>
          <a:p>
            <a:fld id="{B0C9BC3C-C340-4B51-95ED-243F9F16900A}" type="datetimeFigureOut">
              <a:rPr kumimoji="1" lang="ja-JP" altLang="en-US" smtClean="0"/>
              <a:t>2026/9/24</a:t>
            </a:fld>
            <a:endParaRPr kumimoji="1" lang="ja-JP" altLang="en-US"/>
          </a:p>
        </p:txBody>
      </p:sp>
      <p:sp>
        <p:nvSpPr>
          <p:cNvPr id="6" name="フッター プレースホルダー 5">
            <a:extLst>
              <a:ext uri="{FF2B5EF4-FFF2-40B4-BE49-F238E27FC236}">
                <a16:creationId xmlns:a16="http://schemas.microsoft.com/office/drawing/2014/main" id="{BD84C633-FB12-2B0E-36DE-6DEC19FAA6D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9BCA8FA-CC12-C6B5-F9E0-77FB7D146226}"/>
              </a:ext>
            </a:extLst>
          </p:cNvPr>
          <p:cNvSpPr>
            <a:spLocks noGrp="1"/>
          </p:cNvSpPr>
          <p:nvPr>
            <p:ph type="sldNum" sz="quarter" idx="12"/>
          </p:nvPr>
        </p:nvSpPr>
        <p:spPr/>
        <p:txBody>
          <a:bodyPr/>
          <a:lstStyle/>
          <a:p>
            <a:fld id="{0E224D13-AE03-4197-9CD9-8F37CF8DB663}" type="slidenum">
              <a:rPr kumimoji="1" lang="ja-JP" altLang="en-US" smtClean="0"/>
              <a:t>‹#›</a:t>
            </a:fld>
            <a:endParaRPr kumimoji="1" lang="ja-JP" altLang="en-US"/>
          </a:p>
        </p:txBody>
      </p:sp>
    </p:spTree>
    <p:extLst>
      <p:ext uri="{BB962C8B-B14F-4D97-AF65-F5344CB8AC3E}">
        <p14:creationId xmlns:p14="http://schemas.microsoft.com/office/powerpoint/2010/main" val="29884036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CD847D-0366-FAFD-20B6-BCB76D42E9CF}"/>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F3258C6-BC24-5E5F-7AB6-7C7B557AFC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F1AF5A97-9C99-7076-8AB0-F48596395530}"/>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24BDCDBC-3A2C-29AA-DA0E-5D9CACA783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B2B02B2C-A244-F27A-F4D4-A82DAD8E6A0C}"/>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6DA2B241-384A-A6D6-A7B6-A9EB01CD67D0}"/>
              </a:ext>
            </a:extLst>
          </p:cNvPr>
          <p:cNvSpPr>
            <a:spLocks noGrp="1"/>
          </p:cNvSpPr>
          <p:nvPr>
            <p:ph type="dt" sz="half" idx="10"/>
          </p:nvPr>
        </p:nvSpPr>
        <p:spPr/>
        <p:txBody>
          <a:bodyPr/>
          <a:lstStyle/>
          <a:p>
            <a:fld id="{B0C9BC3C-C340-4B51-95ED-243F9F16900A}" type="datetimeFigureOut">
              <a:rPr kumimoji="1" lang="ja-JP" altLang="en-US" smtClean="0"/>
              <a:t>2026/9/24</a:t>
            </a:fld>
            <a:endParaRPr kumimoji="1" lang="ja-JP" altLang="en-US"/>
          </a:p>
        </p:txBody>
      </p:sp>
      <p:sp>
        <p:nvSpPr>
          <p:cNvPr id="8" name="フッター プレースホルダー 7">
            <a:extLst>
              <a:ext uri="{FF2B5EF4-FFF2-40B4-BE49-F238E27FC236}">
                <a16:creationId xmlns:a16="http://schemas.microsoft.com/office/drawing/2014/main" id="{693518D2-4033-1046-59FD-4B8BDFB57BCE}"/>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97D896ED-DBAC-7356-794C-C2563C3C558D}"/>
              </a:ext>
            </a:extLst>
          </p:cNvPr>
          <p:cNvSpPr>
            <a:spLocks noGrp="1"/>
          </p:cNvSpPr>
          <p:nvPr>
            <p:ph type="sldNum" sz="quarter" idx="12"/>
          </p:nvPr>
        </p:nvSpPr>
        <p:spPr/>
        <p:txBody>
          <a:bodyPr/>
          <a:lstStyle/>
          <a:p>
            <a:fld id="{0E224D13-AE03-4197-9CD9-8F37CF8DB663}" type="slidenum">
              <a:rPr kumimoji="1" lang="ja-JP" altLang="en-US" smtClean="0"/>
              <a:t>‹#›</a:t>
            </a:fld>
            <a:endParaRPr kumimoji="1" lang="ja-JP" altLang="en-US"/>
          </a:p>
        </p:txBody>
      </p:sp>
    </p:spTree>
    <p:extLst>
      <p:ext uri="{BB962C8B-B14F-4D97-AF65-F5344CB8AC3E}">
        <p14:creationId xmlns:p14="http://schemas.microsoft.com/office/powerpoint/2010/main" val="34292625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4D40D97-250A-F6AF-7107-82CC22703E6C}"/>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C3897A72-885D-43D8-5F29-987730DD58F4}"/>
              </a:ext>
            </a:extLst>
          </p:cNvPr>
          <p:cNvSpPr>
            <a:spLocks noGrp="1"/>
          </p:cNvSpPr>
          <p:nvPr>
            <p:ph type="dt" sz="half" idx="10"/>
          </p:nvPr>
        </p:nvSpPr>
        <p:spPr/>
        <p:txBody>
          <a:bodyPr/>
          <a:lstStyle/>
          <a:p>
            <a:fld id="{B0C9BC3C-C340-4B51-95ED-243F9F16900A}" type="datetimeFigureOut">
              <a:rPr kumimoji="1" lang="ja-JP" altLang="en-US" smtClean="0"/>
              <a:t>2026/9/24</a:t>
            </a:fld>
            <a:endParaRPr kumimoji="1" lang="ja-JP" altLang="en-US"/>
          </a:p>
        </p:txBody>
      </p:sp>
      <p:sp>
        <p:nvSpPr>
          <p:cNvPr id="4" name="フッター プレースホルダー 3">
            <a:extLst>
              <a:ext uri="{FF2B5EF4-FFF2-40B4-BE49-F238E27FC236}">
                <a16:creationId xmlns:a16="http://schemas.microsoft.com/office/drawing/2014/main" id="{5288A01D-0F33-AC42-2C7A-A4FBCB264A9C}"/>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73B317C4-30E9-8000-CA0B-417FF6047D34}"/>
              </a:ext>
            </a:extLst>
          </p:cNvPr>
          <p:cNvSpPr>
            <a:spLocks noGrp="1"/>
          </p:cNvSpPr>
          <p:nvPr>
            <p:ph type="sldNum" sz="quarter" idx="12"/>
          </p:nvPr>
        </p:nvSpPr>
        <p:spPr/>
        <p:txBody>
          <a:bodyPr/>
          <a:lstStyle/>
          <a:p>
            <a:fld id="{0E224D13-AE03-4197-9CD9-8F37CF8DB663}" type="slidenum">
              <a:rPr kumimoji="1" lang="ja-JP" altLang="en-US" smtClean="0"/>
              <a:t>‹#›</a:t>
            </a:fld>
            <a:endParaRPr kumimoji="1" lang="ja-JP" altLang="en-US"/>
          </a:p>
        </p:txBody>
      </p:sp>
    </p:spTree>
    <p:extLst>
      <p:ext uri="{BB962C8B-B14F-4D97-AF65-F5344CB8AC3E}">
        <p14:creationId xmlns:p14="http://schemas.microsoft.com/office/powerpoint/2010/main" val="23167475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7A8161FC-2683-B082-D1AA-DF15DA7DEC1F}"/>
              </a:ext>
            </a:extLst>
          </p:cNvPr>
          <p:cNvSpPr>
            <a:spLocks noGrp="1"/>
          </p:cNvSpPr>
          <p:nvPr>
            <p:ph type="dt" sz="half" idx="10"/>
          </p:nvPr>
        </p:nvSpPr>
        <p:spPr/>
        <p:txBody>
          <a:bodyPr/>
          <a:lstStyle/>
          <a:p>
            <a:fld id="{B0C9BC3C-C340-4B51-95ED-243F9F16900A}" type="datetimeFigureOut">
              <a:rPr kumimoji="1" lang="ja-JP" altLang="en-US" smtClean="0"/>
              <a:t>2026/9/24</a:t>
            </a:fld>
            <a:endParaRPr kumimoji="1" lang="ja-JP" altLang="en-US"/>
          </a:p>
        </p:txBody>
      </p:sp>
      <p:sp>
        <p:nvSpPr>
          <p:cNvPr id="3" name="フッター プレースホルダー 2">
            <a:extLst>
              <a:ext uri="{FF2B5EF4-FFF2-40B4-BE49-F238E27FC236}">
                <a16:creationId xmlns:a16="http://schemas.microsoft.com/office/drawing/2014/main" id="{692F8E52-BA0A-2DCE-8595-BCF5ED22E62A}"/>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0DE87E-52EB-3072-20E7-B71EDC1D28F9}"/>
              </a:ext>
            </a:extLst>
          </p:cNvPr>
          <p:cNvSpPr>
            <a:spLocks noGrp="1"/>
          </p:cNvSpPr>
          <p:nvPr>
            <p:ph type="sldNum" sz="quarter" idx="12"/>
          </p:nvPr>
        </p:nvSpPr>
        <p:spPr/>
        <p:txBody>
          <a:bodyPr/>
          <a:lstStyle/>
          <a:p>
            <a:fld id="{0E224D13-AE03-4197-9CD9-8F37CF8DB663}" type="slidenum">
              <a:rPr kumimoji="1" lang="ja-JP" altLang="en-US" smtClean="0"/>
              <a:t>‹#›</a:t>
            </a:fld>
            <a:endParaRPr kumimoji="1" lang="ja-JP" altLang="en-US"/>
          </a:p>
        </p:txBody>
      </p:sp>
    </p:spTree>
    <p:extLst>
      <p:ext uri="{BB962C8B-B14F-4D97-AF65-F5344CB8AC3E}">
        <p14:creationId xmlns:p14="http://schemas.microsoft.com/office/powerpoint/2010/main" val="21863760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441E990-569E-7C34-631B-E74777196C6D}"/>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781E26E-634C-BA68-1542-D72F21B056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A2C09022-BD68-977E-32AD-28AB5BF241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FF99B59C-4C15-2F0E-9589-0D25653DD9A9}"/>
              </a:ext>
            </a:extLst>
          </p:cNvPr>
          <p:cNvSpPr>
            <a:spLocks noGrp="1"/>
          </p:cNvSpPr>
          <p:nvPr>
            <p:ph type="dt" sz="half" idx="10"/>
          </p:nvPr>
        </p:nvSpPr>
        <p:spPr/>
        <p:txBody>
          <a:bodyPr/>
          <a:lstStyle/>
          <a:p>
            <a:fld id="{B0C9BC3C-C340-4B51-95ED-243F9F16900A}" type="datetimeFigureOut">
              <a:rPr kumimoji="1" lang="ja-JP" altLang="en-US" smtClean="0"/>
              <a:t>2026/9/24</a:t>
            </a:fld>
            <a:endParaRPr kumimoji="1" lang="ja-JP" altLang="en-US"/>
          </a:p>
        </p:txBody>
      </p:sp>
      <p:sp>
        <p:nvSpPr>
          <p:cNvPr id="6" name="フッター プレースホルダー 5">
            <a:extLst>
              <a:ext uri="{FF2B5EF4-FFF2-40B4-BE49-F238E27FC236}">
                <a16:creationId xmlns:a16="http://schemas.microsoft.com/office/drawing/2014/main" id="{57A8DB41-75FF-9056-090C-AF72D5BA946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569E810-C42A-7B20-B313-B5A1519A352B}"/>
              </a:ext>
            </a:extLst>
          </p:cNvPr>
          <p:cNvSpPr>
            <a:spLocks noGrp="1"/>
          </p:cNvSpPr>
          <p:nvPr>
            <p:ph type="sldNum" sz="quarter" idx="12"/>
          </p:nvPr>
        </p:nvSpPr>
        <p:spPr/>
        <p:txBody>
          <a:bodyPr/>
          <a:lstStyle/>
          <a:p>
            <a:fld id="{0E224D13-AE03-4197-9CD9-8F37CF8DB663}" type="slidenum">
              <a:rPr kumimoji="1" lang="ja-JP" altLang="en-US" smtClean="0"/>
              <a:t>‹#›</a:t>
            </a:fld>
            <a:endParaRPr kumimoji="1" lang="ja-JP" altLang="en-US"/>
          </a:p>
        </p:txBody>
      </p:sp>
    </p:spTree>
    <p:extLst>
      <p:ext uri="{BB962C8B-B14F-4D97-AF65-F5344CB8AC3E}">
        <p14:creationId xmlns:p14="http://schemas.microsoft.com/office/powerpoint/2010/main" val="17748979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FA1B674-10E8-BF62-682E-62E6BF0E7B6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FDF79050-13CF-4D18-6339-D3941F7553D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A50F4891-72AF-F1D9-27C9-0D91778B63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829BDCEC-9BC6-64CE-3B18-DE4C16A77279}"/>
              </a:ext>
            </a:extLst>
          </p:cNvPr>
          <p:cNvSpPr>
            <a:spLocks noGrp="1"/>
          </p:cNvSpPr>
          <p:nvPr>
            <p:ph type="dt" sz="half" idx="10"/>
          </p:nvPr>
        </p:nvSpPr>
        <p:spPr/>
        <p:txBody>
          <a:bodyPr/>
          <a:lstStyle/>
          <a:p>
            <a:fld id="{B0C9BC3C-C340-4B51-95ED-243F9F16900A}" type="datetimeFigureOut">
              <a:rPr kumimoji="1" lang="ja-JP" altLang="en-US" smtClean="0"/>
              <a:t>2026/9/24</a:t>
            </a:fld>
            <a:endParaRPr kumimoji="1" lang="ja-JP" altLang="en-US"/>
          </a:p>
        </p:txBody>
      </p:sp>
      <p:sp>
        <p:nvSpPr>
          <p:cNvPr id="6" name="フッター プレースホルダー 5">
            <a:extLst>
              <a:ext uri="{FF2B5EF4-FFF2-40B4-BE49-F238E27FC236}">
                <a16:creationId xmlns:a16="http://schemas.microsoft.com/office/drawing/2014/main" id="{E204B2C2-3F51-3980-5BEA-413AF34F71B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5C86812-6860-EB54-CABE-293D51998637}"/>
              </a:ext>
            </a:extLst>
          </p:cNvPr>
          <p:cNvSpPr>
            <a:spLocks noGrp="1"/>
          </p:cNvSpPr>
          <p:nvPr>
            <p:ph type="sldNum" sz="quarter" idx="12"/>
          </p:nvPr>
        </p:nvSpPr>
        <p:spPr/>
        <p:txBody>
          <a:bodyPr/>
          <a:lstStyle/>
          <a:p>
            <a:fld id="{0E224D13-AE03-4197-9CD9-8F37CF8DB663}" type="slidenum">
              <a:rPr kumimoji="1" lang="ja-JP" altLang="en-US" smtClean="0"/>
              <a:t>‹#›</a:t>
            </a:fld>
            <a:endParaRPr kumimoji="1" lang="ja-JP" altLang="en-US"/>
          </a:p>
        </p:txBody>
      </p:sp>
    </p:spTree>
    <p:extLst>
      <p:ext uri="{BB962C8B-B14F-4D97-AF65-F5344CB8AC3E}">
        <p14:creationId xmlns:p14="http://schemas.microsoft.com/office/powerpoint/2010/main" val="675358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2210067-7390-8361-643D-9CE68DFA70B0}"/>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C9466DC-F3C0-FE93-87E6-5D649BFCC484}"/>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DBA193E-A29E-562D-6992-188B60611EC1}"/>
              </a:ext>
            </a:extLst>
          </p:cNvPr>
          <p:cNvSpPr>
            <a:spLocks noGrp="1"/>
          </p:cNvSpPr>
          <p:nvPr>
            <p:ph type="dt" sz="half" idx="10"/>
          </p:nvPr>
        </p:nvSpPr>
        <p:spPr/>
        <p:txBody>
          <a:bodyPr/>
          <a:lstStyle/>
          <a:p>
            <a:fld id="{B0C9BC3C-C340-4B51-95ED-243F9F16900A}" type="datetimeFigureOut">
              <a:rPr kumimoji="1" lang="ja-JP" altLang="en-US" smtClean="0"/>
              <a:t>2026/9/24</a:t>
            </a:fld>
            <a:endParaRPr kumimoji="1" lang="ja-JP" altLang="en-US"/>
          </a:p>
        </p:txBody>
      </p:sp>
      <p:sp>
        <p:nvSpPr>
          <p:cNvPr id="5" name="フッター プレースホルダー 4">
            <a:extLst>
              <a:ext uri="{FF2B5EF4-FFF2-40B4-BE49-F238E27FC236}">
                <a16:creationId xmlns:a16="http://schemas.microsoft.com/office/drawing/2014/main" id="{09E2863E-9363-28E8-DB96-D0DCC39B04D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F3B6499-12E3-CDE4-77FB-B44A5D4B7824}"/>
              </a:ext>
            </a:extLst>
          </p:cNvPr>
          <p:cNvSpPr>
            <a:spLocks noGrp="1"/>
          </p:cNvSpPr>
          <p:nvPr>
            <p:ph type="sldNum" sz="quarter" idx="12"/>
          </p:nvPr>
        </p:nvSpPr>
        <p:spPr/>
        <p:txBody>
          <a:bodyPr/>
          <a:lstStyle/>
          <a:p>
            <a:fld id="{0E224D13-AE03-4197-9CD9-8F37CF8DB663}" type="slidenum">
              <a:rPr kumimoji="1" lang="ja-JP" altLang="en-US" smtClean="0"/>
              <a:t>‹#›</a:t>
            </a:fld>
            <a:endParaRPr kumimoji="1" lang="ja-JP" altLang="en-US"/>
          </a:p>
        </p:txBody>
      </p:sp>
    </p:spTree>
    <p:extLst>
      <p:ext uri="{BB962C8B-B14F-4D97-AF65-F5344CB8AC3E}">
        <p14:creationId xmlns:p14="http://schemas.microsoft.com/office/powerpoint/2010/main" val="38495233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6289E0D6-E2FA-7E83-A7CC-EBAF7EFF5CF0}"/>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CA491F3-3267-80EA-B5B0-FB0E2B67E5EF}"/>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CCDD8D1-FE86-9118-9D7C-AF1CF8DD35CA}"/>
              </a:ext>
            </a:extLst>
          </p:cNvPr>
          <p:cNvSpPr>
            <a:spLocks noGrp="1"/>
          </p:cNvSpPr>
          <p:nvPr>
            <p:ph type="dt" sz="half" idx="10"/>
          </p:nvPr>
        </p:nvSpPr>
        <p:spPr/>
        <p:txBody>
          <a:bodyPr/>
          <a:lstStyle/>
          <a:p>
            <a:fld id="{B0C9BC3C-C340-4B51-95ED-243F9F16900A}" type="datetimeFigureOut">
              <a:rPr kumimoji="1" lang="ja-JP" altLang="en-US" smtClean="0"/>
              <a:t>2026/9/24</a:t>
            </a:fld>
            <a:endParaRPr kumimoji="1" lang="ja-JP" altLang="en-US"/>
          </a:p>
        </p:txBody>
      </p:sp>
      <p:sp>
        <p:nvSpPr>
          <p:cNvPr id="5" name="フッター プレースホルダー 4">
            <a:extLst>
              <a:ext uri="{FF2B5EF4-FFF2-40B4-BE49-F238E27FC236}">
                <a16:creationId xmlns:a16="http://schemas.microsoft.com/office/drawing/2014/main" id="{3B15A288-4716-1884-4394-A3A5B712185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B9C6286-2694-A796-1940-D59A1ABE6F54}"/>
              </a:ext>
            </a:extLst>
          </p:cNvPr>
          <p:cNvSpPr>
            <a:spLocks noGrp="1"/>
          </p:cNvSpPr>
          <p:nvPr>
            <p:ph type="sldNum" sz="quarter" idx="12"/>
          </p:nvPr>
        </p:nvSpPr>
        <p:spPr/>
        <p:txBody>
          <a:bodyPr/>
          <a:lstStyle/>
          <a:p>
            <a:fld id="{0E224D13-AE03-4197-9CD9-8F37CF8DB663}" type="slidenum">
              <a:rPr kumimoji="1" lang="ja-JP" altLang="en-US" smtClean="0"/>
              <a:t>‹#›</a:t>
            </a:fld>
            <a:endParaRPr kumimoji="1" lang="ja-JP" altLang="en-US"/>
          </a:p>
        </p:txBody>
      </p:sp>
    </p:spTree>
    <p:extLst>
      <p:ext uri="{BB962C8B-B14F-4D97-AF65-F5344CB8AC3E}">
        <p14:creationId xmlns:p14="http://schemas.microsoft.com/office/powerpoint/2010/main" val="10657041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4D1FBD23-492B-2985-6729-33FF947838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2EE682E-232A-1757-E4CF-8A1043C9DED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0668D80-FD2E-CC38-685D-49B13065B5C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0C9BC3C-C340-4B51-95ED-243F9F16900A}" type="datetimeFigureOut">
              <a:rPr kumimoji="1" lang="ja-JP" altLang="en-US" smtClean="0"/>
              <a:t>2026/9/24</a:t>
            </a:fld>
            <a:endParaRPr kumimoji="1" lang="ja-JP" altLang="en-US"/>
          </a:p>
        </p:txBody>
      </p:sp>
      <p:sp>
        <p:nvSpPr>
          <p:cNvPr id="5" name="フッター プレースホルダー 4">
            <a:extLst>
              <a:ext uri="{FF2B5EF4-FFF2-40B4-BE49-F238E27FC236}">
                <a16:creationId xmlns:a16="http://schemas.microsoft.com/office/drawing/2014/main" id="{83504E48-68AE-B0F0-F2C3-8287254E1A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90101281-24CC-108D-038D-DE019E05F2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E224D13-AE03-4197-9CD9-8F37CF8DB663}" type="slidenum">
              <a:rPr kumimoji="1" lang="ja-JP" altLang="en-US" smtClean="0"/>
              <a:t>‹#›</a:t>
            </a:fld>
            <a:endParaRPr kumimoji="1" lang="ja-JP" altLang="en-US"/>
          </a:p>
        </p:txBody>
      </p:sp>
    </p:spTree>
    <p:extLst>
      <p:ext uri="{BB962C8B-B14F-4D97-AF65-F5344CB8AC3E}">
        <p14:creationId xmlns:p14="http://schemas.microsoft.com/office/powerpoint/2010/main" val="5846462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jpe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2CA7F9B-7597-C11D-F482-EE320D33182C}"/>
              </a:ext>
            </a:extLst>
          </p:cNvPr>
          <p:cNvSpPr>
            <a:spLocks noGrp="1"/>
          </p:cNvSpPr>
          <p:nvPr>
            <p:ph type="ctrTitle"/>
          </p:nvPr>
        </p:nvSpPr>
        <p:spPr/>
        <p:txBody>
          <a:bodyPr/>
          <a:lstStyle/>
          <a:p>
            <a:r>
              <a:rPr kumimoji="1" lang="ja-JP" altLang="en-US" b="1" dirty="0">
                <a:latin typeface="BIZ UDPゴシック" panose="020B0400000000000000" pitchFamily="50" charset="-128"/>
                <a:ea typeface="BIZ UDPゴシック" panose="020B0400000000000000" pitchFamily="50" charset="-128"/>
              </a:rPr>
              <a:t>就職作品資料</a:t>
            </a:r>
          </a:p>
        </p:txBody>
      </p:sp>
      <p:pic>
        <p:nvPicPr>
          <p:cNvPr id="4" name="Image 1" descr="img/wave_deco.png">
            <a:extLst>
              <a:ext uri="{FF2B5EF4-FFF2-40B4-BE49-F238E27FC236}">
                <a16:creationId xmlns:a16="http://schemas.microsoft.com/office/drawing/2014/main" id="{14DBCBD3-79D6-12CB-01F4-38D2A8B34E2E}"/>
              </a:ext>
            </a:extLst>
          </p:cNvPr>
          <p:cNvPicPr>
            <a:picLocks noChangeAspect="1"/>
          </p:cNvPicPr>
          <p:nvPr/>
        </p:nvPicPr>
        <p:blipFill>
          <a:blip r:embed="rId2">
            <a:alphaModFix amt="65000"/>
          </a:blip>
          <a:stretch>
            <a:fillRect/>
          </a:stretch>
        </p:blipFill>
        <p:spPr>
          <a:xfrm>
            <a:off x="0" y="6217438"/>
            <a:ext cx="12192000" cy="731520"/>
          </a:xfrm>
          <a:prstGeom prst="rect">
            <a:avLst/>
          </a:prstGeom>
        </p:spPr>
      </p:pic>
      <p:pic>
        <p:nvPicPr>
          <p:cNvPr id="5" name="Image 0" descr="img/eq_small.png">
            <a:extLst>
              <a:ext uri="{FF2B5EF4-FFF2-40B4-BE49-F238E27FC236}">
                <a16:creationId xmlns:a16="http://schemas.microsoft.com/office/drawing/2014/main" id="{BB2CF2BA-F626-962B-0A62-409FDC13BBBB}"/>
              </a:ext>
            </a:extLst>
          </p:cNvPr>
          <p:cNvPicPr>
            <a:picLocks noChangeAspect="1"/>
          </p:cNvPicPr>
          <p:nvPr/>
        </p:nvPicPr>
        <p:blipFill>
          <a:blip r:embed="rId3"/>
          <a:stretch>
            <a:fillRect/>
          </a:stretch>
        </p:blipFill>
        <p:spPr>
          <a:xfrm>
            <a:off x="10805160" y="351043"/>
            <a:ext cx="1005840" cy="384048"/>
          </a:xfrm>
          <a:prstGeom prst="rect">
            <a:avLst/>
          </a:prstGeom>
        </p:spPr>
      </p:pic>
    </p:spTree>
    <p:extLst>
      <p:ext uri="{BB962C8B-B14F-4D97-AF65-F5344CB8AC3E}">
        <p14:creationId xmlns:p14="http://schemas.microsoft.com/office/powerpoint/2010/main" val="20838597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FB5A0-1445-6EAF-C70F-ADDC915024CA}"/>
            </a:ext>
          </a:extLst>
        </p:cNvPr>
        <p:cNvGrpSpPr/>
        <p:nvPr/>
      </p:nvGrpSpPr>
      <p:grpSpPr>
        <a:xfrm>
          <a:off x="0" y="0"/>
          <a:ext cx="0" cy="0"/>
          <a:chOff x="0" y="0"/>
          <a:chExt cx="0" cy="0"/>
        </a:xfrm>
      </p:grpSpPr>
      <p:pic>
        <p:nvPicPr>
          <p:cNvPr id="4" name="Image 1" descr="img/wave_deco.png">
            <a:extLst>
              <a:ext uri="{FF2B5EF4-FFF2-40B4-BE49-F238E27FC236}">
                <a16:creationId xmlns:a16="http://schemas.microsoft.com/office/drawing/2014/main" id="{77D9A65C-DF0F-1CAC-F6C1-7152963F0E85}"/>
              </a:ext>
            </a:extLst>
          </p:cNvPr>
          <p:cNvPicPr>
            <a:picLocks noChangeAspect="1"/>
          </p:cNvPicPr>
          <p:nvPr/>
        </p:nvPicPr>
        <p:blipFill>
          <a:blip r:embed="rId2">
            <a:alphaModFix amt="65000"/>
          </a:blip>
          <a:stretch>
            <a:fillRect/>
          </a:stretch>
        </p:blipFill>
        <p:spPr>
          <a:xfrm>
            <a:off x="0" y="6217438"/>
            <a:ext cx="12192000" cy="731520"/>
          </a:xfrm>
          <a:prstGeom prst="rect">
            <a:avLst/>
          </a:prstGeom>
        </p:spPr>
      </p:pic>
      <p:pic>
        <p:nvPicPr>
          <p:cNvPr id="5" name="Image 0" descr="img/eq_small.png">
            <a:extLst>
              <a:ext uri="{FF2B5EF4-FFF2-40B4-BE49-F238E27FC236}">
                <a16:creationId xmlns:a16="http://schemas.microsoft.com/office/drawing/2014/main" id="{124D6C08-5452-6C85-A12F-F304B3F835F8}"/>
              </a:ext>
            </a:extLst>
          </p:cNvPr>
          <p:cNvPicPr>
            <a:picLocks noChangeAspect="1"/>
          </p:cNvPicPr>
          <p:nvPr/>
        </p:nvPicPr>
        <p:blipFill>
          <a:blip r:embed="rId3"/>
          <a:stretch>
            <a:fillRect/>
          </a:stretch>
        </p:blipFill>
        <p:spPr>
          <a:xfrm>
            <a:off x="10805160" y="351043"/>
            <a:ext cx="1005840" cy="384048"/>
          </a:xfrm>
          <a:prstGeom prst="rect">
            <a:avLst/>
          </a:prstGeom>
        </p:spPr>
      </p:pic>
      <p:sp>
        <p:nvSpPr>
          <p:cNvPr id="2" name="テキスト ボックス 1">
            <a:extLst>
              <a:ext uri="{FF2B5EF4-FFF2-40B4-BE49-F238E27FC236}">
                <a16:creationId xmlns:a16="http://schemas.microsoft.com/office/drawing/2014/main" id="{F5645EDC-D755-2A3C-44E1-5365FBB836D1}"/>
              </a:ext>
            </a:extLst>
          </p:cNvPr>
          <p:cNvSpPr txBox="1"/>
          <p:nvPr/>
        </p:nvSpPr>
        <p:spPr>
          <a:xfrm>
            <a:off x="219456" y="173736"/>
            <a:ext cx="6565392" cy="369332"/>
          </a:xfrm>
          <a:prstGeom prst="rect">
            <a:avLst/>
          </a:prstGeom>
          <a:noFill/>
        </p:spPr>
        <p:txBody>
          <a:bodyPr wrap="square" rtlCol="0">
            <a:spAutoFit/>
          </a:bodyPr>
          <a:lstStyle/>
          <a:p>
            <a:r>
              <a:rPr lang="ja-JP" altLang="en-US" b="1" dirty="0"/>
              <a:t>・設計</a:t>
            </a:r>
            <a:r>
              <a:rPr kumimoji="1" lang="ja-JP" altLang="en-US" b="1" dirty="0"/>
              <a:t>コンセプト</a:t>
            </a:r>
          </a:p>
        </p:txBody>
      </p:sp>
      <p:sp>
        <p:nvSpPr>
          <p:cNvPr id="3" name="テキスト ボックス 2">
            <a:extLst>
              <a:ext uri="{FF2B5EF4-FFF2-40B4-BE49-F238E27FC236}">
                <a16:creationId xmlns:a16="http://schemas.microsoft.com/office/drawing/2014/main" id="{81EE4861-9050-4C26-CEE7-05086D93B367}"/>
              </a:ext>
            </a:extLst>
          </p:cNvPr>
          <p:cNvSpPr txBox="1"/>
          <p:nvPr/>
        </p:nvSpPr>
        <p:spPr>
          <a:xfrm>
            <a:off x="1674876" y="3044279"/>
            <a:ext cx="8842248" cy="769441"/>
          </a:xfrm>
          <a:prstGeom prst="rect">
            <a:avLst/>
          </a:prstGeom>
          <a:noFill/>
        </p:spPr>
        <p:txBody>
          <a:bodyPr wrap="square" rtlCol="0">
            <a:spAutoFit/>
          </a:bodyPr>
          <a:lstStyle/>
          <a:p>
            <a:r>
              <a:rPr kumimoji="1" lang="ja-JP" altLang="en-US" sz="4400" b="1" dirty="0"/>
              <a:t>プレイヤーの行動が伝わる体験</a:t>
            </a:r>
          </a:p>
        </p:txBody>
      </p:sp>
    </p:spTree>
    <p:extLst>
      <p:ext uri="{BB962C8B-B14F-4D97-AF65-F5344CB8AC3E}">
        <p14:creationId xmlns:p14="http://schemas.microsoft.com/office/powerpoint/2010/main" val="18983830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A7EFC-445F-9081-FBED-7602F8ADE08D}"/>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89C5A81F-037C-97EA-20CB-7CB4218FB762}"/>
              </a:ext>
            </a:extLst>
          </p:cNvPr>
          <p:cNvSpPr txBox="1"/>
          <p:nvPr/>
        </p:nvSpPr>
        <p:spPr>
          <a:xfrm>
            <a:off x="219456" y="173736"/>
            <a:ext cx="6565392" cy="646331"/>
          </a:xfrm>
          <a:prstGeom prst="rect">
            <a:avLst/>
          </a:prstGeom>
          <a:noFill/>
        </p:spPr>
        <p:txBody>
          <a:bodyPr wrap="square" rtlCol="0">
            <a:spAutoFit/>
          </a:bodyPr>
          <a:lstStyle/>
          <a:p>
            <a:r>
              <a:rPr lang="ja-JP" altLang="en-US" b="1" dirty="0"/>
              <a:t>・なぜこのコンセプト？</a:t>
            </a:r>
          </a:p>
          <a:p>
            <a:endParaRPr kumimoji="1" lang="ja-JP" altLang="en-US" dirty="0"/>
          </a:p>
        </p:txBody>
      </p:sp>
      <p:sp>
        <p:nvSpPr>
          <p:cNvPr id="3" name="テキスト ボックス 2">
            <a:extLst>
              <a:ext uri="{FF2B5EF4-FFF2-40B4-BE49-F238E27FC236}">
                <a16:creationId xmlns:a16="http://schemas.microsoft.com/office/drawing/2014/main" id="{1D275B7F-E6C0-96D0-F9BF-6A101F384190}"/>
              </a:ext>
            </a:extLst>
          </p:cNvPr>
          <p:cNvSpPr txBox="1"/>
          <p:nvPr/>
        </p:nvSpPr>
        <p:spPr>
          <a:xfrm>
            <a:off x="655320" y="640562"/>
            <a:ext cx="11796619" cy="584775"/>
          </a:xfrm>
          <a:prstGeom prst="rect">
            <a:avLst/>
          </a:prstGeom>
          <a:noFill/>
        </p:spPr>
        <p:txBody>
          <a:bodyPr wrap="square" rtlCol="0">
            <a:spAutoFit/>
          </a:bodyPr>
          <a:lstStyle/>
          <a:p>
            <a:r>
              <a:rPr lang="ja-JP" altLang="en-US" sz="3200" b="1" dirty="0"/>
              <a:t>自分の好きな音の体験をゲームでも味わえるように</a:t>
            </a:r>
          </a:p>
        </p:txBody>
      </p:sp>
      <p:pic>
        <p:nvPicPr>
          <p:cNvPr id="4" name="Image 1" descr="img/wave_deco.png">
            <a:extLst>
              <a:ext uri="{FF2B5EF4-FFF2-40B4-BE49-F238E27FC236}">
                <a16:creationId xmlns:a16="http://schemas.microsoft.com/office/drawing/2014/main" id="{3D7E4460-91F1-7349-F754-311011CB9F9E}"/>
              </a:ext>
            </a:extLst>
          </p:cNvPr>
          <p:cNvPicPr>
            <a:picLocks noChangeAspect="1"/>
          </p:cNvPicPr>
          <p:nvPr/>
        </p:nvPicPr>
        <p:blipFill>
          <a:blip r:embed="rId2">
            <a:alphaModFix amt="65000"/>
          </a:blip>
          <a:stretch>
            <a:fillRect/>
          </a:stretch>
        </p:blipFill>
        <p:spPr>
          <a:xfrm>
            <a:off x="0" y="6217438"/>
            <a:ext cx="12192000" cy="731520"/>
          </a:xfrm>
          <a:prstGeom prst="rect">
            <a:avLst/>
          </a:prstGeom>
        </p:spPr>
      </p:pic>
      <p:pic>
        <p:nvPicPr>
          <p:cNvPr id="5" name="Image 0" descr="img/eq_small.png">
            <a:extLst>
              <a:ext uri="{FF2B5EF4-FFF2-40B4-BE49-F238E27FC236}">
                <a16:creationId xmlns:a16="http://schemas.microsoft.com/office/drawing/2014/main" id="{E211B72D-A223-86FD-2564-024B347CD1F1}"/>
              </a:ext>
            </a:extLst>
          </p:cNvPr>
          <p:cNvPicPr>
            <a:picLocks noChangeAspect="1"/>
          </p:cNvPicPr>
          <p:nvPr/>
        </p:nvPicPr>
        <p:blipFill>
          <a:blip r:embed="rId3"/>
          <a:stretch>
            <a:fillRect/>
          </a:stretch>
        </p:blipFill>
        <p:spPr>
          <a:xfrm>
            <a:off x="10805160" y="351043"/>
            <a:ext cx="1005840" cy="384048"/>
          </a:xfrm>
          <a:prstGeom prst="rect">
            <a:avLst/>
          </a:prstGeom>
        </p:spPr>
      </p:pic>
      <p:sp>
        <p:nvSpPr>
          <p:cNvPr id="8" name="Shape 3">
            <a:extLst>
              <a:ext uri="{FF2B5EF4-FFF2-40B4-BE49-F238E27FC236}">
                <a16:creationId xmlns:a16="http://schemas.microsoft.com/office/drawing/2014/main" id="{7A164773-6718-2F16-9ACB-287F85C096B1}"/>
              </a:ext>
            </a:extLst>
          </p:cNvPr>
          <p:cNvSpPr/>
          <p:nvPr/>
        </p:nvSpPr>
        <p:spPr>
          <a:xfrm>
            <a:off x="655320" y="1322832"/>
            <a:ext cx="11155680" cy="0"/>
          </a:xfrm>
          <a:prstGeom prst="line">
            <a:avLst/>
          </a:prstGeom>
          <a:noFill/>
          <a:ln w="12700">
            <a:solidFill>
              <a:srgbClr val="E2E5EA"/>
            </a:solidFill>
            <a:prstDash val="solid"/>
          </a:ln>
        </p:spPr>
        <p:txBody>
          <a:bodyPr/>
          <a:lstStyle/>
          <a:p>
            <a:endParaRPr lang="ja-JP" altLang="en-US"/>
          </a:p>
        </p:txBody>
      </p:sp>
      <p:sp>
        <p:nvSpPr>
          <p:cNvPr id="9" name="Shape 4">
            <a:extLst>
              <a:ext uri="{FF2B5EF4-FFF2-40B4-BE49-F238E27FC236}">
                <a16:creationId xmlns:a16="http://schemas.microsoft.com/office/drawing/2014/main" id="{7711E026-51A8-B4A7-399D-4887A6513EC2}"/>
              </a:ext>
            </a:extLst>
          </p:cNvPr>
          <p:cNvSpPr/>
          <p:nvPr/>
        </p:nvSpPr>
        <p:spPr>
          <a:xfrm>
            <a:off x="655320" y="1322832"/>
            <a:ext cx="3200400" cy="0"/>
          </a:xfrm>
          <a:prstGeom prst="line">
            <a:avLst/>
          </a:prstGeom>
          <a:noFill/>
          <a:ln w="25400">
            <a:solidFill>
              <a:srgbClr val="00C2C7"/>
            </a:solidFill>
            <a:prstDash val="solid"/>
          </a:ln>
        </p:spPr>
        <p:txBody>
          <a:bodyPr/>
          <a:lstStyle/>
          <a:p>
            <a:endParaRPr lang="ja-JP" altLang="en-US"/>
          </a:p>
        </p:txBody>
      </p:sp>
      <p:sp>
        <p:nvSpPr>
          <p:cNvPr id="7" name="テキスト ボックス 6">
            <a:extLst>
              <a:ext uri="{FF2B5EF4-FFF2-40B4-BE49-F238E27FC236}">
                <a16:creationId xmlns:a16="http://schemas.microsoft.com/office/drawing/2014/main" id="{2A8363EF-2C12-4A10-FDDF-346CA45F90A1}"/>
              </a:ext>
            </a:extLst>
          </p:cNvPr>
          <p:cNvSpPr txBox="1"/>
          <p:nvPr/>
        </p:nvSpPr>
        <p:spPr>
          <a:xfrm>
            <a:off x="1835428" y="5264165"/>
            <a:ext cx="9898840" cy="646331"/>
          </a:xfrm>
          <a:prstGeom prst="rect">
            <a:avLst/>
          </a:prstGeom>
          <a:noFill/>
        </p:spPr>
        <p:txBody>
          <a:bodyPr wrap="square" rtlCol="0">
            <a:spAutoFit/>
          </a:bodyPr>
          <a:lstStyle/>
          <a:p>
            <a:r>
              <a:rPr kumimoji="1" lang="ja-JP" altLang="en-US" b="1" dirty="0"/>
              <a:t>こういった現実の行動で音</a:t>
            </a:r>
            <a:r>
              <a:rPr lang="ja-JP" altLang="en-US" b="1" dirty="0"/>
              <a:t>が</a:t>
            </a:r>
            <a:r>
              <a:rPr kumimoji="1" lang="ja-JP" altLang="en-US" b="1" dirty="0"/>
              <a:t>変化</a:t>
            </a:r>
            <a:r>
              <a:rPr lang="ja-JP" altLang="en-US" b="1" dirty="0"/>
              <a:t>する</a:t>
            </a:r>
            <a:r>
              <a:rPr kumimoji="1" lang="ja-JP" altLang="en-US" b="1" dirty="0"/>
              <a:t>体験が昔から好きでとても印象に残ってる</a:t>
            </a:r>
            <a:endParaRPr kumimoji="1" lang="en-US" altLang="ja-JP" b="1" dirty="0"/>
          </a:p>
          <a:p>
            <a:r>
              <a:rPr lang="ja-JP" altLang="en-US" b="1" dirty="0"/>
              <a:t>この好きを実際にゲームでのプレイヤーの行動によっても起こるようにしたい</a:t>
            </a:r>
            <a:endParaRPr kumimoji="1" lang="ja-JP" altLang="en-US" b="1" dirty="0"/>
          </a:p>
        </p:txBody>
      </p:sp>
      <p:pic>
        <p:nvPicPr>
          <p:cNvPr id="10" name="図 9" descr="ドアを開けるシルエット02 | 無料のAi・PNG白黒シルエットイラスト">
            <a:extLst>
              <a:ext uri="{FF2B5EF4-FFF2-40B4-BE49-F238E27FC236}">
                <a16:creationId xmlns:a16="http://schemas.microsoft.com/office/drawing/2014/main" id="{EEC112E4-09E7-C490-3F00-FDEBCF86E35D}"/>
              </a:ext>
            </a:extLst>
          </p:cNvPr>
          <p:cNvPicPr>
            <a:picLocks noChangeAspect="1"/>
          </p:cNvPicPr>
          <p:nvPr/>
        </p:nvPicPr>
        <p:blipFill>
          <a:blip r:embed="rId4"/>
          <a:stretch>
            <a:fillRect/>
          </a:stretch>
        </p:blipFill>
        <p:spPr>
          <a:xfrm>
            <a:off x="1011261" y="1915784"/>
            <a:ext cx="2175535" cy="2175535"/>
          </a:xfrm>
          <a:prstGeom prst="rect">
            <a:avLst/>
          </a:prstGeom>
        </p:spPr>
      </p:pic>
      <p:sp>
        <p:nvSpPr>
          <p:cNvPr id="11" name="吹き出し: 四角形 10">
            <a:extLst>
              <a:ext uri="{FF2B5EF4-FFF2-40B4-BE49-F238E27FC236}">
                <a16:creationId xmlns:a16="http://schemas.microsoft.com/office/drawing/2014/main" id="{FED04138-0F76-2EA5-9AF4-8C6AD79AA213}"/>
              </a:ext>
            </a:extLst>
          </p:cNvPr>
          <p:cNvSpPr/>
          <p:nvPr/>
        </p:nvSpPr>
        <p:spPr>
          <a:xfrm>
            <a:off x="3172784" y="1996985"/>
            <a:ext cx="2060264" cy="1141466"/>
          </a:xfrm>
          <a:prstGeom prst="wedgeRectCallout">
            <a:avLst>
              <a:gd name="adj1" fmla="val -65216"/>
              <a:gd name="adj2" fmla="val -1223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ドアの開き具合に対して音が変わる</a:t>
            </a:r>
          </a:p>
        </p:txBody>
      </p:sp>
      <p:pic>
        <p:nvPicPr>
          <p:cNvPr id="13" name="図 12" descr="A person in the tunnel.">
            <a:extLst>
              <a:ext uri="{FF2B5EF4-FFF2-40B4-BE49-F238E27FC236}">
                <a16:creationId xmlns:a16="http://schemas.microsoft.com/office/drawing/2014/main" id="{4FC89E1C-629C-0541-EABB-E159302F6ED7}"/>
              </a:ext>
            </a:extLst>
          </p:cNvPr>
          <p:cNvPicPr>
            <a:picLocks noChangeAspect="1"/>
          </p:cNvPicPr>
          <p:nvPr/>
        </p:nvPicPr>
        <p:blipFill>
          <a:blip r:embed="rId5"/>
          <a:stretch>
            <a:fillRect/>
          </a:stretch>
        </p:blipFill>
        <p:spPr>
          <a:xfrm>
            <a:off x="8481027" y="2495679"/>
            <a:ext cx="2596101" cy="2123276"/>
          </a:xfrm>
          <a:prstGeom prst="rect">
            <a:avLst/>
          </a:prstGeom>
        </p:spPr>
      </p:pic>
      <p:sp>
        <p:nvSpPr>
          <p:cNvPr id="14" name="吹き出し: 四角形 13">
            <a:extLst>
              <a:ext uri="{FF2B5EF4-FFF2-40B4-BE49-F238E27FC236}">
                <a16:creationId xmlns:a16="http://schemas.microsoft.com/office/drawing/2014/main" id="{6F12EFE9-F8E9-97CB-9C2D-7FA3F973A065}"/>
              </a:ext>
            </a:extLst>
          </p:cNvPr>
          <p:cNvSpPr/>
          <p:nvPr/>
        </p:nvSpPr>
        <p:spPr>
          <a:xfrm>
            <a:off x="6061940" y="2567718"/>
            <a:ext cx="2060264" cy="1141466"/>
          </a:xfrm>
          <a:prstGeom prst="wedgeRectCallout">
            <a:avLst>
              <a:gd name="adj1" fmla="val 68826"/>
              <a:gd name="adj2" fmla="val 2540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トンネルに入ると音に包まれるように感じる</a:t>
            </a:r>
          </a:p>
        </p:txBody>
      </p:sp>
    </p:spTree>
    <p:extLst>
      <p:ext uri="{BB962C8B-B14F-4D97-AF65-F5344CB8AC3E}">
        <p14:creationId xmlns:p14="http://schemas.microsoft.com/office/powerpoint/2010/main" val="17351390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88198-54ED-F38F-8C4A-82BC645A4CD2}"/>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97C4CD35-CAE1-4413-0666-E3797B0F8F7E}"/>
              </a:ext>
            </a:extLst>
          </p:cNvPr>
          <p:cNvSpPr txBox="1"/>
          <p:nvPr/>
        </p:nvSpPr>
        <p:spPr>
          <a:xfrm>
            <a:off x="219456" y="173736"/>
            <a:ext cx="6565392" cy="646331"/>
          </a:xfrm>
          <a:prstGeom prst="rect">
            <a:avLst/>
          </a:prstGeom>
          <a:noFill/>
        </p:spPr>
        <p:txBody>
          <a:bodyPr wrap="square" rtlCol="0">
            <a:spAutoFit/>
          </a:bodyPr>
          <a:lstStyle/>
          <a:p>
            <a:r>
              <a:rPr lang="ja-JP" altLang="en-US" b="1" dirty="0"/>
              <a:t>・コンセプト実現のために</a:t>
            </a:r>
          </a:p>
          <a:p>
            <a:endParaRPr kumimoji="1" lang="ja-JP" altLang="en-US" dirty="0"/>
          </a:p>
        </p:txBody>
      </p:sp>
      <p:sp>
        <p:nvSpPr>
          <p:cNvPr id="3" name="テキスト ボックス 2">
            <a:extLst>
              <a:ext uri="{FF2B5EF4-FFF2-40B4-BE49-F238E27FC236}">
                <a16:creationId xmlns:a16="http://schemas.microsoft.com/office/drawing/2014/main" id="{69F44954-B4B2-3C33-E5E2-CF793F36DBD9}"/>
              </a:ext>
            </a:extLst>
          </p:cNvPr>
          <p:cNvSpPr txBox="1"/>
          <p:nvPr/>
        </p:nvSpPr>
        <p:spPr>
          <a:xfrm>
            <a:off x="655320" y="640562"/>
            <a:ext cx="11796619" cy="584775"/>
          </a:xfrm>
          <a:prstGeom prst="rect">
            <a:avLst/>
          </a:prstGeom>
          <a:noFill/>
        </p:spPr>
        <p:txBody>
          <a:bodyPr wrap="square" rtlCol="0">
            <a:spAutoFit/>
          </a:bodyPr>
          <a:lstStyle/>
          <a:p>
            <a:r>
              <a:rPr lang="ja-JP" altLang="en-US" sz="3200" b="1" dirty="0"/>
              <a:t>ゲームだからこそ出来る、リアルよりも伝わる体験</a:t>
            </a:r>
            <a:endParaRPr kumimoji="1" lang="ja-JP" altLang="en-US" sz="3200" b="1" dirty="0"/>
          </a:p>
        </p:txBody>
      </p:sp>
      <p:pic>
        <p:nvPicPr>
          <p:cNvPr id="4" name="Image 1" descr="img/wave_deco.png">
            <a:extLst>
              <a:ext uri="{FF2B5EF4-FFF2-40B4-BE49-F238E27FC236}">
                <a16:creationId xmlns:a16="http://schemas.microsoft.com/office/drawing/2014/main" id="{2B501288-2C84-6D5A-4629-BFDBBEE3CDD1}"/>
              </a:ext>
            </a:extLst>
          </p:cNvPr>
          <p:cNvPicPr>
            <a:picLocks noChangeAspect="1"/>
          </p:cNvPicPr>
          <p:nvPr/>
        </p:nvPicPr>
        <p:blipFill>
          <a:blip r:embed="rId2">
            <a:alphaModFix amt="65000"/>
          </a:blip>
          <a:stretch>
            <a:fillRect/>
          </a:stretch>
        </p:blipFill>
        <p:spPr>
          <a:xfrm>
            <a:off x="0" y="6217438"/>
            <a:ext cx="12192000" cy="731520"/>
          </a:xfrm>
          <a:prstGeom prst="rect">
            <a:avLst/>
          </a:prstGeom>
        </p:spPr>
      </p:pic>
      <p:pic>
        <p:nvPicPr>
          <p:cNvPr id="5" name="Image 0" descr="img/eq_small.png">
            <a:extLst>
              <a:ext uri="{FF2B5EF4-FFF2-40B4-BE49-F238E27FC236}">
                <a16:creationId xmlns:a16="http://schemas.microsoft.com/office/drawing/2014/main" id="{9877BEC0-B6DF-F278-C1BD-6CCF97F4AB7C}"/>
              </a:ext>
            </a:extLst>
          </p:cNvPr>
          <p:cNvPicPr>
            <a:picLocks noChangeAspect="1"/>
          </p:cNvPicPr>
          <p:nvPr/>
        </p:nvPicPr>
        <p:blipFill>
          <a:blip r:embed="rId3"/>
          <a:stretch>
            <a:fillRect/>
          </a:stretch>
        </p:blipFill>
        <p:spPr>
          <a:xfrm>
            <a:off x="10805160" y="351043"/>
            <a:ext cx="1005840" cy="384048"/>
          </a:xfrm>
          <a:prstGeom prst="rect">
            <a:avLst/>
          </a:prstGeom>
        </p:spPr>
      </p:pic>
      <p:sp>
        <p:nvSpPr>
          <p:cNvPr id="8" name="Shape 3">
            <a:extLst>
              <a:ext uri="{FF2B5EF4-FFF2-40B4-BE49-F238E27FC236}">
                <a16:creationId xmlns:a16="http://schemas.microsoft.com/office/drawing/2014/main" id="{45A862B6-8559-466D-B032-74015B96AA01}"/>
              </a:ext>
            </a:extLst>
          </p:cNvPr>
          <p:cNvSpPr/>
          <p:nvPr/>
        </p:nvSpPr>
        <p:spPr>
          <a:xfrm>
            <a:off x="655320" y="1322832"/>
            <a:ext cx="11155680" cy="0"/>
          </a:xfrm>
          <a:prstGeom prst="line">
            <a:avLst/>
          </a:prstGeom>
          <a:noFill/>
          <a:ln w="12700">
            <a:solidFill>
              <a:srgbClr val="E2E5EA"/>
            </a:solidFill>
            <a:prstDash val="solid"/>
          </a:ln>
        </p:spPr>
        <p:txBody>
          <a:bodyPr/>
          <a:lstStyle/>
          <a:p>
            <a:endParaRPr lang="ja-JP" altLang="en-US"/>
          </a:p>
        </p:txBody>
      </p:sp>
      <p:sp>
        <p:nvSpPr>
          <p:cNvPr id="9" name="Shape 4">
            <a:extLst>
              <a:ext uri="{FF2B5EF4-FFF2-40B4-BE49-F238E27FC236}">
                <a16:creationId xmlns:a16="http://schemas.microsoft.com/office/drawing/2014/main" id="{72251B19-27B7-D56E-32EC-1BF77F672FE6}"/>
              </a:ext>
            </a:extLst>
          </p:cNvPr>
          <p:cNvSpPr/>
          <p:nvPr/>
        </p:nvSpPr>
        <p:spPr>
          <a:xfrm>
            <a:off x="655320" y="1322832"/>
            <a:ext cx="3200400" cy="0"/>
          </a:xfrm>
          <a:prstGeom prst="line">
            <a:avLst/>
          </a:prstGeom>
          <a:noFill/>
          <a:ln w="25400">
            <a:solidFill>
              <a:srgbClr val="00C2C7"/>
            </a:solidFill>
            <a:prstDash val="solid"/>
          </a:ln>
        </p:spPr>
        <p:txBody>
          <a:bodyPr/>
          <a:lstStyle/>
          <a:p>
            <a:endParaRPr lang="ja-JP" altLang="en-US"/>
          </a:p>
        </p:txBody>
      </p:sp>
      <p:sp>
        <p:nvSpPr>
          <p:cNvPr id="7" name="テキスト ボックス 6">
            <a:extLst>
              <a:ext uri="{FF2B5EF4-FFF2-40B4-BE49-F238E27FC236}">
                <a16:creationId xmlns:a16="http://schemas.microsoft.com/office/drawing/2014/main" id="{90F1C635-A246-B8B6-BD02-5032AC987B9E}"/>
              </a:ext>
            </a:extLst>
          </p:cNvPr>
          <p:cNvSpPr txBox="1"/>
          <p:nvPr/>
        </p:nvSpPr>
        <p:spPr>
          <a:xfrm>
            <a:off x="1283740" y="5140220"/>
            <a:ext cx="9898840" cy="1077218"/>
          </a:xfrm>
          <a:prstGeom prst="rect">
            <a:avLst/>
          </a:prstGeom>
          <a:noFill/>
        </p:spPr>
        <p:txBody>
          <a:bodyPr wrap="square" rtlCol="0">
            <a:spAutoFit/>
          </a:bodyPr>
          <a:lstStyle/>
          <a:p>
            <a:r>
              <a:rPr lang="ja-JP" altLang="en-US" sz="3200" b="1" dirty="0"/>
              <a:t>ゲームだからこそできる正確さよりもわかりやすい</a:t>
            </a:r>
            <a:r>
              <a:rPr lang="ja-JP" altLang="en-US" sz="3200" b="1" dirty="0">
                <a:solidFill>
                  <a:schemeClr val="tx2">
                    <a:lumMod val="50000"/>
                    <a:lumOff val="50000"/>
                  </a:schemeClr>
                </a:solidFill>
              </a:rPr>
              <a:t>自然な音の変化</a:t>
            </a:r>
            <a:r>
              <a:rPr lang="ja-JP" altLang="en-US" sz="3200" b="1" dirty="0"/>
              <a:t>を作りたい！</a:t>
            </a:r>
            <a:endParaRPr kumimoji="1" lang="ja-JP" altLang="en-US" sz="3200" b="1" dirty="0"/>
          </a:p>
        </p:txBody>
      </p:sp>
      <p:sp>
        <p:nvSpPr>
          <p:cNvPr id="10" name="テキスト ボックス 9">
            <a:extLst>
              <a:ext uri="{FF2B5EF4-FFF2-40B4-BE49-F238E27FC236}">
                <a16:creationId xmlns:a16="http://schemas.microsoft.com/office/drawing/2014/main" id="{CA6DF525-4F58-2020-3390-44DC2C1DC237}"/>
              </a:ext>
            </a:extLst>
          </p:cNvPr>
          <p:cNvSpPr txBox="1"/>
          <p:nvPr/>
        </p:nvSpPr>
        <p:spPr>
          <a:xfrm>
            <a:off x="657795" y="1882374"/>
            <a:ext cx="7075862" cy="923330"/>
          </a:xfrm>
          <a:prstGeom prst="rect">
            <a:avLst/>
          </a:prstGeom>
          <a:noFill/>
        </p:spPr>
        <p:txBody>
          <a:bodyPr wrap="square" rtlCol="0">
            <a:spAutoFit/>
          </a:bodyPr>
          <a:lstStyle/>
          <a:p>
            <a:r>
              <a:rPr kumimoji="1" lang="ja-JP" altLang="en-US" b="1" dirty="0"/>
              <a:t>でも材質による足音の変化のような音に比べてドアの開き具合での音の変化や部屋を移動したときの音の変化は正確に作ろうとするとコストの割に伝わりづらい</a:t>
            </a:r>
          </a:p>
        </p:txBody>
      </p:sp>
      <p:pic>
        <p:nvPicPr>
          <p:cNvPr id="20" name="図 19">
            <a:extLst>
              <a:ext uri="{FF2B5EF4-FFF2-40B4-BE49-F238E27FC236}">
                <a16:creationId xmlns:a16="http://schemas.microsoft.com/office/drawing/2014/main" id="{FAF3EA47-DAC7-8A98-4A93-8D1A169E17B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4718" y="3038270"/>
            <a:ext cx="3131155" cy="1252146"/>
          </a:xfrm>
          <a:prstGeom prst="rect">
            <a:avLst/>
          </a:prstGeom>
        </p:spPr>
      </p:pic>
      <p:sp>
        <p:nvSpPr>
          <p:cNvPr id="21" name="吹き出し: 四角形 20">
            <a:extLst>
              <a:ext uri="{FF2B5EF4-FFF2-40B4-BE49-F238E27FC236}">
                <a16:creationId xmlns:a16="http://schemas.microsoft.com/office/drawing/2014/main" id="{A2D35D19-55B6-C5C0-21F6-D53B70017CFD}"/>
              </a:ext>
            </a:extLst>
          </p:cNvPr>
          <p:cNvSpPr/>
          <p:nvPr/>
        </p:nvSpPr>
        <p:spPr>
          <a:xfrm>
            <a:off x="4066851" y="3875629"/>
            <a:ext cx="2357903" cy="945085"/>
          </a:xfrm>
          <a:prstGeom prst="wedgeRectCallout">
            <a:avLst>
              <a:gd name="adj1" fmla="val -65599"/>
              <a:gd name="adj2" fmla="val -3944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石と木で足音が変わるのはわかりやすい</a:t>
            </a:r>
            <a:endParaRPr kumimoji="1" lang="ja-JP" altLang="en-US" dirty="0"/>
          </a:p>
        </p:txBody>
      </p:sp>
      <p:pic>
        <p:nvPicPr>
          <p:cNvPr id="22" name="図 21" descr="ドアを開けるシルエット02 | 無料のAi・PNG白黒シルエットイラスト">
            <a:extLst>
              <a:ext uri="{FF2B5EF4-FFF2-40B4-BE49-F238E27FC236}">
                <a16:creationId xmlns:a16="http://schemas.microsoft.com/office/drawing/2014/main" id="{F81AECFB-B345-FDD2-0DAA-373D65E63F02}"/>
              </a:ext>
            </a:extLst>
          </p:cNvPr>
          <p:cNvPicPr>
            <a:picLocks noChangeAspect="1"/>
          </p:cNvPicPr>
          <p:nvPr/>
        </p:nvPicPr>
        <p:blipFill>
          <a:blip r:embed="rId5"/>
          <a:stretch>
            <a:fillRect/>
          </a:stretch>
        </p:blipFill>
        <p:spPr>
          <a:xfrm>
            <a:off x="8800845" y="2172637"/>
            <a:ext cx="2175535" cy="2175535"/>
          </a:xfrm>
          <a:prstGeom prst="rect">
            <a:avLst/>
          </a:prstGeom>
        </p:spPr>
      </p:pic>
      <p:sp>
        <p:nvSpPr>
          <p:cNvPr id="23" name="吹き出し: 四角形 22">
            <a:extLst>
              <a:ext uri="{FF2B5EF4-FFF2-40B4-BE49-F238E27FC236}">
                <a16:creationId xmlns:a16="http://schemas.microsoft.com/office/drawing/2014/main" id="{0C1EC831-9CC2-AF0C-201A-F2B499423A42}"/>
              </a:ext>
            </a:extLst>
          </p:cNvPr>
          <p:cNvSpPr/>
          <p:nvPr/>
        </p:nvSpPr>
        <p:spPr>
          <a:xfrm>
            <a:off x="5843089" y="2698922"/>
            <a:ext cx="2357903" cy="945085"/>
          </a:xfrm>
          <a:prstGeom prst="wedgeRectCallout">
            <a:avLst>
              <a:gd name="adj1" fmla="val 71042"/>
              <a:gd name="adj2" fmla="val -308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でもドアをどこまで開けているかは分かり辛い</a:t>
            </a:r>
          </a:p>
        </p:txBody>
      </p:sp>
    </p:spTree>
    <p:extLst>
      <p:ext uri="{BB962C8B-B14F-4D97-AF65-F5344CB8AC3E}">
        <p14:creationId xmlns:p14="http://schemas.microsoft.com/office/powerpoint/2010/main" val="34755901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59846-D71B-595D-7673-E8D3123AF469}"/>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EEE32DD9-FE4C-997C-A69A-936C5907634A}"/>
              </a:ext>
            </a:extLst>
          </p:cNvPr>
          <p:cNvSpPr txBox="1"/>
          <p:nvPr/>
        </p:nvSpPr>
        <p:spPr>
          <a:xfrm>
            <a:off x="219456" y="173736"/>
            <a:ext cx="6565392" cy="646331"/>
          </a:xfrm>
          <a:prstGeom prst="rect">
            <a:avLst/>
          </a:prstGeom>
          <a:noFill/>
        </p:spPr>
        <p:txBody>
          <a:bodyPr wrap="square" rtlCol="0">
            <a:spAutoFit/>
          </a:bodyPr>
          <a:lstStyle/>
          <a:p>
            <a:r>
              <a:rPr lang="ja-JP" altLang="en-US" b="1" dirty="0"/>
              <a:t>・技術選定　実装内容</a:t>
            </a:r>
          </a:p>
          <a:p>
            <a:endParaRPr kumimoji="1" lang="ja-JP" altLang="en-US" b="1" dirty="0"/>
          </a:p>
        </p:txBody>
      </p:sp>
      <p:sp>
        <p:nvSpPr>
          <p:cNvPr id="3" name="テキスト ボックス 2">
            <a:extLst>
              <a:ext uri="{FF2B5EF4-FFF2-40B4-BE49-F238E27FC236}">
                <a16:creationId xmlns:a16="http://schemas.microsoft.com/office/drawing/2014/main" id="{2B3CEA0F-6CCC-EFBF-D8BD-97F12DF0150C}"/>
              </a:ext>
            </a:extLst>
          </p:cNvPr>
          <p:cNvSpPr txBox="1"/>
          <p:nvPr/>
        </p:nvSpPr>
        <p:spPr>
          <a:xfrm>
            <a:off x="655320" y="640562"/>
            <a:ext cx="11796619" cy="584775"/>
          </a:xfrm>
          <a:prstGeom prst="rect">
            <a:avLst/>
          </a:prstGeom>
          <a:noFill/>
        </p:spPr>
        <p:txBody>
          <a:bodyPr wrap="square" rtlCol="0">
            <a:spAutoFit/>
          </a:bodyPr>
          <a:lstStyle/>
          <a:p>
            <a:r>
              <a:rPr lang="ja-JP" altLang="en-US" sz="3200" b="1" dirty="0"/>
              <a:t>目次</a:t>
            </a:r>
          </a:p>
        </p:txBody>
      </p:sp>
      <p:pic>
        <p:nvPicPr>
          <p:cNvPr id="4" name="Image 1" descr="img/wave_deco.png">
            <a:extLst>
              <a:ext uri="{FF2B5EF4-FFF2-40B4-BE49-F238E27FC236}">
                <a16:creationId xmlns:a16="http://schemas.microsoft.com/office/drawing/2014/main" id="{51188534-9428-2C40-4A09-F30DC6F11F68}"/>
              </a:ext>
            </a:extLst>
          </p:cNvPr>
          <p:cNvPicPr>
            <a:picLocks noChangeAspect="1"/>
          </p:cNvPicPr>
          <p:nvPr/>
        </p:nvPicPr>
        <p:blipFill>
          <a:blip r:embed="rId2">
            <a:alphaModFix amt="65000"/>
          </a:blip>
          <a:stretch>
            <a:fillRect/>
          </a:stretch>
        </p:blipFill>
        <p:spPr>
          <a:xfrm>
            <a:off x="0" y="6217438"/>
            <a:ext cx="12192000" cy="731520"/>
          </a:xfrm>
          <a:prstGeom prst="rect">
            <a:avLst/>
          </a:prstGeom>
        </p:spPr>
      </p:pic>
      <p:pic>
        <p:nvPicPr>
          <p:cNvPr id="5" name="Image 0" descr="img/eq_small.png">
            <a:extLst>
              <a:ext uri="{FF2B5EF4-FFF2-40B4-BE49-F238E27FC236}">
                <a16:creationId xmlns:a16="http://schemas.microsoft.com/office/drawing/2014/main" id="{B1DCB74C-010E-DE4A-6F86-8B8FCF58972E}"/>
              </a:ext>
            </a:extLst>
          </p:cNvPr>
          <p:cNvPicPr>
            <a:picLocks noChangeAspect="1"/>
          </p:cNvPicPr>
          <p:nvPr/>
        </p:nvPicPr>
        <p:blipFill>
          <a:blip r:embed="rId3"/>
          <a:stretch>
            <a:fillRect/>
          </a:stretch>
        </p:blipFill>
        <p:spPr>
          <a:xfrm>
            <a:off x="10805160" y="351043"/>
            <a:ext cx="1005840" cy="384048"/>
          </a:xfrm>
          <a:prstGeom prst="rect">
            <a:avLst/>
          </a:prstGeom>
        </p:spPr>
      </p:pic>
      <p:sp>
        <p:nvSpPr>
          <p:cNvPr id="8" name="Shape 3">
            <a:extLst>
              <a:ext uri="{FF2B5EF4-FFF2-40B4-BE49-F238E27FC236}">
                <a16:creationId xmlns:a16="http://schemas.microsoft.com/office/drawing/2014/main" id="{7670B1AB-9C92-FCFE-8451-6DE03CEAF7F0}"/>
              </a:ext>
            </a:extLst>
          </p:cNvPr>
          <p:cNvSpPr/>
          <p:nvPr/>
        </p:nvSpPr>
        <p:spPr>
          <a:xfrm>
            <a:off x="655320" y="1322832"/>
            <a:ext cx="11155680" cy="0"/>
          </a:xfrm>
          <a:prstGeom prst="line">
            <a:avLst/>
          </a:prstGeom>
          <a:noFill/>
          <a:ln w="12700">
            <a:solidFill>
              <a:srgbClr val="E2E5EA"/>
            </a:solidFill>
            <a:prstDash val="solid"/>
          </a:ln>
        </p:spPr>
        <p:txBody>
          <a:bodyPr/>
          <a:lstStyle/>
          <a:p>
            <a:endParaRPr lang="ja-JP" altLang="en-US"/>
          </a:p>
        </p:txBody>
      </p:sp>
      <p:sp>
        <p:nvSpPr>
          <p:cNvPr id="9" name="Shape 4">
            <a:extLst>
              <a:ext uri="{FF2B5EF4-FFF2-40B4-BE49-F238E27FC236}">
                <a16:creationId xmlns:a16="http://schemas.microsoft.com/office/drawing/2014/main" id="{B6870A9C-B413-FCE8-925B-571C14D8EDB6}"/>
              </a:ext>
            </a:extLst>
          </p:cNvPr>
          <p:cNvSpPr/>
          <p:nvPr/>
        </p:nvSpPr>
        <p:spPr>
          <a:xfrm>
            <a:off x="655320" y="1322832"/>
            <a:ext cx="3200400" cy="0"/>
          </a:xfrm>
          <a:prstGeom prst="line">
            <a:avLst/>
          </a:prstGeom>
          <a:noFill/>
          <a:ln w="25400">
            <a:solidFill>
              <a:schemeClr val="accent5">
                <a:lumMod val="60000"/>
                <a:lumOff val="40000"/>
              </a:schemeClr>
            </a:solidFill>
            <a:prstDash val="solid"/>
          </a:ln>
        </p:spPr>
        <p:txBody>
          <a:bodyPr/>
          <a:lstStyle/>
          <a:p>
            <a:endParaRPr lang="ja-JP" altLang="en-US"/>
          </a:p>
        </p:txBody>
      </p:sp>
      <p:sp>
        <p:nvSpPr>
          <p:cNvPr id="6" name="テキスト ボックス 5">
            <a:extLst>
              <a:ext uri="{FF2B5EF4-FFF2-40B4-BE49-F238E27FC236}">
                <a16:creationId xmlns:a16="http://schemas.microsoft.com/office/drawing/2014/main" id="{509333B8-0D3C-E888-642A-65C773CEC8BE}"/>
              </a:ext>
            </a:extLst>
          </p:cNvPr>
          <p:cNvSpPr txBox="1"/>
          <p:nvPr/>
        </p:nvSpPr>
        <p:spPr>
          <a:xfrm>
            <a:off x="655320" y="2426625"/>
            <a:ext cx="6560359" cy="3108543"/>
          </a:xfrm>
          <a:prstGeom prst="rect">
            <a:avLst/>
          </a:prstGeom>
          <a:noFill/>
        </p:spPr>
        <p:txBody>
          <a:bodyPr wrap="square" rtlCol="0">
            <a:spAutoFit/>
          </a:bodyPr>
          <a:lstStyle/>
          <a:p>
            <a:r>
              <a:rPr kumimoji="1" lang="ja-JP" altLang="en-US" sz="2800" b="1" dirty="0"/>
              <a:t>・体験のための実装物</a:t>
            </a:r>
            <a:endParaRPr lang="en-US" altLang="ja-JP" sz="2800" b="1" dirty="0"/>
          </a:p>
          <a:p>
            <a:endParaRPr lang="en-US" altLang="ja-JP" sz="2800" b="1" dirty="0"/>
          </a:p>
          <a:p>
            <a:r>
              <a:rPr kumimoji="1" lang="ja-JP" altLang="en-US" sz="2800" b="1" dirty="0"/>
              <a:t>・ドアの開き具合での演出</a:t>
            </a:r>
            <a:endParaRPr kumimoji="1" lang="en-US" altLang="ja-JP" sz="2800" b="1" dirty="0"/>
          </a:p>
          <a:p>
            <a:endParaRPr kumimoji="1" lang="en-US" altLang="ja-JP" sz="2800" b="1" dirty="0"/>
          </a:p>
          <a:p>
            <a:r>
              <a:rPr lang="ja-JP" altLang="en-US" sz="2800" b="1" dirty="0"/>
              <a:t>・部屋で聞こえる音の響き方</a:t>
            </a:r>
            <a:endParaRPr lang="en-US" altLang="ja-JP" sz="2800" b="1" dirty="0"/>
          </a:p>
          <a:p>
            <a:endParaRPr kumimoji="1" lang="en-US" altLang="ja-JP" sz="2800" b="1" dirty="0"/>
          </a:p>
          <a:p>
            <a:r>
              <a:rPr lang="ja-JP" altLang="en-US" sz="2800" b="1" dirty="0"/>
              <a:t>・開発途中での失敗と改善</a:t>
            </a:r>
            <a:endParaRPr kumimoji="1" lang="en-US" altLang="ja-JP" sz="2800" b="1" dirty="0"/>
          </a:p>
        </p:txBody>
      </p:sp>
    </p:spTree>
    <p:extLst>
      <p:ext uri="{BB962C8B-B14F-4D97-AF65-F5344CB8AC3E}">
        <p14:creationId xmlns:p14="http://schemas.microsoft.com/office/powerpoint/2010/main" val="1248958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img/wave_deco.png">
            <a:extLst>
              <a:ext uri="{FF2B5EF4-FFF2-40B4-BE49-F238E27FC236}">
                <a16:creationId xmlns:a16="http://schemas.microsoft.com/office/drawing/2014/main" id="{666B045B-79E3-9022-B94C-6D8BB3CB19DD}"/>
              </a:ext>
            </a:extLst>
          </p:cNvPr>
          <p:cNvPicPr>
            <a:picLocks noChangeAspect="1"/>
          </p:cNvPicPr>
          <p:nvPr/>
        </p:nvPicPr>
        <p:blipFill>
          <a:blip r:embed="rId2">
            <a:alphaModFix amt="65000"/>
          </a:blip>
          <a:stretch>
            <a:fillRect/>
          </a:stretch>
        </p:blipFill>
        <p:spPr>
          <a:xfrm>
            <a:off x="0" y="6217438"/>
            <a:ext cx="12192000" cy="731520"/>
          </a:xfrm>
          <a:prstGeom prst="rect">
            <a:avLst/>
          </a:prstGeom>
        </p:spPr>
      </p:pic>
      <p:pic>
        <p:nvPicPr>
          <p:cNvPr id="3" name="Image 0" descr="img/eq_small.png">
            <a:extLst>
              <a:ext uri="{FF2B5EF4-FFF2-40B4-BE49-F238E27FC236}">
                <a16:creationId xmlns:a16="http://schemas.microsoft.com/office/drawing/2014/main" id="{380065E8-36DE-09F1-617F-0E98F50C4770}"/>
              </a:ext>
            </a:extLst>
          </p:cNvPr>
          <p:cNvPicPr>
            <a:picLocks noChangeAspect="1"/>
          </p:cNvPicPr>
          <p:nvPr/>
        </p:nvPicPr>
        <p:blipFill>
          <a:blip r:embed="rId3"/>
          <a:stretch>
            <a:fillRect/>
          </a:stretch>
        </p:blipFill>
        <p:spPr>
          <a:xfrm>
            <a:off x="10805160" y="351043"/>
            <a:ext cx="1005840" cy="384048"/>
          </a:xfrm>
          <a:prstGeom prst="rect">
            <a:avLst/>
          </a:prstGeom>
        </p:spPr>
      </p:pic>
      <p:sp>
        <p:nvSpPr>
          <p:cNvPr id="4" name="Shape 3">
            <a:extLst>
              <a:ext uri="{FF2B5EF4-FFF2-40B4-BE49-F238E27FC236}">
                <a16:creationId xmlns:a16="http://schemas.microsoft.com/office/drawing/2014/main" id="{C873EC9F-5FCB-981D-6E7A-A4E5A86E24BE}"/>
              </a:ext>
            </a:extLst>
          </p:cNvPr>
          <p:cNvSpPr/>
          <p:nvPr/>
        </p:nvSpPr>
        <p:spPr>
          <a:xfrm>
            <a:off x="655320" y="1322832"/>
            <a:ext cx="11155680" cy="0"/>
          </a:xfrm>
          <a:prstGeom prst="line">
            <a:avLst/>
          </a:prstGeom>
          <a:noFill/>
          <a:ln w="12700">
            <a:solidFill>
              <a:srgbClr val="E2E5EA"/>
            </a:solidFill>
            <a:prstDash val="solid"/>
          </a:ln>
        </p:spPr>
        <p:txBody>
          <a:bodyPr/>
          <a:lstStyle/>
          <a:p>
            <a:endParaRPr lang="ja-JP" altLang="en-US"/>
          </a:p>
        </p:txBody>
      </p:sp>
      <p:sp>
        <p:nvSpPr>
          <p:cNvPr id="5" name="Shape 4">
            <a:extLst>
              <a:ext uri="{FF2B5EF4-FFF2-40B4-BE49-F238E27FC236}">
                <a16:creationId xmlns:a16="http://schemas.microsoft.com/office/drawing/2014/main" id="{DEE27C38-4D34-F58E-263F-EF0FB3FA0128}"/>
              </a:ext>
            </a:extLst>
          </p:cNvPr>
          <p:cNvSpPr/>
          <p:nvPr/>
        </p:nvSpPr>
        <p:spPr>
          <a:xfrm>
            <a:off x="655320" y="1322832"/>
            <a:ext cx="3200400" cy="0"/>
          </a:xfrm>
          <a:prstGeom prst="line">
            <a:avLst/>
          </a:prstGeom>
          <a:noFill/>
          <a:ln w="25400">
            <a:solidFill>
              <a:schemeClr val="accent5">
                <a:lumMod val="60000"/>
                <a:lumOff val="40000"/>
              </a:schemeClr>
            </a:solidFill>
            <a:prstDash val="solid"/>
          </a:ln>
        </p:spPr>
        <p:txBody>
          <a:bodyPr/>
          <a:lstStyle/>
          <a:p>
            <a:endParaRPr lang="ja-JP" altLang="en-US"/>
          </a:p>
        </p:txBody>
      </p:sp>
      <p:sp>
        <p:nvSpPr>
          <p:cNvPr id="6" name="テキスト ボックス 5">
            <a:extLst>
              <a:ext uri="{FF2B5EF4-FFF2-40B4-BE49-F238E27FC236}">
                <a16:creationId xmlns:a16="http://schemas.microsoft.com/office/drawing/2014/main" id="{110EE59F-5F1D-65C7-6715-D4920BB4C963}"/>
              </a:ext>
            </a:extLst>
          </p:cNvPr>
          <p:cNvSpPr txBox="1"/>
          <p:nvPr/>
        </p:nvSpPr>
        <p:spPr>
          <a:xfrm>
            <a:off x="219456" y="173736"/>
            <a:ext cx="6565392" cy="369332"/>
          </a:xfrm>
          <a:prstGeom prst="rect">
            <a:avLst/>
          </a:prstGeom>
          <a:noFill/>
        </p:spPr>
        <p:txBody>
          <a:bodyPr wrap="square" rtlCol="0">
            <a:spAutoFit/>
          </a:bodyPr>
          <a:lstStyle/>
          <a:p>
            <a:r>
              <a:rPr lang="ja-JP" altLang="en-US" b="1" dirty="0"/>
              <a:t>・技術選定　体験のための実装物</a:t>
            </a:r>
            <a:endParaRPr kumimoji="1" lang="ja-JP" altLang="en-US" dirty="0"/>
          </a:p>
        </p:txBody>
      </p:sp>
      <p:sp>
        <p:nvSpPr>
          <p:cNvPr id="7" name="テキスト ボックス 6">
            <a:extLst>
              <a:ext uri="{FF2B5EF4-FFF2-40B4-BE49-F238E27FC236}">
                <a16:creationId xmlns:a16="http://schemas.microsoft.com/office/drawing/2014/main" id="{16587A58-67E6-CB5B-164F-413B931FB9D1}"/>
              </a:ext>
            </a:extLst>
          </p:cNvPr>
          <p:cNvSpPr txBox="1"/>
          <p:nvPr/>
        </p:nvSpPr>
        <p:spPr>
          <a:xfrm>
            <a:off x="655320" y="640562"/>
            <a:ext cx="11796619" cy="584775"/>
          </a:xfrm>
          <a:prstGeom prst="rect">
            <a:avLst/>
          </a:prstGeom>
          <a:noFill/>
        </p:spPr>
        <p:txBody>
          <a:bodyPr wrap="square" rtlCol="0">
            <a:spAutoFit/>
          </a:bodyPr>
          <a:lstStyle/>
          <a:p>
            <a:r>
              <a:rPr lang="ja-JP" altLang="ja-JP" sz="3200" b="1" dirty="0"/>
              <a:t>目指す音響体験</a:t>
            </a:r>
            <a:endParaRPr lang="ja-JP" altLang="en-US" sz="3200" b="1" dirty="0"/>
          </a:p>
        </p:txBody>
      </p:sp>
      <p:sp>
        <p:nvSpPr>
          <p:cNvPr id="8" name="カード 6">
            <a:extLst>
              <a:ext uri="{FF2B5EF4-FFF2-40B4-BE49-F238E27FC236}">
                <a16:creationId xmlns:a16="http://schemas.microsoft.com/office/drawing/2014/main" id="{9D6E8876-7CD2-AA4E-9B56-C558380B2C02}"/>
              </a:ext>
            </a:extLst>
          </p:cNvPr>
          <p:cNvSpPr/>
          <p:nvPr/>
        </p:nvSpPr>
        <p:spPr>
          <a:xfrm>
            <a:off x="548640" y="2971800"/>
            <a:ext cx="3544824" cy="3337560"/>
          </a:xfrm>
          <a:prstGeom prst="roundRect">
            <a:avLst>
              <a:gd name="adj" fmla="val 5000"/>
            </a:avLst>
          </a:prstGeom>
          <a:solidFill>
            <a:srgbClr val="F0F2F5"/>
          </a:solidFill>
          <a:ln>
            <a:noFill/>
          </a:ln>
        </p:spPr>
        <p:txBody>
          <a:bodyPr/>
          <a:lstStyle/>
          <a:p>
            <a:endParaRPr lang="ja-JP" altLang="en-US"/>
          </a:p>
        </p:txBody>
      </p:sp>
      <p:sp>
        <p:nvSpPr>
          <p:cNvPr id="9" name="ラベル 7">
            <a:extLst>
              <a:ext uri="{FF2B5EF4-FFF2-40B4-BE49-F238E27FC236}">
                <a16:creationId xmlns:a16="http://schemas.microsoft.com/office/drawing/2014/main" id="{0EA1417A-7A0E-FCA2-2D43-14F90C92D67A}"/>
              </a:ext>
            </a:extLst>
          </p:cNvPr>
          <p:cNvSpPr/>
          <p:nvPr/>
        </p:nvSpPr>
        <p:spPr>
          <a:xfrm>
            <a:off x="765048" y="4285889"/>
            <a:ext cx="1097280" cy="420624"/>
          </a:xfrm>
          <a:prstGeom prst="roundRect">
            <a:avLst>
              <a:gd name="adj" fmla="val 50000"/>
            </a:avLst>
          </a:prstGeom>
          <a:solidFill>
            <a:srgbClr val="E3A33B"/>
          </a:solidFill>
          <a:ln>
            <a:noFill/>
          </a:ln>
        </p:spPr>
        <p:txBody>
          <a:bodyPr wrap="square" lIns="0" tIns="0" rIns="0" bIns="0" rtlCol="0" anchor="ctr">
            <a:noAutofit/>
          </a:bodyPr>
          <a:lstStyle/>
          <a:p>
            <a:pPr marL="0" indent="0" algn="ctr">
              <a:spcBef>
                <a:spcPts val="0"/>
              </a:spcBef>
              <a:spcAft>
                <a:spcPts val="0"/>
              </a:spcAft>
              <a:buNone/>
            </a:pPr>
            <a:r>
              <a:rPr lang="ja-JP" altLang="en-US" sz="1500" b="1" dirty="0">
                <a:solidFill>
                  <a:srgbClr val="1E2430"/>
                </a:solidFill>
                <a:latin typeface="BIZ UDPゴシック"/>
                <a:ea typeface="BIZ UDPゴシック"/>
                <a:cs typeface="BIZ UDPゴシック"/>
              </a:rPr>
              <a:t>連続性</a:t>
            </a:r>
            <a:endParaRPr lang="ja-JP" altLang="en-US" sz="1500" dirty="0"/>
          </a:p>
        </p:txBody>
      </p:sp>
      <p:sp>
        <p:nvSpPr>
          <p:cNvPr id="10" name="テキスト 8">
            <a:extLst>
              <a:ext uri="{FF2B5EF4-FFF2-40B4-BE49-F238E27FC236}">
                <a16:creationId xmlns:a16="http://schemas.microsoft.com/office/drawing/2014/main" id="{F33FAA58-0DE5-9523-1588-6065AD316A2A}"/>
              </a:ext>
            </a:extLst>
          </p:cNvPr>
          <p:cNvSpPr txBox="1"/>
          <p:nvPr/>
        </p:nvSpPr>
        <p:spPr>
          <a:xfrm>
            <a:off x="838200" y="4814316"/>
            <a:ext cx="2996184" cy="1600200"/>
          </a:xfrm>
          <a:prstGeom prst="rect">
            <a:avLst/>
          </a:prstGeom>
          <a:noFill/>
        </p:spPr>
        <p:txBody>
          <a:bodyPr wrap="square" lIns="0" tIns="0" rIns="0" bIns="0" rtlCol="0" anchor="t">
            <a:noAutofit/>
          </a:bodyPr>
          <a:lstStyle/>
          <a:p>
            <a:pPr marL="0" indent="0" algn="l">
              <a:lnSpc>
                <a:spcPct val="125000"/>
              </a:lnSpc>
              <a:spcBef>
                <a:spcPts val="0"/>
              </a:spcBef>
              <a:spcAft>
                <a:spcPts val="0"/>
              </a:spcAft>
              <a:buNone/>
            </a:pPr>
            <a:r>
              <a:rPr lang="ja-JP" altLang="en-US" sz="1450" dirty="0">
                <a:solidFill>
                  <a:srgbClr val="1E2430"/>
                </a:solidFill>
                <a:latin typeface="BIZ UDPゴシック"/>
                <a:ea typeface="BIZ UDPゴシック"/>
                <a:cs typeface="BIZ UDPゴシック"/>
              </a:rPr>
              <a:t>プレイヤーが高速で動いたりテレポートをしない限り音が急に切り替わると強い違和感を感じやすい。基本滑らかに変化して行くことを大事にする。</a:t>
            </a:r>
            <a:endParaRPr lang="ja-JP" altLang="en-US" sz="1450" dirty="0"/>
          </a:p>
        </p:txBody>
      </p:sp>
      <p:sp>
        <p:nvSpPr>
          <p:cNvPr id="11" name="カード 9">
            <a:extLst>
              <a:ext uri="{FF2B5EF4-FFF2-40B4-BE49-F238E27FC236}">
                <a16:creationId xmlns:a16="http://schemas.microsoft.com/office/drawing/2014/main" id="{DF1FE4E3-015F-A463-7A46-701746DE0C30}"/>
              </a:ext>
            </a:extLst>
          </p:cNvPr>
          <p:cNvSpPr/>
          <p:nvPr/>
        </p:nvSpPr>
        <p:spPr>
          <a:xfrm>
            <a:off x="4322064" y="2971800"/>
            <a:ext cx="3544824" cy="3337560"/>
          </a:xfrm>
          <a:prstGeom prst="roundRect">
            <a:avLst>
              <a:gd name="adj" fmla="val 5000"/>
            </a:avLst>
          </a:prstGeom>
          <a:solidFill>
            <a:srgbClr val="F0F2F5"/>
          </a:solidFill>
          <a:ln>
            <a:noFill/>
          </a:ln>
        </p:spPr>
        <p:txBody>
          <a:bodyPr/>
          <a:lstStyle/>
          <a:p>
            <a:endParaRPr lang="ja-JP" altLang="en-US"/>
          </a:p>
        </p:txBody>
      </p:sp>
      <p:sp>
        <p:nvSpPr>
          <p:cNvPr id="12" name="ラベル 10">
            <a:extLst>
              <a:ext uri="{FF2B5EF4-FFF2-40B4-BE49-F238E27FC236}">
                <a16:creationId xmlns:a16="http://schemas.microsoft.com/office/drawing/2014/main" id="{E31A75CB-14AA-25E3-5327-8650C3E49BA7}"/>
              </a:ext>
            </a:extLst>
          </p:cNvPr>
          <p:cNvSpPr/>
          <p:nvPr/>
        </p:nvSpPr>
        <p:spPr>
          <a:xfrm>
            <a:off x="4596384" y="4285889"/>
            <a:ext cx="1097280" cy="420624"/>
          </a:xfrm>
          <a:prstGeom prst="roundRect">
            <a:avLst>
              <a:gd name="adj" fmla="val 50000"/>
            </a:avLst>
          </a:prstGeom>
          <a:solidFill>
            <a:srgbClr val="E3A33B"/>
          </a:solidFill>
          <a:ln>
            <a:noFill/>
          </a:ln>
        </p:spPr>
        <p:txBody>
          <a:bodyPr wrap="square" lIns="0" tIns="0" rIns="0" bIns="0" rtlCol="0" anchor="ctr">
            <a:noAutofit/>
          </a:bodyPr>
          <a:lstStyle/>
          <a:p>
            <a:pPr marL="0" indent="0" algn="ctr">
              <a:spcBef>
                <a:spcPts val="0"/>
              </a:spcBef>
              <a:spcAft>
                <a:spcPts val="0"/>
              </a:spcAft>
              <a:buNone/>
            </a:pPr>
            <a:r>
              <a:rPr lang="ja-JP" altLang="en-US" sz="1500" b="1" dirty="0">
                <a:solidFill>
                  <a:srgbClr val="1E2430"/>
                </a:solidFill>
                <a:latin typeface="BIZ UDPゴシック"/>
                <a:ea typeface="BIZ UDPゴシック"/>
                <a:cs typeface="BIZ UDPゴシック"/>
              </a:rPr>
              <a:t>即時性</a:t>
            </a:r>
            <a:endParaRPr lang="ja-JP" altLang="en-US" sz="1500" dirty="0"/>
          </a:p>
        </p:txBody>
      </p:sp>
      <p:sp>
        <p:nvSpPr>
          <p:cNvPr id="13" name="テキスト 11">
            <a:extLst>
              <a:ext uri="{FF2B5EF4-FFF2-40B4-BE49-F238E27FC236}">
                <a16:creationId xmlns:a16="http://schemas.microsoft.com/office/drawing/2014/main" id="{14A25E55-61E1-19BB-905F-E57D3085852C}"/>
              </a:ext>
            </a:extLst>
          </p:cNvPr>
          <p:cNvSpPr txBox="1"/>
          <p:nvPr/>
        </p:nvSpPr>
        <p:spPr>
          <a:xfrm>
            <a:off x="4596384" y="4814316"/>
            <a:ext cx="2996184" cy="1600200"/>
          </a:xfrm>
          <a:prstGeom prst="rect">
            <a:avLst/>
          </a:prstGeom>
          <a:noFill/>
        </p:spPr>
        <p:txBody>
          <a:bodyPr wrap="square" lIns="0" tIns="0" rIns="0" bIns="0" rtlCol="0" anchor="t">
            <a:noAutofit/>
          </a:bodyPr>
          <a:lstStyle/>
          <a:p>
            <a:pPr marL="0" indent="0" algn="l">
              <a:lnSpc>
                <a:spcPct val="125000"/>
              </a:lnSpc>
              <a:spcBef>
                <a:spcPts val="0"/>
              </a:spcBef>
              <a:spcAft>
                <a:spcPts val="0"/>
              </a:spcAft>
              <a:buNone/>
            </a:pPr>
            <a:r>
              <a:rPr lang="ja-JP" altLang="en-US" sz="1450" dirty="0">
                <a:solidFill>
                  <a:srgbClr val="1E2430"/>
                </a:solidFill>
                <a:latin typeface="BIZ UDPゴシック"/>
                <a:ea typeface="BIZ UDPゴシック"/>
                <a:cs typeface="BIZ UDPゴシック"/>
              </a:rPr>
              <a:t>ドアを開けたり部屋を移動した際に音が変わるまでに何秒もかけてると体験としての新鮮さがない、リアルタイムで音が変化してラグや飛びが無いように心がける。</a:t>
            </a:r>
            <a:endParaRPr lang="ja-JP" altLang="en-US" sz="1450" dirty="0"/>
          </a:p>
        </p:txBody>
      </p:sp>
      <p:sp>
        <p:nvSpPr>
          <p:cNvPr id="14" name="カード 12">
            <a:extLst>
              <a:ext uri="{FF2B5EF4-FFF2-40B4-BE49-F238E27FC236}">
                <a16:creationId xmlns:a16="http://schemas.microsoft.com/office/drawing/2014/main" id="{B75A707F-DCA6-A541-481D-89810F0A0C0B}"/>
              </a:ext>
            </a:extLst>
          </p:cNvPr>
          <p:cNvSpPr/>
          <p:nvPr/>
        </p:nvSpPr>
        <p:spPr>
          <a:xfrm>
            <a:off x="8095488" y="2971800"/>
            <a:ext cx="3544824" cy="3337560"/>
          </a:xfrm>
          <a:prstGeom prst="roundRect">
            <a:avLst>
              <a:gd name="adj" fmla="val 5000"/>
            </a:avLst>
          </a:prstGeom>
          <a:solidFill>
            <a:srgbClr val="F0F2F5"/>
          </a:solidFill>
          <a:ln>
            <a:noFill/>
          </a:ln>
        </p:spPr>
        <p:txBody>
          <a:bodyPr/>
          <a:lstStyle/>
          <a:p>
            <a:endParaRPr lang="ja-JP" altLang="en-US"/>
          </a:p>
        </p:txBody>
      </p:sp>
      <p:sp>
        <p:nvSpPr>
          <p:cNvPr id="15" name="ラベル 13">
            <a:extLst>
              <a:ext uri="{FF2B5EF4-FFF2-40B4-BE49-F238E27FC236}">
                <a16:creationId xmlns:a16="http://schemas.microsoft.com/office/drawing/2014/main" id="{DCA23331-6206-6FB3-5FBF-A09ED01904D9}"/>
              </a:ext>
            </a:extLst>
          </p:cNvPr>
          <p:cNvSpPr/>
          <p:nvPr/>
        </p:nvSpPr>
        <p:spPr>
          <a:xfrm>
            <a:off x="8357616" y="4285889"/>
            <a:ext cx="1097280" cy="420624"/>
          </a:xfrm>
          <a:prstGeom prst="roundRect">
            <a:avLst>
              <a:gd name="adj" fmla="val 50000"/>
            </a:avLst>
          </a:prstGeom>
          <a:solidFill>
            <a:srgbClr val="E3A33B"/>
          </a:solidFill>
          <a:ln>
            <a:noFill/>
          </a:ln>
        </p:spPr>
        <p:txBody>
          <a:bodyPr wrap="square" lIns="0" tIns="0" rIns="0" bIns="0" rtlCol="0" anchor="ctr">
            <a:noAutofit/>
          </a:bodyPr>
          <a:lstStyle/>
          <a:p>
            <a:pPr marL="0" indent="0" algn="ctr">
              <a:spcBef>
                <a:spcPts val="0"/>
              </a:spcBef>
              <a:spcAft>
                <a:spcPts val="0"/>
              </a:spcAft>
              <a:buNone/>
            </a:pPr>
            <a:r>
              <a:rPr lang="ja-JP" altLang="en-US" sz="1500" b="1" dirty="0">
                <a:solidFill>
                  <a:srgbClr val="1E2430"/>
                </a:solidFill>
                <a:latin typeface="BIZ UDPゴシック"/>
                <a:ea typeface="BIZ UDPゴシック"/>
                <a:cs typeface="BIZ UDPゴシック"/>
              </a:rPr>
              <a:t>方向性</a:t>
            </a:r>
            <a:endParaRPr lang="ja-JP" altLang="en-US" sz="1500" dirty="0"/>
          </a:p>
        </p:txBody>
      </p:sp>
      <p:sp>
        <p:nvSpPr>
          <p:cNvPr id="16" name="テキスト 14">
            <a:extLst>
              <a:ext uri="{FF2B5EF4-FFF2-40B4-BE49-F238E27FC236}">
                <a16:creationId xmlns:a16="http://schemas.microsoft.com/office/drawing/2014/main" id="{C843485F-718B-F0D4-2A37-3625C1C5B148}"/>
              </a:ext>
            </a:extLst>
          </p:cNvPr>
          <p:cNvSpPr txBox="1"/>
          <p:nvPr/>
        </p:nvSpPr>
        <p:spPr>
          <a:xfrm>
            <a:off x="8357616" y="4814316"/>
            <a:ext cx="2996184" cy="1600200"/>
          </a:xfrm>
          <a:prstGeom prst="rect">
            <a:avLst/>
          </a:prstGeom>
          <a:noFill/>
        </p:spPr>
        <p:txBody>
          <a:bodyPr wrap="square" lIns="0" tIns="0" rIns="0" bIns="0" rtlCol="0" anchor="t">
            <a:noAutofit/>
          </a:bodyPr>
          <a:lstStyle/>
          <a:p>
            <a:pPr marL="0" indent="0" algn="l">
              <a:lnSpc>
                <a:spcPct val="125000"/>
              </a:lnSpc>
              <a:spcBef>
                <a:spcPts val="0"/>
              </a:spcBef>
              <a:spcAft>
                <a:spcPts val="0"/>
              </a:spcAft>
              <a:buNone/>
            </a:pPr>
            <a:r>
              <a:rPr lang="ja-JP" altLang="en-US" sz="1450" dirty="0">
                <a:solidFill>
                  <a:srgbClr val="1E2430"/>
                </a:solidFill>
                <a:latin typeface="BIZ UDPゴシック"/>
                <a:ea typeface="BIZ UDPゴシック"/>
                <a:cs typeface="BIZ UDPゴシック"/>
              </a:rPr>
              <a:t>隣の部屋への扉やそもそもの音源の位置と言ったどの方向から聞こえるかは場所を考えられるための重要な情報になる、聞いて伝わる、のためにどの方向からかをわかりやすくする</a:t>
            </a:r>
            <a:endParaRPr lang="ja-JP" altLang="en-US" sz="1450" dirty="0"/>
          </a:p>
        </p:txBody>
      </p:sp>
      <p:sp>
        <p:nvSpPr>
          <p:cNvPr id="17" name="Rounded Rectangle 7">
            <a:extLst>
              <a:ext uri="{FF2B5EF4-FFF2-40B4-BE49-F238E27FC236}">
                <a16:creationId xmlns:a16="http://schemas.microsoft.com/office/drawing/2014/main" id="{02232BB9-C2CE-E98F-BE90-654983005DA4}"/>
              </a:ext>
            </a:extLst>
          </p:cNvPr>
          <p:cNvSpPr/>
          <p:nvPr/>
        </p:nvSpPr>
        <p:spPr>
          <a:xfrm>
            <a:off x="765048" y="3026664"/>
            <a:ext cx="3054096" cy="10972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18" name="Connector 8">
            <a:extLst>
              <a:ext uri="{FF2B5EF4-FFF2-40B4-BE49-F238E27FC236}">
                <a16:creationId xmlns:a16="http://schemas.microsoft.com/office/drawing/2014/main" id="{6E50DAC9-792D-DA9A-6E5D-28E1170C79FF}"/>
              </a:ext>
            </a:extLst>
          </p:cNvPr>
          <p:cNvCxnSpPr/>
          <p:nvPr/>
        </p:nvCxnSpPr>
        <p:spPr>
          <a:xfrm>
            <a:off x="765048" y="4014215"/>
            <a:ext cx="3054096" cy="0"/>
          </a:xfrm>
          <a:prstGeom prst="line">
            <a:avLst/>
          </a:prstGeom>
          <a:ln w="12700">
            <a:solidFill>
              <a:srgbClr val="C9CFD8"/>
            </a:solidFill>
          </a:ln>
        </p:spPr>
        <p:style>
          <a:lnRef idx="2">
            <a:schemeClr val="accent1"/>
          </a:lnRef>
          <a:fillRef idx="0">
            <a:schemeClr val="accent1"/>
          </a:fillRef>
          <a:effectRef idx="1">
            <a:schemeClr val="accent1"/>
          </a:effectRef>
          <a:fontRef idx="minor">
            <a:schemeClr val="tx1"/>
          </a:fontRef>
        </p:style>
      </p:cxnSp>
      <p:sp>
        <p:nvSpPr>
          <p:cNvPr id="19" name="Freeform 9">
            <a:extLst>
              <a:ext uri="{FF2B5EF4-FFF2-40B4-BE49-F238E27FC236}">
                <a16:creationId xmlns:a16="http://schemas.microsoft.com/office/drawing/2014/main" id="{6C0A700E-0B54-8C34-2563-B067E06C8956}"/>
              </a:ext>
            </a:extLst>
          </p:cNvPr>
          <p:cNvSpPr/>
          <p:nvPr/>
        </p:nvSpPr>
        <p:spPr>
          <a:xfrm>
            <a:off x="838200" y="3154680"/>
            <a:ext cx="2907791" cy="859535"/>
          </a:xfrm>
          <a:custGeom>
            <a:avLst/>
            <a:gdLst/>
            <a:ahLst/>
            <a:cxnLst/>
            <a:rect l="l" t="t" r="r" b="b"/>
            <a:pathLst>
              <a:path w="2907791" h="859535">
                <a:moveTo>
                  <a:pt x="0" y="859535"/>
                </a:moveTo>
                <a:lnTo>
                  <a:pt x="121158" y="855183"/>
                </a:lnTo>
                <a:lnTo>
                  <a:pt x="242315" y="842623"/>
                </a:lnTo>
                <a:lnTo>
                  <a:pt x="363474" y="822602"/>
                </a:lnTo>
                <a:lnTo>
                  <a:pt x="484631" y="795866"/>
                </a:lnTo>
                <a:lnTo>
                  <a:pt x="605790" y="763161"/>
                </a:lnTo>
                <a:lnTo>
                  <a:pt x="726948" y="725233"/>
                </a:lnTo>
                <a:lnTo>
                  <a:pt x="848106" y="682828"/>
                </a:lnTo>
                <a:lnTo>
                  <a:pt x="969263" y="636693"/>
                </a:lnTo>
                <a:lnTo>
                  <a:pt x="1090421" y="587573"/>
                </a:lnTo>
                <a:lnTo>
                  <a:pt x="1211580" y="536215"/>
                </a:lnTo>
                <a:lnTo>
                  <a:pt x="1332737" y="483364"/>
                </a:lnTo>
                <a:lnTo>
                  <a:pt x="1453896" y="429768"/>
                </a:lnTo>
                <a:lnTo>
                  <a:pt x="1575053" y="376171"/>
                </a:lnTo>
                <a:lnTo>
                  <a:pt x="1696212" y="323320"/>
                </a:lnTo>
                <a:lnTo>
                  <a:pt x="1817370" y="271962"/>
                </a:lnTo>
                <a:lnTo>
                  <a:pt x="1938527" y="222842"/>
                </a:lnTo>
                <a:lnTo>
                  <a:pt x="2059686" y="176707"/>
                </a:lnTo>
                <a:lnTo>
                  <a:pt x="2180844" y="134302"/>
                </a:lnTo>
                <a:lnTo>
                  <a:pt x="2302001" y="96374"/>
                </a:lnTo>
                <a:lnTo>
                  <a:pt x="2423160" y="63669"/>
                </a:lnTo>
                <a:lnTo>
                  <a:pt x="2544317" y="36933"/>
                </a:lnTo>
                <a:lnTo>
                  <a:pt x="2665475" y="16912"/>
                </a:lnTo>
                <a:lnTo>
                  <a:pt x="2786634" y="4352"/>
                </a:lnTo>
                <a:lnTo>
                  <a:pt x="2907791" y="0"/>
                </a:lnTo>
              </a:path>
            </a:pathLst>
          </a:custGeom>
          <a:noFill/>
          <a:ln w="28575">
            <a:solidFill>
              <a:srgbClr val="E3A3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Freeform 10">
            <a:extLst>
              <a:ext uri="{FF2B5EF4-FFF2-40B4-BE49-F238E27FC236}">
                <a16:creationId xmlns:a16="http://schemas.microsoft.com/office/drawing/2014/main" id="{A2FA091A-5721-919C-1C5D-BAC5B90F6798}"/>
              </a:ext>
            </a:extLst>
          </p:cNvPr>
          <p:cNvSpPr/>
          <p:nvPr/>
        </p:nvSpPr>
        <p:spPr>
          <a:xfrm>
            <a:off x="838200" y="3154680"/>
            <a:ext cx="2907791" cy="859535"/>
          </a:xfrm>
          <a:custGeom>
            <a:avLst/>
            <a:gdLst/>
            <a:ahLst/>
            <a:cxnLst/>
            <a:rect l="l" t="t" r="r" b="b"/>
            <a:pathLst>
              <a:path w="2907791" h="859535">
                <a:moveTo>
                  <a:pt x="0" y="859535"/>
                </a:moveTo>
                <a:lnTo>
                  <a:pt x="726948" y="859535"/>
                </a:lnTo>
                <a:lnTo>
                  <a:pt x="726948" y="644652"/>
                </a:lnTo>
                <a:lnTo>
                  <a:pt x="726948" y="644652"/>
                </a:lnTo>
                <a:lnTo>
                  <a:pt x="1453896" y="644652"/>
                </a:lnTo>
                <a:lnTo>
                  <a:pt x="1453896" y="429768"/>
                </a:lnTo>
                <a:lnTo>
                  <a:pt x="1453896" y="429768"/>
                </a:lnTo>
                <a:lnTo>
                  <a:pt x="2180844" y="429768"/>
                </a:lnTo>
                <a:lnTo>
                  <a:pt x="2180844" y="214884"/>
                </a:lnTo>
                <a:lnTo>
                  <a:pt x="2180844" y="214884"/>
                </a:lnTo>
                <a:lnTo>
                  <a:pt x="2907791" y="214884"/>
                </a:lnTo>
                <a:lnTo>
                  <a:pt x="2907791" y="0"/>
                </a:lnTo>
              </a:path>
            </a:pathLst>
          </a:custGeom>
          <a:noFill/>
          <a:ln w="15875">
            <a:solidFill>
              <a:srgbClr val="9AA3B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14">
            <a:extLst>
              <a:ext uri="{FF2B5EF4-FFF2-40B4-BE49-F238E27FC236}">
                <a16:creationId xmlns:a16="http://schemas.microsoft.com/office/drawing/2014/main" id="{B090C09A-B9FA-B968-3B73-34DC7FA52F5F}"/>
              </a:ext>
            </a:extLst>
          </p:cNvPr>
          <p:cNvSpPr/>
          <p:nvPr/>
        </p:nvSpPr>
        <p:spPr>
          <a:xfrm>
            <a:off x="4553712" y="3072384"/>
            <a:ext cx="3054096" cy="10972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15">
            <a:extLst>
              <a:ext uri="{FF2B5EF4-FFF2-40B4-BE49-F238E27FC236}">
                <a16:creationId xmlns:a16="http://schemas.microsoft.com/office/drawing/2014/main" id="{E74236CE-45C4-8B7F-A899-FDBAC638CD17}"/>
              </a:ext>
            </a:extLst>
          </p:cNvPr>
          <p:cNvSpPr txBox="1"/>
          <p:nvPr/>
        </p:nvSpPr>
        <p:spPr>
          <a:xfrm>
            <a:off x="4553712" y="3218688"/>
            <a:ext cx="411480" cy="237744"/>
          </a:xfrm>
          <a:prstGeom prst="rect">
            <a:avLst/>
          </a:prstGeom>
          <a:noFill/>
        </p:spPr>
        <p:txBody>
          <a:bodyPr wrap="square" lIns="0" tIns="0" rIns="0" bIns="0" anchor="ctr">
            <a:spAutoFit/>
          </a:bodyPr>
          <a:lstStyle/>
          <a:p>
            <a:pPr algn="l">
              <a:spcAft>
                <a:spcPts val="0"/>
              </a:spcAft>
              <a:buNone/>
            </a:pPr>
            <a:r>
              <a:rPr sz="1050" b="1">
                <a:solidFill>
                  <a:srgbClr val="1E2430"/>
                </a:solidFill>
                <a:latin typeface="BIZ UDPゴシック"/>
                <a:ea typeface="BIZ UDPゴシック"/>
                <a:cs typeface="BIZ UDPゴシック"/>
              </a:rPr>
              <a:t>操作</a:t>
            </a:r>
          </a:p>
        </p:txBody>
      </p:sp>
      <p:sp>
        <p:nvSpPr>
          <p:cNvPr id="23" name="Right Arrow 16">
            <a:extLst>
              <a:ext uri="{FF2B5EF4-FFF2-40B4-BE49-F238E27FC236}">
                <a16:creationId xmlns:a16="http://schemas.microsoft.com/office/drawing/2014/main" id="{F780E1F7-9C3A-8BDC-DAFE-9CCD105441E6}"/>
              </a:ext>
            </a:extLst>
          </p:cNvPr>
          <p:cNvSpPr/>
          <p:nvPr/>
        </p:nvSpPr>
        <p:spPr>
          <a:xfrm>
            <a:off x="4992623" y="3282696"/>
            <a:ext cx="320040" cy="118872"/>
          </a:xfrm>
          <a:prstGeom prst="rightArrow">
            <a:avLst/>
          </a:prstGeom>
          <a:solidFill>
            <a:srgbClr val="E3A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17">
            <a:extLst>
              <a:ext uri="{FF2B5EF4-FFF2-40B4-BE49-F238E27FC236}">
                <a16:creationId xmlns:a16="http://schemas.microsoft.com/office/drawing/2014/main" id="{4C170659-76EF-9927-8767-DED8A8F0B7A8}"/>
              </a:ext>
            </a:extLst>
          </p:cNvPr>
          <p:cNvSpPr txBox="1"/>
          <p:nvPr/>
        </p:nvSpPr>
        <p:spPr>
          <a:xfrm>
            <a:off x="5367527" y="3218688"/>
            <a:ext cx="320040" cy="237744"/>
          </a:xfrm>
          <a:prstGeom prst="rect">
            <a:avLst/>
          </a:prstGeom>
          <a:noFill/>
        </p:spPr>
        <p:txBody>
          <a:bodyPr wrap="square" lIns="0" tIns="0" rIns="0" bIns="0" anchor="ctr">
            <a:spAutoFit/>
          </a:bodyPr>
          <a:lstStyle/>
          <a:p>
            <a:pPr algn="l">
              <a:spcAft>
                <a:spcPts val="0"/>
              </a:spcAft>
              <a:buNone/>
            </a:pPr>
            <a:r>
              <a:rPr sz="1050" b="1">
                <a:solidFill>
                  <a:srgbClr val="1E2430"/>
                </a:solidFill>
                <a:latin typeface="BIZ UDPゴシック"/>
                <a:ea typeface="BIZ UDPゴシック"/>
                <a:cs typeface="BIZ UDPゴシック"/>
              </a:rPr>
              <a:t>音</a:t>
            </a:r>
          </a:p>
        </p:txBody>
      </p:sp>
      <p:sp>
        <p:nvSpPr>
          <p:cNvPr id="25" name="TextBox 18">
            <a:extLst>
              <a:ext uri="{FF2B5EF4-FFF2-40B4-BE49-F238E27FC236}">
                <a16:creationId xmlns:a16="http://schemas.microsoft.com/office/drawing/2014/main" id="{4343D77A-74E7-F271-E4A6-8E71BCA78480}"/>
              </a:ext>
            </a:extLst>
          </p:cNvPr>
          <p:cNvSpPr txBox="1"/>
          <p:nvPr/>
        </p:nvSpPr>
        <p:spPr>
          <a:xfrm>
            <a:off x="5714999" y="3256768"/>
            <a:ext cx="1234440" cy="161583"/>
          </a:xfrm>
          <a:prstGeom prst="rect">
            <a:avLst/>
          </a:prstGeom>
          <a:noFill/>
        </p:spPr>
        <p:txBody>
          <a:bodyPr wrap="square" lIns="0" tIns="0" rIns="0" bIns="0" anchor="ctr">
            <a:spAutoFit/>
          </a:bodyPr>
          <a:lstStyle/>
          <a:p>
            <a:pPr algn="l">
              <a:spcAft>
                <a:spcPts val="0"/>
              </a:spcAft>
              <a:buNone/>
            </a:pPr>
            <a:r>
              <a:rPr sz="1050" b="1" dirty="0">
                <a:solidFill>
                  <a:srgbClr val="E3A33B"/>
                </a:solidFill>
                <a:latin typeface="BIZ UDPゴシック"/>
                <a:ea typeface="BIZ UDPゴシック"/>
                <a:cs typeface="BIZ UDPゴシック"/>
              </a:rPr>
              <a:t>○　</a:t>
            </a:r>
            <a:r>
              <a:rPr lang="ja-JP" altLang="en-US" sz="1050" b="1" dirty="0">
                <a:solidFill>
                  <a:srgbClr val="E3A33B"/>
                </a:solidFill>
                <a:latin typeface="BIZ UDPゴシック"/>
                <a:ea typeface="BIZ UDPゴシック"/>
                <a:cs typeface="BIZ UDPゴシック"/>
              </a:rPr>
              <a:t>行動がわかる</a:t>
            </a:r>
            <a:endParaRPr sz="1050" b="1" dirty="0">
              <a:solidFill>
                <a:srgbClr val="E3A33B"/>
              </a:solidFill>
              <a:latin typeface="BIZ UDPゴシック"/>
              <a:ea typeface="BIZ UDPゴシック"/>
              <a:cs typeface="BIZ UDPゴシック"/>
            </a:endParaRPr>
          </a:p>
        </p:txBody>
      </p:sp>
      <p:sp>
        <p:nvSpPr>
          <p:cNvPr id="26" name="TextBox 19">
            <a:extLst>
              <a:ext uri="{FF2B5EF4-FFF2-40B4-BE49-F238E27FC236}">
                <a16:creationId xmlns:a16="http://schemas.microsoft.com/office/drawing/2014/main" id="{851E8A8E-1643-79E5-D10B-DC962CCCE608}"/>
              </a:ext>
            </a:extLst>
          </p:cNvPr>
          <p:cNvSpPr txBox="1"/>
          <p:nvPr/>
        </p:nvSpPr>
        <p:spPr>
          <a:xfrm>
            <a:off x="4553712" y="3721608"/>
            <a:ext cx="411480" cy="237744"/>
          </a:xfrm>
          <a:prstGeom prst="rect">
            <a:avLst/>
          </a:prstGeom>
          <a:noFill/>
        </p:spPr>
        <p:txBody>
          <a:bodyPr wrap="square" lIns="0" tIns="0" rIns="0" bIns="0" anchor="ctr">
            <a:spAutoFit/>
          </a:bodyPr>
          <a:lstStyle/>
          <a:p>
            <a:pPr algn="l">
              <a:spcAft>
                <a:spcPts val="0"/>
              </a:spcAft>
              <a:buNone/>
            </a:pPr>
            <a:r>
              <a:rPr sz="1050" b="1">
                <a:solidFill>
                  <a:srgbClr val="1E2430"/>
                </a:solidFill>
                <a:latin typeface="BIZ UDPゴシック"/>
                <a:ea typeface="BIZ UDPゴシック"/>
                <a:cs typeface="BIZ UDPゴシック"/>
              </a:rPr>
              <a:t>操作</a:t>
            </a:r>
          </a:p>
        </p:txBody>
      </p:sp>
      <p:sp>
        <p:nvSpPr>
          <p:cNvPr id="27" name="Right Arrow 20">
            <a:extLst>
              <a:ext uri="{FF2B5EF4-FFF2-40B4-BE49-F238E27FC236}">
                <a16:creationId xmlns:a16="http://schemas.microsoft.com/office/drawing/2014/main" id="{19BB04A4-3EF3-64DE-C574-99B1C840BCE0}"/>
              </a:ext>
            </a:extLst>
          </p:cNvPr>
          <p:cNvSpPr/>
          <p:nvPr/>
        </p:nvSpPr>
        <p:spPr>
          <a:xfrm>
            <a:off x="4992623" y="3785616"/>
            <a:ext cx="1234440" cy="118872"/>
          </a:xfrm>
          <a:prstGeom prst="rightArrow">
            <a:avLst/>
          </a:prstGeom>
          <a:solidFill>
            <a:srgbClr val="9AA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1">
            <a:extLst>
              <a:ext uri="{FF2B5EF4-FFF2-40B4-BE49-F238E27FC236}">
                <a16:creationId xmlns:a16="http://schemas.microsoft.com/office/drawing/2014/main" id="{6891E458-2A3B-C400-6D0D-15AB3ABE1BA7}"/>
              </a:ext>
            </a:extLst>
          </p:cNvPr>
          <p:cNvSpPr txBox="1"/>
          <p:nvPr/>
        </p:nvSpPr>
        <p:spPr>
          <a:xfrm>
            <a:off x="6281928" y="3721608"/>
            <a:ext cx="320040" cy="237744"/>
          </a:xfrm>
          <a:prstGeom prst="rect">
            <a:avLst/>
          </a:prstGeom>
          <a:noFill/>
        </p:spPr>
        <p:txBody>
          <a:bodyPr wrap="square" lIns="0" tIns="0" rIns="0" bIns="0" anchor="ctr">
            <a:spAutoFit/>
          </a:bodyPr>
          <a:lstStyle/>
          <a:p>
            <a:pPr algn="l">
              <a:spcAft>
                <a:spcPts val="0"/>
              </a:spcAft>
              <a:buNone/>
            </a:pPr>
            <a:r>
              <a:rPr sz="1050" b="1">
                <a:solidFill>
                  <a:srgbClr val="1E2430"/>
                </a:solidFill>
                <a:latin typeface="BIZ UDPゴシック"/>
                <a:ea typeface="BIZ UDPゴシック"/>
                <a:cs typeface="BIZ UDPゴシック"/>
              </a:rPr>
              <a:t>音</a:t>
            </a:r>
          </a:p>
        </p:txBody>
      </p:sp>
      <p:sp>
        <p:nvSpPr>
          <p:cNvPr id="29" name="TextBox 22">
            <a:extLst>
              <a:ext uri="{FF2B5EF4-FFF2-40B4-BE49-F238E27FC236}">
                <a16:creationId xmlns:a16="http://schemas.microsoft.com/office/drawing/2014/main" id="{FAAF82B5-7E57-49AC-488F-929F99197192}"/>
              </a:ext>
            </a:extLst>
          </p:cNvPr>
          <p:cNvSpPr txBox="1"/>
          <p:nvPr/>
        </p:nvSpPr>
        <p:spPr>
          <a:xfrm>
            <a:off x="6629400" y="3759688"/>
            <a:ext cx="1005840" cy="161583"/>
          </a:xfrm>
          <a:prstGeom prst="rect">
            <a:avLst/>
          </a:prstGeom>
          <a:noFill/>
        </p:spPr>
        <p:txBody>
          <a:bodyPr wrap="square" lIns="0" tIns="0" rIns="0" bIns="0" anchor="ctr">
            <a:spAutoFit/>
          </a:bodyPr>
          <a:lstStyle/>
          <a:p>
            <a:pPr algn="l">
              <a:spcAft>
                <a:spcPts val="0"/>
              </a:spcAft>
              <a:buNone/>
            </a:pPr>
            <a:r>
              <a:rPr sz="1050" b="1" dirty="0">
                <a:solidFill>
                  <a:srgbClr val="9AA3B0"/>
                </a:solidFill>
                <a:latin typeface="BIZ UDPゴシック"/>
                <a:ea typeface="BIZ UDPゴシック"/>
                <a:cs typeface="BIZ UDPゴシック"/>
              </a:rPr>
              <a:t>×　</a:t>
            </a:r>
            <a:r>
              <a:rPr lang="ja-JP" altLang="en-US" sz="1050" b="1" dirty="0">
                <a:solidFill>
                  <a:srgbClr val="9AA3B0"/>
                </a:solidFill>
                <a:latin typeface="BIZ UDPゴシック"/>
                <a:ea typeface="BIZ UDPゴシック"/>
                <a:cs typeface="BIZ UDPゴシック"/>
              </a:rPr>
              <a:t>伝わらない</a:t>
            </a:r>
            <a:endParaRPr sz="1050" b="1" dirty="0">
              <a:solidFill>
                <a:srgbClr val="9AA3B0"/>
              </a:solidFill>
              <a:latin typeface="BIZ UDPゴシック"/>
              <a:ea typeface="BIZ UDPゴシック"/>
              <a:cs typeface="BIZ UDPゴシック"/>
            </a:endParaRPr>
          </a:p>
        </p:txBody>
      </p:sp>
      <p:sp>
        <p:nvSpPr>
          <p:cNvPr id="30" name="Rounded Rectangle 26">
            <a:extLst>
              <a:ext uri="{FF2B5EF4-FFF2-40B4-BE49-F238E27FC236}">
                <a16:creationId xmlns:a16="http://schemas.microsoft.com/office/drawing/2014/main" id="{761DD833-DCFA-70D0-7991-A6256A37B310}"/>
              </a:ext>
            </a:extLst>
          </p:cNvPr>
          <p:cNvSpPr/>
          <p:nvPr/>
        </p:nvSpPr>
        <p:spPr>
          <a:xfrm>
            <a:off x="8302751" y="3072384"/>
            <a:ext cx="3054096" cy="109728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ounded Rectangle 27">
            <a:extLst>
              <a:ext uri="{FF2B5EF4-FFF2-40B4-BE49-F238E27FC236}">
                <a16:creationId xmlns:a16="http://schemas.microsoft.com/office/drawing/2014/main" id="{BBAB3A6C-D382-05B3-36F1-89BDB7C02636}"/>
              </a:ext>
            </a:extLst>
          </p:cNvPr>
          <p:cNvSpPr/>
          <p:nvPr/>
        </p:nvSpPr>
        <p:spPr>
          <a:xfrm>
            <a:off x="8714231" y="3163824"/>
            <a:ext cx="2231136" cy="914400"/>
          </a:xfrm>
          <a:prstGeom prst="roundRect">
            <a:avLst>
              <a:gd name="adj" fmla="val 3000"/>
            </a:avLst>
          </a:prstGeom>
          <a:noFill/>
          <a:ln w="15875">
            <a:solidFill>
              <a:srgbClr val="C9CF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Rectangle 28">
            <a:extLst>
              <a:ext uri="{FF2B5EF4-FFF2-40B4-BE49-F238E27FC236}">
                <a16:creationId xmlns:a16="http://schemas.microsoft.com/office/drawing/2014/main" id="{5CF80682-29F4-38B6-1D85-B7A2511FE2A1}"/>
              </a:ext>
            </a:extLst>
          </p:cNvPr>
          <p:cNvSpPr/>
          <p:nvPr/>
        </p:nvSpPr>
        <p:spPr>
          <a:xfrm>
            <a:off x="8668511" y="3419856"/>
            <a:ext cx="109728" cy="402336"/>
          </a:xfrm>
          <a:prstGeom prst="rect">
            <a:avLst/>
          </a:prstGeom>
          <a:solidFill>
            <a:srgbClr val="E3A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29">
            <a:extLst>
              <a:ext uri="{FF2B5EF4-FFF2-40B4-BE49-F238E27FC236}">
                <a16:creationId xmlns:a16="http://schemas.microsoft.com/office/drawing/2014/main" id="{012E1AFD-49B4-C4B1-211A-1E7E40ADCAC9}"/>
              </a:ext>
            </a:extLst>
          </p:cNvPr>
          <p:cNvSpPr txBox="1"/>
          <p:nvPr/>
        </p:nvSpPr>
        <p:spPr>
          <a:xfrm>
            <a:off x="8302751" y="3483864"/>
            <a:ext cx="347472" cy="274320"/>
          </a:xfrm>
          <a:prstGeom prst="rect">
            <a:avLst/>
          </a:prstGeom>
          <a:noFill/>
        </p:spPr>
        <p:txBody>
          <a:bodyPr wrap="square" lIns="0" tIns="0" rIns="0" bIns="0" anchor="t">
            <a:spAutoFit/>
          </a:bodyPr>
          <a:lstStyle/>
          <a:p>
            <a:pPr algn="l">
              <a:spcAft>
                <a:spcPts val="0"/>
              </a:spcAft>
              <a:buNone/>
            </a:pPr>
            <a:r>
              <a:rPr sz="1000" b="1">
                <a:solidFill>
                  <a:srgbClr val="9A6212"/>
                </a:solidFill>
                <a:latin typeface="BIZ UDPゴシック"/>
                <a:ea typeface="BIZ UDPゴシック"/>
                <a:cs typeface="BIZ UDPゴシック"/>
              </a:rPr>
              <a:t>扉</a:t>
            </a:r>
          </a:p>
        </p:txBody>
      </p:sp>
      <p:sp>
        <p:nvSpPr>
          <p:cNvPr id="34" name="Right Arrow 30">
            <a:extLst>
              <a:ext uri="{FF2B5EF4-FFF2-40B4-BE49-F238E27FC236}">
                <a16:creationId xmlns:a16="http://schemas.microsoft.com/office/drawing/2014/main" id="{2B39B2FF-78E7-73EA-9AE6-A7F407FA7EC0}"/>
              </a:ext>
            </a:extLst>
          </p:cNvPr>
          <p:cNvSpPr/>
          <p:nvPr/>
        </p:nvSpPr>
        <p:spPr>
          <a:xfrm>
            <a:off x="8869679" y="3557016"/>
            <a:ext cx="868680" cy="128016"/>
          </a:xfrm>
          <a:prstGeom prst="rightArrow">
            <a:avLst/>
          </a:prstGeom>
          <a:solidFill>
            <a:srgbClr val="E3A3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1">
            <a:extLst>
              <a:ext uri="{FF2B5EF4-FFF2-40B4-BE49-F238E27FC236}">
                <a16:creationId xmlns:a16="http://schemas.microsoft.com/office/drawing/2014/main" id="{A6811457-E103-80B0-13FB-87D042A3D843}"/>
              </a:ext>
            </a:extLst>
          </p:cNvPr>
          <p:cNvSpPr/>
          <p:nvPr/>
        </p:nvSpPr>
        <p:spPr>
          <a:xfrm>
            <a:off x="9838943" y="3502152"/>
            <a:ext cx="237744" cy="237744"/>
          </a:xfrm>
          <a:prstGeom prst="ellipse">
            <a:avLst/>
          </a:prstGeom>
          <a:solidFill>
            <a:srgbClr val="1E24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spcAft>
                <a:spcPts val="0"/>
              </a:spcAft>
              <a:buNone/>
            </a:pPr>
            <a:endParaRPr/>
          </a:p>
        </p:txBody>
      </p:sp>
      <p:sp>
        <p:nvSpPr>
          <p:cNvPr id="36" name="TextBox 32">
            <a:extLst>
              <a:ext uri="{FF2B5EF4-FFF2-40B4-BE49-F238E27FC236}">
                <a16:creationId xmlns:a16="http://schemas.microsoft.com/office/drawing/2014/main" id="{54277946-A74C-B84E-CAF1-799CA0BFCB19}"/>
              </a:ext>
            </a:extLst>
          </p:cNvPr>
          <p:cNvSpPr txBox="1"/>
          <p:nvPr/>
        </p:nvSpPr>
        <p:spPr>
          <a:xfrm>
            <a:off x="10177272" y="3474720"/>
            <a:ext cx="1005840" cy="274320"/>
          </a:xfrm>
          <a:prstGeom prst="rect">
            <a:avLst/>
          </a:prstGeom>
          <a:noFill/>
        </p:spPr>
        <p:txBody>
          <a:bodyPr wrap="square" lIns="0" tIns="0" rIns="0" bIns="0" anchor="t">
            <a:spAutoFit/>
          </a:bodyPr>
          <a:lstStyle/>
          <a:p>
            <a:pPr algn="l">
              <a:spcAft>
                <a:spcPts val="0"/>
              </a:spcAft>
              <a:buNone/>
            </a:pPr>
            <a:r>
              <a:rPr sz="1000" b="1">
                <a:solidFill>
                  <a:srgbClr val="1E2430"/>
                </a:solidFill>
                <a:latin typeface="BIZ UDPゴシック"/>
                <a:ea typeface="BIZ UDPゴシック"/>
                <a:cs typeface="BIZ UDPゴシック"/>
              </a:rPr>
              <a:t>自分</a:t>
            </a:r>
          </a:p>
        </p:txBody>
      </p:sp>
      <p:sp>
        <p:nvSpPr>
          <p:cNvPr id="37" name="テキスト ボックス 36">
            <a:extLst>
              <a:ext uri="{FF2B5EF4-FFF2-40B4-BE49-F238E27FC236}">
                <a16:creationId xmlns:a16="http://schemas.microsoft.com/office/drawing/2014/main" id="{FB4B0F09-EDA2-B1DE-DF80-485D2CE8B013}"/>
              </a:ext>
            </a:extLst>
          </p:cNvPr>
          <p:cNvSpPr txBox="1"/>
          <p:nvPr/>
        </p:nvSpPr>
        <p:spPr>
          <a:xfrm>
            <a:off x="838200" y="1490513"/>
            <a:ext cx="10802112" cy="923330"/>
          </a:xfrm>
          <a:prstGeom prst="rect">
            <a:avLst/>
          </a:prstGeom>
          <a:noFill/>
        </p:spPr>
        <p:txBody>
          <a:bodyPr wrap="square" rtlCol="0">
            <a:spAutoFit/>
          </a:bodyPr>
          <a:lstStyle/>
          <a:p>
            <a:r>
              <a:rPr lang="ja-JP" altLang="en-US" b="1" dirty="0"/>
              <a:t>聞こえ方を作りこむために、自分の体験として印象に残っている</a:t>
            </a:r>
            <a:endParaRPr lang="en-US" altLang="ja-JP" b="1" dirty="0"/>
          </a:p>
          <a:p>
            <a:r>
              <a:rPr lang="ja-JP" altLang="ja-JP" b="1" dirty="0"/>
              <a:t>「ドアの開き具合」と「部屋での音の響き方」</a:t>
            </a:r>
            <a:r>
              <a:rPr lang="ja-JP" altLang="en-US" b="1" dirty="0"/>
              <a:t>の二つに集中して制作し</a:t>
            </a:r>
            <a:r>
              <a:rPr lang="ja-JP" altLang="ja-JP" b="1" dirty="0"/>
              <a:t>、</a:t>
            </a:r>
            <a:r>
              <a:rPr lang="ja-JP" altLang="en-US" b="1" dirty="0"/>
              <a:t>聞こえ方の為の注意点として</a:t>
            </a:r>
            <a:endParaRPr lang="ja-JP" altLang="ja-JP" b="1" dirty="0"/>
          </a:p>
          <a:p>
            <a:r>
              <a:rPr lang="ja-JP" altLang="ja-JP" b="1" dirty="0"/>
              <a:t>連続性・即時性・方向性の3つを技術選定の優先要件として</a:t>
            </a:r>
            <a:r>
              <a:rPr lang="ja-JP" altLang="en-US" b="1" dirty="0"/>
              <a:t>決めました</a:t>
            </a:r>
            <a:r>
              <a:rPr lang="ja-JP" altLang="ja-JP" b="1" dirty="0"/>
              <a:t>。</a:t>
            </a:r>
          </a:p>
        </p:txBody>
      </p:sp>
    </p:spTree>
    <p:extLst>
      <p:ext uri="{BB962C8B-B14F-4D97-AF65-F5344CB8AC3E}">
        <p14:creationId xmlns:p14="http://schemas.microsoft.com/office/powerpoint/2010/main" val="8447434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971C5-6AC1-27A8-145A-075C74AE8063}"/>
            </a:ext>
          </a:extLst>
        </p:cNvPr>
        <p:cNvGrpSpPr/>
        <p:nvPr/>
      </p:nvGrpSpPr>
      <p:grpSpPr>
        <a:xfrm>
          <a:off x="0" y="0"/>
          <a:ext cx="0" cy="0"/>
          <a:chOff x="0" y="0"/>
          <a:chExt cx="0" cy="0"/>
        </a:xfrm>
      </p:grpSpPr>
      <p:pic>
        <p:nvPicPr>
          <p:cNvPr id="2" name="Image 1" descr="img/wave_deco.png">
            <a:extLst>
              <a:ext uri="{FF2B5EF4-FFF2-40B4-BE49-F238E27FC236}">
                <a16:creationId xmlns:a16="http://schemas.microsoft.com/office/drawing/2014/main" id="{D543D48E-41AD-98B5-B50C-F5481CEEF1D9}"/>
              </a:ext>
            </a:extLst>
          </p:cNvPr>
          <p:cNvPicPr>
            <a:picLocks noChangeAspect="1"/>
          </p:cNvPicPr>
          <p:nvPr/>
        </p:nvPicPr>
        <p:blipFill>
          <a:blip r:embed="rId2">
            <a:alphaModFix amt="65000"/>
          </a:blip>
          <a:stretch>
            <a:fillRect/>
          </a:stretch>
        </p:blipFill>
        <p:spPr>
          <a:xfrm>
            <a:off x="0" y="6217438"/>
            <a:ext cx="12192000" cy="731520"/>
          </a:xfrm>
          <a:prstGeom prst="rect">
            <a:avLst/>
          </a:prstGeom>
        </p:spPr>
      </p:pic>
      <p:pic>
        <p:nvPicPr>
          <p:cNvPr id="3" name="Image 0" descr="img/eq_small.png">
            <a:extLst>
              <a:ext uri="{FF2B5EF4-FFF2-40B4-BE49-F238E27FC236}">
                <a16:creationId xmlns:a16="http://schemas.microsoft.com/office/drawing/2014/main" id="{3985B0C6-9E71-4395-C16C-C61E6D73E5F5}"/>
              </a:ext>
            </a:extLst>
          </p:cNvPr>
          <p:cNvPicPr>
            <a:picLocks noChangeAspect="1"/>
          </p:cNvPicPr>
          <p:nvPr/>
        </p:nvPicPr>
        <p:blipFill>
          <a:blip r:embed="rId3"/>
          <a:stretch>
            <a:fillRect/>
          </a:stretch>
        </p:blipFill>
        <p:spPr>
          <a:xfrm>
            <a:off x="10805160" y="351043"/>
            <a:ext cx="1005840" cy="384048"/>
          </a:xfrm>
          <a:prstGeom prst="rect">
            <a:avLst/>
          </a:prstGeom>
        </p:spPr>
      </p:pic>
      <p:sp>
        <p:nvSpPr>
          <p:cNvPr id="4" name="Shape 3">
            <a:extLst>
              <a:ext uri="{FF2B5EF4-FFF2-40B4-BE49-F238E27FC236}">
                <a16:creationId xmlns:a16="http://schemas.microsoft.com/office/drawing/2014/main" id="{95E3D7EF-3312-A9AD-EF06-D1A04318D979}"/>
              </a:ext>
            </a:extLst>
          </p:cNvPr>
          <p:cNvSpPr/>
          <p:nvPr/>
        </p:nvSpPr>
        <p:spPr>
          <a:xfrm>
            <a:off x="655320" y="1322832"/>
            <a:ext cx="11155680" cy="0"/>
          </a:xfrm>
          <a:prstGeom prst="line">
            <a:avLst/>
          </a:prstGeom>
          <a:noFill/>
          <a:ln w="12700">
            <a:solidFill>
              <a:srgbClr val="E2E5EA"/>
            </a:solidFill>
            <a:prstDash val="solid"/>
          </a:ln>
        </p:spPr>
        <p:txBody>
          <a:bodyPr/>
          <a:lstStyle/>
          <a:p>
            <a:endParaRPr lang="ja-JP" altLang="en-US"/>
          </a:p>
        </p:txBody>
      </p:sp>
      <p:sp>
        <p:nvSpPr>
          <p:cNvPr id="5" name="Shape 4">
            <a:extLst>
              <a:ext uri="{FF2B5EF4-FFF2-40B4-BE49-F238E27FC236}">
                <a16:creationId xmlns:a16="http://schemas.microsoft.com/office/drawing/2014/main" id="{AE65C768-16A6-4F16-40F7-29E2B7056BA7}"/>
              </a:ext>
            </a:extLst>
          </p:cNvPr>
          <p:cNvSpPr/>
          <p:nvPr/>
        </p:nvSpPr>
        <p:spPr>
          <a:xfrm>
            <a:off x="655320" y="1322832"/>
            <a:ext cx="3200400" cy="0"/>
          </a:xfrm>
          <a:prstGeom prst="line">
            <a:avLst/>
          </a:prstGeom>
          <a:noFill/>
          <a:ln w="25400">
            <a:solidFill>
              <a:schemeClr val="accent5">
                <a:lumMod val="60000"/>
                <a:lumOff val="40000"/>
              </a:schemeClr>
            </a:solidFill>
            <a:prstDash val="solid"/>
          </a:ln>
        </p:spPr>
        <p:txBody>
          <a:bodyPr/>
          <a:lstStyle/>
          <a:p>
            <a:endParaRPr lang="ja-JP" altLang="en-US"/>
          </a:p>
        </p:txBody>
      </p:sp>
      <p:sp>
        <p:nvSpPr>
          <p:cNvPr id="6" name="テキスト ボックス 5">
            <a:extLst>
              <a:ext uri="{FF2B5EF4-FFF2-40B4-BE49-F238E27FC236}">
                <a16:creationId xmlns:a16="http://schemas.microsoft.com/office/drawing/2014/main" id="{36760C76-77C6-BAC5-88D0-41DD24FE2521}"/>
              </a:ext>
            </a:extLst>
          </p:cNvPr>
          <p:cNvSpPr txBox="1"/>
          <p:nvPr/>
        </p:nvSpPr>
        <p:spPr>
          <a:xfrm>
            <a:off x="219456" y="173736"/>
            <a:ext cx="6565392" cy="646331"/>
          </a:xfrm>
          <a:prstGeom prst="rect">
            <a:avLst/>
          </a:prstGeom>
          <a:noFill/>
        </p:spPr>
        <p:txBody>
          <a:bodyPr wrap="square" rtlCol="0">
            <a:spAutoFit/>
          </a:bodyPr>
          <a:lstStyle/>
          <a:p>
            <a:r>
              <a:rPr lang="ja-JP" altLang="en-US" b="1" dirty="0"/>
              <a:t>・技術選定　ドアの開き具合での演出</a:t>
            </a:r>
            <a:endParaRPr lang="en-US" altLang="ja-JP" b="1" dirty="0"/>
          </a:p>
          <a:p>
            <a:endParaRPr kumimoji="1" lang="ja-JP" altLang="en-US" dirty="0"/>
          </a:p>
        </p:txBody>
      </p:sp>
      <p:sp>
        <p:nvSpPr>
          <p:cNvPr id="7" name="テキスト ボックス 6">
            <a:extLst>
              <a:ext uri="{FF2B5EF4-FFF2-40B4-BE49-F238E27FC236}">
                <a16:creationId xmlns:a16="http://schemas.microsoft.com/office/drawing/2014/main" id="{1E4C9869-EF24-04D3-661E-7FF50007731F}"/>
              </a:ext>
            </a:extLst>
          </p:cNvPr>
          <p:cNvSpPr txBox="1"/>
          <p:nvPr/>
        </p:nvSpPr>
        <p:spPr>
          <a:xfrm>
            <a:off x="655320" y="640562"/>
            <a:ext cx="11796619" cy="584775"/>
          </a:xfrm>
          <a:prstGeom prst="rect">
            <a:avLst/>
          </a:prstGeom>
          <a:noFill/>
        </p:spPr>
        <p:txBody>
          <a:bodyPr wrap="square" rtlCol="0">
            <a:spAutoFit/>
          </a:bodyPr>
          <a:lstStyle/>
          <a:p>
            <a:r>
              <a:rPr lang="ja-JP" altLang="en-US" sz="3200" b="1" dirty="0">
                <a:solidFill>
                  <a:srgbClr val="1E2430"/>
                </a:solidFill>
                <a:latin typeface="BIZ UDPゴシック"/>
                <a:ea typeface="BIZ UDPゴシック"/>
                <a:cs typeface="BIZ UDPゴシック"/>
              </a:rPr>
              <a:t>ドアの開いた瞬間が伝わるように</a:t>
            </a:r>
            <a:endParaRPr lang="ja-JP" altLang="en-US" sz="3200" b="1" dirty="0"/>
          </a:p>
        </p:txBody>
      </p:sp>
      <p:sp>
        <p:nvSpPr>
          <p:cNvPr id="8" name="カード 5">
            <a:extLst>
              <a:ext uri="{FF2B5EF4-FFF2-40B4-BE49-F238E27FC236}">
                <a16:creationId xmlns:a16="http://schemas.microsoft.com/office/drawing/2014/main" id="{4DAFE167-10D4-7199-F5B2-73A353D86203}"/>
              </a:ext>
            </a:extLst>
          </p:cNvPr>
          <p:cNvSpPr/>
          <p:nvPr/>
        </p:nvSpPr>
        <p:spPr>
          <a:xfrm>
            <a:off x="567050" y="1809461"/>
            <a:ext cx="5350000" cy="2900000"/>
          </a:xfrm>
          <a:prstGeom prst="roundRect">
            <a:avLst>
              <a:gd name="adj" fmla="val 5000"/>
            </a:avLst>
          </a:prstGeom>
          <a:solidFill>
            <a:srgbClr val="F0F2F5"/>
          </a:solidFill>
          <a:ln>
            <a:noFill/>
          </a:ln>
        </p:spPr>
        <p:txBody>
          <a:bodyPr/>
          <a:lstStyle/>
          <a:p>
            <a:endParaRPr lang="ja-JP" altLang="en-US"/>
          </a:p>
        </p:txBody>
      </p:sp>
      <p:sp>
        <p:nvSpPr>
          <p:cNvPr id="9" name="テキスト 6">
            <a:extLst>
              <a:ext uri="{FF2B5EF4-FFF2-40B4-BE49-F238E27FC236}">
                <a16:creationId xmlns:a16="http://schemas.microsoft.com/office/drawing/2014/main" id="{EE8EE7BA-8424-64C9-60AE-D11ED4F63DAE}"/>
              </a:ext>
            </a:extLst>
          </p:cNvPr>
          <p:cNvSpPr txBox="1"/>
          <p:nvPr/>
        </p:nvSpPr>
        <p:spPr>
          <a:xfrm>
            <a:off x="817050" y="1959461"/>
            <a:ext cx="4850000" cy="28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300" b="1" dirty="0">
                <a:solidFill>
                  <a:srgbClr val="1E2430"/>
                </a:solidFill>
                <a:latin typeface="BIZ UDPゴシック"/>
                <a:ea typeface="BIZ UDPゴシック"/>
                <a:cs typeface="BIZ UDPゴシック"/>
              </a:rPr>
              <a:t>開き具合と音量</a:t>
            </a:r>
            <a:endParaRPr lang="ja-JP" altLang="en-US" sz="1300" dirty="0">
              <a:solidFill>
                <a:srgbClr val="1E2430"/>
              </a:solidFill>
              <a:latin typeface="BIZ UDPゴシック"/>
              <a:ea typeface="BIZ UDPゴシック"/>
              <a:cs typeface="BIZ UDPゴシック"/>
            </a:endParaRPr>
          </a:p>
        </p:txBody>
      </p:sp>
      <p:sp>
        <p:nvSpPr>
          <p:cNvPr id="10" name="区間 7">
            <a:extLst>
              <a:ext uri="{FF2B5EF4-FFF2-40B4-BE49-F238E27FC236}">
                <a16:creationId xmlns:a16="http://schemas.microsoft.com/office/drawing/2014/main" id="{FE132E71-F5B2-4EF0-320E-12FBEA837DCA}"/>
              </a:ext>
            </a:extLst>
          </p:cNvPr>
          <p:cNvSpPr/>
          <p:nvPr/>
        </p:nvSpPr>
        <p:spPr>
          <a:xfrm>
            <a:off x="1297050" y="2359461"/>
            <a:ext cx="97555" cy="2000000"/>
          </a:xfrm>
          <a:prstGeom prst="rect">
            <a:avLst/>
          </a:prstGeom>
          <a:solidFill>
            <a:srgbClr val="E6E9EE"/>
          </a:solidFill>
          <a:ln>
            <a:noFill/>
          </a:ln>
        </p:spPr>
        <p:txBody>
          <a:bodyPr/>
          <a:lstStyle/>
          <a:p>
            <a:endParaRPr lang="ja-JP" altLang="en-US"/>
          </a:p>
        </p:txBody>
      </p:sp>
      <p:sp>
        <p:nvSpPr>
          <p:cNvPr id="11" name="区間 8">
            <a:extLst>
              <a:ext uri="{FF2B5EF4-FFF2-40B4-BE49-F238E27FC236}">
                <a16:creationId xmlns:a16="http://schemas.microsoft.com/office/drawing/2014/main" id="{60047EB8-0515-B413-E1F8-52B66EA2E00E}"/>
              </a:ext>
            </a:extLst>
          </p:cNvPr>
          <p:cNvSpPr/>
          <p:nvPr/>
        </p:nvSpPr>
        <p:spPr>
          <a:xfrm>
            <a:off x="1394605" y="2359461"/>
            <a:ext cx="341444" cy="2000000"/>
          </a:xfrm>
          <a:prstGeom prst="rect">
            <a:avLst/>
          </a:prstGeom>
          <a:solidFill>
            <a:srgbClr val="FBF1DF"/>
          </a:solidFill>
          <a:ln>
            <a:noFill/>
          </a:ln>
        </p:spPr>
        <p:txBody>
          <a:bodyPr/>
          <a:lstStyle/>
          <a:p>
            <a:endParaRPr lang="ja-JP" altLang="en-US"/>
          </a:p>
        </p:txBody>
      </p:sp>
      <p:sp>
        <p:nvSpPr>
          <p:cNvPr id="12" name="区間 9">
            <a:extLst>
              <a:ext uri="{FF2B5EF4-FFF2-40B4-BE49-F238E27FC236}">
                <a16:creationId xmlns:a16="http://schemas.microsoft.com/office/drawing/2014/main" id="{A8016A9D-F168-0575-5693-250F393B8C91}"/>
              </a:ext>
            </a:extLst>
          </p:cNvPr>
          <p:cNvSpPr/>
          <p:nvPr/>
        </p:nvSpPr>
        <p:spPr>
          <a:xfrm>
            <a:off x="4223716" y="2359461"/>
            <a:ext cx="1463333" cy="2000000"/>
          </a:xfrm>
          <a:prstGeom prst="rect">
            <a:avLst/>
          </a:prstGeom>
          <a:solidFill>
            <a:srgbClr val="E6E9EE"/>
          </a:solidFill>
          <a:ln>
            <a:noFill/>
          </a:ln>
        </p:spPr>
        <p:txBody>
          <a:bodyPr/>
          <a:lstStyle/>
          <a:p>
            <a:endParaRPr lang="ja-JP" altLang="en-US"/>
          </a:p>
        </p:txBody>
      </p:sp>
      <p:cxnSp>
        <p:nvCxnSpPr>
          <p:cNvPr id="13" name="線 10">
            <a:extLst>
              <a:ext uri="{FF2B5EF4-FFF2-40B4-BE49-F238E27FC236}">
                <a16:creationId xmlns:a16="http://schemas.microsoft.com/office/drawing/2014/main" id="{A26B6659-4342-78D6-68F0-66E7C6CFA37A}"/>
              </a:ext>
            </a:extLst>
          </p:cNvPr>
          <p:cNvCxnSpPr/>
          <p:nvPr/>
        </p:nvCxnSpPr>
        <p:spPr>
          <a:xfrm>
            <a:off x="1297050" y="2659461"/>
            <a:ext cx="4390000" cy="0"/>
          </a:xfrm>
          <a:prstGeom prst="line">
            <a:avLst/>
          </a:prstGeom>
          <a:ln w="9525" cap="rnd">
            <a:solidFill>
              <a:srgbClr val="C9CFD8"/>
            </a:solidFill>
            <a:prstDash val="dash"/>
            <a:round/>
          </a:ln>
        </p:spPr>
      </p:cxnSp>
      <p:sp>
        <p:nvSpPr>
          <p:cNvPr id="14" name="テキスト 11">
            <a:extLst>
              <a:ext uri="{FF2B5EF4-FFF2-40B4-BE49-F238E27FC236}">
                <a16:creationId xmlns:a16="http://schemas.microsoft.com/office/drawing/2014/main" id="{A7E6D92A-6EAB-C261-9903-30AC8F0463AB}"/>
              </a:ext>
            </a:extLst>
          </p:cNvPr>
          <p:cNvSpPr txBox="1"/>
          <p:nvPr/>
        </p:nvSpPr>
        <p:spPr>
          <a:xfrm>
            <a:off x="647050" y="2569461"/>
            <a:ext cx="600000" cy="180000"/>
          </a:xfrm>
          <a:prstGeom prst="rect">
            <a:avLst/>
          </a:prstGeom>
          <a:noFill/>
          <a:ln>
            <a:noFill/>
          </a:ln>
        </p:spPr>
        <p:txBody>
          <a:bodyPr wrap="square" lIns="0" tIns="0" rIns="0" bIns="0" rtlCol="0" anchor="t">
            <a:noAutofit/>
          </a:bodyPr>
          <a:lstStyle/>
          <a:p>
            <a:pPr marL="0" indent="0" algn="r">
              <a:lnSpc>
                <a:spcPct val="100000"/>
              </a:lnSpc>
              <a:spcBef>
                <a:spcPts val="0"/>
              </a:spcBef>
              <a:spcAft>
                <a:spcPts val="0"/>
              </a:spcAft>
              <a:buNone/>
            </a:pPr>
            <a:r>
              <a:rPr lang="ja-JP" altLang="en-US" sz="950" dirty="0">
                <a:solidFill>
                  <a:srgbClr val="5C6677"/>
                </a:solidFill>
                <a:latin typeface="BIZ UDPゴシック"/>
                <a:ea typeface="BIZ UDPゴシック"/>
                <a:cs typeface="BIZ UDPゴシック"/>
              </a:rPr>
              <a:t>0 dB</a:t>
            </a:r>
          </a:p>
        </p:txBody>
      </p:sp>
      <p:cxnSp>
        <p:nvCxnSpPr>
          <p:cNvPr id="15" name="線 12">
            <a:extLst>
              <a:ext uri="{FF2B5EF4-FFF2-40B4-BE49-F238E27FC236}">
                <a16:creationId xmlns:a16="http://schemas.microsoft.com/office/drawing/2014/main" id="{2F82CB22-DF1A-F447-BE37-E5CD9D2899A9}"/>
              </a:ext>
            </a:extLst>
          </p:cNvPr>
          <p:cNvCxnSpPr/>
          <p:nvPr/>
        </p:nvCxnSpPr>
        <p:spPr>
          <a:xfrm>
            <a:off x="1297050" y="3459461"/>
            <a:ext cx="4390000" cy="0"/>
          </a:xfrm>
          <a:prstGeom prst="line">
            <a:avLst/>
          </a:prstGeom>
          <a:ln w="9525" cap="rnd">
            <a:solidFill>
              <a:srgbClr val="C9CFD8"/>
            </a:solidFill>
            <a:prstDash val="dash"/>
            <a:round/>
          </a:ln>
        </p:spPr>
      </p:cxnSp>
      <p:sp>
        <p:nvSpPr>
          <p:cNvPr id="16" name="テキスト 13">
            <a:extLst>
              <a:ext uri="{FF2B5EF4-FFF2-40B4-BE49-F238E27FC236}">
                <a16:creationId xmlns:a16="http://schemas.microsoft.com/office/drawing/2014/main" id="{84F7A39B-E04E-DCA5-D5AC-5046EB6C24FB}"/>
              </a:ext>
            </a:extLst>
          </p:cNvPr>
          <p:cNvSpPr txBox="1"/>
          <p:nvPr/>
        </p:nvSpPr>
        <p:spPr>
          <a:xfrm>
            <a:off x="647050" y="3369461"/>
            <a:ext cx="600000" cy="180000"/>
          </a:xfrm>
          <a:prstGeom prst="rect">
            <a:avLst/>
          </a:prstGeom>
          <a:noFill/>
          <a:ln>
            <a:noFill/>
          </a:ln>
        </p:spPr>
        <p:txBody>
          <a:bodyPr wrap="square" lIns="0" tIns="0" rIns="0" bIns="0" rtlCol="0" anchor="t">
            <a:noAutofit/>
          </a:bodyPr>
          <a:lstStyle/>
          <a:p>
            <a:pPr marL="0" indent="0" algn="r">
              <a:lnSpc>
                <a:spcPct val="100000"/>
              </a:lnSpc>
              <a:spcBef>
                <a:spcPts val="0"/>
              </a:spcBef>
              <a:spcAft>
                <a:spcPts val="0"/>
              </a:spcAft>
              <a:buNone/>
            </a:pPr>
            <a:r>
              <a:rPr lang="ja-JP" altLang="en-US" sz="950" dirty="0">
                <a:solidFill>
                  <a:srgbClr val="5C6677"/>
                </a:solidFill>
                <a:latin typeface="BIZ UDPゴシック"/>
                <a:ea typeface="BIZ UDPゴシック"/>
                <a:cs typeface="BIZ UDPゴシック"/>
              </a:rPr>
              <a:t>-10 dB</a:t>
            </a:r>
          </a:p>
        </p:txBody>
      </p:sp>
      <p:cxnSp>
        <p:nvCxnSpPr>
          <p:cNvPr id="17" name="線 14">
            <a:extLst>
              <a:ext uri="{FF2B5EF4-FFF2-40B4-BE49-F238E27FC236}">
                <a16:creationId xmlns:a16="http://schemas.microsoft.com/office/drawing/2014/main" id="{74993AD4-91A4-C2B6-85D3-2FE1ACA16725}"/>
              </a:ext>
            </a:extLst>
          </p:cNvPr>
          <p:cNvCxnSpPr/>
          <p:nvPr/>
        </p:nvCxnSpPr>
        <p:spPr>
          <a:xfrm>
            <a:off x="1297050" y="4259461"/>
            <a:ext cx="4390000" cy="0"/>
          </a:xfrm>
          <a:prstGeom prst="line">
            <a:avLst/>
          </a:prstGeom>
          <a:ln w="9525" cap="rnd">
            <a:solidFill>
              <a:srgbClr val="C9CFD8"/>
            </a:solidFill>
            <a:prstDash val="dash"/>
            <a:round/>
          </a:ln>
        </p:spPr>
      </p:cxnSp>
      <p:sp>
        <p:nvSpPr>
          <p:cNvPr id="18" name="テキスト 15">
            <a:extLst>
              <a:ext uri="{FF2B5EF4-FFF2-40B4-BE49-F238E27FC236}">
                <a16:creationId xmlns:a16="http://schemas.microsoft.com/office/drawing/2014/main" id="{2F4D149A-5A24-BF51-FB64-CD69C1A1A624}"/>
              </a:ext>
            </a:extLst>
          </p:cNvPr>
          <p:cNvSpPr txBox="1"/>
          <p:nvPr/>
        </p:nvSpPr>
        <p:spPr>
          <a:xfrm>
            <a:off x="647050" y="4169461"/>
            <a:ext cx="600000" cy="180000"/>
          </a:xfrm>
          <a:prstGeom prst="rect">
            <a:avLst/>
          </a:prstGeom>
          <a:noFill/>
          <a:ln>
            <a:noFill/>
          </a:ln>
        </p:spPr>
        <p:txBody>
          <a:bodyPr wrap="square" lIns="0" tIns="0" rIns="0" bIns="0" rtlCol="0" anchor="t">
            <a:noAutofit/>
          </a:bodyPr>
          <a:lstStyle/>
          <a:p>
            <a:pPr marL="0" indent="0" algn="r">
              <a:lnSpc>
                <a:spcPct val="100000"/>
              </a:lnSpc>
              <a:spcBef>
                <a:spcPts val="0"/>
              </a:spcBef>
              <a:spcAft>
                <a:spcPts val="0"/>
              </a:spcAft>
              <a:buNone/>
            </a:pPr>
            <a:r>
              <a:rPr lang="ja-JP" altLang="en-US" sz="950" dirty="0">
                <a:solidFill>
                  <a:srgbClr val="5C6677"/>
                </a:solidFill>
                <a:latin typeface="BIZ UDPゴシック"/>
                <a:ea typeface="BIZ UDPゴシック"/>
                <a:cs typeface="BIZ UDPゴシック"/>
              </a:rPr>
              <a:t>-20 dB</a:t>
            </a:r>
          </a:p>
        </p:txBody>
      </p:sp>
      <p:sp>
        <p:nvSpPr>
          <p:cNvPr id="19" name="テキスト 16">
            <a:extLst>
              <a:ext uri="{FF2B5EF4-FFF2-40B4-BE49-F238E27FC236}">
                <a16:creationId xmlns:a16="http://schemas.microsoft.com/office/drawing/2014/main" id="{12925094-B717-23C6-7F27-06F5FF294D40}"/>
              </a:ext>
            </a:extLst>
          </p:cNvPr>
          <p:cNvSpPr txBox="1"/>
          <p:nvPr/>
        </p:nvSpPr>
        <p:spPr>
          <a:xfrm>
            <a:off x="1047050" y="4369461"/>
            <a:ext cx="500000" cy="18000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ja-JP" altLang="en-US" sz="950" dirty="0">
                <a:solidFill>
                  <a:srgbClr val="5C6677"/>
                </a:solidFill>
                <a:latin typeface="BIZ UDPゴシック"/>
                <a:ea typeface="BIZ UDPゴシック"/>
                <a:cs typeface="BIZ UDPゴシック"/>
              </a:rPr>
              <a:t>0°</a:t>
            </a:r>
          </a:p>
        </p:txBody>
      </p:sp>
      <p:sp>
        <p:nvSpPr>
          <p:cNvPr id="20" name="テキスト 17">
            <a:extLst>
              <a:ext uri="{FF2B5EF4-FFF2-40B4-BE49-F238E27FC236}">
                <a16:creationId xmlns:a16="http://schemas.microsoft.com/office/drawing/2014/main" id="{DD51DC47-9A3E-AE50-340E-BDCF3769CC9B}"/>
              </a:ext>
            </a:extLst>
          </p:cNvPr>
          <p:cNvSpPr txBox="1"/>
          <p:nvPr/>
        </p:nvSpPr>
        <p:spPr>
          <a:xfrm>
            <a:off x="2510383" y="4369461"/>
            <a:ext cx="500000" cy="18000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ja-JP" altLang="en-US" sz="950" dirty="0">
                <a:solidFill>
                  <a:srgbClr val="5C6677"/>
                </a:solidFill>
                <a:latin typeface="BIZ UDPゴシック"/>
                <a:ea typeface="BIZ UDPゴシック"/>
                <a:cs typeface="BIZ UDPゴシック"/>
              </a:rPr>
              <a:t>30°</a:t>
            </a:r>
          </a:p>
        </p:txBody>
      </p:sp>
      <p:sp>
        <p:nvSpPr>
          <p:cNvPr id="21" name="テキスト 18">
            <a:extLst>
              <a:ext uri="{FF2B5EF4-FFF2-40B4-BE49-F238E27FC236}">
                <a16:creationId xmlns:a16="http://schemas.microsoft.com/office/drawing/2014/main" id="{665EE04D-F443-1735-BF17-22319C10D0F1}"/>
              </a:ext>
            </a:extLst>
          </p:cNvPr>
          <p:cNvSpPr txBox="1"/>
          <p:nvPr/>
        </p:nvSpPr>
        <p:spPr>
          <a:xfrm>
            <a:off x="3973716" y="4369461"/>
            <a:ext cx="500000" cy="18000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ja-JP" altLang="en-US" sz="950" dirty="0">
                <a:solidFill>
                  <a:srgbClr val="5C6677"/>
                </a:solidFill>
                <a:latin typeface="BIZ UDPゴシック"/>
                <a:ea typeface="BIZ UDPゴシック"/>
                <a:cs typeface="BIZ UDPゴシック"/>
              </a:rPr>
              <a:t>60°</a:t>
            </a:r>
          </a:p>
        </p:txBody>
      </p:sp>
      <p:sp>
        <p:nvSpPr>
          <p:cNvPr id="22" name="テキスト 19">
            <a:extLst>
              <a:ext uri="{FF2B5EF4-FFF2-40B4-BE49-F238E27FC236}">
                <a16:creationId xmlns:a16="http://schemas.microsoft.com/office/drawing/2014/main" id="{23A73B34-AD3D-7565-BCB6-33CEC3A2E91C}"/>
              </a:ext>
            </a:extLst>
          </p:cNvPr>
          <p:cNvSpPr txBox="1"/>
          <p:nvPr/>
        </p:nvSpPr>
        <p:spPr>
          <a:xfrm>
            <a:off x="5437050" y="4369461"/>
            <a:ext cx="500000" cy="18000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ja-JP" altLang="en-US" sz="950" dirty="0">
                <a:solidFill>
                  <a:srgbClr val="5C6677"/>
                </a:solidFill>
                <a:latin typeface="BIZ UDPゴシック"/>
                <a:ea typeface="BIZ UDPゴシック"/>
                <a:cs typeface="BIZ UDPゴシック"/>
              </a:rPr>
              <a:t>90°</a:t>
            </a:r>
          </a:p>
        </p:txBody>
      </p:sp>
      <p:sp>
        <p:nvSpPr>
          <p:cNvPr id="23" name="折れ線 20">
            <a:extLst>
              <a:ext uri="{FF2B5EF4-FFF2-40B4-BE49-F238E27FC236}">
                <a16:creationId xmlns:a16="http://schemas.microsoft.com/office/drawing/2014/main" id="{50462F90-7AA3-17A8-79FB-293DAB038303}"/>
              </a:ext>
            </a:extLst>
          </p:cNvPr>
          <p:cNvSpPr/>
          <p:nvPr/>
        </p:nvSpPr>
        <p:spPr>
          <a:xfrm>
            <a:off x="1297050" y="2659461"/>
            <a:ext cx="4390000" cy="1600000"/>
          </a:xfrm>
          <a:custGeom>
            <a:avLst/>
            <a:gdLst/>
            <a:ahLst/>
            <a:cxnLst/>
            <a:rect l="0" t="0" r="r" b="b"/>
            <a:pathLst>
              <a:path w="4390000" h="1600000" fill="none">
                <a:moveTo>
                  <a:pt x="0" y="1600000"/>
                </a:moveTo>
                <a:lnTo>
                  <a:pt x="48777" y="1600000"/>
                </a:lnTo>
                <a:lnTo>
                  <a:pt x="97555" y="1600000"/>
                </a:lnTo>
                <a:lnTo>
                  <a:pt x="146333" y="1551253"/>
                </a:lnTo>
                <a:lnTo>
                  <a:pt x="195111" y="1425539"/>
                </a:lnTo>
                <a:lnTo>
                  <a:pt x="243888" y="1253644"/>
                </a:lnTo>
                <a:lnTo>
                  <a:pt x="292666" y="1066355"/>
                </a:lnTo>
                <a:lnTo>
                  <a:pt x="341444" y="894460"/>
                </a:lnTo>
                <a:lnTo>
                  <a:pt x="390222" y="768746"/>
                </a:lnTo>
                <a:lnTo>
                  <a:pt x="439000" y="720000"/>
                </a:lnTo>
                <a:lnTo>
                  <a:pt x="585333" y="699142"/>
                </a:lnTo>
                <a:lnTo>
                  <a:pt x="731666" y="670391"/>
                </a:lnTo>
                <a:lnTo>
                  <a:pt x="975555" y="614169"/>
                </a:lnTo>
                <a:lnTo>
                  <a:pt x="1219444" y="550948"/>
                </a:lnTo>
                <a:lnTo>
                  <a:pt x="1463333" y="482510"/>
                </a:lnTo>
                <a:lnTo>
                  <a:pt x="1707222" y="409839"/>
                </a:lnTo>
                <a:lnTo>
                  <a:pt x="1951111" y="333569"/>
                </a:lnTo>
                <a:lnTo>
                  <a:pt x="2195000" y="254148"/>
                </a:lnTo>
                <a:lnTo>
                  <a:pt x="2438888" y="171912"/>
                </a:lnTo>
                <a:lnTo>
                  <a:pt x="2682777" y="87126"/>
                </a:lnTo>
                <a:lnTo>
                  <a:pt x="2926666" y="0"/>
                </a:lnTo>
                <a:lnTo>
                  <a:pt x="3414444" y="0"/>
                </a:lnTo>
                <a:lnTo>
                  <a:pt x="3902222" y="0"/>
                </a:lnTo>
                <a:lnTo>
                  <a:pt x="4390000" y="0"/>
                </a:lnTo>
              </a:path>
            </a:pathLst>
          </a:custGeom>
          <a:noFill/>
          <a:ln w="44450" cap="rnd">
            <a:solidFill>
              <a:srgbClr val="E3A33B"/>
            </a:solidFill>
            <a:round/>
          </a:ln>
        </p:spPr>
        <p:txBody>
          <a:bodyPr/>
          <a:lstStyle/>
          <a:p>
            <a:endParaRPr lang="ja-JP" altLang="en-US"/>
          </a:p>
        </p:txBody>
      </p:sp>
      <p:sp>
        <p:nvSpPr>
          <p:cNvPr id="24" name="テキスト 21">
            <a:extLst>
              <a:ext uri="{FF2B5EF4-FFF2-40B4-BE49-F238E27FC236}">
                <a16:creationId xmlns:a16="http://schemas.microsoft.com/office/drawing/2014/main" id="{7485CB2E-2540-1D92-10F1-B8EEF42E720D}"/>
              </a:ext>
            </a:extLst>
          </p:cNvPr>
          <p:cNvSpPr txBox="1"/>
          <p:nvPr/>
        </p:nvSpPr>
        <p:spPr>
          <a:xfrm>
            <a:off x="967050" y="2379461"/>
            <a:ext cx="300000" cy="240000"/>
          </a:xfrm>
          <a:prstGeom prst="rect">
            <a:avLst/>
          </a:prstGeom>
          <a:noFill/>
          <a:ln>
            <a:noFill/>
          </a:ln>
        </p:spPr>
        <p:txBody>
          <a:bodyPr wrap="square" lIns="0" tIns="0" rIns="0" bIns="0" rtlCol="0" anchor="t">
            <a:noAutofit/>
          </a:bodyPr>
          <a:lstStyle/>
          <a:p>
            <a:pPr marL="0" indent="0" algn="r">
              <a:lnSpc>
                <a:spcPct val="100000"/>
              </a:lnSpc>
              <a:spcBef>
                <a:spcPts val="0"/>
              </a:spcBef>
              <a:spcAft>
                <a:spcPts val="0"/>
              </a:spcAft>
              <a:buNone/>
            </a:pPr>
            <a:r>
              <a:rPr lang="ja-JP" altLang="en-US" sz="1000" b="1" dirty="0">
                <a:solidFill>
                  <a:srgbClr val="1E2430"/>
                </a:solidFill>
                <a:latin typeface="BIZ UDPゴシック"/>
                <a:ea typeface="BIZ UDPゴシック"/>
                <a:cs typeface="BIZ UDPゴシック"/>
              </a:rPr>
              <a:t>①</a:t>
            </a:r>
            <a:endParaRPr lang="ja-JP" altLang="en-US" sz="1000" dirty="0">
              <a:solidFill>
                <a:srgbClr val="1E2430"/>
              </a:solidFill>
              <a:latin typeface="BIZ UDPゴシック"/>
              <a:ea typeface="BIZ UDPゴシック"/>
              <a:cs typeface="BIZ UDPゴシック"/>
            </a:endParaRPr>
          </a:p>
        </p:txBody>
      </p:sp>
      <p:sp>
        <p:nvSpPr>
          <p:cNvPr id="25" name="テキスト 22">
            <a:extLst>
              <a:ext uri="{FF2B5EF4-FFF2-40B4-BE49-F238E27FC236}">
                <a16:creationId xmlns:a16="http://schemas.microsoft.com/office/drawing/2014/main" id="{7B58C625-4BA3-2D6A-F106-625455B12BA0}"/>
              </a:ext>
            </a:extLst>
          </p:cNvPr>
          <p:cNvSpPr txBox="1"/>
          <p:nvPr/>
        </p:nvSpPr>
        <p:spPr>
          <a:xfrm>
            <a:off x="1424605" y="2379461"/>
            <a:ext cx="1300000" cy="24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000" b="1" dirty="0">
                <a:solidFill>
                  <a:srgbClr val="9A6212"/>
                </a:solidFill>
                <a:latin typeface="BIZ UDPゴシック"/>
                <a:ea typeface="BIZ UDPゴシック"/>
                <a:cs typeface="BIZ UDPゴシック"/>
              </a:rPr>
              <a:t>②</a:t>
            </a:r>
            <a:endParaRPr lang="ja-JP" altLang="en-US" sz="1000" dirty="0">
              <a:solidFill>
                <a:srgbClr val="9A6212"/>
              </a:solidFill>
              <a:latin typeface="BIZ UDPゴシック"/>
              <a:ea typeface="BIZ UDPゴシック"/>
              <a:cs typeface="BIZ UDPゴシック"/>
            </a:endParaRPr>
          </a:p>
        </p:txBody>
      </p:sp>
      <p:sp>
        <p:nvSpPr>
          <p:cNvPr id="26" name="テキスト 23">
            <a:extLst>
              <a:ext uri="{FF2B5EF4-FFF2-40B4-BE49-F238E27FC236}">
                <a16:creationId xmlns:a16="http://schemas.microsoft.com/office/drawing/2014/main" id="{3D9A958A-B0B7-6CF3-4C4D-31BEF65678DB}"/>
              </a:ext>
            </a:extLst>
          </p:cNvPr>
          <p:cNvSpPr txBox="1"/>
          <p:nvPr/>
        </p:nvSpPr>
        <p:spPr>
          <a:xfrm>
            <a:off x="4273716" y="2379461"/>
            <a:ext cx="1300000" cy="24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000" b="1" dirty="0">
                <a:solidFill>
                  <a:srgbClr val="1E2430"/>
                </a:solidFill>
                <a:latin typeface="BIZ UDPゴシック"/>
                <a:ea typeface="BIZ UDPゴシック"/>
                <a:cs typeface="BIZ UDPゴシック"/>
              </a:rPr>
              <a:t>③</a:t>
            </a:r>
            <a:endParaRPr lang="ja-JP" altLang="en-US" sz="1000" dirty="0">
              <a:solidFill>
                <a:srgbClr val="1E2430"/>
              </a:solidFill>
              <a:latin typeface="BIZ UDPゴシック"/>
              <a:ea typeface="BIZ UDPゴシック"/>
              <a:cs typeface="BIZ UDPゴシック"/>
            </a:endParaRPr>
          </a:p>
        </p:txBody>
      </p:sp>
      <p:cxnSp>
        <p:nvCxnSpPr>
          <p:cNvPr id="27" name="線 24">
            <a:extLst>
              <a:ext uri="{FF2B5EF4-FFF2-40B4-BE49-F238E27FC236}">
                <a16:creationId xmlns:a16="http://schemas.microsoft.com/office/drawing/2014/main" id="{D13F2BC1-B4AD-2202-0B45-807449B8A2E0}"/>
              </a:ext>
            </a:extLst>
          </p:cNvPr>
          <p:cNvCxnSpPr/>
          <p:nvPr/>
        </p:nvCxnSpPr>
        <p:spPr>
          <a:xfrm>
            <a:off x="1394605" y="4319461"/>
            <a:ext cx="341444" cy="0"/>
          </a:xfrm>
          <a:prstGeom prst="line">
            <a:avLst/>
          </a:prstGeom>
          <a:ln w="19050" cap="rnd">
            <a:solidFill>
              <a:srgbClr val="9A6212"/>
            </a:solidFill>
            <a:round/>
          </a:ln>
        </p:spPr>
      </p:cxnSp>
      <p:cxnSp>
        <p:nvCxnSpPr>
          <p:cNvPr id="28" name="線 25">
            <a:extLst>
              <a:ext uri="{FF2B5EF4-FFF2-40B4-BE49-F238E27FC236}">
                <a16:creationId xmlns:a16="http://schemas.microsoft.com/office/drawing/2014/main" id="{79D9A591-33D3-32E2-A9BE-677AECBCF57F}"/>
              </a:ext>
            </a:extLst>
          </p:cNvPr>
          <p:cNvCxnSpPr/>
          <p:nvPr/>
        </p:nvCxnSpPr>
        <p:spPr>
          <a:xfrm>
            <a:off x="1394605" y="4269461"/>
            <a:ext cx="0" cy="100000"/>
          </a:xfrm>
          <a:prstGeom prst="line">
            <a:avLst/>
          </a:prstGeom>
          <a:ln w="19050" cap="rnd">
            <a:solidFill>
              <a:srgbClr val="9A6212"/>
            </a:solidFill>
            <a:round/>
          </a:ln>
        </p:spPr>
      </p:cxnSp>
      <p:cxnSp>
        <p:nvCxnSpPr>
          <p:cNvPr id="29" name="線 26">
            <a:extLst>
              <a:ext uri="{FF2B5EF4-FFF2-40B4-BE49-F238E27FC236}">
                <a16:creationId xmlns:a16="http://schemas.microsoft.com/office/drawing/2014/main" id="{D9C4F1E1-9164-047E-F709-9F665AC5F061}"/>
              </a:ext>
            </a:extLst>
          </p:cNvPr>
          <p:cNvCxnSpPr/>
          <p:nvPr/>
        </p:nvCxnSpPr>
        <p:spPr>
          <a:xfrm>
            <a:off x="1736050" y="4269461"/>
            <a:ext cx="0" cy="100000"/>
          </a:xfrm>
          <a:prstGeom prst="line">
            <a:avLst/>
          </a:prstGeom>
          <a:ln w="19050" cap="rnd">
            <a:solidFill>
              <a:srgbClr val="9A6212"/>
            </a:solidFill>
            <a:round/>
          </a:ln>
        </p:spPr>
      </p:cxnSp>
      <p:sp>
        <p:nvSpPr>
          <p:cNvPr id="30" name="フェード 27">
            <a:extLst>
              <a:ext uri="{FF2B5EF4-FFF2-40B4-BE49-F238E27FC236}">
                <a16:creationId xmlns:a16="http://schemas.microsoft.com/office/drawing/2014/main" id="{E97D2685-8719-E5AC-53F8-BA7B5A022093}"/>
              </a:ext>
            </a:extLst>
          </p:cNvPr>
          <p:cNvSpPr/>
          <p:nvPr/>
        </p:nvSpPr>
        <p:spPr>
          <a:xfrm>
            <a:off x="1936050" y="3569461"/>
            <a:ext cx="2000000" cy="500000"/>
          </a:xfrm>
          <a:prstGeom prst="roundRect">
            <a:avLst>
              <a:gd name="adj" fmla="val 20000"/>
            </a:avLst>
          </a:prstGeom>
          <a:solidFill>
            <a:srgbClr val="FFFFFF"/>
          </a:solidFill>
          <a:ln w="15875">
            <a:solidFill>
              <a:srgbClr val="E3A33B"/>
            </a:solidFill>
          </a:ln>
        </p:spPr>
        <p:txBody>
          <a:bodyPr wrap="square" lIns="130000" tIns="0" rIns="80000" bIns="0" rtlCol="0" anchor="ctr">
            <a:noAutofit/>
          </a:bodyPr>
          <a:lstStyle/>
          <a:p>
            <a:pPr marL="0" indent="0" algn="l">
              <a:lnSpc>
                <a:spcPct val="100000"/>
              </a:lnSpc>
              <a:spcBef>
                <a:spcPts val="0"/>
              </a:spcBef>
              <a:spcAft>
                <a:spcPts val="0"/>
              </a:spcAft>
              <a:buNone/>
            </a:pPr>
            <a:r>
              <a:rPr lang="ja-JP" altLang="en-US" sz="900" dirty="0">
                <a:solidFill>
                  <a:srgbClr val="1E2430"/>
                </a:solidFill>
                <a:latin typeface="BIZ UDPゴシック"/>
                <a:ea typeface="BIZ UDPゴシック"/>
                <a:cs typeface="BIZ UDPゴシック"/>
              </a:rPr>
              <a:t>開いた瞬間がはっきり伝わるよう変化を大きく</a:t>
            </a:r>
          </a:p>
        </p:txBody>
      </p:sp>
      <p:cxnSp>
        <p:nvCxnSpPr>
          <p:cNvPr id="31" name="線 28">
            <a:extLst>
              <a:ext uri="{FF2B5EF4-FFF2-40B4-BE49-F238E27FC236}">
                <a16:creationId xmlns:a16="http://schemas.microsoft.com/office/drawing/2014/main" id="{C7648987-7514-24F5-9968-20D80C847F6F}"/>
              </a:ext>
            </a:extLst>
          </p:cNvPr>
          <p:cNvCxnSpPr/>
          <p:nvPr/>
        </p:nvCxnSpPr>
        <p:spPr>
          <a:xfrm flipH="1">
            <a:off x="1605327" y="3819461"/>
            <a:ext cx="330722" cy="0"/>
          </a:xfrm>
          <a:prstGeom prst="line">
            <a:avLst/>
          </a:prstGeom>
          <a:ln w="12700" cap="rnd">
            <a:solidFill>
              <a:srgbClr val="E3A33B"/>
            </a:solidFill>
            <a:round/>
            <a:tailEnd type="triangle" w="med" len="med"/>
          </a:ln>
        </p:spPr>
      </p:cxnSp>
      <p:sp>
        <p:nvSpPr>
          <p:cNvPr id="32" name="カード 29">
            <a:extLst>
              <a:ext uri="{FF2B5EF4-FFF2-40B4-BE49-F238E27FC236}">
                <a16:creationId xmlns:a16="http://schemas.microsoft.com/office/drawing/2014/main" id="{7783D02F-BAEB-17AA-7728-5516D5636B82}"/>
              </a:ext>
            </a:extLst>
          </p:cNvPr>
          <p:cNvSpPr/>
          <p:nvPr/>
        </p:nvSpPr>
        <p:spPr>
          <a:xfrm>
            <a:off x="567050" y="4839461"/>
            <a:ext cx="5350000" cy="1570000"/>
          </a:xfrm>
          <a:prstGeom prst="roundRect">
            <a:avLst>
              <a:gd name="adj" fmla="val 5000"/>
            </a:avLst>
          </a:prstGeom>
          <a:solidFill>
            <a:srgbClr val="FBF1DF"/>
          </a:solidFill>
          <a:ln>
            <a:noFill/>
          </a:ln>
        </p:spPr>
        <p:txBody>
          <a:bodyPr/>
          <a:lstStyle/>
          <a:p>
            <a:endParaRPr lang="ja-JP" altLang="en-US"/>
          </a:p>
        </p:txBody>
      </p:sp>
      <p:sp>
        <p:nvSpPr>
          <p:cNvPr id="33" name="ラベル 30">
            <a:extLst>
              <a:ext uri="{FF2B5EF4-FFF2-40B4-BE49-F238E27FC236}">
                <a16:creationId xmlns:a16="http://schemas.microsoft.com/office/drawing/2014/main" id="{DA4E4A18-DFD1-4FD7-07AD-EB10426F57F3}"/>
              </a:ext>
            </a:extLst>
          </p:cNvPr>
          <p:cNvSpPr/>
          <p:nvPr/>
        </p:nvSpPr>
        <p:spPr>
          <a:xfrm>
            <a:off x="787050" y="5121961"/>
            <a:ext cx="850000" cy="300000"/>
          </a:xfrm>
          <a:prstGeom prst="roundRect">
            <a:avLst>
              <a:gd name="adj" fmla="val 50000"/>
            </a:avLst>
          </a:prstGeom>
          <a:solidFill>
            <a:srgbClr val="E3A33B"/>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1150" b="1" dirty="0">
                <a:solidFill>
                  <a:srgbClr val="1E2430"/>
                </a:solidFill>
                <a:latin typeface="BIZ UDPゴシック"/>
                <a:ea typeface="BIZ UDPゴシック"/>
                <a:cs typeface="BIZ UDPゴシック"/>
              </a:rPr>
              <a:t>連続性</a:t>
            </a:r>
            <a:endParaRPr lang="ja-JP" altLang="en-US" sz="1150" dirty="0">
              <a:solidFill>
                <a:srgbClr val="1E2430"/>
              </a:solidFill>
              <a:latin typeface="BIZ UDPゴシック"/>
              <a:ea typeface="BIZ UDPゴシック"/>
              <a:cs typeface="BIZ UDPゴシック"/>
            </a:endParaRPr>
          </a:p>
        </p:txBody>
      </p:sp>
      <p:sp>
        <p:nvSpPr>
          <p:cNvPr id="34" name="テキスト 31">
            <a:extLst>
              <a:ext uri="{FF2B5EF4-FFF2-40B4-BE49-F238E27FC236}">
                <a16:creationId xmlns:a16="http://schemas.microsoft.com/office/drawing/2014/main" id="{76000850-D9CC-1D31-CB00-1B4EE5966C2D}"/>
              </a:ext>
            </a:extLst>
          </p:cNvPr>
          <p:cNvSpPr txBox="1"/>
          <p:nvPr/>
        </p:nvSpPr>
        <p:spPr>
          <a:xfrm>
            <a:off x="1767050" y="4949461"/>
            <a:ext cx="3970000" cy="645000"/>
          </a:xfrm>
          <a:prstGeom prst="rect">
            <a:avLst/>
          </a:prstGeom>
          <a:noFill/>
          <a:ln>
            <a:noFill/>
          </a:ln>
        </p:spPr>
        <p:txBody>
          <a:bodyPr wrap="square" lIns="0" tIns="0" rIns="0" bIns="0" rtlCol="0" anchor="ctr">
            <a:noAutofit/>
          </a:bodyPr>
          <a:lstStyle/>
          <a:p>
            <a:pPr marL="0" indent="0" algn="l">
              <a:lnSpc>
                <a:spcPct val="118000"/>
              </a:lnSpc>
              <a:spcBef>
                <a:spcPts val="0"/>
              </a:spcBef>
              <a:spcAft>
                <a:spcPts val="0"/>
              </a:spcAft>
              <a:buNone/>
            </a:pPr>
            <a:r>
              <a:rPr lang="ja-JP" altLang="en-US" sz="1050" dirty="0">
                <a:solidFill>
                  <a:srgbClr val="1E2430"/>
                </a:solidFill>
                <a:latin typeface="BIZ UDPゴシック"/>
                <a:ea typeface="BIZ UDPゴシック"/>
                <a:cs typeface="BIZ UDPゴシック"/>
              </a:rPr>
              <a:t>回折が新たに加わる瞬間だけフェードで滑らかにしつつそれ以降は回折と透過の経路の変化で直接音に切り替わるまで滑らかになるようにする</a:t>
            </a:r>
          </a:p>
        </p:txBody>
      </p:sp>
      <p:sp>
        <p:nvSpPr>
          <p:cNvPr id="35" name="ラベル 32">
            <a:extLst>
              <a:ext uri="{FF2B5EF4-FFF2-40B4-BE49-F238E27FC236}">
                <a16:creationId xmlns:a16="http://schemas.microsoft.com/office/drawing/2014/main" id="{A6ECF9A4-F91D-A784-A78F-2D033A38572E}"/>
              </a:ext>
            </a:extLst>
          </p:cNvPr>
          <p:cNvSpPr/>
          <p:nvPr/>
        </p:nvSpPr>
        <p:spPr>
          <a:xfrm>
            <a:off x="787050" y="5826961"/>
            <a:ext cx="850000" cy="300000"/>
          </a:xfrm>
          <a:prstGeom prst="roundRect">
            <a:avLst>
              <a:gd name="adj" fmla="val 50000"/>
            </a:avLst>
          </a:prstGeom>
          <a:solidFill>
            <a:srgbClr val="E3A33B"/>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1150" b="1" dirty="0">
                <a:solidFill>
                  <a:srgbClr val="1E2430"/>
                </a:solidFill>
                <a:latin typeface="BIZ UDPゴシック"/>
                <a:ea typeface="BIZ UDPゴシック"/>
                <a:cs typeface="BIZ UDPゴシック"/>
              </a:rPr>
              <a:t>即時性</a:t>
            </a:r>
            <a:endParaRPr lang="ja-JP" altLang="en-US" sz="1150" dirty="0">
              <a:solidFill>
                <a:srgbClr val="1E2430"/>
              </a:solidFill>
              <a:latin typeface="BIZ UDPゴシック"/>
              <a:ea typeface="BIZ UDPゴシック"/>
              <a:cs typeface="BIZ UDPゴシック"/>
            </a:endParaRPr>
          </a:p>
        </p:txBody>
      </p:sp>
      <p:sp>
        <p:nvSpPr>
          <p:cNvPr id="36" name="テキスト 33">
            <a:extLst>
              <a:ext uri="{FF2B5EF4-FFF2-40B4-BE49-F238E27FC236}">
                <a16:creationId xmlns:a16="http://schemas.microsoft.com/office/drawing/2014/main" id="{8553B6EA-8FF0-AEBF-EA2A-CFC3498DF3E6}"/>
              </a:ext>
            </a:extLst>
          </p:cNvPr>
          <p:cNvSpPr txBox="1"/>
          <p:nvPr/>
        </p:nvSpPr>
        <p:spPr>
          <a:xfrm>
            <a:off x="1767050" y="5654461"/>
            <a:ext cx="3970000" cy="645000"/>
          </a:xfrm>
          <a:prstGeom prst="rect">
            <a:avLst/>
          </a:prstGeom>
          <a:noFill/>
          <a:ln>
            <a:noFill/>
          </a:ln>
        </p:spPr>
        <p:txBody>
          <a:bodyPr wrap="square" lIns="0" tIns="0" rIns="0" bIns="0" rtlCol="0" anchor="ctr">
            <a:noAutofit/>
          </a:bodyPr>
          <a:lstStyle/>
          <a:p>
            <a:pPr marL="0" indent="0" algn="l">
              <a:lnSpc>
                <a:spcPct val="118000"/>
              </a:lnSpc>
              <a:spcBef>
                <a:spcPts val="0"/>
              </a:spcBef>
              <a:spcAft>
                <a:spcPts val="0"/>
              </a:spcAft>
              <a:buNone/>
            </a:pPr>
            <a:r>
              <a:rPr lang="ja-JP" altLang="en-US" sz="1050" dirty="0">
                <a:solidFill>
                  <a:srgbClr val="1E2430"/>
                </a:solidFill>
                <a:latin typeface="BIZ UDPゴシック"/>
                <a:ea typeface="BIZ UDPゴシック"/>
                <a:cs typeface="BIZ UDPゴシック"/>
              </a:rPr>
              <a:t>扉の開口はレイでなく角度から解析で出して開き始めた瞬間から変化、動かしたそのフレームで音量が返るように</a:t>
            </a:r>
          </a:p>
        </p:txBody>
      </p:sp>
      <p:sp>
        <p:nvSpPr>
          <p:cNvPr id="37" name="カード 34">
            <a:extLst>
              <a:ext uri="{FF2B5EF4-FFF2-40B4-BE49-F238E27FC236}">
                <a16:creationId xmlns:a16="http://schemas.microsoft.com/office/drawing/2014/main" id="{2037D325-0B83-6296-2350-E242D32F5D35}"/>
              </a:ext>
            </a:extLst>
          </p:cNvPr>
          <p:cNvSpPr/>
          <p:nvPr/>
        </p:nvSpPr>
        <p:spPr>
          <a:xfrm>
            <a:off x="6167050" y="1809461"/>
            <a:ext cx="5491672" cy="1460000"/>
          </a:xfrm>
          <a:prstGeom prst="roundRect">
            <a:avLst>
              <a:gd name="adj" fmla="val 5000"/>
            </a:avLst>
          </a:prstGeom>
          <a:solidFill>
            <a:srgbClr val="F0F2F5"/>
          </a:solidFill>
          <a:ln>
            <a:noFill/>
          </a:ln>
        </p:spPr>
        <p:txBody>
          <a:bodyPr/>
          <a:lstStyle/>
          <a:p>
            <a:endParaRPr lang="ja-JP" altLang="en-US"/>
          </a:p>
        </p:txBody>
      </p:sp>
      <p:sp>
        <p:nvSpPr>
          <p:cNvPr id="38" name="壁 35">
            <a:extLst>
              <a:ext uri="{FF2B5EF4-FFF2-40B4-BE49-F238E27FC236}">
                <a16:creationId xmlns:a16="http://schemas.microsoft.com/office/drawing/2014/main" id="{BBB47865-CE53-C251-FF80-DD52E6B84EC7}"/>
              </a:ext>
            </a:extLst>
          </p:cNvPr>
          <p:cNvSpPr/>
          <p:nvPr/>
        </p:nvSpPr>
        <p:spPr>
          <a:xfrm>
            <a:off x="6486550" y="2588711"/>
            <a:ext cx="365500" cy="21500"/>
          </a:xfrm>
          <a:prstGeom prst="rect">
            <a:avLst/>
          </a:prstGeom>
          <a:solidFill>
            <a:srgbClr val="9AA3B0"/>
          </a:solidFill>
          <a:ln>
            <a:noFill/>
          </a:ln>
        </p:spPr>
        <p:txBody>
          <a:bodyPr/>
          <a:lstStyle/>
          <a:p>
            <a:endParaRPr lang="ja-JP" altLang="en-US"/>
          </a:p>
        </p:txBody>
      </p:sp>
      <p:sp>
        <p:nvSpPr>
          <p:cNvPr id="39" name="壁 36">
            <a:extLst>
              <a:ext uri="{FF2B5EF4-FFF2-40B4-BE49-F238E27FC236}">
                <a16:creationId xmlns:a16="http://schemas.microsoft.com/office/drawing/2014/main" id="{3E930143-74BD-C7D9-76AA-3E174D9D64D9}"/>
              </a:ext>
            </a:extLst>
          </p:cNvPr>
          <p:cNvSpPr/>
          <p:nvPr/>
        </p:nvSpPr>
        <p:spPr>
          <a:xfrm>
            <a:off x="7282050" y="2588711"/>
            <a:ext cx="365500" cy="21500"/>
          </a:xfrm>
          <a:prstGeom prst="rect">
            <a:avLst/>
          </a:prstGeom>
          <a:solidFill>
            <a:srgbClr val="9AA3B0"/>
          </a:solidFill>
          <a:ln>
            <a:noFill/>
          </a:ln>
        </p:spPr>
        <p:txBody>
          <a:bodyPr/>
          <a:lstStyle/>
          <a:p>
            <a:endParaRPr lang="ja-JP" altLang="en-US"/>
          </a:p>
        </p:txBody>
      </p:sp>
      <p:cxnSp>
        <p:nvCxnSpPr>
          <p:cNvPr id="40" name="線 37">
            <a:extLst>
              <a:ext uri="{FF2B5EF4-FFF2-40B4-BE49-F238E27FC236}">
                <a16:creationId xmlns:a16="http://schemas.microsoft.com/office/drawing/2014/main" id="{05807829-52EA-9DC7-5C76-8F05494F74B8}"/>
              </a:ext>
            </a:extLst>
          </p:cNvPr>
          <p:cNvCxnSpPr/>
          <p:nvPr/>
        </p:nvCxnSpPr>
        <p:spPr>
          <a:xfrm flipH="1">
            <a:off x="7024050" y="2169461"/>
            <a:ext cx="107500" cy="774000"/>
          </a:xfrm>
          <a:prstGeom prst="line">
            <a:avLst/>
          </a:prstGeom>
          <a:ln w="15875" cap="rnd">
            <a:solidFill>
              <a:srgbClr val="9AA3B0"/>
            </a:solidFill>
            <a:prstDash val="dash"/>
            <a:round/>
          </a:ln>
        </p:spPr>
      </p:cxnSp>
      <p:cxnSp>
        <p:nvCxnSpPr>
          <p:cNvPr id="41" name="線 38">
            <a:extLst>
              <a:ext uri="{FF2B5EF4-FFF2-40B4-BE49-F238E27FC236}">
                <a16:creationId xmlns:a16="http://schemas.microsoft.com/office/drawing/2014/main" id="{138C73C3-4212-AAB6-090B-62BFB30AF67E}"/>
              </a:ext>
            </a:extLst>
          </p:cNvPr>
          <p:cNvCxnSpPr/>
          <p:nvPr/>
        </p:nvCxnSpPr>
        <p:spPr>
          <a:xfrm>
            <a:off x="6852050" y="2599461"/>
            <a:ext cx="430000" cy="0"/>
          </a:xfrm>
          <a:prstGeom prst="line">
            <a:avLst/>
          </a:prstGeom>
          <a:ln w="44450" cap="rnd">
            <a:solidFill>
              <a:srgbClr val="1E2430"/>
            </a:solidFill>
            <a:round/>
          </a:ln>
        </p:spPr>
      </p:cxnSp>
      <p:sp>
        <p:nvSpPr>
          <p:cNvPr id="42" name="番号 39">
            <a:extLst>
              <a:ext uri="{FF2B5EF4-FFF2-40B4-BE49-F238E27FC236}">
                <a16:creationId xmlns:a16="http://schemas.microsoft.com/office/drawing/2014/main" id="{3F02632B-8786-CCFC-B316-27A5F1749321}"/>
              </a:ext>
            </a:extLst>
          </p:cNvPr>
          <p:cNvSpPr/>
          <p:nvPr/>
        </p:nvSpPr>
        <p:spPr>
          <a:xfrm>
            <a:off x="7056550" y="2094461"/>
            <a:ext cx="150000" cy="15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43" name="テキスト 40">
            <a:extLst>
              <a:ext uri="{FF2B5EF4-FFF2-40B4-BE49-F238E27FC236}">
                <a16:creationId xmlns:a16="http://schemas.microsoft.com/office/drawing/2014/main" id="{F575B878-B1D6-CD6A-90BB-1DF35FA53DEB}"/>
              </a:ext>
            </a:extLst>
          </p:cNvPr>
          <p:cNvSpPr txBox="1"/>
          <p:nvPr/>
        </p:nvSpPr>
        <p:spPr>
          <a:xfrm>
            <a:off x="7241550" y="2069461"/>
            <a:ext cx="6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音源</a:t>
            </a:r>
            <a:endParaRPr lang="ja-JP" altLang="en-US" sz="950" dirty="0">
              <a:solidFill>
                <a:srgbClr val="1E2430"/>
              </a:solidFill>
              <a:latin typeface="BIZ UDPゴシック"/>
              <a:ea typeface="BIZ UDPゴシック"/>
              <a:cs typeface="BIZ UDPゴシック"/>
            </a:endParaRPr>
          </a:p>
        </p:txBody>
      </p:sp>
      <p:sp>
        <p:nvSpPr>
          <p:cNvPr id="44" name="番号 41">
            <a:extLst>
              <a:ext uri="{FF2B5EF4-FFF2-40B4-BE49-F238E27FC236}">
                <a16:creationId xmlns:a16="http://schemas.microsoft.com/office/drawing/2014/main" id="{4BA398F5-F81D-EAD3-1C67-B200CFEE5AE4}"/>
              </a:ext>
            </a:extLst>
          </p:cNvPr>
          <p:cNvSpPr/>
          <p:nvPr/>
        </p:nvSpPr>
        <p:spPr>
          <a:xfrm>
            <a:off x="6949050" y="2868461"/>
            <a:ext cx="150000" cy="15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45" name="テキスト 42">
            <a:extLst>
              <a:ext uri="{FF2B5EF4-FFF2-40B4-BE49-F238E27FC236}">
                <a16:creationId xmlns:a16="http://schemas.microsoft.com/office/drawing/2014/main" id="{417BBEBC-49C1-4F62-064E-1CC37F2F7478}"/>
              </a:ext>
            </a:extLst>
          </p:cNvPr>
          <p:cNvSpPr txBox="1"/>
          <p:nvPr/>
        </p:nvSpPr>
        <p:spPr>
          <a:xfrm>
            <a:off x="7134050" y="2843461"/>
            <a:ext cx="4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耳</a:t>
            </a:r>
            <a:endParaRPr lang="ja-JP" altLang="en-US" sz="950" dirty="0">
              <a:solidFill>
                <a:srgbClr val="1E2430"/>
              </a:solidFill>
              <a:latin typeface="BIZ UDPゴシック"/>
              <a:ea typeface="BIZ UDPゴシック"/>
              <a:cs typeface="BIZ UDPゴシック"/>
            </a:endParaRPr>
          </a:p>
        </p:txBody>
      </p:sp>
      <p:sp>
        <p:nvSpPr>
          <p:cNvPr id="46" name="番号 43">
            <a:extLst>
              <a:ext uri="{FF2B5EF4-FFF2-40B4-BE49-F238E27FC236}">
                <a16:creationId xmlns:a16="http://schemas.microsoft.com/office/drawing/2014/main" id="{1E894976-4B6F-3E7C-23AD-1CF24A254582}"/>
              </a:ext>
            </a:extLst>
          </p:cNvPr>
          <p:cNvSpPr/>
          <p:nvPr/>
        </p:nvSpPr>
        <p:spPr>
          <a:xfrm>
            <a:off x="8067050" y="1939461"/>
            <a:ext cx="280000" cy="280000"/>
          </a:xfrm>
          <a:prstGeom prst="ellipse">
            <a:avLst/>
          </a:prstGeom>
          <a:solidFill>
            <a:srgbClr val="E3A33B"/>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1050" b="1" dirty="0">
                <a:solidFill>
                  <a:srgbClr val="1E2430"/>
                </a:solidFill>
                <a:latin typeface="BIZ UDPゴシック"/>
                <a:ea typeface="BIZ UDPゴシック"/>
                <a:cs typeface="BIZ UDPゴシック"/>
              </a:rPr>
              <a:t>1</a:t>
            </a:r>
            <a:endParaRPr lang="ja-JP" altLang="en-US" sz="1050" dirty="0">
              <a:solidFill>
                <a:srgbClr val="1E2430"/>
              </a:solidFill>
              <a:latin typeface="BIZ UDPゴシック"/>
              <a:ea typeface="BIZ UDPゴシック"/>
              <a:cs typeface="BIZ UDPゴシック"/>
            </a:endParaRPr>
          </a:p>
        </p:txBody>
      </p:sp>
      <p:sp>
        <p:nvSpPr>
          <p:cNvPr id="47" name="テキスト 44">
            <a:extLst>
              <a:ext uri="{FF2B5EF4-FFF2-40B4-BE49-F238E27FC236}">
                <a16:creationId xmlns:a16="http://schemas.microsoft.com/office/drawing/2014/main" id="{5F925348-5CDA-9701-5E31-1C31D2A78C69}"/>
              </a:ext>
            </a:extLst>
          </p:cNvPr>
          <p:cNvSpPr txBox="1"/>
          <p:nvPr/>
        </p:nvSpPr>
        <p:spPr>
          <a:xfrm>
            <a:off x="8427050" y="1949461"/>
            <a:ext cx="1800000" cy="26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250" b="1" dirty="0">
                <a:solidFill>
                  <a:srgbClr val="1E2430"/>
                </a:solidFill>
                <a:latin typeface="BIZ UDPゴシック"/>
                <a:ea typeface="BIZ UDPゴシック"/>
                <a:cs typeface="BIZ UDPゴシック"/>
              </a:rPr>
              <a:t>閉じている時</a:t>
            </a:r>
            <a:endParaRPr lang="ja-JP" altLang="en-US" sz="1250" dirty="0">
              <a:solidFill>
                <a:srgbClr val="1E2430"/>
              </a:solidFill>
              <a:latin typeface="BIZ UDPゴシック"/>
              <a:ea typeface="BIZ UDPゴシック"/>
              <a:cs typeface="BIZ UDPゴシック"/>
            </a:endParaRPr>
          </a:p>
        </p:txBody>
      </p:sp>
      <p:sp>
        <p:nvSpPr>
          <p:cNvPr id="48" name="タグ 45">
            <a:extLst>
              <a:ext uri="{FF2B5EF4-FFF2-40B4-BE49-F238E27FC236}">
                <a16:creationId xmlns:a16="http://schemas.microsoft.com/office/drawing/2014/main" id="{931D3F6C-FAD2-D287-8777-A47F055DDD63}"/>
              </a:ext>
            </a:extLst>
          </p:cNvPr>
          <p:cNvSpPr/>
          <p:nvPr/>
        </p:nvSpPr>
        <p:spPr>
          <a:xfrm>
            <a:off x="9811397" y="1954461"/>
            <a:ext cx="560000" cy="240000"/>
          </a:xfrm>
          <a:prstGeom prst="roundRect">
            <a:avLst>
              <a:gd name="adj" fmla="val 50000"/>
            </a:avLst>
          </a:prstGeom>
          <a:solidFill>
            <a:srgbClr val="C9CFD8"/>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透過</a:t>
            </a:r>
            <a:endParaRPr lang="ja-JP" altLang="en-US" sz="950" dirty="0">
              <a:solidFill>
                <a:srgbClr val="1E2430"/>
              </a:solidFill>
              <a:latin typeface="BIZ UDPゴシック"/>
              <a:ea typeface="BIZ UDPゴシック"/>
              <a:cs typeface="BIZ UDPゴシック"/>
            </a:endParaRPr>
          </a:p>
        </p:txBody>
      </p:sp>
      <p:sp>
        <p:nvSpPr>
          <p:cNvPr id="49" name="テキスト 46">
            <a:extLst>
              <a:ext uri="{FF2B5EF4-FFF2-40B4-BE49-F238E27FC236}">
                <a16:creationId xmlns:a16="http://schemas.microsoft.com/office/drawing/2014/main" id="{BF6D84A2-B1AE-E44E-C75D-DA0D9EFEE19E}"/>
              </a:ext>
            </a:extLst>
          </p:cNvPr>
          <p:cNvSpPr txBox="1"/>
          <p:nvPr/>
        </p:nvSpPr>
        <p:spPr>
          <a:xfrm>
            <a:off x="8067050" y="2309461"/>
            <a:ext cx="3411672" cy="900000"/>
          </a:xfrm>
          <a:prstGeom prst="rect">
            <a:avLst/>
          </a:prstGeom>
          <a:noFill/>
          <a:ln>
            <a:noFill/>
          </a:ln>
        </p:spPr>
        <p:txBody>
          <a:bodyPr wrap="square" lIns="0" tIns="0" rIns="0" bIns="0" rtlCol="0" anchor="t">
            <a:noAutofit/>
          </a:bodyPr>
          <a:lstStyle/>
          <a:p>
            <a:pPr marL="0" indent="0" algn="l">
              <a:lnSpc>
                <a:spcPct val="125000"/>
              </a:lnSpc>
              <a:spcBef>
                <a:spcPts val="0"/>
              </a:spcBef>
              <a:spcAft>
                <a:spcPts val="0"/>
              </a:spcAft>
              <a:buNone/>
            </a:pPr>
            <a:r>
              <a:rPr lang="ja-JP" altLang="en-US" sz="1100" dirty="0">
                <a:solidFill>
                  <a:srgbClr val="1E2430"/>
                </a:solidFill>
                <a:latin typeface="BIZ UDPゴシック"/>
                <a:ea typeface="BIZ UDPゴシック"/>
                <a:cs typeface="BIZ UDPゴシック"/>
              </a:rPr>
              <a:t>透過音だけのこもった小さい音</a:t>
            </a:r>
          </a:p>
        </p:txBody>
      </p:sp>
      <p:sp>
        <p:nvSpPr>
          <p:cNvPr id="50" name="カード 47">
            <a:extLst>
              <a:ext uri="{FF2B5EF4-FFF2-40B4-BE49-F238E27FC236}">
                <a16:creationId xmlns:a16="http://schemas.microsoft.com/office/drawing/2014/main" id="{9D12F0EC-5B5D-630D-5A93-9B4D5ACF251D}"/>
              </a:ext>
            </a:extLst>
          </p:cNvPr>
          <p:cNvSpPr/>
          <p:nvPr/>
        </p:nvSpPr>
        <p:spPr>
          <a:xfrm>
            <a:off x="6167050" y="3379461"/>
            <a:ext cx="5491672" cy="1460000"/>
          </a:xfrm>
          <a:prstGeom prst="roundRect">
            <a:avLst>
              <a:gd name="adj" fmla="val 5000"/>
            </a:avLst>
          </a:prstGeom>
          <a:solidFill>
            <a:srgbClr val="FBF1DF"/>
          </a:solidFill>
          <a:ln>
            <a:noFill/>
          </a:ln>
        </p:spPr>
        <p:txBody>
          <a:bodyPr/>
          <a:lstStyle/>
          <a:p>
            <a:endParaRPr lang="ja-JP" altLang="en-US"/>
          </a:p>
        </p:txBody>
      </p:sp>
      <p:sp>
        <p:nvSpPr>
          <p:cNvPr id="51" name="壁 48">
            <a:extLst>
              <a:ext uri="{FF2B5EF4-FFF2-40B4-BE49-F238E27FC236}">
                <a16:creationId xmlns:a16="http://schemas.microsoft.com/office/drawing/2014/main" id="{455A07F2-F9E5-2FCE-8E7F-A872CC1B6542}"/>
              </a:ext>
            </a:extLst>
          </p:cNvPr>
          <p:cNvSpPr/>
          <p:nvPr/>
        </p:nvSpPr>
        <p:spPr>
          <a:xfrm>
            <a:off x="6486550" y="4158711"/>
            <a:ext cx="365500" cy="21500"/>
          </a:xfrm>
          <a:prstGeom prst="rect">
            <a:avLst/>
          </a:prstGeom>
          <a:solidFill>
            <a:srgbClr val="9AA3B0"/>
          </a:solidFill>
          <a:ln>
            <a:noFill/>
          </a:ln>
        </p:spPr>
        <p:txBody>
          <a:bodyPr/>
          <a:lstStyle/>
          <a:p>
            <a:endParaRPr lang="ja-JP" altLang="en-US"/>
          </a:p>
        </p:txBody>
      </p:sp>
      <p:sp>
        <p:nvSpPr>
          <p:cNvPr id="52" name="壁 49">
            <a:extLst>
              <a:ext uri="{FF2B5EF4-FFF2-40B4-BE49-F238E27FC236}">
                <a16:creationId xmlns:a16="http://schemas.microsoft.com/office/drawing/2014/main" id="{90C906A6-97E7-629A-A927-AC43D5666FE7}"/>
              </a:ext>
            </a:extLst>
          </p:cNvPr>
          <p:cNvSpPr/>
          <p:nvPr/>
        </p:nvSpPr>
        <p:spPr>
          <a:xfrm>
            <a:off x="7282050" y="4158711"/>
            <a:ext cx="365500" cy="21500"/>
          </a:xfrm>
          <a:prstGeom prst="rect">
            <a:avLst/>
          </a:prstGeom>
          <a:solidFill>
            <a:srgbClr val="9AA3B0"/>
          </a:solidFill>
          <a:ln>
            <a:noFill/>
          </a:ln>
        </p:spPr>
        <p:txBody>
          <a:bodyPr/>
          <a:lstStyle/>
          <a:p>
            <a:endParaRPr lang="ja-JP" altLang="en-US"/>
          </a:p>
        </p:txBody>
      </p:sp>
      <p:cxnSp>
        <p:nvCxnSpPr>
          <p:cNvPr id="53" name="線 50">
            <a:extLst>
              <a:ext uri="{FF2B5EF4-FFF2-40B4-BE49-F238E27FC236}">
                <a16:creationId xmlns:a16="http://schemas.microsoft.com/office/drawing/2014/main" id="{98CCB2E6-4DF2-2496-1304-29F71BF12909}"/>
              </a:ext>
            </a:extLst>
          </p:cNvPr>
          <p:cNvCxnSpPr/>
          <p:nvPr/>
        </p:nvCxnSpPr>
        <p:spPr>
          <a:xfrm flipH="1">
            <a:off x="7024050" y="3739461"/>
            <a:ext cx="107500" cy="774000"/>
          </a:xfrm>
          <a:prstGeom prst="line">
            <a:avLst/>
          </a:prstGeom>
          <a:ln w="15875" cap="rnd">
            <a:solidFill>
              <a:srgbClr val="9AA3B0"/>
            </a:solidFill>
            <a:prstDash val="dash"/>
            <a:round/>
          </a:ln>
        </p:spPr>
      </p:cxnSp>
      <p:sp>
        <p:nvSpPr>
          <p:cNvPr id="54" name="折れ線 51">
            <a:extLst>
              <a:ext uri="{FF2B5EF4-FFF2-40B4-BE49-F238E27FC236}">
                <a16:creationId xmlns:a16="http://schemas.microsoft.com/office/drawing/2014/main" id="{D33F2985-769F-BFD0-ABF4-0AF2A90F586C}"/>
              </a:ext>
            </a:extLst>
          </p:cNvPr>
          <p:cNvSpPr/>
          <p:nvPr/>
        </p:nvSpPr>
        <p:spPr>
          <a:xfrm>
            <a:off x="7024050" y="3739461"/>
            <a:ext cx="273056" cy="774000"/>
          </a:xfrm>
          <a:custGeom>
            <a:avLst/>
            <a:gdLst/>
            <a:ahLst/>
            <a:cxnLst/>
            <a:rect l="0" t="0" r="r" b="b"/>
            <a:pathLst>
              <a:path w="273056" h="774000" fill="none">
                <a:moveTo>
                  <a:pt x="107500" y="0"/>
                </a:moveTo>
                <a:lnTo>
                  <a:pt x="273056" y="335399"/>
                </a:lnTo>
                <a:lnTo>
                  <a:pt x="0" y="774000"/>
                </a:lnTo>
              </a:path>
            </a:pathLst>
          </a:custGeom>
          <a:noFill/>
          <a:ln w="31750" cap="rnd">
            <a:solidFill>
              <a:srgbClr val="E3A33B"/>
            </a:solidFill>
            <a:round/>
          </a:ln>
        </p:spPr>
        <p:txBody>
          <a:bodyPr/>
          <a:lstStyle/>
          <a:p>
            <a:endParaRPr lang="ja-JP" altLang="en-US"/>
          </a:p>
        </p:txBody>
      </p:sp>
      <p:cxnSp>
        <p:nvCxnSpPr>
          <p:cNvPr id="55" name="線 52">
            <a:extLst>
              <a:ext uri="{FF2B5EF4-FFF2-40B4-BE49-F238E27FC236}">
                <a16:creationId xmlns:a16="http://schemas.microsoft.com/office/drawing/2014/main" id="{300D6D5B-7DF8-CD29-BB67-64D63A6AC97A}"/>
              </a:ext>
            </a:extLst>
          </p:cNvPr>
          <p:cNvCxnSpPr/>
          <p:nvPr/>
        </p:nvCxnSpPr>
        <p:spPr>
          <a:xfrm flipV="1">
            <a:off x="6852050" y="4080058"/>
            <a:ext cx="420603" cy="89402"/>
          </a:xfrm>
          <a:prstGeom prst="line">
            <a:avLst/>
          </a:prstGeom>
          <a:ln w="44450" cap="rnd">
            <a:solidFill>
              <a:srgbClr val="1E2430"/>
            </a:solidFill>
            <a:round/>
          </a:ln>
        </p:spPr>
      </p:cxnSp>
      <p:sp>
        <p:nvSpPr>
          <p:cNvPr id="56" name="番号 53">
            <a:extLst>
              <a:ext uri="{FF2B5EF4-FFF2-40B4-BE49-F238E27FC236}">
                <a16:creationId xmlns:a16="http://schemas.microsoft.com/office/drawing/2014/main" id="{3071EA56-DF12-127C-616F-2954C0D280F6}"/>
              </a:ext>
            </a:extLst>
          </p:cNvPr>
          <p:cNvSpPr/>
          <p:nvPr/>
        </p:nvSpPr>
        <p:spPr>
          <a:xfrm>
            <a:off x="7056550" y="3664461"/>
            <a:ext cx="150000" cy="15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57" name="テキスト 54">
            <a:extLst>
              <a:ext uri="{FF2B5EF4-FFF2-40B4-BE49-F238E27FC236}">
                <a16:creationId xmlns:a16="http://schemas.microsoft.com/office/drawing/2014/main" id="{4AEA27BB-5B84-61FC-B529-F6038175B079}"/>
              </a:ext>
            </a:extLst>
          </p:cNvPr>
          <p:cNvSpPr txBox="1"/>
          <p:nvPr/>
        </p:nvSpPr>
        <p:spPr>
          <a:xfrm>
            <a:off x="7241550" y="3639461"/>
            <a:ext cx="6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音源</a:t>
            </a:r>
            <a:endParaRPr lang="ja-JP" altLang="en-US" sz="950" dirty="0">
              <a:solidFill>
                <a:srgbClr val="1E2430"/>
              </a:solidFill>
              <a:latin typeface="BIZ UDPゴシック"/>
              <a:ea typeface="BIZ UDPゴシック"/>
              <a:cs typeface="BIZ UDPゴシック"/>
            </a:endParaRPr>
          </a:p>
        </p:txBody>
      </p:sp>
      <p:sp>
        <p:nvSpPr>
          <p:cNvPr id="58" name="番号 55">
            <a:extLst>
              <a:ext uri="{FF2B5EF4-FFF2-40B4-BE49-F238E27FC236}">
                <a16:creationId xmlns:a16="http://schemas.microsoft.com/office/drawing/2014/main" id="{2BD65471-7ED4-71A0-8800-82C6416F7EC3}"/>
              </a:ext>
            </a:extLst>
          </p:cNvPr>
          <p:cNvSpPr/>
          <p:nvPr/>
        </p:nvSpPr>
        <p:spPr>
          <a:xfrm>
            <a:off x="6949050" y="4438461"/>
            <a:ext cx="150000" cy="15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59" name="テキスト 56">
            <a:extLst>
              <a:ext uri="{FF2B5EF4-FFF2-40B4-BE49-F238E27FC236}">
                <a16:creationId xmlns:a16="http://schemas.microsoft.com/office/drawing/2014/main" id="{64A0AC69-FBDD-3A4A-5A08-A0820EE584F7}"/>
              </a:ext>
            </a:extLst>
          </p:cNvPr>
          <p:cNvSpPr txBox="1"/>
          <p:nvPr/>
        </p:nvSpPr>
        <p:spPr>
          <a:xfrm>
            <a:off x="7134050" y="4413461"/>
            <a:ext cx="4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耳</a:t>
            </a:r>
            <a:endParaRPr lang="ja-JP" altLang="en-US" sz="950" dirty="0">
              <a:solidFill>
                <a:srgbClr val="1E2430"/>
              </a:solidFill>
              <a:latin typeface="BIZ UDPゴシック"/>
              <a:ea typeface="BIZ UDPゴシック"/>
              <a:cs typeface="BIZ UDPゴシック"/>
            </a:endParaRPr>
          </a:p>
        </p:txBody>
      </p:sp>
      <p:sp>
        <p:nvSpPr>
          <p:cNvPr id="60" name="番号 57">
            <a:extLst>
              <a:ext uri="{FF2B5EF4-FFF2-40B4-BE49-F238E27FC236}">
                <a16:creationId xmlns:a16="http://schemas.microsoft.com/office/drawing/2014/main" id="{F76CAACC-CD84-EB6F-33CF-FBB09F08959E}"/>
              </a:ext>
            </a:extLst>
          </p:cNvPr>
          <p:cNvSpPr/>
          <p:nvPr/>
        </p:nvSpPr>
        <p:spPr>
          <a:xfrm>
            <a:off x="8067050" y="3509461"/>
            <a:ext cx="280000" cy="280000"/>
          </a:xfrm>
          <a:prstGeom prst="ellipse">
            <a:avLst/>
          </a:prstGeom>
          <a:solidFill>
            <a:srgbClr val="E3A33B"/>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1050" b="1" dirty="0">
                <a:solidFill>
                  <a:srgbClr val="1E2430"/>
                </a:solidFill>
                <a:latin typeface="BIZ UDPゴシック"/>
                <a:ea typeface="BIZ UDPゴシック"/>
                <a:cs typeface="BIZ UDPゴシック"/>
              </a:rPr>
              <a:t>2</a:t>
            </a:r>
            <a:endParaRPr lang="ja-JP" altLang="en-US" sz="1050" dirty="0">
              <a:solidFill>
                <a:srgbClr val="1E2430"/>
              </a:solidFill>
              <a:latin typeface="BIZ UDPゴシック"/>
              <a:ea typeface="BIZ UDPゴシック"/>
              <a:cs typeface="BIZ UDPゴシック"/>
            </a:endParaRPr>
          </a:p>
        </p:txBody>
      </p:sp>
      <p:sp>
        <p:nvSpPr>
          <p:cNvPr id="61" name="テキスト 58">
            <a:extLst>
              <a:ext uri="{FF2B5EF4-FFF2-40B4-BE49-F238E27FC236}">
                <a16:creationId xmlns:a16="http://schemas.microsoft.com/office/drawing/2014/main" id="{B6A8B8AE-BD78-2DF1-DEC0-BD9B51868CAB}"/>
              </a:ext>
            </a:extLst>
          </p:cNvPr>
          <p:cNvSpPr txBox="1"/>
          <p:nvPr/>
        </p:nvSpPr>
        <p:spPr>
          <a:xfrm>
            <a:off x="8427050" y="3519461"/>
            <a:ext cx="1800000" cy="26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250" b="1" dirty="0">
                <a:solidFill>
                  <a:srgbClr val="1E2430"/>
                </a:solidFill>
                <a:latin typeface="BIZ UDPゴシック"/>
                <a:ea typeface="BIZ UDPゴシック"/>
                <a:cs typeface="BIZ UDPゴシック"/>
              </a:rPr>
              <a:t>開き始め</a:t>
            </a:r>
            <a:endParaRPr lang="ja-JP" altLang="en-US" sz="1250" dirty="0">
              <a:solidFill>
                <a:srgbClr val="1E2430"/>
              </a:solidFill>
              <a:latin typeface="BIZ UDPゴシック"/>
              <a:ea typeface="BIZ UDPゴシック"/>
              <a:cs typeface="BIZ UDPゴシック"/>
            </a:endParaRPr>
          </a:p>
        </p:txBody>
      </p:sp>
      <p:sp>
        <p:nvSpPr>
          <p:cNvPr id="62" name="タグ 59">
            <a:extLst>
              <a:ext uri="{FF2B5EF4-FFF2-40B4-BE49-F238E27FC236}">
                <a16:creationId xmlns:a16="http://schemas.microsoft.com/office/drawing/2014/main" id="{075B708F-0145-6B9D-A14D-9FB3DE8AD3DF}"/>
              </a:ext>
            </a:extLst>
          </p:cNvPr>
          <p:cNvSpPr/>
          <p:nvPr/>
        </p:nvSpPr>
        <p:spPr>
          <a:xfrm>
            <a:off x="9811397" y="3507439"/>
            <a:ext cx="560000" cy="240000"/>
          </a:xfrm>
          <a:prstGeom prst="roundRect">
            <a:avLst>
              <a:gd name="adj" fmla="val 50000"/>
            </a:avLst>
          </a:prstGeom>
          <a:solidFill>
            <a:srgbClr val="C9CFD8"/>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透過</a:t>
            </a:r>
            <a:endParaRPr lang="ja-JP" altLang="en-US" sz="950" dirty="0">
              <a:solidFill>
                <a:srgbClr val="1E2430"/>
              </a:solidFill>
              <a:latin typeface="BIZ UDPゴシック"/>
              <a:ea typeface="BIZ UDPゴシック"/>
              <a:cs typeface="BIZ UDPゴシック"/>
            </a:endParaRPr>
          </a:p>
        </p:txBody>
      </p:sp>
      <p:sp>
        <p:nvSpPr>
          <p:cNvPr id="63" name="タグ 60">
            <a:extLst>
              <a:ext uri="{FF2B5EF4-FFF2-40B4-BE49-F238E27FC236}">
                <a16:creationId xmlns:a16="http://schemas.microsoft.com/office/drawing/2014/main" id="{5BA3D539-B042-DC4E-F33F-C8A1C0389377}"/>
              </a:ext>
            </a:extLst>
          </p:cNvPr>
          <p:cNvSpPr/>
          <p:nvPr/>
        </p:nvSpPr>
        <p:spPr>
          <a:xfrm>
            <a:off x="10464791" y="3512911"/>
            <a:ext cx="560000" cy="240000"/>
          </a:xfrm>
          <a:prstGeom prst="roundRect">
            <a:avLst>
              <a:gd name="adj" fmla="val 50000"/>
            </a:avLst>
          </a:prstGeom>
          <a:solidFill>
            <a:srgbClr val="E3A33B"/>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回折</a:t>
            </a:r>
            <a:endParaRPr lang="ja-JP" altLang="en-US" sz="950" dirty="0">
              <a:solidFill>
                <a:srgbClr val="1E2430"/>
              </a:solidFill>
              <a:latin typeface="BIZ UDPゴシック"/>
              <a:ea typeface="BIZ UDPゴシック"/>
              <a:cs typeface="BIZ UDPゴシック"/>
            </a:endParaRPr>
          </a:p>
        </p:txBody>
      </p:sp>
      <p:sp>
        <p:nvSpPr>
          <p:cNvPr id="64" name="テキスト 61">
            <a:extLst>
              <a:ext uri="{FF2B5EF4-FFF2-40B4-BE49-F238E27FC236}">
                <a16:creationId xmlns:a16="http://schemas.microsoft.com/office/drawing/2014/main" id="{694D9D79-7FEC-BBEC-E604-C14330A01E45}"/>
              </a:ext>
            </a:extLst>
          </p:cNvPr>
          <p:cNvSpPr txBox="1"/>
          <p:nvPr/>
        </p:nvSpPr>
        <p:spPr>
          <a:xfrm>
            <a:off x="8067050" y="3879461"/>
            <a:ext cx="3411672" cy="900000"/>
          </a:xfrm>
          <a:prstGeom prst="rect">
            <a:avLst/>
          </a:prstGeom>
          <a:noFill/>
          <a:ln>
            <a:noFill/>
          </a:ln>
        </p:spPr>
        <p:txBody>
          <a:bodyPr wrap="square" lIns="0" tIns="0" rIns="0" bIns="0" rtlCol="0" anchor="t">
            <a:noAutofit/>
          </a:bodyPr>
          <a:lstStyle/>
          <a:p>
            <a:pPr marL="0" indent="0" algn="l">
              <a:lnSpc>
                <a:spcPct val="125000"/>
              </a:lnSpc>
              <a:spcBef>
                <a:spcPts val="0"/>
              </a:spcBef>
              <a:spcAft>
                <a:spcPts val="0"/>
              </a:spcAft>
              <a:buNone/>
            </a:pPr>
            <a:r>
              <a:rPr lang="ja-JP" altLang="en-US" sz="1100" dirty="0">
                <a:solidFill>
                  <a:srgbClr val="1E2430"/>
                </a:solidFill>
                <a:latin typeface="BIZ UDPゴシック"/>
                <a:ea typeface="BIZ UDPゴシック"/>
                <a:cs typeface="BIZ UDPゴシック"/>
              </a:rPr>
              <a:t>開き始めの一瞬、回折が新たに入る瞬間だけ音が飛ばないようにクロスフェードをいれて滑らかに音量が上がるようにする</a:t>
            </a:r>
          </a:p>
        </p:txBody>
      </p:sp>
      <p:sp>
        <p:nvSpPr>
          <p:cNvPr id="65" name="カード 62">
            <a:extLst>
              <a:ext uri="{FF2B5EF4-FFF2-40B4-BE49-F238E27FC236}">
                <a16:creationId xmlns:a16="http://schemas.microsoft.com/office/drawing/2014/main" id="{BBA089D5-392B-059F-05C1-83741267F929}"/>
              </a:ext>
            </a:extLst>
          </p:cNvPr>
          <p:cNvSpPr/>
          <p:nvPr/>
        </p:nvSpPr>
        <p:spPr>
          <a:xfrm>
            <a:off x="6167050" y="4949461"/>
            <a:ext cx="5491672" cy="1460000"/>
          </a:xfrm>
          <a:prstGeom prst="roundRect">
            <a:avLst>
              <a:gd name="adj" fmla="val 5000"/>
            </a:avLst>
          </a:prstGeom>
          <a:solidFill>
            <a:srgbClr val="F0F2F5"/>
          </a:solidFill>
          <a:ln>
            <a:noFill/>
          </a:ln>
        </p:spPr>
        <p:txBody>
          <a:bodyPr/>
          <a:lstStyle/>
          <a:p>
            <a:endParaRPr lang="ja-JP" altLang="en-US"/>
          </a:p>
        </p:txBody>
      </p:sp>
      <p:sp>
        <p:nvSpPr>
          <p:cNvPr id="66" name="壁 63">
            <a:extLst>
              <a:ext uri="{FF2B5EF4-FFF2-40B4-BE49-F238E27FC236}">
                <a16:creationId xmlns:a16="http://schemas.microsoft.com/office/drawing/2014/main" id="{6035E9FA-09CA-9E37-7562-80D2D44C33C7}"/>
              </a:ext>
            </a:extLst>
          </p:cNvPr>
          <p:cNvSpPr/>
          <p:nvPr/>
        </p:nvSpPr>
        <p:spPr>
          <a:xfrm>
            <a:off x="6486550" y="5728711"/>
            <a:ext cx="365500" cy="21500"/>
          </a:xfrm>
          <a:prstGeom prst="rect">
            <a:avLst/>
          </a:prstGeom>
          <a:solidFill>
            <a:srgbClr val="9AA3B0"/>
          </a:solidFill>
          <a:ln>
            <a:noFill/>
          </a:ln>
        </p:spPr>
        <p:txBody>
          <a:bodyPr/>
          <a:lstStyle/>
          <a:p>
            <a:endParaRPr lang="ja-JP" altLang="en-US"/>
          </a:p>
        </p:txBody>
      </p:sp>
      <p:sp>
        <p:nvSpPr>
          <p:cNvPr id="67" name="壁 64">
            <a:extLst>
              <a:ext uri="{FF2B5EF4-FFF2-40B4-BE49-F238E27FC236}">
                <a16:creationId xmlns:a16="http://schemas.microsoft.com/office/drawing/2014/main" id="{D61ECCBA-78AE-626A-3985-ED1AD33BBBF7}"/>
              </a:ext>
            </a:extLst>
          </p:cNvPr>
          <p:cNvSpPr/>
          <p:nvPr/>
        </p:nvSpPr>
        <p:spPr>
          <a:xfrm>
            <a:off x="7282050" y="5728711"/>
            <a:ext cx="365500" cy="21500"/>
          </a:xfrm>
          <a:prstGeom prst="rect">
            <a:avLst/>
          </a:prstGeom>
          <a:solidFill>
            <a:srgbClr val="9AA3B0"/>
          </a:solidFill>
          <a:ln>
            <a:noFill/>
          </a:ln>
        </p:spPr>
        <p:txBody>
          <a:bodyPr/>
          <a:lstStyle/>
          <a:p>
            <a:endParaRPr lang="ja-JP" altLang="en-US"/>
          </a:p>
        </p:txBody>
      </p:sp>
      <p:cxnSp>
        <p:nvCxnSpPr>
          <p:cNvPr id="68" name="線 65">
            <a:extLst>
              <a:ext uri="{FF2B5EF4-FFF2-40B4-BE49-F238E27FC236}">
                <a16:creationId xmlns:a16="http://schemas.microsoft.com/office/drawing/2014/main" id="{D39786DD-0A77-5AC8-DADB-D5DFD5ED7158}"/>
              </a:ext>
            </a:extLst>
          </p:cNvPr>
          <p:cNvCxnSpPr/>
          <p:nvPr/>
        </p:nvCxnSpPr>
        <p:spPr>
          <a:xfrm flipH="1">
            <a:off x="7024050" y="5309461"/>
            <a:ext cx="107500" cy="774000"/>
          </a:xfrm>
          <a:prstGeom prst="line">
            <a:avLst/>
          </a:prstGeom>
          <a:ln w="38100" cap="rnd">
            <a:solidFill>
              <a:srgbClr val="E3A33B"/>
            </a:solidFill>
            <a:round/>
          </a:ln>
        </p:spPr>
      </p:cxnSp>
      <p:cxnSp>
        <p:nvCxnSpPr>
          <p:cNvPr id="69" name="線 66">
            <a:extLst>
              <a:ext uri="{FF2B5EF4-FFF2-40B4-BE49-F238E27FC236}">
                <a16:creationId xmlns:a16="http://schemas.microsoft.com/office/drawing/2014/main" id="{E5F2759A-BEC7-6C1D-4937-8A0710E44D22}"/>
              </a:ext>
            </a:extLst>
          </p:cNvPr>
          <p:cNvCxnSpPr/>
          <p:nvPr/>
        </p:nvCxnSpPr>
        <p:spPr>
          <a:xfrm flipV="1">
            <a:off x="6852050" y="5349748"/>
            <a:ext cx="181725" cy="389712"/>
          </a:xfrm>
          <a:prstGeom prst="line">
            <a:avLst/>
          </a:prstGeom>
          <a:ln w="44450" cap="rnd">
            <a:solidFill>
              <a:srgbClr val="1E2430"/>
            </a:solidFill>
            <a:round/>
          </a:ln>
        </p:spPr>
      </p:cxnSp>
      <p:sp>
        <p:nvSpPr>
          <p:cNvPr id="70" name="番号 67">
            <a:extLst>
              <a:ext uri="{FF2B5EF4-FFF2-40B4-BE49-F238E27FC236}">
                <a16:creationId xmlns:a16="http://schemas.microsoft.com/office/drawing/2014/main" id="{DA40914F-351B-1C62-5825-EF558E457978}"/>
              </a:ext>
            </a:extLst>
          </p:cNvPr>
          <p:cNvSpPr/>
          <p:nvPr/>
        </p:nvSpPr>
        <p:spPr>
          <a:xfrm>
            <a:off x="7056550" y="5234461"/>
            <a:ext cx="150000" cy="15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71" name="テキスト 68">
            <a:extLst>
              <a:ext uri="{FF2B5EF4-FFF2-40B4-BE49-F238E27FC236}">
                <a16:creationId xmlns:a16="http://schemas.microsoft.com/office/drawing/2014/main" id="{35BA0C2A-B068-05F9-D959-8DB23F871020}"/>
              </a:ext>
            </a:extLst>
          </p:cNvPr>
          <p:cNvSpPr txBox="1"/>
          <p:nvPr/>
        </p:nvSpPr>
        <p:spPr>
          <a:xfrm>
            <a:off x="7241550" y="5209461"/>
            <a:ext cx="6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音源</a:t>
            </a:r>
            <a:endParaRPr lang="ja-JP" altLang="en-US" sz="950" dirty="0">
              <a:solidFill>
                <a:srgbClr val="1E2430"/>
              </a:solidFill>
              <a:latin typeface="BIZ UDPゴシック"/>
              <a:ea typeface="BIZ UDPゴシック"/>
              <a:cs typeface="BIZ UDPゴシック"/>
            </a:endParaRPr>
          </a:p>
        </p:txBody>
      </p:sp>
      <p:sp>
        <p:nvSpPr>
          <p:cNvPr id="72" name="番号 69">
            <a:extLst>
              <a:ext uri="{FF2B5EF4-FFF2-40B4-BE49-F238E27FC236}">
                <a16:creationId xmlns:a16="http://schemas.microsoft.com/office/drawing/2014/main" id="{FA6E2E76-8959-AD85-CC79-50C1756EC995}"/>
              </a:ext>
            </a:extLst>
          </p:cNvPr>
          <p:cNvSpPr/>
          <p:nvPr/>
        </p:nvSpPr>
        <p:spPr>
          <a:xfrm>
            <a:off x="6949050" y="6008461"/>
            <a:ext cx="150000" cy="15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73" name="テキスト 70">
            <a:extLst>
              <a:ext uri="{FF2B5EF4-FFF2-40B4-BE49-F238E27FC236}">
                <a16:creationId xmlns:a16="http://schemas.microsoft.com/office/drawing/2014/main" id="{04343EE6-2FAE-A135-FD6F-E248E0C5DFAD}"/>
              </a:ext>
            </a:extLst>
          </p:cNvPr>
          <p:cNvSpPr txBox="1"/>
          <p:nvPr/>
        </p:nvSpPr>
        <p:spPr>
          <a:xfrm>
            <a:off x="7134050" y="5983461"/>
            <a:ext cx="4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耳</a:t>
            </a:r>
            <a:endParaRPr lang="ja-JP" altLang="en-US" sz="950" dirty="0">
              <a:solidFill>
                <a:srgbClr val="1E2430"/>
              </a:solidFill>
              <a:latin typeface="BIZ UDPゴシック"/>
              <a:ea typeface="BIZ UDPゴシック"/>
              <a:cs typeface="BIZ UDPゴシック"/>
            </a:endParaRPr>
          </a:p>
        </p:txBody>
      </p:sp>
      <p:sp>
        <p:nvSpPr>
          <p:cNvPr id="74" name="番号 71">
            <a:extLst>
              <a:ext uri="{FF2B5EF4-FFF2-40B4-BE49-F238E27FC236}">
                <a16:creationId xmlns:a16="http://schemas.microsoft.com/office/drawing/2014/main" id="{95A2176E-73EB-56FF-93A5-3CC84052DDF3}"/>
              </a:ext>
            </a:extLst>
          </p:cNvPr>
          <p:cNvSpPr/>
          <p:nvPr/>
        </p:nvSpPr>
        <p:spPr>
          <a:xfrm>
            <a:off x="8067050" y="5079461"/>
            <a:ext cx="280000" cy="280000"/>
          </a:xfrm>
          <a:prstGeom prst="ellipse">
            <a:avLst/>
          </a:prstGeom>
          <a:solidFill>
            <a:srgbClr val="E3A33B"/>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1050" b="1" dirty="0">
                <a:solidFill>
                  <a:srgbClr val="1E2430"/>
                </a:solidFill>
                <a:latin typeface="BIZ UDPゴシック"/>
                <a:ea typeface="BIZ UDPゴシック"/>
                <a:cs typeface="BIZ UDPゴシック"/>
              </a:rPr>
              <a:t>3</a:t>
            </a:r>
            <a:endParaRPr lang="ja-JP" altLang="en-US" sz="1050" dirty="0">
              <a:solidFill>
                <a:srgbClr val="1E2430"/>
              </a:solidFill>
              <a:latin typeface="BIZ UDPゴシック"/>
              <a:ea typeface="BIZ UDPゴシック"/>
              <a:cs typeface="BIZ UDPゴシック"/>
            </a:endParaRPr>
          </a:p>
        </p:txBody>
      </p:sp>
      <p:sp>
        <p:nvSpPr>
          <p:cNvPr id="75" name="テキスト 72">
            <a:extLst>
              <a:ext uri="{FF2B5EF4-FFF2-40B4-BE49-F238E27FC236}">
                <a16:creationId xmlns:a16="http://schemas.microsoft.com/office/drawing/2014/main" id="{1EC99D67-B575-E56A-A6FD-1DC6A300B53C}"/>
              </a:ext>
            </a:extLst>
          </p:cNvPr>
          <p:cNvSpPr txBox="1"/>
          <p:nvPr/>
        </p:nvSpPr>
        <p:spPr>
          <a:xfrm>
            <a:off x="8427050" y="5089461"/>
            <a:ext cx="1800000" cy="26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250" b="1" dirty="0">
                <a:solidFill>
                  <a:srgbClr val="1E2430"/>
                </a:solidFill>
                <a:latin typeface="BIZ UDPゴシック"/>
                <a:ea typeface="BIZ UDPゴシック"/>
                <a:cs typeface="BIZ UDPゴシック"/>
              </a:rPr>
              <a:t>開ききった後</a:t>
            </a:r>
            <a:endParaRPr lang="ja-JP" altLang="en-US" sz="1250" dirty="0">
              <a:solidFill>
                <a:srgbClr val="1E2430"/>
              </a:solidFill>
              <a:latin typeface="BIZ UDPゴシック"/>
              <a:ea typeface="BIZ UDPゴシック"/>
              <a:cs typeface="BIZ UDPゴシック"/>
            </a:endParaRPr>
          </a:p>
        </p:txBody>
      </p:sp>
      <p:sp>
        <p:nvSpPr>
          <p:cNvPr id="76" name="タグ 73">
            <a:extLst>
              <a:ext uri="{FF2B5EF4-FFF2-40B4-BE49-F238E27FC236}">
                <a16:creationId xmlns:a16="http://schemas.microsoft.com/office/drawing/2014/main" id="{F2BFF8C9-F0D5-6E6C-33A5-ED7E8A556FA9}"/>
              </a:ext>
            </a:extLst>
          </p:cNvPr>
          <p:cNvSpPr/>
          <p:nvPr/>
        </p:nvSpPr>
        <p:spPr>
          <a:xfrm>
            <a:off x="10464791" y="5079814"/>
            <a:ext cx="560000" cy="240000"/>
          </a:xfrm>
          <a:prstGeom prst="roundRect">
            <a:avLst>
              <a:gd name="adj" fmla="val 50000"/>
            </a:avLst>
          </a:prstGeom>
          <a:solidFill>
            <a:srgbClr val="E3A33B"/>
          </a:solidFill>
          <a:ln>
            <a:noFill/>
          </a:ln>
        </p:spPr>
        <p:txBody>
          <a:bodyPr wrap="square" lIns="0" tIns="0" rIns="0" bIns="0" rtlCol="0" anchor="ctr">
            <a:noAutofit/>
          </a:bodyPr>
          <a:lstStyle/>
          <a:p>
            <a:pPr marL="0" indent="0" algn="ctr">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直接</a:t>
            </a:r>
            <a:endParaRPr lang="ja-JP" altLang="en-US" sz="950" dirty="0">
              <a:solidFill>
                <a:srgbClr val="1E2430"/>
              </a:solidFill>
              <a:latin typeface="BIZ UDPゴシック"/>
              <a:ea typeface="BIZ UDPゴシック"/>
              <a:cs typeface="BIZ UDPゴシック"/>
            </a:endParaRPr>
          </a:p>
        </p:txBody>
      </p:sp>
      <p:sp>
        <p:nvSpPr>
          <p:cNvPr id="77" name="テキスト 74">
            <a:extLst>
              <a:ext uri="{FF2B5EF4-FFF2-40B4-BE49-F238E27FC236}">
                <a16:creationId xmlns:a16="http://schemas.microsoft.com/office/drawing/2014/main" id="{B789C17A-9FB8-7753-A866-4709FE5ADF70}"/>
              </a:ext>
            </a:extLst>
          </p:cNvPr>
          <p:cNvSpPr txBox="1"/>
          <p:nvPr/>
        </p:nvSpPr>
        <p:spPr>
          <a:xfrm>
            <a:off x="8067050" y="5449461"/>
            <a:ext cx="3411672" cy="900000"/>
          </a:xfrm>
          <a:prstGeom prst="rect">
            <a:avLst/>
          </a:prstGeom>
          <a:noFill/>
          <a:ln>
            <a:noFill/>
          </a:ln>
        </p:spPr>
        <p:txBody>
          <a:bodyPr wrap="square" lIns="0" tIns="0" rIns="0" bIns="0" rtlCol="0" anchor="t">
            <a:noAutofit/>
          </a:bodyPr>
          <a:lstStyle/>
          <a:p>
            <a:pPr marL="0" indent="0" algn="l">
              <a:lnSpc>
                <a:spcPct val="125000"/>
              </a:lnSpc>
              <a:spcBef>
                <a:spcPts val="0"/>
              </a:spcBef>
              <a:spcAft>
                <a:spcPts val="0"/>
              </a:spcAft>
              <a:buNone/>
            </a:pPr>
            <a:r>
              <a:rPr lang="ja-JP" altLang="en-US" sz="1100" dirty="0">
                <a:solidFill>
                  <a:srgbClr val="1E2430"/>
                </a:solidFill>
                <a:latin typeface="BIZ UDPゴシック"/>
                <a:ea typeface="BIZ UDPゴシック"/>
                <a:cs typeface="BIZ UDPゴシック"/>
              </a:rPr>
              <a:t>音源に対して開ききると直接音でしっかり聞こえるようになる、これ以降は開いても変化しないように</a:t>
            </a:r>
          </a:p>
        </p:txBody>
      </p:sp>
      <p:sp>
        <p:nvSpPr>
          <p:cNvPr id="79" name="フェード 27">
            <a:extLst>
              <a:ext uri="{FF2B5EF4-FFF2-40B4-BE49-F238E27FC236}">
                <a16:creationId xmlns:a16="http://schemas.microsoft.com/office/drawing/2014/main" id="{35237ADB-972C-1AFA-B991-DC7D394C8801}"/>
              </a:ext>
            </a:extLst>
          </p:cNvPr>
          <p:cNvSpPr/>
          <p:nvPr/>
        </p:nvSpPr>
        <p:spPr>
          <a:xfrm>
            <a:off x="3595550" y="2917328"/>
            <a:ext cx="2000000" cy="500000"/>
          </a:xfrm>
          <a:prstGeom prst="roundRect">
            <a:avLst>
              <a:gd name="adj" fmla="val 20000"/>
            </a:avLst>
          </a:prstGeom>
          <a:solidFill>
            <a:srgbClr val="FFFFFF"/>
          </a:solidFill>
          <a:ln w="15875">
            <a:solidFill>
              <a:srgbClr val="E3A33B"/>
            </a:solidFill>
          </a:ln>
        </p:spPr>
        <p:txBody>
          <a:bodyPr wrap="square" lIns="130000" tIns="0" rIns="80000" bIns="0" rtlCol="0" anchor="ctr">
            <a:noAutofit/>
          </a:bodyPr>
          <a:lstStyle/>
          <a:p>
            <a:pPr marL="0" indent="0" algn="l">
              <a:lnSpc>
                <a:spcPct val="100000"/>
              </a:lnSpc>
              <a:spcBef>
                <a:spcPts val="0"/>
              </a:spcBef>
              <a:spcAft>
                <a:spcPts val="0"/>
              </a:spcAft>
              <a:buNone/>
            </a:pPr>
            <a:r>
              <a:rPr lang="ja-JP" altLang="en-US" sz="900" dirty="0">
                <a:solidFill>
                  <a:srgbClr val="1E2430"/>
                </a:solidFill>
                <a:latin typeface="BIZ UDPゴシック"/>
                <a:ea typeface="BIZ UDPゴシック"/>
                <a:cs typeface="BIZ UDPゴシック"/>
              </a:rPr>
              <a:t>そこからは直接音だけになるまで滑らかに</a:t>
            </a:r>
          </a:p>
        </p:txBody>
      </p:sp>
      <p:cxnSp>
        <p:nvCxnSpPr>
          <p:cNvPr id="80" name="線 28">
            <a:extLst>
              <a:ext uri="{FF2B5EF4-FFF2-40B4-BE49-F238E27FC236}">
                <a16:creationId xmlns:a16="http://schemas.microsoft.com/office/drawing/2014/main" id="{6568D903-FD82-F18E-8715-5845C8BFE0DE}"/>
              </a:ext>
            </a:extLst>
          </p:cNvPr>
          <p:cNvCxnSpPr/>
          <p:nvPr/>
        </p:nvCxnSpPr>
        <p:spPr>
          <a:xfrm flipH="1">
            <a:off x="3264827" y="3167328"/>
            <a:ext cx="330722" cy="0"/>
          </a:xfrm>
          <a:prstGeom prst="line">
            <a:avLst/>
          </a:prstGeom>
          <a:ln w="12700" cap="rnd">
            <a:solidFill>
              <a:srgbClr val="E3A33B"/>
            </a:solidFill>
            <a:round/>
            <a:tailEnd type="triangle" w="med" len="med"/>
          </a:ln>
        </p:spPr>
      </p:cxnSp>
    </p:spTree>
    <p:extLst>
      <p:ext uri="{BB962C8B-B14F-4D97-AF65-F5344CB8AC3E}">
        <p14:creationId xmlns:p14="http://schemas.microsoft.com/office/powerpoint/2010/main" val="34296093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D450E-1FC9-5C07-6645-E5B6D8CABC3D}"/>
            </a:ext>
          </a:extLst>
        </p:cNvPr>
        <p:cNvGrpSpPr/>
        <p:nvPr/>
      </p:nvGrpSpPr>
      <p:grpSpPr>
        <a:xfrm>
          <a:off x="0" y="0"/>
          <a:ext cx="0" cy="0"/>
          <a:chOff x="0" y="0"/>
          <a:chExt cx="0" cy="0"/>
        </a:xfrm>
      </p:grpSpPr>
      <p:pic>
        <p:nvPicPr>
          <p:cNvPr id="2" name="Image 1" descr="img/wave_deco.png">
            <a:extLst>
              <a:ext uri="{FF2B5EF4-FFF2-40B4-BE49-F238E27FC236}">
                <a16:creationId xmlns:a16="http://schemas.microsoft.com/office/drawing/2014/main" id="{EF538938-291D-058A-F323-2846264F08D9}"/>
              </a:ext>
            </a:extLst>
          </p:cNvPr>
          <p:cNvPicPr>
            <a:picLocks noChangeAspect="1"/>
          </p:cNvPicPr>
          <p:nvPr/>
        </p:nvPicPr>
        <p:blipFill>
          <a:blip r:embed="rId2">
            <a:alphaModFix amt="65000"/>
          </a:blip>
          <a:stretch>
            <a:fillRect/>
          </a:stretch>
        </p:blipFill>
        <p:spPr>
          <a:xfrm>
            <a:off x="0" y="6217438"/>
            <a:ext cx="12192000" cy="731520"/>
          </a:xfrm>
          <a:prstGeom prst="rect">
            <a:avLst/>
          </a:prstGeom>
        </p:spPr>
      </p:pic>
      <p:pic>
        <p:nvPicPr>
          <p:cNvPr id="3" name="Image 0" descr="img/eq_small.png">
            <a:extLst>
              <a:ext uri="{FF2B5EF4-FFF2-40B4-BE49-F238E27FC236}">
                <a16:creationId xmlns:a16="http://schemas.microsoft.com/office/drawing/2014/main" id="{E1E551FD-46A0-A2E3-4EAF-B4F89B5B0429}"/>
              </a:ext>
            </a:extLst>
          </p:cNvPr>
          <p:cNvPicPr>
            <a:picLocks noChangeAspect="1"/>
          </p:cNvPicPr>
          <p:nvPr/>
        </p:nvPicPr>
        <p:blipFill>
          <a:blip r:embed="rId3"/>
          <a:stretch>
            <a:fillRect/>
          </a:stretch>
        </p:blipFill>
        <p:spPr>
          <a:xfrm>
            <a:off x="10805160" y="351043"/>
            <a:ext cx="1005840" cy="384048"/>
          </a:xfrm>
          <a:prstGeom prst="rect">
            <a:avLst/>
          </a:prstGeom>
        </p:spPr>
      </p:pic>
      <p:sp>
        <p:nvSpPr>
          <p:cNvPr id="4" name="Shape 3">
            <a:extLst>
              <a:ext uri="{FF2B5EF4-FFF2-40B4-BE49-F238E27FC236}">
                <a16:creationId xmlns:a16="http://schemas.microsoft.com/office/drawing/2014/main" id="{9A8B4B52-98A5-04ED-42BE-37426C7F1A6A}"/>
              </a:ext>
            </a:extLst>
          </p:cNvPr>
          <p:cNvSpPr/>
          <p:nvPr/>
        </p:nvSpPr>
        <p:spPr>
          <a:xfrm>
            <a:off x="655320" y="1322832"/>
            <a:ext cx="11155680" cy="0"/>
          </a:xfrm>
          <a:prstGeom prst="line">
            <a:avLst/>
          </a:prstGeom>
          <a:noFill/>
          <a:ln w="12700">
            <a:solidFill>
              <a:srgbClr val="E2E5EA"/>
            </a:solidFill>
            <a:prstDash val="solid"/>
          </a:ln>
        </p:spPr>
        <p:txBody>
          <a:bodyPr/>
          <a:lstStyle/>
          <a:p>
            <a:endParaRPr lang="ja-JP" altLang="en-US"/>
          </a:p>
        </p:txBody>
      </p:sp>
      <p:sp>
        <p:nvSpPr>
          <p:cNvPr id="5" name="Shape 4">
            <a:extLst>
              <a:ext uri="{FF2B5EF4-FFF2-40B4-BE49-F238E27FC236}">
                <a16:creationId xmlns:a16="http://schemas.microsoft.com/office/drawing/2014/main" id="{94D3BF04-BCB4-480C-3179-D6E854A5A3E0}"/>
              </a:ext>
            </a:extLst>
          </p:cNvPr>
          <p:cNvSpPr/>
          <p:nvPr/>
        </p:nvSpPr>
        <p:spPr>
          <a:xfrm>
            <a:off x="655320" y="1322832"/>
            <a:ext cx="3200400" cy="0"/>
          </a:xfrm>
          <a:prstGeom prst="line">
            <a:avLst/>
          </a:prstGeom>
          <a:noFill/>
          <a:ln w="25400">
            <a:solidFill>
              <a:schemeClr val="accent5">
                <a:lumMod val="60000"/>
                <a:lumOff val="40000"/>
              </a:schemeClr>
            </a:solidFill>
            <a:prstDash val="solid"/>
          </a:ln>
        </p:spPr>
        <p:txBody>
          <a:bodyPr/>
          <a:lstStyle/>
          <a:p>
            <a:endParaRPr lang="ja-JP" altLang="en-US"/>
          </a:p>
        </p:txBody>
      </p:sp>
      <p:sp>
        <p:nvSpPr>
          <p:cNvPr id="6" name="テキスト ボックス 5">
            <a:extLst>
              <a:ext uri="{FF2B5EF4-FFF2-40B4-BE49-F238E27FC236}">
                <a16:creationId xmlns:a16="http://schemas.microsoft.com/office/drawing/2014/main" id="{47741243-CB97-42D1-CC93-12E0E5B6E849}"/>
              </a:ext>
            </a:extLst>
          </p:cNvPr>
          <p:cNvSpPr txBox="1"/>
          <p:nvPr/>
        </p:nvSpPr>
        <p:spPr>
          <a:xfrm>
            <a:off x="219456" y="173736"/>
            <a:ext cx="6565392" cy="646331"/>
          </a:xfrm>
          <a:prstGeom prst="rect">
            <a:avLst/>
          </a:prstGeom>
          <a:noFill/>
        </p:spPr>
        <p:txBody>
          <a:bodyPr wrap="square" rtlCol="0">
            <a:spAutoFit/>
          </a:bodyPr>
          <a:lstStyle/>
          <a:p>
            <a:r>
              <a:rPr lang="ja-JP" altLang="en-US" b="1" dirty="0"/>
              <a:t>・技術選定　ドアの開き具合での演出</a:t>
            </a:r>
            <a:endParaRPr lang="en-US" altLang="ja-JP" b="1" dirty="0"/>
          </a:p>
          <a:p>
            <a:endParaRPr kumimoji="1" lang="ja-JP" altLang="en-US" dirty="0"/>
          </a:p>
        </p:txBody>
      </p:sp>
      <p:sp>
        <p:nvSpPr>
          <p:cNvPr id="7" name="テキスト ボックス 6">
            <a:extLst>
              <a:ext uri="{FF2B5EF4-FFF2-40B4-BE49-F238E27FC236}">
                <a16:creationId xmlns:a16="http://schemas.microsoft.com/office/drawing/2014/main" id="{865D114D-001E-A230-958C-9DA64EACFDF8}"/>
              </a:ext>
            </a:extLst>
          </p:cNvPr>
          <p:cNvSpPr txBox="1"/>
          <p:nvPr/>
        </p:nvSpPr>
        <p:spPr>
          <a:xfrm>
            <a:off x="655320" y="640562"/>
            <a:ext cx="11796619" cy="584775"/>
          </a:xfrm>
          <a:prstGeom prst="rect">
            <a:avLst/>
          </a:prstGeom>
          <a:noFill/>
        </p:spPr>
        <p:txBody>
          <a:bodyPr wrap="square" rtlCol="0">
            <a:spAutoFit/>
          </a:bodyPr>
          <a:lstStyle/>
          <a:p>
            <a:r>
              <a:rPr lang="ja-JP" altLang="en-US" sz="3200" b="1">
                <a:solidFill>
                  <a:srgbClr val="1E2430"/>
                </a:solidFill>
                <a:latin typeface="BIZ UDPゴシック"/>
                <a:ea typeface="BIZ UDPゴシック"/>
                <a:cs typeface="BIZ UDPゴシック"/>
              </a:rPr>
              <a:t>音源がドアの裏側にあるのが伝わるように</a:t>
            </a:r>
            <a:endParaRPr lang="ja-JP" altLang="en-US" sz="3200" b="1" dirty="0"/>
          </a:p>
        </p:txBody>
      </p:sp>
      <p:sp>
        <p:nvSpPr>
          <p:cNvPr id="8" name="カード 11">
            <a:extLst>
              <a:ext uri="{FF2B5EF4-FFF2-40B4-BE49-F238E27FC236}">
                <a16:creationId xmlns:a16="http://schemas.microsoft.com/office/drawing/2014/main" id="{2F60BBF5-57FC-3059-D9A6-BD8F6BD28053}"/>
              </a:ext>
            </a:extLst>
          </p:cNvPr>
          <p:cNvSpPr/>
          <p:nvPr/>
        </p:nvSpPr>
        <p:spPr>
          <a:xfrm>
            <a:off x="550164" y="2644934"/>
            <a:ext cx="11091672" cy="3670000"/>
          </a:xfrm>
          <a:prstGeom prst="roundRect">
            <a:avLst>
              <a:gd name="adj" fmla="val 5000"/>
            </a:avLst>
          </a:prstGeom>
          <a:solidFill>
            <a:srgbClr val="F0F2F5"/>
          </a:solidFill>
          <a:ln>
            <a:noFill/>
          </a:ln>
        </p:spPr>
        <p:txBody>
          <a:bodyPr/>
          <a:lstStyle/>
          <a:p>
            <a:endParaRPr lang="ja-JP" altLang="en-US" dirty="0"/>
          </a:p>
        </p:txBody>
      </p:sp>
      <p:sp>
        <p:nvSpPr>
          <p:cNvPr id="9" name="テキスト 12">
            <a:extLst>
              <a:ext uri="{FF2B5EF4-FFF2-40B4-BE49-F238E27FC236}">
                <a16:creationId xmlns:a16="http://schemas.microsoft.com/office/drawing/2014/main" id="{25E53364-2526-789A-74D4-9D4751CA6AA6}"/>
              </a:ext>
            </a:extLst>
          </p:cNvPr>
          <p:cNvSpPr txBox="1"/>
          <p:nvPr/>
        </p:nvSpPr>
        <p:spPr>
          <a:xfrm>
            <a:off x="850164" y="2794934"/>
            <a:ext cx="10491672" cy="28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250" b="1" dirty="0">
                <a:solidFill>
                  <a:srgbClr val="1E2430"/>
                </a:solidFill>
                <a:latin typeface="BIZ UDPゴシック"/>
                <a:ea typeface="BIZ UDPゴシック"/>
                <a:cs typeface="BIZ UDPゴシック"/>
              </a:rPr>
              <a:t>扉の真後ろの音源で、閉じている → 開き始め → 開いた後</a:t>
            </a:r>
            <a:endParaRPr lang="ja-JP" altLang="en-US" sz="1250" dirty="0">
              <a:solidFill>
                <a:srgbClr val="1E2430"/>
              </a:solidFill>
              <a:latin typeface="BIZ UDPゴシック"/>
              <a:ea typeface="BIZ UDPゴシック"/>
              <a:cs typeface="BIZ UDPゴシック"/>
            </a:endParaRPr>
          </a:p>
        </p:txBody>
      </p:sp>
      <p:sp>
        <p:nvSpPr>
          <p:cNvPr id="10" name="壁 13">
            <a:extLst>
              <a:ext uri="{FF2B5EF4-FFF2-40B4-BE49-F238E27FC236}">
                <a16:creationId xmlns:a16="http://schemas.microsoft.com/office/drawing/2014/main" id="{6E3D0083-2DFF-F36F-961F-91598B05E47C}"/>
              </a:ext>
            </a:extLst>
          </p:cNvPr>
          <p:cNvSpPr/>
          <p:nvPr/>
        </p:nvSpPr>
        <p:spPr>
          <a:xfrm>
            <a:off x="862220" y="4077434"/>
            <a:ext cx="595000" cy="35000"/>
          </a:xfrm>
          <a:prstGeom prst="rect">
            <a:avLst/>
          </a:prstGeom>
          <a:solidFill>
            <a:srgbClr val="9AA3B0"/>
          </a:solidFill>
          <a:ln>
            <a:noFill/>
          </a:ln>
        </p:spPr>
        <p:txBody>
          <a:bodyPr/>
          <a:lstStyle/>
          <a:p>
            <a:endParaRPr lang="ja-JP" altLang="en-US"/>
          </a:p>
        </p:txBody>
      </p:sp>
      <p:sp>
        <p:nvSpPr>
          <p:cNvPr id="11" name="壁 14">
            <a:extLst>
              <a:ext uri="{FF2B5EF4-FFF2-40B4-BE49-F238E27FC236}">
                <a16:creationId xmlns:a16="http://schemas.microsoft.com/office/drawing/2014/main" id="{0CEBC56C-27A4-EBB9-06E4-4637B4F94507}"/>
              </a:ext>
            </a:extLst>
          </p:cNvPr>
          <p:cNvSpPr/>
          <p:nvPr/>
        </p:nvSpPr>
        <p:spPr>
          <a:xfrm>
            <a:off x="2157220" y="4077434"/>
            <a:ext cx="595000" cy="35000"/>
          </a:xfrm>
          <a:prstGeom prst="rect">
            <a:avLst/>
          </a:prstGeom>
          <a:solidFill>
            <a:srgbClr val="9AA3B0"/>
          </a:solidFill>
          <a:ln>
            <a:noFill/>
          </a:ln>
        </p:spPr>
        <p:txBody>
          <a:bodyPr/>
          <a:lstStyle/>
          <a:p>
            <a:endParaRPr lang="ja-JP" altLang="en-US"/>
          </a:p>
        </p:txBody>
      </p:sp>
      <p:cxnSp>
        <p:nvCxnSpPr>
          <p:cNvPr id="12" name="線 15">
            <a:extLst>
              <a:ext uri="{FF2B5EF4-FFF2-40B4-BE49-F238E27FC236}">
                <a16:creationId xmlns:a16="http://schemas.microsoft.com/office/drawing/2014/main" id="{AC19A233-7287-4616-168D-E5E571EC742B}"/>
              </a:ext>
            </a:extLst>
          </p:cNvPr>
          <p:cNvCxnSpPr/>
          <p:nvPr/>
        </p:nvCxnSpPr>
        <p:spPr>
          <a:xfrm flipH="1">
            <a:off x="1737220" y="3394934"/>
            <a:ext cx="175000" cy="1260000"/>
          </a:xfrm>
          <a:prstGeom prst="line">
            <a:avLst/>
          </a:prstGeom>
          <a:ln w="15875" cap="rnd">
            <a:solidFill>
              <a:srgbClr val="9AA3B0"/>
            </a:solidFill>
            <a:prstDash val="dash"/>
            <a:round/>
          </a:ln>
        </p:spPr>
      </p:cxnSp>
      <p:cxnSp>
        <p:nvCxnSpPr>
          <p:cNvPr id="13" name="線 16">
            <a:extLst>
              <a:ext uri="{FF2B5EF4-FFF2-40B4-BE49-F238E27FC236}">
                <a16:creationId xmlns:a16="http://schemas.microsoft.com/office/drawing/2014/main" id="{A97C395B-4E85-33F9-8724-94B9B732991F}"/>
              </a:ext>
            </a:extLst>
          </p:cNvPr>
          <p:cNvCxnSpPr/>
          <p:nvPr/>
        </p:nvCxnSpPr>
        <p:spPr>
          <a:xfrm>
            <a:off x="1457220" y="4094934"/>
            <a:ext cx="700000" cy="0"/>
          </a:xfrm>
          <a:prstGeom prst="line">
            <a:avLst/>
          </a:prstGeom>
          <a:ln w="44450" cap="rnd">
            <a:solidFill>
              <a:srgbClr val="1E2430"/>
            </a:solidFill>
            <a:round/>
          </a:ln>
        </p:spPr>
      </p:cxnSp>
      <p:sp>
        <p:nvSpPr>
          <p:cNvPr id="14" name="番号 17">
            <a:extLst>
              <a:ext uri="{FF2B5EF4-FFF2-40B4-BE49-F238E27FC236}">
                <a16:creationId xmlns:a16="http://schemas.microsoft.com/office/drawing/2014/main" id="{D06B091F-6B6B-501F-93C7-E8AFE3160598}"/>
              </a:ext>
            </a:extLst>
          </p:cNvPr>
          <p:cNvSpPr/>
          <p:nvPr/>
        </p:nvSpPr>
        <p:spPr>
          <a:xfrm>
            <a:off x="1837220" y="3319934"/>
            <a:ext cx="150000" cy="15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15" name="テキスト 18">
            <a:extLst>
              <a:ext uri="{FF2B5EF4-FFF2-40B4-BE49-F238E27FC236}">
                <a16:creationId xmlns:a16="http://schemas.microsoft.com/office/drawing/2014/main" id="{A78071AE-EC49-281B-E6B5-2C3E3C90E69F}"/>
              </a:ext>
            </a:extLst>
          </p:cNvPr>
          <p:cNvSpPr txBox="1"/>
          <p:nvPr/>
        </p:nvSpPr>
        <p:spPr>
          <a:xfrm>
            <a:off x="2022220" y="3294934"/>
            <a:ext cx="6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音源</a:t>
            </a:r>
            <a:endParaRPr lang="ja-JP" altLang="en-US" sz="950" dirty="0">
              <a:solidFill>
                <a:srgbClr val="1E2430"/>
              </a:solidFill>
              <a:latin typeface="BIZ UDPゴシック"/>
              <a:ea typeface="BIZ UDPゴシック"/>
              <a:cs typeface="BIZ UDPゴシック"/>
            </a:endParaRPr>
          </a:p>
        </p:txBody>
      </p:sp>
      <p:sp>
        <p:nvSpPr>
          <p:cNvPr id="16" name="番号 19">
            <a:extLst>
              <a:ext uri="{FF2B5EF4-FFF2-40B4-BE49-F238E27FC236}">
                <a16:creationId xmlns:a16="http://schemas.microsoft.com/office/drawing/2014/main" id="{BA03BEF4-1560-C2DC-B19D-007B3CD151EE}"/>
              </a:ext>
            </a:extLst>
          </p:cNvPr>
          <p:cNvSpPr/>
          <p:nvPr/>
        </p:nvSpPr>
        <p:spPr>
          <a:xfrm>
            <a:off x="1662220" y="4579934"/>
            <a:ext cx="150000" cy="15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17" name="テキスト 20">
            <a:extLst>
              <a:ext uri="{FF2B5EF4-FFF2-40B4-BE49-F238E27FC236}">
                <a16:creationId xmlns:a16="http://schemas.microsoft.com/office/drawing/2014/main" id="{C90ACCA2-D2F5-0C9E-A4AB-52606F4BF4B4}"/>
              </a:ext>
            </a:extLst>
          </p:cNvPr>
          <p:cNvSpPr txBox="1"/>
          <p:nvPr/>
        </p:nvSpPr>
        <p:spPr>
          <a:xfrm>
            <a:off x="1847220" y="4554934"/>
            <a:ext cx="4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耳</a:t>
            </a:r>
            <a:endParaRPr lang="ja-JP" altLang="en-US" sz="950" dirty="0">
              <a:solidFill>
                <a:srgbClr val="1E2430"/>
              </a:solidFill>
              <a:latin typeface="BIZ UDPゴシック"/>
              <a:ea typeface="BIZ UDPゴシック"/>
              <a:cs typeface="BIZ UDPゴシック"/>
            </a:endParaRPr>
          </a:p>
        </p:txBody>
      </p:sp>
      <p:sp>
        <p:nvSpPr>
          <p:cNvPr id="18" name="棒 21">
            <a:extLst>
              <a:ext uri="{FF2B5EF4-FFF2-40B4-BE49-F238E27FC236}">
                <a16:creationId xmlns:a16="http://schemas.microsoft.com/office/drawing/2014/main" id="{A18944E0-7C09-F9E8-3BBB-69EF3DC19066}"/>
              </a:ext>
            </a:extLst>
          </p:cNvPr>
          <p:cNvSpPr/>
          <p:nvPr/>
        </p:nvSpPr>
        <p:spPr>
          <a:xfrm>
            <a:off x="2990331" y="3732434"/>
            <a:ext cx="234000" cy="562500"/>
          </a:xfrm>
          <a:prstGeom prst="rect">
            <a:avLst/>
          </a:prstGeom>
          <a:solidFill>
            <a:srgbClr val="E3A33B"/>
          </a:solidFill>
          <a:ln>
            <a:noFill/>
          </a:ln>
        </p:spPr>
        <p:txBody>
          <a:bodyPr/>
          <a:lstStyle/>
          <a:p>
            <a:endParaRPr lang="ja-JP" altLang="en-US"/>
          </a:p>
        </p:txBody>
      </p:sp>
      <p:sp>
        <p:nvSpPr>
          <p:cNvPr id="19" name="テキスト 22">
            <a:extLst>
              <a:ext uri="{FF2B5EF4-FFF2-40B4-BE49-F238E27FC236}">
                <a16:creationId xmlns:a16="http://schemas.microsoft.com/office/drawing/2014/main" id="{694E1B4A-1AD0-E20A-95DA-6FB11CA8CEB9}"/>
              </a:ext>
            </a:extLst>
          </p:cNvPr>
          <p:cNvSpPr txBox="1"/>
          <p:nvPr/>
        </p:nvSpPr>
        <p:spPr>
          <a:xfrm>
            <a:off x="2930331" y="4324934"/>
            <a:ext cx="354000" cy="18000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ja-JP" altLang="en-US" sz="850" b="1" dirty="0">
                <a:solidFill>
                  <a:srgbClr val="5C6677"/>
                </a:solidFill>
                <a:latin typeface="BIZ UDPゴシック"/>
                <a:ea typeface="BIZ UDPゴシック"/>
                <a:cs typeface="BIZ UDPゴシック"/>
              </a:rPr>
              <a:t>低</a:t>
            </a:r>
            <a:endParaRPr lang="ja-JP" altLang="en-US" sz="850" dirty="0">
              <a:solidFill>
                <a:srgbClr val="5C6677"/>
              </a:solidFill>
              <a:latin typeface="BIZ UDPゴシック"/>
              <a:ea typeface="BIZ UDPゴシック"/>
              <a:cs typeface="BIZ UDPゴシック"/>
            </a:endParaRPr>
          </a:p>
        </p:txBody>
      </p:sp>
      <p:sp>
        <p:nvSpPr>
          <p:cNvPr id="20" name="棒 23">
            <a:extLst>
              <a:ext uri="{FF2B5EF4-FFF2-40B4-BE49-F238E27FC236}">
                <a16:creationId xmlns:a16="http://schemas.microsoft.com/office/drawing/2014/main" id="{58EA8416-4EC1-5E3D-3D40-38A756BDD66E}"/>
              </a:ext>
            </a:extLst>
          </p:cNvPr>
          <p:cNvSpPr/>
          <p:nvPr/>
        </p:nvSpPr>
        <p:spPr>
          <a:xfrm>
            <a:off x="3315331" y="4182434"/>
            <a:ext cx="234000" cy="112500"/>
          </a:xfrm>
          <a:prstGeom prst="rect">
            <a:avLst/>
          </a:prstGeom>
          <a:solidFill>
            <a:srgbClr val="9AA3B0"/>
          </a:solidFill>
          <a:ln>
            <a:noFill/>
          </a:ln>
        </p:spPr>
        <p:txBody>
          <a:bodyPr/>
          <a:lstStyle/>
          <a:p>
            <a:endParaRPr lang="ja-JP" altLang="en-US"/>
          </a:p>
        </p:txBody>
      </p:sp>
      <p:sp>
        <p:nvSpPr>
          <p:cNvPr id="21" name="テキスト 24">
            <a:extLst>
              <a:ext uri="{FF2B5EF4-FFF2-40B4-BE49-F238E27FC236}">
                <a16:creationId xmlns:a16="http://schemas.microsoft.com/office/drawing/2014/main" id="{F3CE6C4C-3640-2278-596C-3C3B009FD857}"/>
              </a:ext>
            </a:extLst>
          </p:cNvPr>
          <p:cNvSpPr txBox="1"/>
          <p:nvPr/>
        </p:nvSpPr>
        <p:spPr>
          <a:xfrm>
            <a:off x="3255331" y="4324934"/>
            <a:ext cx="354000" cy="18000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ja-JP" altLang="en-US" sz="850" b="1" dirty="0">
                <a:solidFill>
                  <a:srgbClr val="5C6677"/>
                </a:solidFill>
                <a:latin typeface="BIZ UDPゴシック"/>
                <a:ea typeface="BIZ UDPゴシック"/>
                <a:cs typeface="BIZ UDPゴシック"/>
              </a:rPr>
              <a:t>高</a:t>
            </a:r>
            <a:endParaRPr lang="ja-JP" altLang="en-US" sz="850" dirty="0">
              <a:solidFill>
                <a:srgbClr val="5C6677"/>
              </a:solidFill>
              <a:latin typeface="BIZ UDPゴシック"/>
              <a:ea typeface="BIZ UDPゴシック"/>
              <a:cs typeface="BIZ UDPゴシック"/>
            </a:endParaRPr>
          </a:p>
        </p:txBody>
      </p:sp>
      <p:cxnSp>
        <p:nvCxnSpPr>
          <p:cNvPr id="22" name="線 25">
            <a:extLst>
              <a:ext uri="{FF2B5EF4-FFF2-40B4-BE49-F238E27FC236}">
                <a16:creationId xmlns:a16="http://schemas.microsoft.com/office/drawing/2014/main" id="{FF66C60B-0649-9FC2-F466-AC9B8CA33F41}"/>
              </a:ext>
            </a:extLst>
          </p:cNvPr>
          <p:cNvCxnSpPr/>
          <p:nvPr/>
        </p:nvCxnSpPr>
        <p:spPr>
          <a:xfrm>
            <a:off x="2950331" y="4294934"/>
            <a:ext cx="690000" cy="0"/>
          </a:xfrm>
          <a:prstGeom prst="line">
            <a:avLst/>
          </a:prstGeom>
          <a:ln w="9525" cap="rnd">
            <a:solidFill>
              <a:srgbClr val="C9CFD8"/>
            </a:solidFill>
            <a:round/>
          </a:ln>
        </p:spPr>
      </p:cxnSp>
      <p:sp>
        <p:nvSpPr>
          <p:cNvPr id="23" name="テキスト 26">
            <a:extLst>
              <a:ext uri="{FF2B5EF4-FFF2-40B4-BE49-F238E27FC236}">
                <a16:creationId xmlns:a16="http://schemas.microsoft.com/office/drawing/2014/main" id="{05A31007-5212-4CE6-3395-FE6A2FA76BBB}"/>
              </a:ext>
            </a:extLst>
          </p:cNvPr>
          <p:cNvSpPr txBox="1"/>
          <p:nvPr/>
        </p:nvSpPr>
        <p:spPr>
          <a:xfrm>
            <a:off x="2842442" y="4544934"/>
            <a:ext cx="1300000" cy="28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250" b="1" dirty="0">
                <a:solidFill>
                  <a:srgbClr val="5C6677"/>
                </a:solidFill>
                <a:latin typeface="BIZ UDPゴシック"/>
                <a:ea typeface="BIZ UDPゴシック"/>
                <a:cs typeface="BIZ UDPゴシック"/>
              </a:rPr>
              <a:t>こもる</a:t>
            </a:r>
            <a:endParaRPr lang="ja-JP" altLang="en-US" sz="1250" dirty="0">
              <a:solidFill>
                <a:srgbClr val="5C6677"/>
              </a:solidFill>
              <a:latin typeface="BIZ UDPゴシック"/>
              <a:ea typeface="BIZ UDPゴシック"/>
              <a:cs typeface="BIZ UDPゴシック"/>
            </a:endParaRPr>
          </a:p>
        </p:txBody>
      </p:sp>
      <p:sp>
        <p:nvSpPr>
          <p:cNvPr id="24" name="テキスト 27">
            <a:extLst>
              <a:ext uri="{FF2B5EF4-FFF2-40B4-BE49-F238E27FC236}">
                <a16:creationId xmlns:a16="http://schemas.microsoft.com/office/drawing/2014/main" id="{AA5C9877-2A5A-9A08-54E8-E8EE2E7A5E92}"/>
              </a:ext>
            </a:extLst>
          </p:cNvPr>
          <p:cNvSpPr txBox="1"/>
          <p:nvPr/>
        </p:nvSpPr>
        <p:spPr>
          <a:xfrm>
            <a:off x="800164" y="5194934"/>
            <a:ext cx="3297224" cy="28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300" b="1" dirty="0">
                <a:solidFill>
                  <a:srgbClr val="1E2430"/>
                </a:solidFill>
                <a:latin typeface="BIZ UDPゴシック"/>
                <a:ea typeface="BIZ UDPゴシック"/>
                <a:cs typeface="BIZ UDPゴシック"/>
              </a:rPr>
              <a:t>閉じている時</a:t>
            </a:r>
            <a:endParaRPr lang="ja-JP" altLang="en-US" sz="1300" dirty="0">
              <a:solidFill>
                <a:srgbClr val="1E2430"/>
              </a:solidFill>
              <a:latin typeface="BIZ UDPゴシック"/>
              <a:ea typeface="BIZ UDPゴシック"/>
              <a:cs typeface="BIZ UDPゴシック"/>
            </a:endParaRPr>
          </a:p>
        </p:txBody>
      </p:sp>
      <p:sp>
        <p:nvSpPr>
          <p:cNvPr id="25" name="テキスト 28">
            <a:extLst>
              <a:ext uri="{FF2B5EF4-FFF2-40B4-BE49-F238E27FC236}">
                <a16:creationId xmlns:a16="http://schemas.microsoft.com/office/drawing/2014/main" id="{6AAC15E3-BA36-DA80-E41C-FAA027C66A23}"/>
              </a:ext>
            </a:extLst>
          </p:cNvPr>
          <p:cNvSpPr txBox="1"/>
          <p:nvPr/>
        </p:nvSpPr>
        <p:spPr>
          <a:xfrm>
            <a:off x="800164" y="5504934"/>
            <a:ext cx="3297224" cy="26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100" dirty="0">
                <a:solidFill>
                  <a:srgbClr val="1E2430"/>
                </a:solidFill>
                <a:latin typeface="BIZ UDPゴシック"/>
                <a:ea typeface="BIZ UDPゴシック"/>
                <a:cs typeface="BIZ UDPゴシック"/>
              </a:rPr>
              <a:t>ドアを抜ける透過音のみ</a:t>
            </a:r>
            <a:endParaRPr lang="en-US" altLang="ja-JP" sz="1100" dirty="0">
              <a:solidFill>
                <a:srgbClr val="1E2430"/>
              </a:solidFill>
              <a:latin typeface="BIZ UDPゴシック"/>
              <a:ea typeface="BIZ UDPゴシック"/>
              <a:cs typeface="BIZ UDPゴシック"/>
            </a:endParaRPr>
          </a:p>
          <a:p>
            <a:pPr marL="0" indent="0" algn="l">
              <a:lnSpc>
                <a:spcPct val="100000"/>
              </a:lnSpc>
              <a:spcBef>
                <a:spcPts val="0"/>
              </a:spcBef>
              <a:spcAft>
                <a:spcPts val="0"/>
              </a:spcAft>
              <a:buNone/>
            </a:pPr>
            <a:r>
              <a:rPr lang="ja-JP" altLang="en-US" sz="1100" dirty="0">
                <a:solidFill>
                  <a:srgbClr val="1E2430"/>
                </a:solidFill>
                <a:latin typeface="BIZ UDPゴシック"/>
                <a:ea typeface="BIZ UDPゴシック"/>
                <a:cs typeface="BIZ UDPゴシック"/>
              </a:rPr>
              <a:t>どの位置に音源があっても一様のこもり方</a:t>
            </a:r>
          </a:p>
        </p:txBody>
      </p:sp>
      <p:sp>
        <p:nvSpPr>
          <p:cNvPr id="26" name="矢印 29">
            <a:extLst>
              <a:ext uri="{FF2B5EF4-FFF2-40B4-BE49-F238E27FC236}">
                <a16:creationId xmlns:a16="http://schemas.microsoft.com/office/drawing/2014/main" id="{74576AB5-17B1-5258-30EC-9452E6C19904}"/>
              </a:ext>
            </a:extLst>
          </p:cNvPr>
          <p:cNvSpPr/>
          <p:nvPr/>
        </p:nvSpPr>
        <p:spPr>
          <a:xfrm>
            <a:off x="4097388" y="3994934"/>
            <a:ext cx="260000" cy="200000"/>
          </a:xfrm>
          <a:prstGeom prst="rightArrow">
            <a:avLst/>
          </a:prstGeom>
          <a:solidFill>
            <a:srgbClr val="9AA3B0"/>
          </a:solidFill>
          <a:ln>
            <a:noFill/>
          </a:ln>
        </p:spPr>
        <p:txBody>
          <a:bodyPr/>
          <a:lstStyle/>
          <a:p>
            <a:endParaRPr lang="ja-JP" altLang="en-US"/>
          </a:p>
        </p:txBody>
      </p:sp>
      <p:sp>
        <p:nvSpPr>
          <p:cNvPr id="27" name="壁 30">
            <a:extLst>
              <a:ext uri="{FF2B5EF4-FFF2-40B4-BE49-F238E27FC236}">
                <a16:creationId xmlns:a16="http://schemas.microsoft.com/office/drawing/2014/main" id="{9523C874-C647-1DA5-B998-E75AC80E91DD}"/>
              </a:ext>
            </a:extLst>
          </p:cNvPr>
          <p:cNvSpPr/>
          <p:nvPr/>
        </p:nvSpPr>
        <p:spPr>
          <a:xfrm>
            <a:off x="4559444" y="4077434"/>
            <a:ext cx="595000" cy="35000"/>
          </a:xfrm>
          <a:prstGeom prst="rect">
            <a:avLst/>
          </a:prstGeom>
          <a:solidFill>
            <a:srgbClr val="9AA3B0"/>
          </a:solidFill>
          <a:ln>
            <a:noFill/>
          </a:ln>
        </p:spPr>
        <p:txBody>
          <a:bodyPr/>
          <a:lstStyle/>
          <a:p>
            <a:endParaRPr lang="ja-JP" altLang="en-US"/>
          </a:p>
        </p:txBody>
      </p:sp>
      <p:sp>
        <p:nvSpPr>
          <p:cNvPr id="28" name="壁 31">
            <a:extLst>
              <a:ext uri="{FF2B5EF4-FFF2-40B4-BE49-F238E27FC236}">
                <a16:creationId xmlns:a16="http://schemas.microsoft.com/office/drawing/2014/main" id="{6BB8B725-E7E6-C7A3-4784-4F841A49B148}"/>
              </a:ext>
            </a:extLst>
          </p:cNvPr>
          <p:cNvSpPr/>
          <p:nvPr/>
        </p:nvSpPr>
        <p:spPr>
          <a:xfrm>
            <a:off x="5854444" y="4077434"/>
            <a:ext cx="595000" cy="35000"/>
          </a:xfrm>
          <a:prstGeom prst="rect">
            <a:avLst/>
          </a:prstGeom>
          <a:solidFill>
            <a:srgbClr val="9AA3B0"/>
          </a:solidFill>
          <a:ln>
            <a:noFill/>
          </a:ln>
        </p:spPr>
        <p:txBody>
          <a:bodyPr/>
          <a:lstStyle/>
          <a:p>
            <a:endParaRPr lang="ja-JP" altLang="en-US"/>
          </a:p>
        </p:txBody>
      </p:sp>
      <p:sp>
        <p:nvSpPr>
          <p:cNvPr id="29" name="折れ線 32">
            <a:extLst>
              <a:ext uri="{FF2B5EF4-FFF2-40B4-BE49-F238E27FC236}">
                <a16:creationId xmlns:a16="http://schemas.microsoft.com/office/drawing/2014/main" id="{B65D73CF-2B50-1AB1-3F9C-7FC18D1F930D}"/>
              </a:ext>
            </a:extLst>
          </p:cNvPr>
          <p:cNvSpPr/>
          <p:nvPr/>
        </p:nvSpPr>
        <p:spPr>
          <a:xfrm>
            <a:off x="5434444" y="3394934"/>
            <a:ext cx="401276" cy="1260000"/>
          </a:xfrm>
          <a:custGeom>
            <a:avLst/>
            <a:gdLst/>
            <a:ahLst/>
            <a:cxnLst/>
            <a:rect l="0" t="0" r="r" b="b"/>
            <a:pathLst>
              <a:path w="401276" h="1260000" fill="none">
                <a:moveTo>
                  <a:pt x="175000" y="0"/>
                </a:moveTo>
                <a:lnTo>
                  <a:pt x="401276" y="452034"/>
                </a:lnTo>
                <a:lnTo>
                  <a:pt x="0" y="1260000"/>
                </a:lnTo>
              </a:path>
            </a:pathLst>
          </a:custGeom>
          <a:noFill/>
          <a:ln w="31750" cap="rnd">
            <a:solidFill>
              <a:srgbClr val="E3A33B"/>
            </a:solidFill>
            <a:round/>
          </a:ln>
        </p:spPr>
        <p:txBody>
          <a:bodyPr/>
          <a:lstStyle/>
          <a:p>
            <a:endParaRPr lang="ja-JP" altLang="en-US"/>
          </a:p>
        </p:txBody>
      </p:sp>
      <p:cxnSp>
        <p:nvCxnSpPr>
          <p:cNvPr id="30" name="線 33">
            <a:extLst>
              <a:ext uri="{FF2B5EF4-FFF2-40B4-BE49-F238E27FC236}">
                <a16:creationId xmlns:a16="http://schemas.microsoft.com/office/drawing/2014/main" id="{BD5FB81A-9D04-E41B-C559-E968F5E56647}"/>
              </a:ext>
            </a:extLst>
          </p:cNvPr>
          <p:cNvCxnSpPr/>
          <p:nvPr/>
        </p:nvCxnSpPr>
        <p:spPr>
          <a:xfrm flipV="1">
            <a:off x="5154444" y="3855519"/>
            <a:ext cx="657784" cy="239414"/>
          </a:xfrm>
          <a:prstGeom prst="line">
            <a:avLst/>
          </a:prstGeom>
          <a:ln w="44450" cap="rnd">
            <a:solidFill>
              <a:srgbClr val="1E2430"/>
            </a:solidFill>
            <a:round/>
          </a:ln>
        </p:spPr>
      </p:cxnSp>
      <p:sp>
        <p:nvSpPr>
          <p:cNvPr id="31" name="番号 34">
            <a:extLst>
              <a:ext uri="{FF2B5EF4-FFF2-40B4-BE49-F238E27FC236}">
                <a16:creationId xmlns:a16="http://schemas.microsoft.com/office/drawing/2014/main" id="{79C51DF8-A534-9FA4-1BB3-A98DEEF7B85B}"/>
              </a:ext>
            </a:extLst>
          </p:cNvPr>
          <p:cNvSpPr/>
          <p:nvPr/>
        </p:nvSpPr>
        <p:spPr>
          <a:xfrm>
            <a:off x="5534444" y="3319934"/>
            <a:ext cx="150000" cy="15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32" name="テキスト 35">
            <a:extLst>
              <a:ext uri="{FF2B5EF4-FFF2-40B4-BE49-F238E27FC236}">
                <a16:creationId xmlns:a16="http://schemas.microsoft.com/office/drawing/2014/main" id="{871145F6-204A-4F59-6B25-5B86245554A5}"/>
              </a:ext>
            </a:extLst>
          </p:cNvPr>
          <p:cNvSpPr txBox="1"/>
          <p:nvPr/>
        </p:nvSpPr>
        <p:spPr>
          <a:xfrm>
            <a:off x="5719444" y="3294934"/>
            <a:ext cx="6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音源</a:t>
            </a:r>
            <a:endParaRPr lang="ja-JP" altLang="en-US" sz="950" dirty="0">
              <a:solidFill>
                <a:srgbClr val="1E2430"/>
              </a:solidFill>
              <a:latin typeface="BIZ UDPゴシック"/>
              <a:ea typeface="BIZ UDPゴシック"/>
              <a:cs typeface="BIZ UDPゴシック"/>
            </a:endParaRPr>
          </a:p>
        </p:txBody>
      </p:sp>
      <p:sp>
        <p:nvSpPr>
          <p:cNvPr id="33" name="番号 36">
            <a:extLst>
              <a:ext uri="{FF2B5EF4-FFF2-40B4-BE49-F238E27FC236}">
                <a16:creationId xmlns:a16="http://schemas.microsoft.com/office/drawing/2014/main" id="{B5560ADD-66DD-6F81-B0D2-99A03249294B}"/>
              </a:ext>
            </a:extLst>
          </p:cNvPr>
          <p:cNvSpPr/>
          <p:nvPr/>
        </p:nvSpPr>
        <p:spPr>
          <a:xfrm>
            <a:off x="5359444" y="4579934"/>
            <a:ext cx="150000" cy="15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34" name="テキスト 37">
            <a:extLst>
              <a:ext uri="{FF2B5EF4-FFF2-40B4-BE49-F238E27FC236}">
                <a16:creationId xmlns:a16="http://schemas.microsoft.com/office/drawing/2014/main" id="{A57F8901-1CA6-E3F9-B7E0-E37031DFB0C6}"/>
              </a:ext>
            </a:extLst>
          </p:cNvPr>
          <p:cNvSpPr txBox="1"/>
          <p:nvPr/>
        </p:nvSpPr>
        <p:spPr>
          <a:xfrm>
            <a:off x="5544444" y="4554934"/>
            <a:ext cx="4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耳</a:t>
            </a:r>
            <a:endParaRPr lang="ja-JP" altLang="en-US" sz="950" dirty="0">
              <a:solidFill>
                <a:srgbClr val="1E2430"/>
              </a:solidFill>
              <a:latin typeface="BIZ UDPゴシック"/>
              <a:ea typeface="BIZ UDPゴシック"/>
              <a:cs typeface="BIZ UDPゴシック"/>
            </a:endParaRPr>
          </a:p>
        </p:txBody>
      </p:sp>
      <p:sp>
        <p:nvSpPr>
          <p:cNvPr id="35" name="棒 38">
            <a:extLst>
              <a:ext uri="{FF2B5EF4-FFF2-40B4-BE49-F238E27FC236}">
                <a16:creationId xmlns:a16="http://schemas.microsoft.com/office/drawing/2014/main" id="{E67F2438-69CA-FEBA-CC41-9EA55AFC20D9}"/>
              </a:ext>
            </a:extLst>
          </p:cNvPr>
          <p:cNvSpPr/>
          <p:nvPr/>
        </p:nvSpPr>
        <p:spPr>
          <a:xfrm>
            <a:off x="6687555" y="3657434"/>
            <a:ext cx="234000" cy="637500"/>
          </a:xfrm>
          <a:prstGeom prst="rect">
            <a:avLst/>
          </a:prstGeom>
          <a:solidFill>
            <a:srgbClr val="E3A33B"/>
          </a:solidFill>
          <a:ln>
            <a:noFill/>
          </a:ln>
        </p:spPr>
        <p:txBody>
          <a:bodyPr/>
          <a:lstStyle/>
          <a:p>
            <a:endParaRPr lang="ja-JP" altLang="en-US"/>
          </a:p>
        </p:txBody>
      </p:sp>
      <p:sp>
        <p:nvSpPr>
          <p:cNvPr id="36" name="テキスト 39">
            <a:extLst>
              <a:ext uri="{FF2B5EF4-FFF2-40B4-BE49-F238E27FC236}">
                <a16:creationId xmlns:a16="http://schemas.microsoft.com/office/drawing/2014/main" id="{5BA7E324-6837-E29D-15BA-71C4B759B616}"/>
              </a:ext>
            </a:extLst>
          </p:cNvPr>
          <p:cNvSpPr txBox="1"/>
          <p:nvPr/>
        </p:nvSpPr>
        <p:spPr>
          <a:xfrm>
            <a:off x="6627555" y="4324934"/>
            <a:ext cx="354000" cy="18000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ja-JP" altLang="en-US" sz="850" b="1" dirty="0">
                <a:solidFill>
                  <a:srgbClr val="5C6677"/>
                </a:solidFill>
                <a:latin typeface="BIZ UDPゴシック"/>
                <a:ea typeface="BIZ UDPゴシック"/>
                <a:cs typeface="BIZ UDPゴシック"/>
              </a:rPr>
              <a:t>低</a:t>
            </a:r>
            <a:endParaRPr lang="ja-JP" altLang="en-US" sz="850" dirty="0">
              <a:solidFill>
                <a:srgbClr val="5C6677"/>
              </a:solidFill>
              <a:latin typeface="BIZ UDPゴシック"/>
              <a:ea typeface="BIZ UDPゴシック"/>
              <a:cs typeface="BIZ UDPゴシック"/>
            </a:endParaRPr>
          </a:p>
        </p:txBody>
      </p:sp>
      <p:sp>
        <p:nvSpPr>
          <p:cNvPr id="37" name="棒 40">
            <a:extLst>
              <a:ext uri="{FF2B5EF4-FFF2-40B4-BE49-F238E27FC236}">
                <a16:creationId xmlns:a16="http://schemas.microsoft.com/office/drawing/2014/main" id="{27AD6DBD-0F6D-4ABB-7B4B-25BBE72F52E3}"/>
              </a:ext>
            </a:extLst>
          </p:cNvPr>
          <p:cNvSpPr/>
          <p:nvPr/>
        </p:nvSpPr>
        <p:spPr>
          <a:xfrm>
            <a:off x="7012555" y="3957434"/>
            <a:ext cx="234000" cy="337500"/>
          </a:xfrm>
          <a:prstGeom prst="rect">
            <a:avLst/>
          </a:prstGeom>
          <a:solidFill>
            <a:srgbClr val="9AA3B0"/>
          </a:solidFill>
          <a:ln>
            <a:noFill/>
          </a:ln>
        </p:spPr>
        <p:txBody>
          <a:bodyPr/>
          <a:lstStyle/>
          <a:p>
            <a:endParaRPr lang="ja-JP" altLang="en-US"/>
          </a:p>
        </p:txBody>
      </p:sp>
      <p:sp>
        <p:nvSpPr>
          <p:cNvPr id="38" name="テキスト 41">
            <a:extLst>
              <a:ext uri="{FF2B5EF4-FFF2-40B4-BE49-F238E27FC236}">
                <a16:creationId xmlns:a16="http://schemas.microsoft.com/office/drawing/2014/main" id="{A3646899-7E13-0347-29A7-91091F2CF423}"/>
              </a:ext>
            </a:extLst>
          </p:cNvPr>
          <p:cNvSpPr txBox="1"/>
          <p:nvPr/>
        </p:nvSpPr>
        <p:spPr>
          <a:xfrm>
            <a:off x="6952555" y="4324934"/>
            <a:ext cx="354000" cy="18000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ja-JP" altLang="en-US" sz="850" b="1" dirty="0">
                <a:solidFill>
                  <a:srgbClr val="5C6677"/>
                </a:solidFill>
                <a:latin typeface="BIZ UDPゴシック"/>
                <a:ea typeface="BIZ UDPゴシック"/>
                <a:cs typeface="BIZ UDPゴシック"/>
              </a:rPr>
              <a:t>高</a:t>
            </a:r>
            <a:endParaRPr lang="ja-JP" altLang="en-US" sz="850" dirty="0">
              <a:solidFill>
                <a:srgbClr val="5C6677"/>
              </a:solidFill>
              <a:latin typeface="BIZ UDPゴシック"/>
              <a:ea typeface="BIZ UDPゴシック"/>
              <a:cs typeface="BIZ UDPゴシック"/>
            </a:endParaRPr>
          </a:p>
        </p:txBody>
      </p:sp>
      <p:cxnSp>
        <p:nvCxnSpPr>
          <p:cNvPr id="39" name="線 42">
            <a:extLst>
              <a:ext uri="{FF2B5EF4-FFF2-40B4-BE49-F238E27FC236}">
                <a16:creationId xmlns:a16="http://schemas.microsoft.com/office/drawing/2014/main" id="{43EAA688-9B5A-7E47-4F5A-5126B2A7F9E7}"/>
              </a:ext>
            </a:extLst>
          </p:cNvPr>
          <p:cNvCxnSpPr/>
          <p:nvPr/>
        </p:nvCxnSpPr>
        <p:spPr>
          <a:xfrm>
            <a:off x="6647555" y="4294934"/>
            <a:ext cx="690000" cy="0"/>
          </a:xfrm>
          <a:prstGeom prst="line">
            <a:avLst/>
          </a:prstGeom>
          <a:ln w="9525" cap="rnd">
            <a:solidFill>
              <a:srgbClr val="C9CFD8"/>
            </a:solidFill>
            <a:round/>
          </a:ln>
        </p:spPr>
      </p:cxnSp>
      <p:sp>
        <p:nvSpPr>
          <p:cNvPr id="40" name="テキスト 43">
            <a:extLst>
              <a:ext uri="{FF2B5EF4-FFF2-40B4-BE49-F238E27FC236}">
                <a16:creationId xmlns:a16="http://schemas.microsoft.com/office/drawing/2014/main" id="{B5EC93A3-A9E3-AE04-A3D1-5157AF72E1D3}"/>
              </a:ext>
            </a:extLst>
          </p:cNvPr>
          <p:cNvSpPr txBox="1"/>
          <p:nvPr/>
        </p:nvSpPr>
        <p:spPr>
          <a:xfrm>
            <a:off x="6539666" y="4544934"/>
            <a:ext cx="1300000" cy="28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250" b="1" dirty="0">
                <a:solidFill>
                  <a:srgbClr val="5C6677"/>
                </a:solidFill>
                <a:latin typeface="BIZ UDPゴシック"/>
                <a:ea typeface="BIZ UDPゴシック"/>
                <a:cs typeface="BIZ UDPゴシック"/>
              </a:rPr>
              <a:t>少しこもる</a:t>
            </a:r>
            <a:endParaRPr lang="ja-JP" altLang="en-US" sz="1250" dirty="0">
              <a:solidFill>
                <a:srgbClr val="5C6677"/>
              </a:solidFill>
              <a:latin typeface="BIZ UDPゴシック"/>
              <a:ea typeface="BIZ UDPゴシック"/>
              <a:cs typeface="BIZ UDPゴシック"/>
            </a:endParaRPr>
          </a:p>
        </p:txBody>
      </p:sp>
      <p:sp>
        <p:nvSpPr>
          <p:cNvPr id="41" name="テキスト 44">
            <a:extLst>
              <a:ext uri="{FF2B5EF4-FFF2-40B4-BE49-F238E27FC236}">
                <a16:creationId xmlns:a16="http://schemas.microsoft.com/office/drawing/2014/main" id="{4C808E08-FD3B-8DBE-E65F-C36B3B20F580}"/>
              </a:ext>
            </a:extLst>
          </p:cNvPr>
          <p:cNvSpPr txBox="1"/>
          <p:nvPr/>
        </p:nvSpPr>
        <p:spPr>
          <a:xfrm>
            <a:off x="4497388" y="5194934"/>
            <a:ext cx="3297224" cy="28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300" b="1" dirty="0">
                <a:solidFill>
                  <a:srgbClr val="1E2430"/>
                </a:solidFill>
                <a:latin typeface="BIZ UDPゴシック"/>
                <a:ea typeface="BIZ UDPゴシック"/>
                <a:cs typeface="BIZ UDPゴシック"/>
              </a:rPr>
              <a:t>影の間</a:t>
            </a:r>
            <a:endParaRPr lang="ja-JP" altLang="en-US" sz="1300" dirty="0">
              <a:solidFill>
                <a:srgbClr val="1E2430"/>
              </a:solidFill>
              <a:latin typeface="BIZ UDPゴシック"/>
              <a:ea typeface="BIZ UDPゴシック"/>
              <a:cs typeface="BIZ UDPゴシック"/>
            </a:endParaRPr>
          </a:p>
        </p:txBody>
      </p:sp>
      <p:sp>
        <p:nvSpPr>
          <p:cNvPr id="42" name="テキスト 45">
            <a:extLst>
              <a:ext uri="{FF2B5EF4-FFF2-40B4-BE49-F238E27FC236}">
                <a16:creationId xmlns:a16="http://schemas.microsoft.com/office/drawing/2014/main" id="{1E5A0A7B-ACFF-1A3A-FC42-4CAD99E68FE9}"/>
              </a:ext>
            </a:extLst>
          </p:cNvPr>
          <p:cNvSpPr txBox="1"/>
          <p:nvPr/>
        </p:nvSpPr>
        <p:spPr>
          <a:xfrm>
            <a:off x="4497388" y="5504934"/>
            <a:ext cx="3297224" cy="81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100" dirty="0">
                <a:solidFill>
                  <a:srgbClr val="1E2430"/>
                </a:solidFill>
                <a:latin typeface="BIZ UDPゴシック"/>
                <a:ea typeface="BIZ UDPゴシック"/>
                <a:cs typeface="BIZ UDPゴシック"/>
              </a:rPr>
              <a:t>回折と透過音のミックス</a:t>
            </a:r>
            <a:endParaRPr lang="en-US" altLang="ja-JP" sz="1100" dirty="0">
              <a:solidFill>
                <a:srgbClr val="1E2430"/>
              </a:solidFill>
              <a:latin typeface="BIZ UDPゴシック"/>
              <a:ea typeface="BIZ UDPゴシック"/>
              <a:cs typeface="BIZ UDPゴシック"/>
            </a:endParaRPr>
          </a:p>
          <a:p>
            <a:pPr marL="0" indent="0" algn="l">
              <a:lnSpc>
                <a:spcPct val="100000"/>
              </a:lnSpc>
              <a:spcBef>
                <a:spcPts val="0"/>
              </a:spcBef>
              <a:spcAft>
                <a:spcPts val="0"/>
              </a:spcAft>
              <a:buNone/>
            </a:pPr>
            <a:r>
              <a:rPr lang="ja-JP" altLang="en-US" sz="1100">
                <a:solidFill>
                  <a:srgbClr val="1E2430"/>
                </a:solidFill>
                <a:latin typeface="BIZ UDPゴシック"/>
                <a:ea typeface="BIZ UDPゴシック"/>
                <a:cs typeface="BIZ UDPゴシック"/>
              </a:rPr>
              <a:t>隙間は高い音から通るので、こもりはここで大きく解ける。音源の位置でこもり方も変わり始める</a:t>
            </a:r>
            <a:endParaRPr lang="ja-JP" altLang="en-US" sz="1100" dirty="0">
              <a:solidFill>
                <a:srgbClr val="1E2430"/>
              </a:solidFill>
              <a:latin typeface="BIZ UDPゴシック"/>
              <a:ea typeface="BIZ UDPゴシック"/>
              <a:cs typeface="BIZ UDPゴシック"/>
            </a:endParaRPr>
          </a:p>
        </p:txBody>
      </p:sp>
      <p:sp>
        <p:nvSpPr>
          <p:cNvPr id="43" name="矢印 46">
            <a:extLst>
              <a:ext uri="{FF2B5EF4-FFF2-40B4-BE49-F238E27FC236}">
                <a16:creationId xmlns:a16="http://schemas.microsoft.com/office/drawing/2014/main" id="{60E6CEC2-81DA-1983-8380-77F62BD760CB}"/>
              </a:ext>
            </a:extLst>
          </p:cNvPr>
          <p:cNvSpPr/>
          <p:nvPr/>
        </p:nvSpPr>
        <p:spPr>
          <a:xfrm>
            <a:off x="7794612" y="3994934"/>
            <a:ext cx="260000" cy="200000"/>
          </a:xfrm>
          <a:prstGeom prst="rightArrow">
            <a:avLst/>
          </a:prstGeom>
          <a:solidFill>
            <a:srgbClr val="9AA3B0"/>
          </a:solidFill>
          <a:ln>
            <a:noFill/>
          </a:ln>
        </p:spPr>
        <p:txBody>
          <a:bodyPr/>
          <a:lstStyle/>
          <a:p>
            <a:endParaRPr lang="ja-JP" altLang="en-US"/>
          </a:p>
        </p:txBody>
      </p:sp>
      <p:sp>
        <p:nvSpPr>
          <p:cNvPr id="44" name="壁 47">
            <a:extLst>
              <a:ext uri="{FF2B5EF4-FFF2-40B4-BE49-F238E27FC236}">
                <a16:creationId xmlns:a16="http://schemas.microsoft.com/office/drawing/2014/main" id="{1BB4FB4E-D763-29F7-6E0E-2B8249BD7130}"/>
              </a:ext>
            </a:extLst>
          </p:cNvPr>
          <p:cNvSpPr/>
          <p:nvPr/>
        </p:nvSpPr>
        <p:spPr>
          <a:xfrm>
            <a:off x="8256668" y="4077434"/>
            <a:ext cx="595000" cy="35000"/>
          </a:xfrm>
          <a:prstGeom prst="rect">
            <a:avLst/>
          </a:prstGeom>
          <a:solidFill>
            <a:srgbClr val="9AA3B0"/>
          </a:solidFill>
          <a:ln>
            <a:noFill/>
          </a:ln>
        </p:spPr>
        <p:txBody>
          <a:bodyPr/>
          <a:lstStyle/>
          <a:p>
            <a:endParaRPr lang="ja-JP" altLang="en-US"/>
          </a:p>
        </p:txBody>
      </p:sp>
      <p:sp>
        <p:nvSpPr>
          <p:cNvPr id="45" name="壁 48">
            <a:extLst>
              <a:ext uri="{FF2B5EF4-FFF2-40B4-BE49-F238E27FC236}">
                <a16:creationId xmlns:a16="http://schemas.microsoft.com/office/drawing/2014/main" id="{D2A7842E-B478-642C-4B1A-6E2271F6978B}"/>
              </a:ext>
            </a:extLst>
          </p:cNvPr>
          <p:cNvSpPr/>
          <p:nvPr/>
        </p:nvSpPr>
        <p:spPr>
          <a:xfrm>
            <a:off x="9551668" y="4077434"/>
            <a:ext cx="595000" cy="35000"/>
          </a:xfrm>
          <a:prstGeom prst="rect">
            <a:avLst/>
          </a:prstGeom>
          <a:solidFill>
            <a:srgbClr val="9AA3B0"/>
          </a:solidFill>
          <a:ln>
            <a:noFill/>
          </a:ln>
        </p:spPr>
        <p:txBody>
          <a:bodyPr/>
          <a:lstStyle/>
          <a:p>
            <a:endParaRPr lang="ja-JP" altLang="en-US"/>
          </a:p>
        </p:txBody>
      </p:sp>
      <p:cxnSp>
        <p:nvCxnSpPr>
          <p:cNvPr id="46" name="線 49">
            <a:extLst>
              <a:ext uri="{FF2B5EF4-FFF2-40B4-BE49-F238E27FC236}">
                <a16:creationId xmlns:a16="http://schemas.microsoft.com/office/drawing/2014/main" id="{6459216B-EEF0-6167-6190-4285A8F51B1E}"/>
              </a:ext>
            </a:extLst>
          </p:cNvPr>
          <p:cNvCxnSpPr/>
          <p:nvPr/>
        </p:nvCxnSpPr>
        <p:spPr>
          <a:xfrm flipH="1">
            <a:off x="9131668" y="3394934"/>
            <a:ext cx="175000" cy="1260000"/>
          </a:xfrm>
          <a:prstGeom prst="line">
            <a:avLst/>
          </a:prstGeom>
          <a:ln w="38100" cap="rnd">
            <a:solidFill>
              <a:srgbClr val="E3A33B"/>
            </a:solidFill>
            <a:round/>
          </a:ln>
        </p:spPr>
      </p:cxnSp>
      <p:cxnSp>
        <p:nvCxnSpPr>
          <p:cNvPr id="47" name="線 50">
            <a:extLst>
              <a:ext uri="{FF2B5EF4-FFF2-40B4-BE49-F238E27FC236}">
                <a16:creationId xmlns:a16="http://schemas.microsoft.com/office/drawing/2014/main" id="{2EDC5FD3-8C29-FE85-BDB0-EA44FADFCA58}"/>
              </a:ext>
            </a:extLst>
          </p:cNvPr>
          <p:cNvCxnSpPr/>
          <p:nvPr/>
        </p:nvCxnSpPr>
        <p:spPr>
          <a:xfrm flipV="1">
            <a:off x="8851668" y="3437149"/>
            <a:ext cx="239414" cy="657784"/>
          </a:xfrm>
          <a:prstGeom prst="line">
            <a:avLst/>
          </a:prstGeom>
          <a:ln w="44450" cap="rnd">
            <a:solidFill>
              <a:srgbClr val="1E2430"/>
            </a:solidFill>
            <a:round/>
          </a:ln>
        </p:spPr>
      </p:cxnSp>
      <p:sp>
        <p:nvSpPr>
          <p:cNvPr id="48" name="番号 51">
            <a:extLst>
              <a:ext uri="{FF2B5EF4-FFF2-40B4-BE49-F238E27FC236}">
                <a16:creationId xmlns:a16="http://schemas.microsoft.com/office/drawing/2014/main" id="{69E4145C-D601-94E4-F0DA-39D814A2BFA8}"/>
              </a:ext>
            </a:extLst>
          </p:cNvPr>
          <p:cNvSpPr/>
          <p:nvPr/>
        </p:nvSpPr>
        <p:spPr>
          <a:xfrm>
            <a:off x="9231668" y="3319934"/>
            <a:ext cx="150000" cy="15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49" name="テキスト 52">
            <a:extLst>
              <a:ext uri="{FF2B5EF4-FFF2-40B4-BE49-F238E27FC236}">
                <a16:creationId xmlns:a16="http://schemas.microsoft.com/office/drawing/2014/main" id="{60928717-0028-87C0-4D1C-CE1B4170E83E}"/>
              </a:ext>
            </a:extLst>
          </p:cNvPr>
          <p:cNvSpPr txBox="1"/>
          <p:nvPr/>
        </p:nvSpPr>
        <p:spPr>
          <a:xfrm>
            <a:off x="9416668" y="3294934"/>
            <a:ext cx="6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音源</a:t>
            </a:r>
            <a:endParaRPr lang="ja-JP" altLang="en-US" sz="950" dirty="0">
              <a:solidFill>
                <a:srgbClr val="1E2430"/>
              </a:solidFill>
              <a:latin typeface="BIZ UDPゴシック"/>
              <a:ea typeface="BIZ UDPゴシック"/>
              <a:cs typeface="BIZ UDPゴシック"/>
            </a:endParaRPr>
          </a:p>
        </p:txBody>
      </p:sp>
      <p:sp>
        <p:nvSpPr>
          <p:cNvPr id="50" name="番号 53">
            <a:extLst>
              <a:ext uri="{FF2B5EF4-FFF2-40B4-BE49-F238E27FC236}">
                <a16:creationId xmlns:a16="http://schemas.microsoft.com/office/drawing/2014/main" id="{6B07DB76-F361-2722-B3B4-025ACAF75FD2}"/>
              </a:ext>
            </a:extLst>
          </p:cNvPr>
          <p:cNvSpPr/>
          <p:nvPr/>
        </p:nvSpPr>
        <p:spPr>
          <a:xfrm>
            <a:off x="9056668" y="4579934"/>
            <a:ext cx="150000" cy="150000"/>
          </a:xfrm>
          <a:prstGeom prst="ellipse">
            <a:avLst/>
          </a:prstGeom>
          <a:solidFill>
            <a:srgbClr val="1E2430"/>
          </a:solidFill>
          <a:ln>
            <a:noFill/>
          </a:ln>
        </p:spPr>
        <p:txBody>
          <a:bodyPr wrap="square" lIns="0" tIns="0" rIns="0" bIns="0" rtlCol="0" anchor="ctr">
            <a:noAutofit/>
          </a:bodyPr>
          <a:lstStyle/>
          <a:p>
            <a:pPr marL="0" indent="0" algn="ctr">
              <a:lnSpc>
                <a:spcPct val="100000"/>
              </a:lnSpc>
              <a:spcBef>
                <a:spcPts val="0"/>
              </a:spcBef>
              <a:spcAft>
                <a:spcPts val="0"/>
              </a:spcAft>
              <a:buNone/>
            </a:pPr>
            <a:endParaRPr lang="ja-JP" altLang="en-US" sz="1200" dirty="0">
              <a:solidFill>
                <a:srgbClr val="1E2430"/>
              </a:solidFill>
              <a:latin typeface="BIZ UDPゴシック"/>
              <a:ea typeface="BIZ UDPゴシック"/>
              <a:cs typeface="BIZ UDPゴシック"/>
            </a:endParaRPr>
          </a:p>
        </p:txBody>
      </p:sp>
      <p:sp>
        <p:nvSpPr>
          <p:cNvPr id="51" name="テキスト 54">
            <a:extLst>
              <a:ext uri="{FF2B5EF4-FFF2-40B4-BE49-F238E27FC236}">
                <a16:creationId xmlns:a16="http://schemas.microsoft.com/office/drawing/2014/main" id="{447D19EB-3C33-779B-8ACE-810A5FF28DAE}"/>
              </a:ext>
            </a:extLst>
          </p:cNvPr>
          <p:cNvSpPr txBox="1"/>
          <p:nvPr/>
        </p:nvSpPr>
        <p:spPr>
          <a:xfrm>
            <a:off x="9241668" y="4554934"/>
            <a:ext cx="400000" cy="2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950" b="1" dirty="0">
                <a:solidFill>
                  <a:srgbClr val="1E2430"/>
                </a:solidFill>
                <a:latin typeface="BIZ UDPゴシック"/>
                <a:ea typeface="BIZ UDPゴシック"/>
                <a:cs typeface="BIZ UDPゴシック"/>
              </a:rPr>
              <a:t>耳</a:t>
            </a:r>
            <a:endParaRPr lang="ja-JP" altLang="en-US" sz="950" dirty="0">
              <a:solidFill>
                <a:srgbClr val="1E2430"/>
              </a:solidFill>
              <a:latin typeface="BIZ UDPゴシック"/>
              <a:ea typeface="BIZ UDPゴシック"/>
              <a:cs typeface="BIZ UDPゴシック"/>
            </a:endParaRPr>
          </a:p>
        </p:txBody>
      </p:sp>
      <p:sp>
        <p:nvSpPr>
          <p:cNvPr id="52" name="棒 55">
            <a:extLst>
              <a:ext uri="{FF2B5EF4-FFF2-40B4-BE49-F238E27FC236}">
                <a16:creationId xmlns:a16="http://schemas.microsoft.com/office/drawing/2014/main" id="{5FAF9A0C-B589-73A3-A6A1-B16D539D5D40}"/>
              </a:ext>
            </a:extLst>
          </p:cNvPr>
          <p:cNvSpPr/>
          <p:nvPr/>
        </p:nvSpPr>
        <p:spPr>
          <a:xfrm>
            <a:off x="10384779" y="3544934"/>
            <a:ext cx="234000" cy="750000"/>
          </a:xfrm>
          <a:prstGeom prst="rect">
            <a:avLst/>
          </a:prstGeom>
          <a:solidFill>
            <a:srgbClr val="E3A33B"/>
          </a:solidFill>
          <a:ln>
            <a:noFill/>
          </a:ln>
        </p:spPr>
        <p:txBody>
          <a:bodyPr/>
          <a:lstStyle/>
          <a:p>
            <a:endParaRPr lang="ja-JP" altLang="en-US"/>
          </a:p>
        </p:txBody>
      </p:sp>
      <p:sp>
        <p:nvSpPr>
          <p:cNvPr id="53" name="テキスト 56">
            <a:extLst>
              <a:ext uri="{FF2B5EF4-FFF2-40B4-BE49-F238E27FC236}">
                <a16:creationId xmlns:a16="http://schemas.microsoft.com/office/drawing/2014/main" id="{17D1CBFB-7521-190D-1B4A-8D99012B7EF9}"/>
              </a:ext>
            </a:extLst>
          </p:cNvPr>
          <p:cNvSpPr txBox="1"/>
          <p:nvPr/>
        </p:nvSpPr>
        <p:spPr>
          <a:xfrm>
            <a:off x="10324779" y="4324934"/>
            <a:ext cx="354000" cy="18000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ja-JP" altLang="en-US" sz="850" b="1" dirty="0">
                <a:solidFill>
                  <a:srgbClr val="5C6677"/>
                </a:solidFill>
                <a:latin typeface="BIZ UDPゴシック"/>
                <a:ea typeface="BIZ UDPゴシック"/>
                <a:cs typeface="BIZ UDPゴシック"/>
              </a:rPr>
              <a:t>低</a:t>
            </a:r>
            <a:endParaRPr lang="ja-JP" altLang="en-US" sz="850" dirty="0">
              <a:solidFill>
                <a:srgbClr val="5C6677"/>
              </a:solidFill>
              <a:latin typeface="BIZ UDPゴシック"/>
              <a:ea typeface="BIZ UDPゴシック"/>
              <a:cs typeface="BIZ UDPゴシック"/>
            </a:endParaRPr>
          </a:p>
        </p:txBody>
      </p:sp>
      <p:sp>
        <p:nvSpPr>
          <p:cNvPr id="54" name="棒 57">
            <a:extLst>
              <a:ext uri="{FF2B5EF4-FFF2-40B4-BE49-F238E27FC236}">
                <a16:creationId xmlns:a16="http://schemas.microsoft.com/office/drawing/2014/main" id="{6A3C187F-4190-4799-FC64-4310AEF96697}"/>
              </a:ext>
            </a:extLst>
          </p:cNvPr>
          <p:cNvSpPr/>
          <p:nvPr/>
        </p:nvSpPr>
        <p:spPr>
          <a:xfrm>
            <a:off x="10709779" y="3544934"/>
            <a:ext cx="234000" cy="750000"/>
          </a:xfrm>
          <a:prstGeom prst="rect">
            <a:avLst/>
          </a:prstGeom>
          <a:solidFill>
            <a:srgbClr val="9AA3B0"/>
          </a:solidFill>
          <a:ln>
            <a:noFill/>
          </a:ln>
        </p:spPr>
        <p:txBody>
          <a:bodyPr/>
          <a:lstStyle/>
          <a:p>
            <a:endParaRPr lang="ja-JP" altLang="en-US"/>
          </a:p>
        </p:txBody>
      </p:sp>
      <p:sp>
        <p:nvSpPr>
          <p:cNvPr id="55" name="テキスト 58">
            <a:extLst>
              <a:ext uri="{FF2B5EF4-FFF2-40B4-BE49-F238E27FC236}">
                <a16:creationId xmlns:a16="http://schemas.microsoft.com/office/drawing/2014/main" id="{A7C10D97-80FB-2DE5-47F8-95E0A7B8D1AC}"/>
              </a:ext>
            </a:extLst>
          </p:cNvPr>
          <p:cNvSpPr txBox="1"/>
          <p:nvPr/>
        </p:nvSpPr>
        <p:spPr>
          <a:xfrm>
            <a:off x="10649779" y="4324934"/>
            <a:ext cx="354000" cy="18000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ja-JP" altLang="en-US" sz="850" b="1" dirty="0">
                <a:solidFill>
                  <a:srgbClr val="5C6677"/>
                </a:solidFill>
                <a:latin typeface="BIZ UDPゴシック"/>
                <a:ea typeface="BIZ UDPゴシック"/>
                <a:cs typeface="BIZ UDPゴシック"/>
              </a:rPr>
              <a:t>高</a:t>
            </a:r>
            <a:endParaRPr lang="ja-JP" altLang="en-US" sz="850" dirty="0">
              <a:solidFill>
                <a:srgbClr val="5C6677"/>
              </a:solidFill>
              <a:latin typeface="BIZ UDPゴシック"/>
              <a:ea typeface="BIZ UDPゴシック"/>
              <a:cs typeface="BIZ UDPゴシック"/>
            </a:endParaRPr>
          </a:p>
        </p:txBody>
      </p:sp>
      <p:cxnSp>
        <p:nvCxnSpPr>
          <p:cNvPr id="56" name="線 59">
            <a:extLst>
              <a:ext uri="{FF2B5EF4-FFF2-40B4-BE49-F238E27FC236}">
                <a16:creationId xmlns:a16="http://schemas.microsoft.com/office/drawing/2014/main" id="{574889E6-6093-4A50-CC49-56FAAF40F648}"/>
              </a:ext>
            </a:extLst>
          </p:cNvPr>
          <p:cNvCxnSpPr/>
          <p:nvPr/>
        </p:nvCxnSpPr>
        <p:spPr>
          <a:xfrm>
            <a:off x="10344779" y="4294934"/>
            <a:ext cx="690000" cy="0"/>
          </a:xfrm>
          <a:prstGeom prst="line">
            <a:avLst/>
          </a:prstGeom>
          <a:ln w="9525" cap="rnd">
            <a:solidFill>
              <a:srgbClr val="C9CFD8"/>
            </a:solidFill>
            <a:round/>
          </a:ln>
        </p:spPr>
      </p:cxnSp>
      <p:sp>
        <p:nvSpPr>
          <p:cNvPr id="57" name="テキスト 60">
            <a:extLst>
              <a:ext uri="{FF2B5EF4-FFF2-40B4-BE49-F238E27FC236}">
                <a16:creationId xmlns:a16="http://schemas.microsoft.com/office/drawing/2014/main" id="{88B0ADC1-0B87-F24F-D150-99D3772084B8}"/>
              </a:ext>
            </a:extLst>
          </p:cNvPr>
          <p:cNvSpPr txBox="1"/>
          <p:nvPr/>
        </p:nvSpPr>
        <p:spPr>
          <a:xfrm>
            <a:off x="10236890" y="4544934"/>
            <a:ext cx="1300000" cy="28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250" b="1" dirty="0">
                <a:solidFill>
                  <a:srgbClr val="9A6212"/>
                </a:solidFill>
                <a:latin typeface="BIZ UDPゴシック"/>
                <a:ea typeface="BIZ UDPゴシック"/>
                <a:cs typeface="BIZ UDPゴシック"/>
              </a:rPr>
              <a:t>開く</a:t>
            </a:r>
            <a:endParaRPr lang="ja-JP" altLang="en-US" sz="1250" dirty="0">
              <a:solidFill>
                <a:srgbClr val="9A6212"/>
              </a:solidFill>
              <a:latin typeface="BIZ UDPゴシック"/>
              <a:ea typeface="BIZ UDPゴシック"/>
              <a:cs typeface="BIZ UDPゴシック"/>
            </a:endParaRPr>
          </a:p>
        </p:txBody>
      </p:sp>
      <p:sp>
        <p:nvSpPr>
          <p:cNvPr id="58" name="テキスト 61">
            <a:extLst>
              <a:ext uri="{FF2B5EF4-FFF2-40B4-BE49-F238E27FC236}">
                <a16:creationId xmlns:a16="http://schemas.microsoft.com/office/drawing/2014/main" id="{327E4CB4-D308-E076-CA31-31BD3F900AF7}"/>
              </a:ext>
            </a:extLst>
          </p:cNvPr>
          <p:cNvSpPr txBox="1"/>
          <p:nvPr/>
        </p:nvSpPr>
        <p:spPr>
          <a:xfrm>
            <a:off x="8194612" y="5194934"/>
            <a:ext cx="3297224" cy="28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300" b="1" dirty="0">
                <a:solidFill>
                  <a:srgbClr val="1E2430"/>
                </a:solidFill>
                <a:latin typeface="BIZ UDPゴシック"/>
                <a:ea typeface="BIZ UDPゴシック"/>
                <a:cs typeface="BIZ UDPゴシック"/>
              </a:rPr>
              <a:t>影から抜けた瞬間</a:t>
            </a:r>
            <a:endParaRPr lang="ja-JP" altLang="en-US" sz="1300" dirty="0">
              <a:solidFill>
                <a:srgbClr val="1E2430"/>
              </a:solidFill>
              <a:latin typeface="BIZ UDPゴシック"/>
              <a:ea typeface="BIZ UDPゴシック"/>
              <a:cs typeface="BIZ UDPゴシック"/>
            </a:endParaRPr>
          </a:p>
        </p:txBody>
      </p:sp>
      <p:sp>
        <p:nvSpPr>
          <p:cNvPr id="59" name="テキスト 62">
            <a:extLst>
              <a:ext uri="{FF2B5EF4-FFF2-40B4-BE49-F238E27FC236}">
                <a16:creationId xmlns:a16="http://schemas.microsoft.com/office/drawing/2014/main" id="{2A72B0CF-BD3D-935A-3731-138769C245B4}"/>
              </a:ext>
            </a:extLst>
          </p:cNvPr>
          <p:cNvSpPr txBox="1"/>
          <p:nvPr/>
        </p:nvSpPr>
        <p:spPr>
          <a:xfrm>
            <a:off x="8194612" y="5504934"/>
            <a:ext cx="2809167" cy="9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ja-JP" altLang="en-US" sz="1100">
                <a:solidFill>
                  <a:srgbClr val="1E2430"/>
                </a:solidFill>
                <a:latin typeface="BIZ UDPゴシック"/>
                <a:ea typeface="BIZ UDPゴシック"/>
                <a:cs typeface="BIZ UDPゴシック"/>
              </a:rPr>
              <a:t>音源が見えて全て直接音になる</a:t>
            </a:r>
            <a:endParaRPr lang="en-US" altLang="ja-JP" sz="1100" dirty="0">
              <a:solidFill>
                <a:srgbClr val="1E2430"/>
              </a:solidFill>
              <a:latin typeface="BIZ UDPゴシック"/>
              <a:ea typeface="BIZ UDPゴシック"/>
              <a:cs typeface="BIZ UDPゴシック"/>
            </a:endParaRPr>
          </a:p>
          <a:p>
            <a:pPr marL="0" indent="0" algn="l">
              <a:lnSpc>
                <a:spcPct val="100000"/>
              </a:lnSpc>
              <a:spcBef>
                <a:spcPts val="0"/>
              </a:spcBef>
              <a:spcAft>
                <a:spcPts val="0"/>
              </a:spcAft>
              <a:buNone/>
            </a:pPr>
            <a:r>
              <a:rPr lang="ja-JP" altLang="en-US" sz="1100">
                <a:solidFill>
                  <a:srgbClr val="1E2430"/>
                </a:solidFill>
                <a:latin typeface="BIZ UDPゴシック"/>
                <a:ea typeface="BIZ UDPゴシック"/>
                <a:cs typeface="BIZ UDPゴシック"/>
              </a:rPr>
              <a:t>段階的にしすぎるとわかりにくいから、影から抜けた瞬間に音量がはっきり上がるように</a:t>
            </a:r>
            <a:endParaRPr lang="ja-JP" altLang="en-US" sz="1100" dirty="0">
              <a:solidFill>
                <a:srgbClr val="1E2430"/>
              </a:solidFill>
              <a:latin typeface="BIZ UDPゴシック"/>
              <a:ea typeface="BIZ UDPゴシック"/>
              <a:cs typeface="BIZ UDPゴシック"/>
            </a:endParaRPr>
          </a:p>
        </p:txBody>
      </p:sp>
      <p:sp>
        <p:nvSpPr>
          <p:cNvPr id="60" name="テキスト 4">
            <a:extLst>
              <a:ext uri="{FF2B5EF4-FFF2-40B4-BE49-F238E27FC236}">
                <a16:creationId xmlns:a16="http://schemas.microsoft.com/office/drawing/2014/main" id="{D323DE1E-76DD-63B3-37D4-3357AC394968}"/>
              </a:ext>
            </a:extLst>
          </p:cNvPr>
          <p:cNvSpPr txBox="1"/>
          <p:nvPr/>
        </p:nvSpPr>
        <p:spPr>
          <a:xfrm>
            <a:off x="550164" y="1553015"/>
            <a:ext cx="11091672" cy="891918"/>
          </a:xfrm>
          <a:prstGeom prst="rect">
            <a:avLst/>
          </a:prstGeom>
          <a:noFill/>
          <a:ln>
            <a:noFill/>
          </a:ln>
        </p:spPr>
        <p:txBody>
          <a:bodyPr wrap="square" lIns="0" tIns="0" rIns="0" bIns="0" rtlCol="0" anchor="t">
            <a:noAutofit/>
          </a:bodyPr>
          <a:lstStyle/>
          <a:p>
            <a:pPr marL="0" indent="0" algn="l">
              <a:lnSpc>
                <a:spcPct val="118000"/>
              </a:lnSpc>
              <a:spcBef>
                <a:spcPts val="0"/>
              </a:spcBef>
              <a:spcAft>
                <a:spcPts val="0"/>
              </a:spcAft>
              <a:buNone/>
            </a:pPr>
            <a:r>
              <a:rPr lang="ja-JP" altLang="en-US" sz="1450" dirty="0">
                <a:solidFill>
                  <a:srgbClr val="1E2430"/>
                </a:solidFill>
                <a:latin typeface="BIZ UDPゴシック"/>
                <a:ea typeface="BIZ UDPゴシック"/>
                <a:cs typeface="BIZ UDPゴシック"/>
              </a:rPr>
              <a:t>ドアの開けた瞬間は音量の調節でわかりやすくはできますが、そこから開ききるまでの間にもドアを開けている感覚を持たせたい、</a:t>
            </a:r>
            <a:endParaRPr lang="en-US" altLang="ja-JP" sz="1450" dirty="0">
              <a:solidFill>
                <a:srgbClr val="1E2430"/>
              </a:solidFill>
              <a:latin typeface="BIZ UDPゴシック"/>
              <a:ea typeface="BIZ UDPゴシック"/>
              <a:cs typeface="BIZ UDPゴシック"/>
            </a:endParaRPr>
          </a:p>
          <a:p>
            <a:pPr marL="0" indent="0" algn="l">
              <a:lnSpc>
                <a:spcPct val="118000"/>
              </a:lnSpc>
              <a:spcBef>
                <a:spcPts val="0"/>
              </a:spcBef>
              <a:spcAft>
                <a:spcPts val="0"/>
              </a:spcAft>
              <a:buNone/>
            </a:pPr>
            <a:r>
              <a:rPr lang="ja-JP" altLang="en-US" sz="1450" dirty="0">
                <a:solidFill>
                  <a:srgbClr val="1E2430"/>
                </a:solidFill>
                <a:latin typeface="BIZ UDPゴシック"/>
                <a:ea typeface="BIZ UDPゴシック"/>
                <a:cs typeface="BIZ UDPゴシック"/>
              </a:rPr>
              <a:t>けれどそこからのドアを開けていく感覚はそのまま少しづつラウドネスを変化させるだけでは伝わりにくいため</a:t>
            </a:r>
            <a:endParaRPr lang="en-US" altLang="ja-JP" sz="1450" dirty="0">
              <a:solidFill>
                <a:srgbClr val="1E2430"/>
              </a:solidFill>
              <a:latin typeface="BIZ UDPゴシック"/>
              <a:ea typeface="BIZ UDPゴシック"/>
              <a:cs typeface="BIZ UDPゴシック"/>
            </a:endParaRPr>
          </a:p>
          <a:p>
            <a:pPr marL="0" indent="0" algn="l">
              <a:lnSpc>
                <a:spcPct val="118000"/>
              </a:lnSpc>
              <a:spcBef>
                <a:spcPts val="0"/>
              </a:spcBef>
              <a:spcAft>
                <a:spcPts val="0"/>
              </a:spcAft>
              <a:buNone/>
            </a:pPr>
            <a:r>
              <a:rPr lang="ja-JP" altLang="en-US" sz="1450">
                <a:solidFill>
                  <a:srgbClr val="1E2430"/>
                </a:solidFill>
                <a:latin typeface="BIZ UDPゴシック"/>
                <a:ea typeface="BIZ UDPゴシック"/>
                <a:cs typeface="BIZ UDPゴシック"/>
              </a:rPr>
              <a:t>扉の板の角度と位置から影を探索して、音源が影から外れた瞬間に音量がはっきり上がるようにし、そこまで開けた感が伝わるように心がけました。</a:t>
            </a:r>
            <a:endParaRPr lang="en-US" altLang="ja-JP" sz="1450" dirty="0">
              <a:solidFill>
                <a:srgbClr val="1E2430"/>
              </a:solidFill>
              <a:latin typeface="BIZ UDPゴシック"/>
              <a:ea typeface="BIZ UDPゴシック"/>
              <a:cs typeface="BIZ UDPゴシック"/>
            </a:endParaRPr>
          </a:p>
        </p:txBody>
      </p:sp>
    </p:spTree>
    <p:extLst>
      <p:ext uri="{BB962C8B-B14F-4D97-AF65-F5344CB8AC3E}">
        <p14:creationId xmlns:p14="http://schemas.microsoft.com/office/powerpoint/2010/main" val="33682929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90C270ED-DD08-EC1B-84C0-DA3F3EFD8059}"/>
              </a:ext>
            </a:extLst>
          </p:cNvPr>
          <p:cNvSpPr txBox="1"/>
          <p:nvPr/>
        </p:nvSpPr>
        <p:spPr>
          <a:xfrm>
            <a:off x="355600" y="177800"/>
            <a:ext cx="8128000" cy="369332"/>
          </a:xfrm>
          <a:prstGeom prst="rect">
            <a:avLst/>
          </a:prstGeom>
          <a:noFill/>
        </p:spPr>
        <p:txBody>
          <a:bodyPr vert="horz" wrap="square" lIns="0" tIns="0" rIns="0" bIns="0" rtlCol="0">
            <a:noAutofit/>
          </a:bodyPr>
          <a:lstStyle/>
          <a:p>
            <a:r>
              <a:rPr kumimoji="1" lang="ja-JP" altLang="en-US" sz="1600" b="1">
                <a:solidFill>
                  <a:srgbClr val="1E2430"/>
                </a:solidFill>
                <a:latin typeface="BIZ UDPゴシック" panose="020B0400000000000000" pitchFamily="50" charset="-128"/>
                <a:ea typeface="BIZ UDPゴシック" panose="020B0400000000000000" pitchFamily="50" charset="-128"/>
              </a:rPr>
              <a:t>・技術選定　部屋で聞こえる音の響き方</a:t>
            </a:r>
          </a:p>
        </p:txBody>
      </p:sp>
      <p:sp>
        <p:nvSpPr>
          <p:cNvPr id="3" name="テキスト ボックス 2">
            <a:extLst>
              <a:ext uri="{FF2B5EF4-FFF2-40B4-BE49-F238E27FC236}">
                <a16:creationId xmlns:a16="http://schemas.microsoft.com/office/drawing/2014/main" id="{C10788FC-DF2E-51E3-CF7E-79A44C05E5C2}"/>
              </a:ext>
            </a:extLst>
          </p:cNvPr>
          <p:cNvSpPr txBox="1"/>
          <p:nvPr/>
        </p:nvSpPr>
        <p:spPr>
          <a:xfrm>
            <a:off x="736600" y="558800"/>
            <a:ext cx="10668000" cy="369332"/>
          </a:xfrm>
          <a:prstGeom prst="rect">
            <a:avLst/>
          </a:prstGeom>
          <a:noFill/>
        </p:spPr>
        <p:txBody>
          <a:bodyPr vert="horz" wrap="square" lIns="0" tIns="0" rIns="0" bIns="0" rtlCol="0">
            <a:noAutofit/>
          </a:bodyPr>
          <a:lstStyle/>
          <a:p>
            <a:r>
              <a:rPr kumimoji="1" lang="ja-JP" altLang="en-US" sz="3400" b="1">
                <a:solidFill>
                  <a:srgbClr val="1E2430"/>
                </a:solidFill>
                <a:latin typeface="BIZ UDPゴシック" panose="020B0400000000000000" pitchFamily="50" charset="-128"/>
                <a:ea typeface="BIZ UDPゴシック" panose="020B0400000000000000" pitchFamily="50" charset="-128"/>
              </a:rPr>
              <a:t>部屋の広さと壁の近さが伝わるように</a:t>
            </a:r>
          </a:p>
        </p:txBody>
      </p:sp>
      <p:sp>
        <p:nvSpPr>
          <p:cNvPr id="4" name="正方形/長方形 3">
            <a:extLst>
              <a:ext uri="{FF2B5EF4-FFF2-40B4-BE49-F238E27FC236}">
                <a16:creationId xmlns:a16="http://schemas.microsoft.com/office/drawing/2014/main" id="{15617248-67E1-8094-127C-5BFFF064EFC6}"/>
              </a:ext>
            </a:extLst>
          </p:cNvPr>
          <p:cNvSpPr/>
          <p:nvPr/>
        </p:nvSpPr>
        <p:spPr>
          <a:xfrm>
            <a:off x="655320" y="1310640"/>
            <a:ext cx="3192780" cy="22860"/>
          </a:xfrm>
          <a:prstGeom prst="rect">
            <a:avLst/>
          </a:prstGeom>
          <a:solidFill>
            <a:srgbClr val="D86EC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4">
            <a:extLst>
              <a:ext uri="{FF2B5EF4-FFF2-40B4-BE49-F238E27FC236}">
                <a16:creationId xmlns:a16="http://schemas.microsoft.com/office/drawing/2014/main" id="{3D20A04F-790F-DFEA-52FF-A15FAF83750D}"/>
              </a:ext>
            </a:extLst>
          </p:cNvPr>
          <p:cNvSpPr/>
          <p:nvPr/>
        </p:nvSpPr>
        <p:spPr>
          <a:xfrm>
            <a:off x="3863340" y="1315720"/>
            <a:ext cx="7937500" cy="7620"/>
          </a:xfrm>
          <a:prstGeom prst="rect">
            <a:avLst/>
          </a:prstGeom>
          <a:solidFill>
            <a:srgbClr val="E2E5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7" name="図 6">
            <a:extLst>
              <a:ext uri="{FF2B5EF4-FFF2-40B4-BE49-F238E27FC236}">
                <a16:creationId xmlns:a16="http://schemas.microsoft.com/office/drawing/2014/main" id="{1215756F-3909-5F7B-3609-D77198E2D592}"/>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0896600" y="342900"/>
            <a:ext cx="838200" cy="457200"/>
          </a:xfrm>
          <a:prstGeom prst="rect">
            <a:avLst/>
          </a:prstGeom>
        </p:spPr>
      </p:pic>
      <p:pic>
        <p:nvPicPr>
          <p:cNvPr id="9" name="図 8">
            <a:extLst>
              <a:ext uri="{FF2B5EF4-FFF2-40B4-BE49-F238E27FC236}">
                <a16:creationId xmlns:a16="http://schemas.microsoft.com/office/drawing/2014/main" id="{FA9F1D77-123D-9D90-B74A-0BE88102AF5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324600"/>
            <a:ext cx="12192000" cy="533400"/>
          </a:xfrm>
          <a:prstGeom prst="rect">
            <a:avLst/>
          </a:prstGeom>
        </p:spPr>
      </p:pic>
      <p:sp>
        <p:nvSpPr>
          <p:cNvPr id="10" name="四角形: 角を丸くする 9">
            <a:extLst>
              <a:ext uri="{FF2B5EF4-FFF2-40B4-BE49-F238E27FC236}">
                <a16:creationId xmlns:a16="http://schemas.microsoft.com/office/drawing/2014/main" id="{A1C23C93-3038-39C0-8B41-8DBAB13F0842}"/>
              </a:ext>
            </a:extLst>
          </p:cNvPr>
          <p:cNvSpPr/>
          <p:nvPr/>
        </p:nvSpPr>
        <p:spPr>
          <a:xfrm>
            <a:off x="546100" y="1549400"/>
            <a:ext cx="5397500" cy="3175000"/>
          </a:xfrm>
          <a:prstGeom prst="roundRect">
            <a:avLst>
              <a:gd name="adj" fmla="val 5000"/>
            </a:avLst>
          </a:prstGeom>
          <a:solidFill>
            <a:srgbClr val="F0F2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467018C2-AD95-0054-EC47-CC4D9E85B47F}"/>
              </a:ext>
            </a:extLst>
          </p:cNvPr>
          <p:cNvSpPr txBox="1"/>
          <p:nvPr/>
        </p:nvSpPr>
        <p:spPr>
          <a:xfrm>
            <a:off x="762000" y="1689100"/>
            <a:ext cx="4826000" cy="369332"/>
          </a:xfrm>
          <a:prstGeom prst="rect">
            <a:avLst/>
          </a:prstGeom>
          <a:noFill/>
        </p:spPr>
        <p:txBody>
          <a:bodyPr vert="horz" wrap="square" lIns="0" tIns="0" rIns="0" bIns="0" rtlCol="0">
            <a:noAutofit/>
          </a:bodyPr>
          <a:lstStyle/>
          <a:p>
            <a:r>
              <a:rPr kumimoji="1" lang="ja-JP" altLang="en-US" sz="1300" b="1">
                <a:solidFill>
                  <a:srgbClr val="1E2430"/>
                </a:solidFill>
                <a:latin typeface="BIZ UDPゴシック" panose="020B0400000000000000" pitchFamily="50" charset="-128"/>
                <a:ea typeface="BIZ UDPゴシック" panose="020B0400000000000000" pitchFamily="50" charset="-128"/>
              </a:rPr>
              <a:t>上から見た図（耳のまわりの </a:t>
            </a:r>
            <a:r>
              <a:rPr kumimoji="1" lang="en-US" altLang="ja-JP" sz="1300" b="1">
                <a:solidFill>
                  <a:srgbClr val="1E2430"/>
                </a:solidFill>
                <a:latin typeface="BIZ UDPゴシック" panose="020B0400000000000000" pitchFamily="50" charset="-128"/>
                <a:ea typeface="BIZ UDPゴシック" panose="020B0400000000000000" pitchFamily="50" charset="-128"/>
              </a:rPr>
              <a:t>8 </a:t>
            </a:r>
            <a:r>
              <a:rPr kumimoji="1" lang="ja-JP" altLang="en-US" sz="1300" b="1">
                <a:solidFill>
                  <a:srgbClr val="1E2430"/>
                </a:solidFill>
                <a:latin typeface="BIZ UDPゴシック" panose="020B0400000000000000" pitchFamily="50" charset="-128"/>
                <a:ea typeface="BIZ UDPゴシック" panose="020B0400000000000000" pitchFamily="50" charset="-128"/>
              </a:rPr>
              <a:t>方位＋上下）</a:t>
            </a:r>
          </a:p>
        </p:txBody>
      </p:sp>
      <p:sp>
        <p:nvSpPr>
          <p:cNvPr id="12" name="正方形/長方形 11">
            <a:extLst>
              <a:ext uri="{FF2B5EF4-FFF2-40B4-BE49-F238E27FC236}">
                <a16:creationId xmlns:a16="http://schemas.microsoft.com/office/drawing/2014/main" id="{32E6C6FE-550E-DA47-020F-4146694709A3}"/>
              </a:ext>
            </a:extLst>
          </p:cNvPr>
          <p:cNvSpPr/>
          <p:nvPr/>
        </p:nvSpPr>
        <p:spPr>
          <a:xfrm>
            <a:off x="1206500" y="2133600"/>
            <a:ext cx="4191000" cy="2184400"/>
          </a:xfrm>
          <a:prstGeom prst="rect">
            <a:avLst/>
          </a:prstGeom>
          <a:noFill/>
          <a:ln w="19050" cap="flat" cmpd="sng" algn="ctr">
            <a:solidFill>
              <a:srgbClr val="9AA3B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B7C200AD-BDE3-DEE9-7860-3FAB0CA29B0E}"/>
              </a:ext>
            </a:extLst>
          </p:cNvPr>
          <p:cNvSpPr/>
          <p:nvPr/>
        </p:nvSpPr>
        <p:spPr>
          <a:xfrm>
            <a:off x="4191000" y="2108200"/>
            <a:ext cx="508000" cy="50800"/>
          </a:xfrm>
          <a:prstGeom prst="rect">
            <a:avLst/>
          </a:prstGeom>
          <a:solidFill>
            <a:srgbClr val="F0F2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5" name="直線コネクタ 14">
            <a:extLst>
              <a:ext uri="{FF2B5EF4-FFF2-40B4-BE49-F238E27FC236}">
                <a16:creationId xmlns:a16="http://schemas.microsoft.com/office/drawing/2014/main" id="{54FB2D68-3518-BED9-BC17-5E937DDF036B}"/>
              </a:ext>
            </a:extLst>
          </p:cNvPr>
          <p:cNvCxnSpPr/>
          <p:nvPr/>
        </p:nvCxnSpPr>
        <p:spPr>
          <a:xfrm flipH="1">
            <a:off x="1219200" y="3251200"/>
            <a:ext cx="355600" cy="0"/>
          </a:xfrm>
          <a:prstGeom prst="line">
            <a:avLst/>
          </a:prstGeom>
          <a:ln w="76200">
            <a:solidFill>
              <a:srgbClr val="E3A33B"/>
            </a:solidFill>
            <a:prstDash val="solid"/>
          </a:ln>
        </p:spPr>
        <p:style>
          <a:lnRef idx="2">
            <a:schemeClr val="accent1"/>
          </a:lnRef>
          <a:fillRef idx="0">
            <a:schemeClr val="accent1"/>
          </a:fillRef>
          <a:effectRef idx="1">
            <a:schemeClr val="accent1"/>
          </a:effectRef>
          <a:fontRef idx="minor">
            <a:schemeClr val="tx1"/>
          </a:fontRef>
        </p:style>
      </p:cxnSp>
      <p:cxnSp>
        <p:nvCxnSpPr>
          <p:cNvPr id="16" name="直線コネクタ 15">
            <a:extLst>
              <a:ext uri="{FF2B5EF4-FFF2-40B4-BE49-F238E27FC236}">
                <a16:creationId xmlns:a16="http://schemas.microsoft.com/office/drawing/2014/main" id="{B255DABF-DEF0-BCDA-DE3B-7A733B9E463F}"/>
              </a:ext>
            </a:extLst>
          </p:cNvPr>
          <p:cNvCxnSpPr/>
          <p:nvPr/>
        </p:nvCxnSpPr>
        <p:spPr>
          <a:xfrm flipH="1" flipV="1">
            <a:off x="1219200" y="2895600"/>
            <a:ext cx="355600" cy="355600"/>
          </a:xfrm>
          <a:prstGeom prst="line">
            <a:avLst/>
          </a:prstGeom>
          <a:ln w="50800">
            <a:solidFill>
              <a:srgbClr val="E3A33B"/>
            </a:solidFill>
            <a:prstDash val="solid"/>
          </a:ln>
        </p:spPr>
        <p:style>
          <a:lnRef idx="2">
            <a:schemeClr val="accent1"/>
          </a:lnRef>
          <a:fillRef idx="0">
            <a:schemeClr val="accent1"/>
          </a:fillRef>
          <a:effectRef idx="1">
            <a:schemeClr val="accent1"/>
          </a:effectRef>
          <a:fontRef idx="minor">
            <a:schemeClr val="tx1"/>
          </a:fontRef>
        </p:style>
      </p:cxnSp>
      <p:cxnSp>
        <p:nvCxnSpPr>
          <p:cNvPr id="17" name="直線コネクタ 16">
            <a:extLst>
              <a:ext uri="{FF2B5EF4-FFF2-40B4-BE49-F238E27FC236}">
                <a16:creationId xmlns:a16="http://schemas.microsoft.com/office/drawing/2014/main" id="{AF8F5BE2-9D14-7B6F-D53C-45B40EFEE5BB}"/>
              </a:ext>
            </a:extLst>
          </p:cNvPr>
          <p:cNvCxnSpPr/>
          <p:nvPr/>
        </p:nvCxnSpPr>
        <p:spPr>
          <a:xfrm flipH="1">
            <a:off x="1219200" y="3251200"/>
            <a:ext cx="355600" cy="355600"/>
          </a:xfrm>
          <a:prstGeom prst="line">
            <a:avLst/>
          </a:prstGeom>
          <a:ln w="50800">
            <a:solidFill>
              <a:srgbClr val="E3A33B"/>
            </a:solidFill>
            <a:prstDash val="solid"/>
          </a:ln>
        </p:spPr>
        <p:style>
          <a:lnRef idx="2">
            <a:schemeClr val="accent1"/>
          </a:lnRef>
          <a:fillRef idx="0">
            <a:schemeClr val="accent1"/>
          </a:fillRef>
          <a:effectRef idx="1">
            <a:schemeClr val="accent1"/>
          </a:effectRef>
          <a:fontRef idx="minor">
            <a:schemeClr val="tx1"/>
          </a:fontRef>
        </p:style>
      </p:cxnSp>
      <p:cxnSp>
        <p:nvCxnSpPr>
          <p:cNvPr id="18" name="直線コネクタ 17">
            <a:extLst>
              <a:ext uri="{FF2B5EF4-FFF2-40B4-BE49-F238E27FC236}">
                <a16:creationId xmlns:a16="http://schemas.microsoft.com/office/drawing/2014/main" id="{9B2DB65E-FB9C-2344-94ED-DB13D22B0365}"/>
              </a:ext>
            </a:extLst>
          </p:cNvPr>
          <p:cNvCxnSpPr/>
          <p:nvPr/>
        </p:nvCxnSpPr>
        <p:spPr>
          <a:xfrm flipV="1">
            <a:off x="1574800" y="2146300"/>
            <a:ext cx="0" cy="1104900"/>
          </a:xfrm>
          <a:prstGeom prst="line">
            <a:avLst/>
          </a:prstGeom>
          <a:ln w="31750">
            <a:solidFill>
              <a:srgbClr val="F2C27A"/>
            </a:solidFill>
            <a:prstDash val="solid"/>
          </a:ln>
        </p:spPr>
        <p:style>
          <a:lnRef idx="2">
            <a:schemeClr val="accent1"/>
          </a:lnRef>
          <a:fillRef idx="0">
            <a:schemeClr val="accent1"/>
          </a:fillRef>
          <a:effectRef idx="1">
            <a:schemeClr val="accent1"/>
          </a:effectRef>
          <a:fontRef idx="minor">
            <a:schemeClr val="tx1"/>
          </a:fontRef>
        </p:style>
      </p:cxnSp>
      <p:cxnSp>
        <p:nvCxnSpPr>
          <p:cNvPr id="19" name="直線コネクタ 18">
            <a:extLst>
              <a:ext uri="{FF2B5EF4-FFF2-40B4-BE49-F238E27FC236}">
                <a16:creationId xmlns:a16="http://schemas.microsoft.com/office/drawing/2014/main" id="{76F954B9-0517-A189-199B-CF51C581B477}"/>
              </a:ext>
            </a:extLst>
          </p:cNvPr>
          <p:cNvCxnSpPr/>
          <p:nvPr/>
        </p:nvCxnSpPr>
        <p:spPr>
          <a:xfrm>
            <a:off x="1574800" y="3251200"/>
            <a:ext cx="0" cy="1054100"/>
          </a:xfrm>
          <a:prstGeom prst="line">
            <a:avLst/>
          </a:prstGeom>
          <a:ln w="31750">
            <a:solidFill>
              <a:srgbClr val="F2C27A"/>
            </a:solidFill>
            <a:prstDash val="solid"/>
          </a:ln>
        </p:spPr>
        <p:style>
          <a:lnRef idx="2">
            <a:schemeClr val="accent1"/>
          </a:lnRef>
          <a:fillRef idx="0">
            <a:schemeClr val="accent1"/>
          </a:fillRef>
          <a:effectRef idx="1">
            <a:schemeClr val="accent1"/>
          </a:effectRef>
          <a:fontRef idx="minor">
            <a:schemeClr val="tx1"/>
          </a:fontRef>
        </p:style>
      </p:cxnSp>
      <p:cxnSp>
        <p:nvCxnSpPr>
          <p:cNvPr id="20" name="直線コネクタ 19">
            <a:extLst>
              <a:ext uri="{FF2B5EF4-FFF2-40B4-BE49-F238E27FC236}">
                <a16:creationId xmlns:a16="http://schemas.microsoft.com/office/drawing/2014/main" id="{B130B969-F663-8A01-0DBE-2E5C6731A3FC}"/>
              </a:ext>
            </a:extLst>
          </p:cNvPr>
          <p:cNvCxnSpPr/>
          <p:nvPr/>
        </p:nvCxnSpPr>
        <p:spPr>
          <a:xfrm flipV="1">
            <a:off x="1638300" y="2146300"/>
            <a:ext cx="1041400" cy="1041400"/>
          </a:xfrm>
          <a:prstGeom prst="line">
            <a:avLst/>
          </a:prstGeom>
          <a:ln w="15875">
            <a:solidFill>
              <a:srgbClr val="9AA3B0"/>
            </a:solidFill>
            <a:prstDash val="dash"/>
          </a:ln>
        </p:spPr>
        <p:style>
          <a:lnRef idx="2">
            <a:schemeClr val="accent1"/>
          </a:lnRef>
          <a:fillRef idx="0">
            <a:schemeClr val="accent1"/>
          </a:fillRef>
          <a:effectRef idx="1">
            <a:schemeClr val="accent1"/>
          </a:effectRef>
          <a:fontRef idx="minor">
            <a:schemeClr val="tx1"/>
          </a:fontRef>
        </p:style>
      </p:cxnSp>
      <p:cxnSp>
        <p:nvCxnSpPr>
          <p:cNvPr id="21" name="直線コネクタ 20">
            <a:extLst>
              <a:ext uri="{FF2B5EF4-FFF2-40B4-BE49-F238E27FC236}">
                <a16:creationId xmlns:a16="http://schemas.microsoft.com/office/drawing/2014/main" id="{19327FF6-D162-29AA-E026-7EF2D1EBDC0E}"/>
              </a:ext>
            </a:extLst>
          </p:cNvPr>
          <p:cNvCxnSpPr/>
          <p:nvPr/>
        </p:nvCxnSpPr>
        <p:spPr>
          <a:xfrm>
            <a:off x="1638300" y="3314700"/>
            <a:ext cx="990600" cy="990600"/>
          </a:xfrm>
          <a:prstGeom prst="line">
            <a:avLst/>
          </a:prstGeom>
          <a:ln w="15875">
            <a:solidFill>
              <a:srgbClr val="9AA3B0"/>
            </a:solidFill>
            <a:prstDash val="dash"/>
          </a:ln>
        </p:spPr>
        <p:style>
          <a:lnRef idx="2">
            <a:schemeClr val="accent1"/>
          </a:lnRef>
          <a:fillRef idx="0">
            <a:schemeClr val="accent1"/>
          </a:fillRef>
          <a:effectRef idx="1">
            <a:schemeClr val="accent1"/>
          </a:effectRef>
          <a:fontRef idx="minor">
            <a:schemeClr val="tx1"/>
          </a:fontRef>
        </p:style>
      </p:cxnSp>
      <p:cxnSp>
        <p:nvCxnSpPr>
          <p:cNvPr id="22" name="直線コネクタ 21">
            <a:extLst>
              <a:ext uri="{FF2B5EF4-FFF2-40B4-BE49-F238E27FC236}">
                <a16:creationId xmlns:a16="http://schemas.microsoft.com/office/drawing/2014/main" id="{38C1E42E-4424-F661-7251-D159C261E7B6}"/>
              </a:ext>
            </a:extLst>
          </p:cNvPr>
          <p:cNvCxnSpPr/>
          <p:nvPr/>
        </p:nvCxnSpPr>
        <p:spPr>
          <a:xfrm>
            <a:off x="1676400" y="3251200"/>
            <a:ext cx="3708400" cy="0"/>
          </a:xfrm>
          <a:prstGeom prst="line">
            <a:avLst/>
          </a:prstGeom>
          <a:ln w="19050">
            <a:solidFill>
              <a:srgbClr val="9AA3B0"/>
            </a:solidFill>
            <a:prstDash val="dash"/>
          </a:ln>
        </p:spPr>
        <p:style>
          <a:lnRef idx="2">
            <a:schemeClr val="accent1"/>
          </a:lnRef>
          <a:fillRef idx="0">
            <a:schemeClr val="accent1"/>
          </a:fillRef>
          <a:effectRef idx="1">
            <a:schemeClr val="accent1"/>
          </a:effectRef>
          <a:fontRef idx="minor">
            <a:schemeClr val="tx1"/>
          </a:fontRef>
        </p:style>
      </p:cxnSp>
      <p:sp>
        <p:nvSpPr>
          <p:cNvPr id="24" name="楕円 23">
            <a:extLst>
              <a:ext uri="{FF2B5EF4-FFF2-40B4-BE49-F238E27FC236}">
                <a16:creationId xmlns:a16="http://schemas.microsoft.com/office/drawing/2014/main" id="{C0007AB3-1E53-7577-C9A5-53BA3916F4F2}"/>
              </a:ext>
            </a:extLst>
          </p:cNvPr>
          <p:cNvSpPr/>
          <p:nvPr/>
        </p:nvSpPr>
        <p:spPr>
          <a:xfrm>
            <a:off x="1485900" y="3162300"/>
            <a:ext cx="177800" cy="177800"/>
          </a:xfrm>
          <a:prstGeom prst="ellipse">
            <a:avLst/>
          </a:prstGeom>
          <a:solidFill>
            <a:srgbClr val="1E243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2309E795-C90E-33BE-8138-8B46EE6467BC}"/>
              </a:ext>
            </a:extLst>
          </p:cNvPr>
          <p:cNvSpPr txBox="1"/>
          <p:nvPr/>
        </p:nvSpPr>
        <p:spPr>
          <a:xfrm>
            <a:off x="1651000" y="3352800"/>
            <a:ext cx="254000" cy="369332"/>
          </a:xfrm>
          <a:prstGeom prst="rect">
            <a:avLst/>
          </a:prstGeom>
          <a:noFill/>
        </p:spPr>
        <p:txBody>
          <a:bodyPr vert="horz" wrap="square" lIns="0" tIns="0" rIns="0" bIns="0" rtlCol="0">
            <a:noAutofit/>
          </a:bodyPr>
          <a:lstStyle/>
          <a:p>
            <a:r>
              <a:rPr kumimoji="1" lang="ja-JP" altLang="en-US" sz="1000">
                <a:solidFill>
                  <a:srgbClr val="1E2430"/>
                </a:solidFill>
                <a:latin typeface="BIZ UDPゴシック" panose="020B0400000000000000" pitchFamily="50" charset="-128"/>
                <a:ea typeface="BIZ UDPゴシック" panose="020B0400000000000000" pitchFamily="50" charset="-128"/>
              </a:rPr>
              <a:t>耳</a:t>
            </a:r>
          </a:p>
        </p:txBody>
      </p:sp>
      <p:sp>
        <p:nvSpPr>
          <p:cNvPr id="26" name="テキスト ボックス 25">
            <a:extLst>
              <a:ext uri="{FF2B5EF4-FFF2-40B4-BE49-F238E27FC236}">
                <a16:creationId xmlns:a16="http://schemas.microsoft.com/office/drawing/2014/main" id="{61AC8DFB-E9C6-2205-76F6-B29093F0C30C}"/>
              </a:ext>
            </a:extLst>
          </p:cNvPr>
          <p:cNvSpPr txBox="1"/>
          <p:nvPr/>
        </p:nvSpPr>
        <p:spPr>
          <a:xfrm>
            <a:off x="1727200" y="3708400"/>
            <a:ext cx="2159000" cy="369332"/>
          </a:xfrm>
          <a:prstGeom prst="rect">
            <a:avLst/>
          </a:prstGeom>
          <a:noFill/>
        </p:spPr>
        <p:txBody>
          <a:bodyPr vert="horz" wrap="square" lIns="0" tIns="0" rIns="0" bIns="0" rtlCol="0">
            <a:noAutofit/>
          </a:bodyPr>
          <a:lstStyle/>
          <a:p>
            <a:r>
              <a:rPr kumimoji="1" lang="ja-JP" altLang="en-US" sz="1050" b="1">
                <a:solidFill>
                  <a:srgbClr val="9A6212"/>
                </a:solidFill>
                <a:latin typeface="BIZ UDPゴシック" panose="020B0400000000000000" pitchFamily="50" charset="-128"/>
                <a:ea typeface="BIZ UDPゴシック" panose="020B0400000000000000" pitchFamily="50" charset="-128"/>
              </a:rPr>
              <a:t>近い壁の側：はっきり・早く</a:t>
            </a:r>
          </a:p>
        </p:txBody>
      </p:sp>
      <p:sp>
        <p:nvSpPr>
          <p:cNvPr id="27" name="テキスト ボックス 26">
            <a:extLst>
              <a:ext uri="{FF2B5EF4-FFF2-40B4-BE49-F238E27FC236}">
                <a16:creationId xmlns:a16="http://schemas.microsoft.com/office/drawing/2014/main" id="{D981F187-CBE6-99B8-961D-AA1E9061D58E}"/>
              </a:ext>
            </a:extLst>
          </p:cNvPr>
          <p:cNvSpPr txBox="1"/>
          <p:nvPr/>
        </p:nvSpPr>
        <p:spPr>
          <a:xfrm>
            <a:off x="4191000" y="3327400"/>
            <a:ext cx="1143000" cy="369332"/>
          </a:xfrm>
          <a:prstGeom prst="rect">
            <a:avLst/>
          </a:prstGeom>
          <a:noFill/>
        </p:spPr>
        <p:txBody>
          <a:bodyPr vert="horz" wrap="square" lIns="0" tIns="0" rIns="0" bIns="0" rtlCol="0">
            <a:noAutofit/>
          </a:bodyPr>
          <a:lstStyle/>
          <a:p>
            <a:r>
              <a:rPr kumimoji="1" lang="ja-JP" altLang="en-US" sz="1050" b="1">
                <a:solidFill>
                  <a:srgbClr val="5C6677"/>
                </a:solidFill>
                <a:latin typeface="BIZ UDPゴシック" panose="020B0400000000000000" pitchFamily="50" charset="-128"/>
                <a:ea typeface="BIZ UDPゴシック" panose="020B0400000000000000" pitchFamily="50" charset="-128"/>
              </a:rPr>
              <a:t>遠い側：響く</a:t>
            </a:r>
          </a:p>
        </p:txBody>
      </p:sp>
      <p:sp>
        <p:nvSpPr>
          <p:cNvPr id="29" name="テキスト ボックス 28">
            <a:extLst>
              <a:ext uri="{FF2B5EF4-FFF2-40B4-BE49-F238E27FC236}">
                <a16:creationId xmlns:a16="http://schemas.microsoft.com/office/drawing/2014/main" id="{C6767F1E-F54D-8BE5-4F15-1C5F76834A5D}"/>
              </a:ext>
            </a:extLst>
          </p:cNvPr>
          <p:cNvSpPr txBox="1"/>
          <p:nvPr/>
        </p:nvSpPr>
        <p:spPr>
          <a:xfrm>
            <a:off x="762000" y="4419600"/>
            <a:ext cx="5080000" cy="369332"/>
          </a:xfrm>
          <a:prstGeom prst="rect">
            <a:avLst/>
          </a:prstGeom>
          <a:noFill/>
        </p:spPr>
        <p:txBody>
          <a:bodyPr vert="horz" wrap="square" lIns="0" tIns="0" rIns="0" bIns="0" rtlCol="0">
            <a:noAutofit/>
          </a:bodyPr>
          <a:lstStyle/>
          <a:p>
            <a:endParaRPr kumimoji="1" lang="ja-JP" altLang="en-US" sz="1000" dirty="0">
              <a:solidFill>
                <a:srgbClr val="5C6677"/>
              </a:solidFill>
              <a:latin typeface="BIZ UDPゴシック" panose="020B0400000000000000" pitchFamily="50" charset="-128"/>
              <a:ea typeface="BIZ UDPゴシック" panose="020B0400000000000000" pitchFamily="50" charset="-128"/>
            </a:endParaRPr>
          </a:p>
        </p:txBody>
      </p:sp>
      <p:sp>
        <p:nvSpPr>
          <p:cNvPr id="35" name="四角形: 角を丸くする 34">
            <a:extLst>
              <a:ext uri="{FF2B5EF4-FFF2-40B4-BE49-F238E27FC236}">
                <a16:creationId xmlns:a16="http://schemas.microsoft.com/office/drawing/2014/main" id="{69179F36-6298-9926-14CD-CA352D92B05E}"/>
              </a:ext>
            </a:extLst>
          </p:cNvPr>
          <p:cNvSpPr/>
          <p:nvPr/>
        </p:nvSpPr>
        <p:spPr>
          <a:xfrm>
            <a:off x="6159500" y="1549400"/>
            <a:ext cx="5486400" cy="1498600"/>
          </a:xfrm>
          <a:prstGeom prst="roundRect">
            <a:avLst>
              <a:gd name="adj" fmla="val 6000"/>
            </a:avLst>
          </a:prstGeom>
          <a:solidFill>
            <a:srgbClr val="F0F2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四角形: 角を丸くする 35">
            <a:extLst>
              <a:ext uri="{FF2B5EF4-FFF2-40B4-BE49-F238E27FC236}">
                <a16:creationId xmlns:a16="http://schemas.microsoft.com/office/drawing/2014/main" id="{11EF555B-0C5B-942D-7524-9F700F4C63B3}"/>
              </a:ext>
            </a:extLst>
          </p:cNvPr>
          <p:cNvSpPr/>
          <p:nvPr/>
        </p:nvSpPr>
        <p:spPr>
          <a:xfrm>
            <a:off x="6362700" y="1714500"/>
            <a:ext cx="330200" cy="330200"/>
          </a:xfrm>
          <a:prstGeom prst="roundRect">
            <a:avLst>
              <a:gd name="adj" fmla="val 50000"/>
            </a:avLst>
          </a:prstGeom>
          <a:solidFill>
            <a:srgbClr val="E3A3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kumimoji="1" lang="en-US" altLang="ja-JP" sz="1300" b="1">
                <a:solidFill>
                  <a:srgbClr val="1E2430"/>
                </a:solidFill>
                <a:latin typeface="BIZ UDPゴシック" panose="020B0400000000000000" pitchFamily="50" charset="-128"/>
                <a:ea typeface="BIZ UDPゴシック" panose="020B0400000000000000" pitchFamily="50" charset="-128"/>
              </a:rPr>
              <a:t>1</a:t>
            </a:r>
            <a:endParaRPr kumimoji="1" lang="ja-JP" altLang="en-US" sz="1300" b="1">
              <a:solidFill>
                <a:srgbClr val="1E2430"/>
              </a:solidFill>
              <a:latin typeface="BIZ UDPゴシック" panose="020B0400000000000000" pitchFamily="50" charset="-128"/>
              <a:ea typeface="BIZ UDPゴシック" panose="020B0400000000000000" pitchFamily="50" charset="-128"/>
            </a:endParaRPr>
          </a:p>
        </p:txBody>
      </p:sp>
      <p:sp>
        <p:nvSpPr>
          <p:cNvPr id="37" name="テキスト ボックス 36">
            <a:extLst>
              <a:ext uri="{FF2B5EF4-FFF2-40B4-BE49-F238E27FC236}">
                <a16:creationId xmlns:a16="http://schemas.microsoft.com/office/drawing/2014/main" id="{83AF8188-C481-69A3-9105-2F11731DADB9}"/>
              </a:ext>
            </a:extLst>
          </p:cNvPr>
          <p:cNvSpPr txBox="1"/>
          <p:nvPr/>
        </p:nvSpPr>
        <p:spPr>
          <a:xfrm>
            <a:off x="6819900" y="1752600"/>
            <a:ext cx="3175000" cy="369332"/>
          </a:xfrm>
          <a:prstGeom prst="rect">
            <a:avLst/>
          </a:prstGeom>
          <a:noFill/>
        </p:spPr>
        <p:txBody>
          <a:bodyPr vert="horz" wrap="square" lIns="0" tIns="0" rIns="0" bIns="0" rtlCol="0">
            <a:noAutofit/>
          </a:bodyPr>
          <a:lstStyle/>
          <a:p>
            <a:r>
              <a:rPr kumimoji="1" lang="ja-JP" altLang="en-US" sz="1550" b="1" dirty="0">
                <a:solidFill>
                  <a:srgbClr val="1E2430"/>
                </a:solidFill>
                <a:latin typeface="BIZ UDPゴシック" panose="020B0400000000000000" pitchFamily="50" charset="-128"/>
                <a:ea typeface="BIZ UDPゴシック" panose="020B0400000000000000" pitchFamily="50" charset="-128"/>
              </a:rPr>
              <a:t>響きは部屋で決める</a:t>
            </a:r>
          </a:p>
        </p:txBody>
      </p:sp>
      <p:sp>
        <p:nvSpPr>
          <p:cNvPr id="38" name="四角形: 角を丸くする 37">
            <a:extLst>
              <a:ext uri="{FF2B5EF4-FFF2-40B4-BE49-F238E27FC236}">
                <a16:creationId xmlns:a16="http://schemas.microsoft.com/office/drawing/2014/main" id="{733076B9-C759-6955-C4B7-550079A86A81}"/>
              </a:ext>
            </a:extLst>
          </p:cNvPr>
          <p:cNvSpPr/>
          <p:nvPr/>
        </p:nvSpPr>
        <p:spPr>
          <a:xfrm>
            <a:off x="10718800" y="1739900"/>
            <a:ext cx="723900" cy="279400"/>
          </a:xfrm>
          <a:prstGeom prst="roundRect">
            <a:avLst>
              <a:gd name="adj" fmla="val 50000"/>
            </a:avLst>
          </a:prstGeom>
          <a:solidFill>
            <a:srgbClr val="DDE1E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kumimoji="1" lang="en-US" altLang="ja-JP" sz="1100" b="1">
                <a:solidFill>
                  <a:srgbClr val="1E2430"/>
                </a:solidFill>
                <a:latin typeface="BIZ UDPゴシック" panose="020B0400000000000000" pitchFamily="50" charset="-128"/>
                <a:ea typeface="BIZ UDPゴシック" panose="020B0400000000000000" pitchFamily="50" charset="-128"/>
              </a:rPr>
              <a:t>FDN</a:t>
            </a:r>
            <a:endParaRPr kumimoji="1" lang="ja-JP" altLang="en-US" sz="1100" b="1">
              <a:solidFill>
                <a:srgbClr val="1E2430"/>
              </a:solidFill>
              <a:latin typeface="BIZ UDPゴシック" panose="020B0400000000000000" pitchFamily="50" charset="-128"/>
              <a:ea typeface="BIZ UDPゴシック" panose="020B0400000000000000" pitchFamily="50" charset="-128"/>
            </a:endParaRPr>
          </a:p>
        </p:txBody>
      </p:sp>
      <p:sp>
        <p:nvSpPr>
          <p:cNvPr id="39" name="テキスト ボックス 38">
            <a:extLst>
              <a:ext uri="{FF2B5EF4-FFF2-40B4-BE49-F238E27FC236}">
                <a16:creationId xmlns:a16="http://schemas.microsoft.com/office/drawing/2014/main" id="{6E027E30-0616-F5AC-3D04-3664C316A684}"/>
              </a:ext>
            </a:extLst>
          </p:cNvPr>
          <p:cNvSpPr txBox="1"/>
          <p:nvPr/>
        </p:nvSpPr>
        <p:spPr>
          <a:xfrm>
            <a:off x="6388100" y="2184400"/>
            <a:ext cx="5054600" cy="369332"/>
          </a:xfrm>
          <a:prstGeom prst="rect">
            <a:avLst/>
          </a:prstGeom>
          <a:noFill/>
        </p:spPr>
        <p:txBody>
          <a:bodyPr vert="horz" wrap="square" lIns="0" tIns="0" rIns="0" bIns="0" rtlCol="0">
            <a:noAutofit/>
          </a:bodyPr>
          <a:lstStyle/>
          <a:p>
            <a:pPr>
              <a:lnSpc>
                <a:spcPct val="115000"/>
              </a:lnSpc>
            </a:pPr>
            <a:r>
              <a:rPr kumimoji="1" lang="ja-JP" altLang="en-US" sz="1200" dirty="0">
                <a:solidFill>
                  <a:srgbClr val="3A4250"/>
                </a:solidFill>
                <a:latin typeface="BIZ UDPゴシック" panose="020B0400000000000000" pitchFamily="50" charset="-128"/>
                <a:ea typeface="BIZ UDPゴシック" panose="020B0400000000000000" pitchFamily="50" charset="-128"/>
              </a:rPr>
              <a:t>部屋自体の</a:t>
            </a:r>
            <a:r>
              <a:rPr kumimoji="1" lang="en-US" altLang="ja-JP" sz="1200" dirty="0">
                <a:solidFill>
                  <a:srgbClr val="3A4250"/>
                </a:solidFill>
                <a:latin typeface="BIZ UDPゴシック" panose="020B0400000000000000" pitchFamily="50" charset="-128"/>
                <a:ea typeface="BIZ UDPゴシック" panose="020B0400000000000000" pitchFamily="50" charset="-128"/>
              </a:rPr>
              <a:t>R60</a:t>
            </a:r>
            <a:r>
              <a:rPr kumimoji="1" lang="ja-JP" altLang="en-US" sz="1200" dirty="0">
                <a:solidFill>
                  <a:srgbClr val="3A4250"/>
                </a:solidFill>
                <a:latin typeface="BIZ UDPゴシック" panose="020B0400000000000000" pitchFamily="50" charset="-128"/>
                <a:ea typeface="BIZ UDPゴシック" panose="020B0400000000000000" pitchFamily="50" charset="-128"/>
              </a:rPr>
              <a:t>や帯域ごとの減算率などは統一して、それの到達経路や方向性だけを調整する</a:t>
            </a:r>
          </a:p>
        </p:txBody>
      </p:sp>
      <p:sp>
        <p:nvSpPr>
          <p:cNvPr id="40" name="四角形: 角を丸くする 39">
            <a:extLst>
              <a:ext uri="{FF2B5EF4-FFF2-40B4-BE49-F238E27FC236}">
                <a16:creationId xmlns:a16="http://schemas.microsoft.com/office/drawing/2014/main" id="{B9C523E7-79E7-3BF5-D800-487D9AF16F0E}"/>
              </a:ext>
            </a:extLst>
          </p:cNvPr>
          <p:cNvSpPr/>
          <p:nvPr/>
        </p:nvSpPr>
        <p:spPr>
          <a:xfrm>
            <a:off x="6159500" y="3149600"/>
            <a:ext cx="5486400" cy="1498600"/>
          </a:xfrm>
          <a:prstGeom prst="roundRect">
            <a:avLst>
              <a:gd name="adj" fmla="val 6000"/>
            </a:avLst>
          </a:prstGeom>
          <a:solidFill>
            <a:srgbClr val="FBF1D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四角形: 角を丸くする 40">
            <a:extLst>
              <a:ext uri="{FF2B5EF4-FFF2-40B4-BE49-F238E27FC236}">
                <a16:creationId xmlns:a16="http://schemas.microsoft.com/office/drawing/2014/main" id="{EC0C7DE1-82EB-6433-6687-19B6FE763320}"/>
              </a:ext>
            </a:extLst>
          </p:cNvPr>
          <p:cNvSpPr/>
          <p:nvPr/>
        </p:nvSpPr>
        <p:spPr>
          <a:xfrm>
            <a:off x="6362700" y="3314700"/>
            <a:ext cx="330200" cy="330200"/>
          </a:xfrm>
          <a:prstGeom prst="roundRect">
            <a:avLst>
              <a:gd name="adj" fmla="val 50000"/>
            </a:avLst>
          </a:prstGeom>
          <a:solidFill>
            <a:srgbClr val="E3A3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kumimoji="1" lang="en-US" altLang="ja-JP" sz="1300" b="1">
                <a:solidFill>
                  <a:srgbClr val="1E2430"/>
                </a:solidFill>
                <a:latin typeface="BIZ UDPゴシック" panose="020B0400000000000000" pitchFamily="50" charset="-128"/>
                <a:ea typeface="BIZ UDPゴシック" panose="020B0400000000000000" pitchFamily="50" charset="-128"/>
              </a:rPr>
              <a:t>2</a:t>
            </a:r>
            <a:endParaRPr kumimoji="1" lang="ja-JP" altLang="en-US" sz="1300" b="1">
              <a:solidFill>
                <a:srgbClr val="1E2430"/>
              </a:solidFill>
              <a:latin typeface="BIZ UDPゴシック" panose="020B0400000000000000" pitchFamily="50" charset="-128"/>
              <a:ea typeface="BIZ UDPゴシック" panose="020B0400000000000000" pitchFamily="50" charset="-128"/>
            </a:endParaRPr>
          </a:p>
        </p:txBody>
      </p:sp>
      <p:sp>
        <p:nvSpPr>
          <p:cNvPr id="42" name="テキスト ボックス 41">
            <a:extLst>
              <a:ext uri="{FF2B5EF4-FFF2-40B4-BE49-F238E27FC236}">
                <a16:creationId xmlns:a16="http://schemas.microsoft.com/office/drawing/2014/main" id="{81330292-6D38-D9FF-89F4-CB304E7D87D6}"/>
              </a:ext>
            </a:extLst>
          </p:cNvPr>
          <p:cNvSpPr txBox="1"/>
          <p:nvPr/>
        </p:nvSpPr>
        <p:spPr>
          <a:xfrm>
            <a:off x="6819900" y="3352800"/>
            <a:ext cx="3175000" cy="369332"/>
          </a:xfrm>
          <a:prstGeom prst="rect">
            <a:avLst/>
          </a:prstGeom>
          <a:noFill/>
        </p:spPr>
        <p:txBody>
          <a:bodyPr vert="horz" wrap="square" lIns="0" tIns="0" rIns="0" bIns="0" rtlCol="0">
            <a:noAutofit/>
          </a:bodyPr>
          <a:lstStyle/>
          <a:p>
            <a:r>
              <a:rPr kumimoji="1" lang="ja-JP" altLang="en-US" sz="1550" b="1" dirty="0">
                <a:solidFill>
                  <a:srgbClr val="1E2430"/>
                </a:solidFill>
                <a:latin typeface="BIZ UDPゴシック" panose="020B0400000000000000" pitchFamily="50" charset="-128"/>
                <a:ea typeface="BIZ UDPゴシック" panose="020B0400000000000000" pitchFamily="50" charset="-128"/>
              </a:rPr>
              <a:t>壁までの距離で配る</a:t>
            </a:r>
          </a:p>
        </p:txBody>
      </p:sp>
      <p:sp>
        <p:nvSpPr>
          <p:cNvPr id="43" name="四角形: 角を丸くする 42">
            <a:extLst>
              <a:ext uri="{FF2B5EF4-FFF2-40B4-BE49-F238E27FC236}">
                <a16:creationId xmlns:a16="http://schemas.microsoft.com/office/drawing/2014/main" id="{C5547DFF-24A3-ABEA-687C-E3112F3F3336}"/>
              </a:ext>
            </a:extLst>
          </p:cNvPr>
          <p:cNvSpPr/>
          <p:nvPr/>
        </p:nvSpPr>
        <p:spPr>
          <a:xfrm>
            <a:off x="10223500" y="3340100"/>
            <a:ext cx="1219200" cy="279400"/>
          </a:xfrm>
          <a:prstGeom prst="roundRect">
            <a:avLst>
              <a:gd name="adj" fmla="val 50000"/>
            </a:avLst>
          </a:prstGeom>
          <a:solidFill>
            <a:srgbClr val="E3A3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kumimoji="1" lang="en-US" altLang="ja-JP" sz="1100" b="1">
                <a:solidFill>
                  <a:srgbClr val="1E2430"/>
                </a:solidFill>
                <a:latin typeface="BIZ UDPゴシック" panose="020B0400000000000000" pitchFamily="50" charset="-128"/>
                <a:ea typeface="BIZ UDPゴシック" panose="020B0400000000000000" pitchFamily="50" charset="-128"/>
              </a:rPr>
              <a:t>8</a:t>
            </a:r>
            <a:r>
              <a:rPr kumimoji="1" lang="ja-JP" altLang="en-US" sz="1100" b="1">
                <a:solidFill>
                  <a:srgbClr val="1E2430"/>
                </a:solidFill>
                <a:latin typeface="BIZ UDPゴシック" panose="020B0400000000000000" pitchFamily="50" charset="-128"/>
                <a:ea typeface="BIZ UDPゴシック" panose="020B0400000000000000" pitchFamily="50" charset="-128"/>
              </a:rPr>
              <a:t>方位＋上下</a:t>
            </a:r>
          </a:p>
        </p:txBody>
      </p:sp>
      <p:sp>
        <p:nvSpPr>
          <p:cNvPr id="44" name="テキスト ボックス 43">
            <a:extLst>
              <a:ext uri="{FF2B5EF4-FFF2-40B4-BE49-F238E27FC236}">
                <a16:creationId xmlns:a16="http://schemas.microsoft.com/office/drawing/2014/main" id="{39C2324B-7807-8A53-B604-047318233E95}"/>
              </a:ext>
            </a:extLst>
          </p:cNvPr>
          <p:cNvSpPr txBox="1"/>
          <p:nvPr/>
        </p:nvSpPr>
        <p:spPr>
          <a:xfrm>
            <a:off x="6388100" y="3784600"/>
            <a:ext cx="5054600" cy="369332"/>
          </a:xfrm>
          <a:prstGeom prst="rect">
            <a:avLst/>
          </a:prstGeom>
          <a:noFill/>
        </p:spPr>
        <p:txBody>
          <a:bodyPr vert="horz" wrap="square" lIns="0" tIns="0" rIns="0" bIns="0" rtlCol="0">
            <a:noAutofit/>
          </a:bodyPr>
          <a:lstStyle/>
          <a:p>
            <a:pPr>
              <a:lnSpc>
                <a:spcPct val="115000"/>
              </a:lnSpc>
            </a:pPr>
            <a:r>
              <a:rPr kumimoji="1" lang="ja-JP" altLang="en-US" sz="1200" dirty="0">
                <a:solidFill>
                  <a:srgbClr val="3A4250"/>
                </a:solidFill>
                <a:latin typeface="BIZ UDPゴシック" panose="020B0400000000000000" pitchFamily="50" charset="-128"/>
                <a:ea typeface="BIZ UDPゴシック" panose="020B0400000000000000" pitchFamily="50" charset="-128"/>
              </a:rPr>
              <a:t>後期反射や残響音を</a:t>
            </a:r>
            <a:r>
              <a:rPr kumimoji="1" lang="en-US" altLang="ja-JP" sz="1200" dirty="0">
                <a:solidFill>
                  <a:srgbClr val="3A4250"/>
                </a:solidFill>
                <a:latin typeface="BIZ UDPゴシック" panose="020B0400000000000000" pitchFamily="50" charset="-128"/>
                <a:ea typeface="BIZ UDPゴシック" panose="020B0400000000000000" pitchFamily="50" charset="-128"/>
              </a:rPr>
              <a:t>HRTF</a:t>
            </a:r>
            <a:r>
              <a:rPr kumimoji="1" lang="ja-JP" altLang="en-US" sz="1200" dirty="0">
                <a:solidFill>
                  <a:srgbClr val="3A4250"/>
                </a:solidFill>
                <a:latin typeface="BIZ UDPゴシック" panose="020B0400000000000000" pitchFamily="50" charset="-128"/>
                <a:ea typeface="BIZ UDPゴシック" panose="020B0400000000000000" pitchFamily="50" charset="-128"/>
              </a:rPr>
              <a:t>で計算するのではなく、リスナーを中心とした八方位と上下で分けてある程度の音に包まれる、部屋自体が鳴っている感を残しつつその中でも特に強く聞こえるような方向を用意する</a:t>
            </a:r>
          </a:p>
        </p:txBody>
      </p:sp>
      <p:sp>
        <p:nvSpPr>
          <p:cNvPr id="45" name="四角形: 角を丸くする 44">
            <a:extLst>
              <a:ext uri="{FF2B5EF4-FFF2-40B4-BE49-F238E27FC236}">
                <a16:creationId xmlns:a16="http://schemas.microsoft.com/office/drawing/2014/main" id="{D9AC40A4-077E-1928-1D77-6DA8AB29F475}"/>
              </a:ext>
            </a:extLst>
          </p:cNvPr>
          <p:cNvSpPr/>
          <p:nvPr/>
        </p:nvSpPr>
        <p:spPr>
          <a:xfrm>
            <a:off x="6159500" y="4749800"/>
            <a:ext cx="5486400" cy="1498600"/>
          </a:xfrm>
          <a:prstGeom prst="roundRect">
            <a:avLst>
              <a:gd name="adj" fmla="val 6000"/>
            </a:avLst>
          </a:prstGeom>
          <a:solidFill>
            <a:srgbClr val="F0F2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四角形: 角を丸くする 45">
            <a:extLst>
              <a:ext uri="{FF2B5EF4-FFF2-40B4-BE49-F238E27FC236}">
                <a16:creationId xmlns:a16="http://schemas.microsoft.com/office/drawing/2014/main" id="{1B82F14C-E1B4-5A06-117F-70BAD2067AE3}"/>
              </a:ext>
            </a:extLst>
          </p:cNvPr>
          <p:cNvSpPr/>
          <p:nvPr/>
        </p:nvSpPr>
        <p:spPr>
          <a:xfrm>
            <a:off x="6362700" y="4914900"/>
            <a:ext cx="330200" cy="330200"/>
          </a:xfrm>
          <a:prstGeom prst="roundRect">
            <a:avLst>
              <a:gd name="adj" fmla="val 50000"/>
            </a:avLst>
          </a:prstGeom>
          <a:solidFill>
            <a:srgbClr val="E3A3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kumimoji="1" lang="en-US" altLang="ja-JP" sz="1300" b="1">
                <a:solidFill>
                  <a:srgbClr val="1E2430"/>
                </a:solidFill>
                <a:latin typeface="BIZ UDPゴシック" panose="020B0400000000000000" pitchFamily="50" charset="-128"/>
                <a:ea typeface="BIZ UDPゴシック" panose="020B0400000000000000" pitchFamily="50" charset="-128"/>
              </a:rPr>
              <a:t>3</a:t>
            </a:r>
            <a:endParaRPr kumimoji="1" lang="ja-JP" altLang="en-US" sz="1300" b="1">
              <a:solidFill>
                <a:srgbClr val="1E2430"/>
              </a:solidFill>
              <a:latin typeface="BIZ UDPゴシック" panose="020B0400000000000000" pitchFamily="50" charset="-128"/>
              <a:ea typeface="BIZ UDPゴシック" panose="020B0400000000000000" pitchFamily="50" charset="-128"/>
            </a:endParaRPr>
          </a:p>
        </p:txBody>
      </p:sp>
      <p:sp>
        <p:nvSpPr>
          <p:cNvPr id="47" name="テキスト ボックス 46">
            <a:extLst>
              <a:ext uri="{FF2B5EF4-FFF2-40B4-BE49-F238E27FC236}">
                <a16:creationId xmlns:a16="http://schemas.microsoft.com/office/drawing/2014/main" id="{59137D6B-0FBF-0122-E95D-854A9DCBF2C2}"/>
              </a:ext>
            </a:extLst>
          </p:cNvPr>
          <p:cNvSpPr txBox="1"/>
          <p:nvPr/>
        </p:nvSpPr>
        <p:spPr>
          <a:xfrm>
            <a:off x="6819900" y="4953000"/>
            <a:ext cx="3175000" cy="369332"/>
          </a:xfrm>
          <a:prstGeom prst="rect">
            <a:avLst/>
          </a:prstGeom>
          <a:noFill/>
        </p:spPr>
        <p:txBody>
          <a:bodyPr vert="horz" wrap="square" lIns="0" tIns="0" rIns="0" bIns="0" rtlCol="0">
            <a:noAutofit/>
          </a:bodyPr>
          <a:lstStyle/>
          <a:p>
            <a:r>
              <a:rPr kumimoji="1" lang="ja-JP" altLang="en-US" sz="1550" b="1" dirty="0">
                <a:solidFill>
                  <a:srgbClr val="1E2430"/>
                </a:solidFill>
                <a:latin typeface="BIZ UDPゴシック" panose="020B0400000000000000" pitchFamily="50" charset="-128"/>
                <a:ea typeface="BIZ UDPゴシック" panose="020B0400000000000000" pitchFamily="50" charset="-128"/>
              </a:rPr>
              <a:t>扉が開くと響きが抜ける</a:t>
            </a:r>
          </a:p>
        </p:txBody>
      </p:sp>
      <p:sp>
        <p:nvSpPr>
          <p:cNvPr id="48" name="四角形: 角を丸くする 47">
            <a:extLst>
              <a:ext uri="{FF2B5EF4-FFF2-40B4-BE49-F238E27FC236}">
                <a16:creationId xmlns:a16="http://schemas.microsoft.com/office/drawing/2014/main" id="{ACE7DE57-6564-4540-6AE9-4F1ACC235476}"/>
              </a:ext>
            </a:extLst>
          </p:cNvPr>
          <p:cNvSpPr/>
          <p:nvPr/>
        </p:nvSpPr>
        <p:spPr>
          <a:xfrm>
            <a:off x="10782300" y="4940300"/>
            <a:ext cx="660400" cy="279400"/>
          </a:xfrm>
          <a:prstGeom prst="roundRect">
            <a:avLst>
              <a:gd name="adj" fmla="val 50000"/>
            </a:avLst>
          </a:prstGeom>
          <a:solidFill>
            <a:srgbClr val="DDE1E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kumimoji="1" lang="ja-JP" altLang="en-US" sz="1100" b="1">
                <a:solidFill>
                  <a:srgbClr val="1E2430"/>
                </a:solidFill>
                <a:latin typeface="BIZ UDPゴシック" panose="020B0400000000000000" pitchFamily="50" charset="-128"/>
                <a:ea typeface="BIZ UDPゴシック" panose="020B0400000000000000" pitchFamily="50" charset="-128"/>
              </a:rPr>
              <a:t>開口</a:t>
            </a:r>
          </a:p>
        </p:txBody>
      </p:sp>
      <p:sp>
        <p:nvSpPr>
          <p:cNvPr id="49" name="テキスト ボックス 48">
            <a:extLst>
              <a:ext uri="{FF2B5EF4-FFF2-40B4-BE49-F238E27FC236}">
                <a16:creationId xmlns:a16="http://schemas.microsoft.com/office/drawing/2014/main" id="{351C7F0B-239D-CEF6-93F7-8AF3A5DF7299}"/>
              </a:ext>
            </a:extLst>
          </p:cNvPr>
          <p:cNvSpPr txBox="1"/>
          <p:nvPr/>
        </p:nvSpPr>
        <p:spPr>
          <a:xfrm>
            <a:off x="6388100" y="5384800"/>
            <a:ext cx="5054600" cy="369332"/>
          </a:xfrm>
          <a:prstGeom prst="rect">
            <a:avLst/>
          </a:prstGeom>
          <a:noFill/>
        </p:spPr>
        <p:txBody>
          <a:bodyPr vert="horz" wrap="square" lIns="0" tIns="0" rIns="0" bIns="0" rtlCol="0">
            <a:noAutofit/>
          </a:bodyPr>
          <a:lstStyle/>
          <a:p>
            <a:pPr>
              <a:lnSpc>
                <a:spcPct val="115000"/>
              </a:lnSpc>
            </a:pPr>
            <a:r>
              <a:rPr kumimoji="1" lang="ja-JP" altLang="en-US" sz="1200" dirty="0">
                <a:solidFill>
                  <a:srgbClr val="3A4250"/>
                </a:solidFill>
                <a:latin typeface="BIZ UDPゴシック" panose="020B0400000000000000" pitchFamily="50" charset="-128"/>
                <a:ea typeface="BIZ UDPゴシック" panose="020B0400000000000000" pitchFamily="50" charset="-128"/>
              </a:rPr>
              <a:t>扉が開いた向きはレイが隣の部屋まで抜けるので、その向きから返る響きが薄くなる。開きかけも連続に変わる。</a:t>
            </a:r>
          </a:p>
        </p:txBody>
      </p:sp>
      <p:sp>
        <p:nvSpPr>
          <p:cNvPr id="6" name="正方形/長方形 5">
            <a:extLst>
              <a:ext uri="{FF2B5EF4-FFF2-40B4-BE49-F238E27FC236}">
                <a16:creationId xmlns:a16="http://schemas.microsoft.com/office/drawing/2014/main" id="{B93D1F6F-B2F8-0661-9B3F-B88D19390BBC}"/>
              </a:ext>
            </a:extLst>
          </p:cNvPr>
          <p:cNvSpPr/>
          <p:nvPr/>
        </p:nvSpPr>
        <p:spPr>
          <a:xfrm rot="10800000">
            <a:off x="1193800" y="2133600"/>
            <a:ext cx="4191000" cy="2184400"/>
          </a:xfrm>
          <a:prstGeom prst="rect">
            <a:avLst/>
          </a:prstGeom>
          <a:noFill/>
          <a:ln w="19050" cap="flat" cmpd="sng" algn="ctr">
            <a:solidFill>
              <a:srgbClr val="9AA3B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550979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D64AEF59-8AF3-C0A9-F080-F6B21CDF460F}"/>
              </a:ext>
            </a:extLst>
          </p:cNvPr>
          <p:cNvSpPr txBox="1"/>
          <p:nvPr/>
        </p:nvSpPr>
        <p:spPr>
          <a:xfrm>
            <a:off x="355600" y="177800"/>
            <a:ext cx="8128000" cy="369332"/>
          </a:xfrm>
          <a:prstGeom prst="rect">
            <a:avLst/>
          </a:prstGeom>
          <a:noFill/>
        </p:spPr>
        <p:txBody>
          <a:bodyPr vert="horz" wrap="square" lIns="0" tIns="0" rIns="0" bIns="0" rtlCol="0">
            <a:noAutofit/>
          </a:bodyPr>
          <a:lstStyle/>
          <a:p>
            <a:r>
              <a:rPr kumimoji="1" lang="ja-JP" altLang="en-US" sz="1600" b="1">
                <a:solidFill>
                  <a:srgbClr val="1E2430"/>
                </a:solidFill>
                <a:latin typeface="BIZ UDPゴシック" panose="020B0400000000000000" pitchFamily="50" charset="-128"/>
                <a:ea typeface="BIZ UDPゴシック" panose="020B0400000000000000" pitchFamily="50" charset="-128"/>
              </a:rPr>
              <a:t>・技術選定　部屋で聞こえる音の響き方</a:t>
            </a:r>
          </a:p>
        </p:txBody>
      </p:sp>
      <p:sp>
        <p:nvSpPr>
          <p:cNvPr id="3" name="テキスト ボックス 2">
            <a:extLst>
              <a:ext uri="{FF2B5EF4-FFF2-40B4-BE49-F238E27FC236}">
                <a16:creationId xmlns:a16="http://schemas.microsoft.com/office/drawing/2014/main" id="{2F8C3D6A-4F13-E8E5-EEF4-369DF3B1234F}"/>
              </a:ext>
            </a:extLst>
          </p:cNvPr>
          <p:cNvSpPr txBox="1"/>
          <p:nvPr/>
        </p:nvSpPr>
        <p:spPr>
          <a:xfrm>
            <a:off x="736600" y="558800"/>
            <a:ext cx="10668000" cy="369332"/>
          </a:xfrm>
          <a:prstGeom prst="rect">
            <a:avLst/>
          </a:prstGeom>
          <a:noFill/>
        </p:spPr>
        <p:txBody>
          <a:bodyPr vert="horz" wrap="square" lIns="0" tIns="0" rIns="0" bIns="0" rtlCol="0">
            <a:noAutofit/>
          </a:bodyPr>
          <a:lstStyle/>
          <a:p>
            <a:r>
              <a:rPr kumimoji="1" lang="ja-JP" altLang="en-US" sz="3400" b="1">
                <a:solidFill>
                  <a:srgbClr val="1E2430"/>
                </a:solidFill>
                <a:latin typeface="BIZ UDPゴシック" panose="020B0400000000000000" pitchFamily="50" charset="-128"/>
                <a:ea typeface="BIZ UDPゴシック" panose="020B0400000000000000" pitchFamily="50" charset="-128"/>
              </a:rPr>
              <a:t>音源の奥行きが伝わるように</a:t>
            </a:r>
          </a:p>
        </p:txBody>
      </p:sp>
      <p:sp>
        <p:nvSpPr>
          <p:cNvPr id="4" name="正方形/長方形 3">
            <a:extLst>
              <a:ext uri="{FF2B5EF4-FFF2-40B4-BE49-F238E27FC236}">
                <a16:creationId xmlns:a16="http://schemas.microsoft.com/office/drawing/2014/main" id="{94856BF5-D141-54F8-043B-48584163B34B}"/>
              </a:ext>
            </a:extLst>
          </p:cNvPr>
          <p:cNvSpPr/>
          <p:nvPr/>
        </p:nvSpPr>
        <p:spPr>
          <a:xfrm>
            <a:off x="655320" y="1310640"/>
            <a:ext cx="3192780" cy="22860"/>
          </a:xfrm>
          <a:prstGeom prst="rect">
            <a:avLst/>
          </a:prstGeom>
          <a:solidFill>
            <a:srgbClr val="D86EC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4">
            <a:extLst>
              <a:ext uri="{FF2B5EF4-FFF2-40B4-BE49-F238E27FC236}">
                <a16:creationId xmlns:a16="http://schemas.microsoft.com/office/drawing/2014/main" id="{A67A3BF8-910F-576A-86C8-BB8DE41A89ED}"/>
              </a:ext>
            </a:extLst>
          </p:cNvPr>
          <p:cNvSpPr/>
          <p:nvPr/>
        </p:nvSpPr>
        <p:spPr>
          <a:xfrm>
            <a:off x="3863340" y="1315720"/>
            <a:ext cx="7937500" cy="7620"/>
          </a:xfrm>
          <a:prstGeom prst="rect">
            <a:avLst/>
          </a:prstGeom>
          <a:solidFill>
            <a:srgbClr val="E2E5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7" name="図 6">
            <a:extLst>
              <a:ext uri="{FF2B5EF4-FFF2-40B4-BE49-F238E27FC236}">
                <a16:creationId xmlns:a16="http://schemas.microsoft.com/office/drawing/2014/main" id="{E45959E0-AE43-1B17-19FA-7A985C27AF9F}"/>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0896600" y="342900"/>
            <a:ext cx="838200" cy="457200"/>
          </a:xfrm>
          <a:prstGeom prst="rect">
            <a:avLst/>
          </a:prstGeom>
        </p:spPr>
      </p:pic>
      <p:pic>
        <p:nvPicPr>
          <p:cNvPr id="9" name="図 8">
            <a:extLst>
              <a:ext uri="{FF2B5EF4-FFF2-40B4-BE49-F238E27FC236}">
                <a16:creationId xmlns:a16="http://schemas.microsoft.com/office/drawing/2014/main" id="{B4D8707E-7BAD-993E-E887-D8D163D9C60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324600"/>
            <a:ext cx="12192000" cy="533400"/>
          </a:xfrm>
          <a:prstGeom prst="rect">
            <a:avLst/>
          </a:prstGeom>
        </p:spPr>
      </p:pic>
      <p:sp>
        <p:nvSpPr>
          <p:cNvPr id="10" name="四角形: 角を丸くする 9">
            <a:extLst>
              <a:ext uri="{FF2B5EF4-FFF2-40B4-BE49-F238E27FC236}">
                <a16:creationId xmlns:a16="http://schemas.microsoft.com/office/drawing/2014/main" id="{172C17CD-F335-5B29-021E-C982AB51E1E8}"/>
              </a:ext>
            </a:extLst>
          </p:cNvPr>
          <p:cNvSpPr/>
          <p:nvPr/>
        </p:nvSpPr>
        <p:spPr>
          <a:xfrm>
            <a:off x="546100" y="1549400"/>
            <a:ext cx="5397500" cy="3175000"/>
          </a:xfrm>
          <a:prstGeom prst="roundRect">
            <a:avLst>
              <a:gd name="adj" fmla="val 5000"/>
            </a:avLst>
          </a:prstGeom>
          <a:solidFill>
            <a:srgbClr val="F0F2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48EB2DB4-0B6D-80F6-5155-E11E8FF12BDD}"/>
              </a:ext>
            </a:extLst>
          </p:cNvPr>
          <p:cNvSpPr txBox="1"/>
          <p:nvPr/>
        </p:nvSpPr>
        <p:spPr>
          <a:xfrm>
            <a:off x="762000" y="1689100"/>
            <a:ext cx="4826000" cy="369332"/>
          </a:xfrm>
          <a:prstGeom prst="rect">
            <a:avLst/>
          </a:prstGeom>
          <a:noFill/>
        </p:spPr>
        <p:txBody>
          <a:bodyPr vert="horz" wrap="square" lIns="0" tIns="0" rIns="0" bIns="0" rtlCol="0">
            <a:noAutofit/>
          </a:bodyPr>
          <a:lstStyle/>
          <a:p>
            <a:r>
              <a:rPr kumimoji="1" lang="ja-JP" altLang="en-US" sz="1300" b="1">
                <a:solidFill>
                  <a:srgbClr val="1E2430"/>
                </a:solidFill>
                <a:latin typeface="BIZ UDPゴシック" panose="020B0400000000000000" pitchFamily="50" charset="-128"/>
                <a:ea typeface="BIZ UDPゴシック" panose="020B0400000000000000" pitchFamily="50" charset="-128"/>
              </a:rPr>
              <a:t>上から見た図（壁の向こうの虚像をつなぐ）</a:t>
            </a:r>
          </a:p>
        </p:txBody>
      </p:sp>
      <p:cxnSp>
        <p:nvCxnSpPr>
          <p:cNvPr id="12" name="直線コネクタ 11">
            <a:extLst>
              <a:ext uri="{FF2B5EF4-FFF2-40B4-BE49-F238E27FC236}">
                <a16:creationId xmlns:a16="http://schemas.microsoft.com/office/drawing/2014/main" id="{6201419D-A1CE-C7E8-0262-078FB2F7BD0C}"/>
              </a:ext>
            </a:extLst>
          </p:cNvPr>
          <p:cNvCxnSpPr/>
          <p:nvPr/>
        </p:nvCxnSpPr>
        <p:spPr>
          <a:xfrm>
            <a:off x="2603500" y="2082800"/>
            <a:ext cx="0" cy="2260600"/>
          </a:xfrm>
          <a:prstGeom prst="line">
            <a:avLst/>
          </a:prstGeom>
          <a:ln w="38100">
            <a:solidFill>
              <a:srgbClr val="1E2430"/>
            </a:solidFill>
            <a:prstDash val="solid"/>
          </a:ln>
        </p:spPr>
        <p:style>
          <a:lnRef idx="2">
            <a:schemeClr val="accent1"/>
          </a:lnRef>
          <a:fillRef idx="0">
            <a:schemeClr val="accent1"/>
          </a:fillRef>
          <a:effectRef idx="1">
            <a:schemeClr val="accent1"/>
          </a:effectRef>
          <a:fontRef idx="minor">
            <a:schemeClr val="tx1"/>
          </a:fontRef>
        </p:style>
      </p:cxnSp>
      <p:sp>
        <p:nvSpPr>
          <p:cNvPr id="13" name="テキスト ボックス 12">
            <a:extLst>
              <a:ext uri="{FF2B5EF4-FFF2-40B4-BE49-F238E27FC236}">
                <a16:creationId xmlns:a16="http://schemas.microsoft.com/office/drawing/2014/main" id="{629934E9-E59A-8991-A6C7-72978378D96C}"/>
              </a:ext>
            </a:extLst>
          </p:cNvPr>
          <p:cNvSpPr txBox="1"/>
          <p:nvPr/>
        </p:nvSpPr>
        <p:spPr>
          <a:xfrm>
            <a:off x="2679700" y="2082800"/>
            <a:ext cx="254000" cy="369332"/>
          </a:xfrm>
          <a:prstGeom prst="rect">
            <a:avLst/>
          </a:prstGeom>
          <a:noFill/>
        </p:spPr>
        <p:txBody>
          <a:bodyPr vert="horz" wrap="square" lIns="0" tIns="0" rIns="0" bIns="0" rtlCol="0">
            <a:noAutofit/>
          </a:bodyPr>
          <a:lstStyle/>
          <a:p>
            <a:r>
              <a:rPr kumimoji="1" lang="ja-JP" altLang="en-US" sz="1000">
                <a:solidFill>
                  <a:srgbClr val="1E2430"/>
                </a:solidFill>
                <a:latin typeface="BIZ UDPゴシック" panose="020B0400000000000000" pitchFamily="50" charset="-128"/>
                <a:ea typeface="BIZ UDPゴシック" panose="020B0400000000000000" pitchFamily="50" charset="-128"/>
              </a:rPr>
              <a:t>壁</a:t>
            </a:r>
          </a:p>
        </p:txBody>
      </p:sp>
      <p:sp>
        <p:nvSpPr>
          <p:cNvPr id="14" name="フリーフォーム: 図形 13">
            <a:extLst>
              <a:ext uri="{FF2B5EF4-FFF2-40B4-BE49-F238E27FC236}">
                <a16:creationId xmlns:a16="http://schemas.microsoft.com/office/drawing/2014/main" id="{E8AAE20F-2ADD-328D-1D4A-751F619D677E}"/>
              </a:ext>
            </a:extLst>
          </p:cNvPr>
          <p:cNvSpPr/>
          <p:nvPr/>
        </p:nvSpPr>
        <p:spPr>
          <a:xfrm>
            <a:off x="1168400" y="2336800"/>
            <a:ext cx="3022601" cy="1701801"/>
          </a:xfrm>
          <a:custGeom>
            <a:avLst/>
            <a:gdLst/>
            <a:ahLst/>
            <a:cxnLst/>
            <a:rect l="0" t="0" r="0" b="0"/>
            <a:pathLst>
              <a:path w="3022601" h="1701801">
                <a:moveTo>
                  <a:pt x="3022600" y="1701800"/>
                </a:moveTo>
                <a:lnTo>
                  <a:pt x="0" y="0"/>
                </a:lnTo>
                <a:lnTo>
                  <a:pt x="736600" y="1549400"/>
                </a:lnTo>
                <a:close/>
              </a:path>
            </a:pathLst>
          </a:custGeom>
          <a:solidFill>
            <a:srgbClr val="E3A33B">
              <a:alpha val="18000"/>
            </a:srgbClr>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5" name="直線コネクタ 14">
            <a:extLst>
              <a:ext uri="{FF2B5EF4-FFF2-40B4-BE49-F238E27FC236}">
                <a16:creationId xmlns:a16="http://schemas.microsoft.com/office/drawing/2014/main" id="{8CCD15C1-E0D3-0865-9CB1-7BA481666E07}"/>
              </a:ext>
            </a:extLst>
          </p:cNvPr>
          <p:cNvCxnSpPr/>
          <p:nvPr/>
        </p:nvCxnSpPr>
        <p:spPr>
          <a:xfrm>
            <a:off x="1193800" y="2362200"/>
            <a:ext cx="482600" cy="482600"/>
          </a:xfrm>
          <a:prstGeom prst="line">
            <a:avLst/>
          </a:prstGeom>
          <a:ln w="139700" cap="flat" cmpd="sng" algn="ctr">
            <a:solidFill>
              <a:srgbClr val="E3A33B">
                <a:alpha val="5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6" name="直線コネクタ 15">
            <a:extLst>
              <a:ext uri="{FF2B5EF4-FFF2-40B4-BE49-F238E27FC236}">
                <a16:creationId xmlns:a16="http://schemas.microsoft.com/office/drawing/2014/main" id="{07BEDA2A-2C0F-13A3-19DA-0E06E71A1788}"/>
              </a:ext>
            </a:extLst>
          </p:cNvPr>
          <p:cNvCxnSpPr/>
          <p:nvPr/>
        </p:nvCxnSpPr>
        <p:spPr>
          <a:xfrm flipH="1">
            <a:off x="1371600" y="2844800"/>
            <a:ext cx="304800" cy="533400"/>
          </a:xfrm>
          <a:prstGeom prst="line">
            <a:avLst/>
          </a:prstGeom>
          <a:ln w="139700" cap="flat" cmpd="sng" algn="ctr">
            <a:solidFill>
              <a:srgbClr val="E3A33B">
                <a:alpha val="5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7" name="直線コネクタ 16">
            <a:extLst>
              <a:ext uri="{FF2B5EF4-FFF2-40B4-BE49-F238E27FC236}">
                <a16:creationId xmlns:a16="http://schemas.microsoft.com/office/drawing/2014/main" id="{9E2F9759-DDBD-0266-ACF6-2451E9638FEA}"/>
              </a:ext>
            </a:extLst>
          </p:cNvPr>
          <p:cNvCxnSpPr/>
          <p:nvPr/>
        </p:nvCxnSpPr>
        <p:spPr>
          <a:xfrm>
            <a:off x="1371600" y="3378200"/>
            <a:ext cx="533400" cy="482600"/>
          </a:xfrm>
          <a:prstGeom prst="line">
            <a:avLst/>
          </a:prstGeom>
          <a:ln w="139700" cap="flat" cmpd="sng" algn="ctr">
            <a:solidFill>
              <a:srgbClr val="E3A33B">
                <a:alpha val="55000"/>
              </a:srgbClr>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18" name="楕円 17">
            <a:extLst>
              <a:ext uri="{FF2B5EF4-FFF2-40B4-BE49-F238E27FC236}">
                <a16:creationId xmlns:a16="http://schemas.microsoft.com/office/drawing/2014/main" id="{98A64AB4-3C58-D7E7-C88F-D79B4099ECF4}"/>
              </a:ext>
            </a:extLst>
          </p:cNvPr>
          <p:cNvSpPr/>
          <p:nvPr/>
        </p:nvSpPr>
        <p:spPr>
          <a:xfrm>
            <a:off x="1130300" y="2298700"/>
            <a:ext cx="127000" cy="127000"/>
          </a:xfrm>
          <a:prstGeom prst="ellipse">
            <a:avLst/>
          </a:prstGeom>
          <a:solidFill>
            <a:srgbClr val="FFFFFF"/>
          </a:solidFill>
          <a:ln w="22225">
            <a:solidFill>
              <a:srgbClr val="E3A3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楕円 18">
            <a:extLst>
              <a:ext uri="{FF2B5EF4-FFF2-40B4-BE49-F238E27FC236}">
                <a16:creationId xmlns:a16="http://schemas.microsoft.com/office/drawing/2014/main" id="{DDC5ECBE-1924-94E0-948D-ED67B8BE79AB}"/>
              </a:ext>
            </a:extLst>
          </p:cNvPr>
          <p:cNvSpPr/>
          <p:nvPr/>
        </p:nvSpPr>
        <p:spPr>
          <a:xfrm>
            <a:off x="1568450" y="2736850"/>
            <a:ext cx="215900" cy="215900"/>
          </a:xfrm>
          <a:prstGeom prst="ellipse">
            <a:avLst/>
          </a:prstGeom>
          <a:solidFill>
            <a:srgbClr val="E3A3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楕円 19">
            <a:extLst>
              <a:ext uri="{FF2B5EF4-FFF2-40B4-BE49-F238E27FC236}">
                <a16:creationId xmlns:a16="http://schemas.microsoft.com/office/drawing/2014/main" id="{54EF54BD-4F05-4064-F4CF-7B1C212A7837}"/>
              </a:ext>
            </a:extLst>
          </p:cNvPr>
          <p:cNvSpPr/>
          <p:nvPr/>
        </p:nvSpPr>
        <p:spPr>
          <a:xfrm>
            <a:off x="1308100" y="3314700"/>
            <a:ext cx="127000" cy="127000"/>
          </a:xfrm>
          <a:prstGeom prst="ellipse">
            <a:avLst/>
          </a:prstGeom>
          <a:solidFill>
            <a:srgbClr val="FFFFFF"/>
          </a:solidFill>
          <a:ln w="22225">
            <a:solidFill>
              <a:srgbClr val="E3A3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楕円 20">
            <a:extLst>
              <a:ext uri="{FF2B5EF4-FFF2-40B4-BE49-F238E27FC236}">
                <a16:creationId xmlns:a16="http://schemas.microsoft.com/office/drawing/2014/main" id="{EB07A7B9-B6AB-46EC-6473-988E2B75BB74}"/>
              </a:ext>
            </a:extLst>
          </p:cNvPr>
          <p:cNvSpPr/>
          <p:nvPr/>
        </p:nvSpPr>
        <p:spPr>
          <a:xfrm>
            <a:off x="1841500" y="3797300"/>
            <a:ext cx="127000" cy="127000"/>
          </a:xfrm>
          <a:prstGeom prst="ellipse">
            <a:avLst/>
          </a:prstGeom>
          <a:solidFill>
            <a:srgbClr val="FFFFFF"/>
          </a:solidFill>
          <a:ln w="22225">
            <a:solidFill>
              <a:srgbClr val="E3A3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2" name="直線コネクタ 21">
            <a:extLst>
              <a:ext uri="{FF2B5EF4-FFF2-40B4-BE49-F238E27FC236}">
                <a16:creationId xmlns:a16="http://schemas.microsoft.com/office/drawing/2014/main" id="{58C2D7D3-88C7-260F-3FCC-A7718DDEA224}"/>
              </a:ext>
            </a:extLst>
          </p:cNvPr>
          <p:cNvCxnSpPr/>
          <p:nvPr/>
        </p:nvCxnSpPr>
        <p:spPr>
          <a:xfrm flipH="1">
            <a:off x="4267200" y="2667000"/>
            <a:ext cx="304800" cy="1219200"/>
          </a:xfrm>
          <a:prstGeom prst="line">
            <a:avLst/>
          </a:prstGeom>
          <a:ln w="15875">
            <a:solidFill>
              <a:srgbClr val="9AA3B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3" name="楕円 22">
            <a:extLst>
              <a:ext uri="{FF2B5EF4-FFF2-40B4-BE49-F238E27FC236}">
                <a16:creationId xmlns:a16="http://schemas.microsoft.com/office/drawing/2014/main" id="{84387FE8-4955-A50C-F55B-E23BE1F507F6}"/>
              </a:ext>
            </a:extLst>
          </p:cNvPr>
          <p:cNvSpPr/>
          <p:nvPr/>
        </p:nvSpPr>
        <p:spPr>
          <a:xfrm>
            <a:off x="4533900" y="2451100"/>
            <a:ext cx="177800" cy="177800"/>
          </a:xfrm>
          <a:prstGeom prst="ellipse">
            <a:avLst/>
          </a:prstGeom>
          <a:solidFill>
            <a:srgbClr val="1E243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テキスト ボックス 23">
            <a:extLst>
              <a:ext uri="{FF2B5EF4-FFF2-40B4-BE49-F238E27FC236}">
                <a16:creationId xmlns:a16="http://schemas.microsoft.com/office/drawing/2014/main" id="{44C838D9-3EE8-7796-0B1D-BDDD36D3F314}"/>
              </a:ext>
            </a:extLst>
          </p:cNvPr>
          <p:cNvSpPr txBox="1"/>
          <p:nvPr/>
        </p:nvSpPr>
        <p:spPr>
          <a:xfrm>
            <a:off x="4762500" y="2451100"/>
            <a:ext cx="508000" cy="369332"/>
          </a:xfrm>
          <a:prstGeom prst="rect">
            <a:avLst/>
          </a:prstGeom>
          <a:noFill/>
        </p:spPr>
        <p:txBody>
          <a:bodyPr vert="horz" wrap="square" lIns="0" tIns="0" rIns="0" bIns="0" rtlCol="0">
            <a:noAutofit/>
          </a:bodyPr>
          <a:lstStyle/>
          <a:p>
            <a:r>
              <a:rPr kumimoji="1" lang="ja-JP" altLang="en-US" sz="1000">
                <a:solidFill>
                  <a:srgbClr val="1E2430"/>
                </a:solidFill>
                <a:latin typeface="BIZ UDPゴシック" panose="020B0400000000000000" pitchFamily="50" charset="-128"/>
                <a:ea typeface="BIZ UDPゴシック" panose="020B0400000000000000" pitchFamily="50" charset="-128"/>
              </a:rPr>
              <a:t>音源</a:t>
            </a:r>
          </a:p>
        </p:txBody>
      </p:sp>
      <p:sp>
        <p:nvSpPr>
          <p:cNvPr id="25" name="楕円 24">
            <a:extLst>
              <a:ext uri="{FF2B5EF4-FFF2-40B4-BE49-F238E27FC236}">
                <a16:creationId xmlns:a16="http://schemas.microsoft.com/office/drawing/2014/main" id="{DC4AE8B8-253E-D012-52FF-5E2643301E27}"/>
              </a:ext>
            </a:extLst>
          </p:cNvPr>
          <p:cNvSpPr/>
          <p:nvPr/>
        </p:nvSpPr>
        <p:spPr>
          <a:xfrm>
            <a:off x="4102100" y="3949700"/>
            <a:ext cx="177800" cy="177800"/>
          </a:xfrm>
          <a:prstGeom prst="ellipse">
            <a:avLst/>
          </a:prstGeom>
          <a:solidFill>
            <a:srgbClr val="1E243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テキスト ボックス 25">
            <a:extLst>
              <a:ext uri="{FF2B5EF4-FFF2-40B4-BE49-F238E27FC236}">
                <a16:creationId xmlns:a16="http://schemas.microsoft.com/office/drawing/2014/main" id="{1501F65A-979B-AC00-DEE9-F313A36553F8}"/>
              </a:ext>
            </a:extLst>
          </p:cNvPr>
          <p:cNvSpPr txBox="1"/>
          <p:nvPr/>
        </p:nvSpPr>
        <p:spPr>
          <a:xfrm>
            <a:off x="4330700" y="3962400"/>
            <a:ext cx="254000" cy="369332"/>
          </a:xfrm>
          <a:prstGeom prst="rect">
            <a:avLst/>
          </a:prstGeom>
          <a:noFill/>
        </p:spPr>
        <p:txBody>
          <a:bodyPr vert="horz" wrap="square" lIns="0" tIns="0" rIns="0" bIns="0" rtlCol="0">
            <a:noAutofit/>
          </a:bodyPr>
          <a:lstStyle/>
          <a:p>
            <a:r>
              <a:rPr kumimoji="1" lang="ja-JP" altLang="en-US" sz="1000">
                <a:solidFill>
                  <a:srgbClr val="1E2430"/>
                </a:solidFill>
                <a:latin typeface="BIZ UDPゴシック" panose="020B0400000000000000" pitchFamily="50" charset="-128"/>
                <a:ea typeface="BIZ UDPゴシック" panose="020B0400000000000000" pitchFamily="50" charset="-128"/>
              </a:rPr>
              <a:t>耳</a:t>
            </a:r>
          </a:p>
        </p:txBody>
      </p:sp>
      <p:sp>
        <p:nvSpPr>
          <p:cNvPr id="27" name="テキスト ボックス 26">
            <a:extLst>
              <a:ext uri="{FF2B5EF4-FFF2-40B4-BE49-F238E27FC236}">
                <a16:creationId xmlns:a16="http://schemas.microsoft.com/office/drawing/2014/main" id="{7226E053-117D-366F-4A95-74C37D86C2DE}"/>
              </a:ext>
            </a:extLst>
          </p:cNvPr>
          <p:cNvSpPr txBox="1"/>
          <p:nvPr/>
        </p:nvSpPr>
        <p:spPr>
          <a:xfrm>
            <a:off x="577850" y="2527300"/>
            <a:ext cx="673100" cy="369332"/>
          </a:xfrm>
          <a:prstGeom prst="rect">
            <a:avLst/>
          </a:prstGeom>
          <a:noFill/>
        </p:spPr>
        <p:txBody>
          <a:bodyPr vert="horz" wrap="square" lIns="0" tIns="0" rIns="0" bIns="0" rtlCol="0">
            <a:noAutofit/>
          </a:bodyPr>
          <a:lstStyle/>
          <a:p>
            <a:r>
              <a:rPr kumimoji="1" lang="ja-JP" altLang="en-US" sz="950" dirty="0">
                <a:solidFill>
                  <a:srgbClr val="9A6212"/>
                </a:solidFill>
                <a:latin typeface="BIZ UDPゴシック" panose="020B0400000000000000" pitchFamily="50" charset="-128"/>
                <a:ea typeface="BIZ UDPゴシック" panose="020B0400000000000000" pitchFamily="50" charset="-128"/>
              </a:rPr>
              <a:t>虚像音源群</a:t>
            </a:r>
          </a:p>
        </p:txBody>
      </p:sp>
      <p:sp>
        <p:nvSpPr>
          <p:cNvPr id="29" name="テキスト ボックス 28">
            <a:extLst>
              <a:ext uri="{FF2B5EF4-FFF2-40B4-BE49-F238E27FC236}">
                <a16:creationId xmlns:a16="http://schemas.microsoft.com/office/drawing/2014/main" id="{E7BF33D1-D05F-1DC4-B8EF-D2C83326F542}"/>
              </a:ext>
            </a:extLst>
          </p:cNvPr>
          <p:cNvSpPr txBox="1"/>
          <p:nvPr/>
        </p:nvSpPr>
        <p:spPr>
          <a:xfrm>
            <a:off x="2743200" y="3327400"/>
            <a:ext cx="2286000" cy="369332"/>
          </a:xfrm>
          <a:prstGeom prst="rect">
            <a:avLst/>
          </a:prstGeom>
          <a:noFill/>
        </p:spPr>
        <p:txBody>
          <a:bodyPr vert="horz" wrap="square" lIns="0" tIns="0" rIns="0" bIns="0" rtlCol="0">
            <a:noAutofit/>
          </a:bodyPr>
          <a:lstStyle/>
          <a:p>
            <a:r>
              <a:rPr kumimoji="1" lang="ja-JP" altLang="en-US" sz="1000" b="1" dirty="0">
                <a:solidFill>
                  <a:srgbClr val="9A6212"/>
                </a:solidFill>
                <a:latin typeface="BIZ UDPゴシック" panose="020B0400000000000000" pitchFamily="50" charset="-128"/>
                <a:ea typeface="BIZ UDPゴシック" panose="020B0400000000000000" pitchFamily="50" charset="-128"/>
              </a:rPr>
              <a:t>つないだ面の広がり＝音源の幅（</a:t>
            </a:r>
            <a:r>
              <a:rPr kumimoji="1" lang="en-US" altLang="ja-JP" sz="1000" b="1" dirty="0">
                <a:solidFill>
                  <a:srgbClr val="9A6212"/>
                </a:solidFill>
                <a:latin typeface="BIZ UDPゴシック" panose="020B0400000000000000" pitchFamily="50" charset="-128"/>
                <a:ea typeface="BIZ UDPゴシック" panose="020B0400000000000000" pitchFamily="50" charset="-128"/>
              </a:rPr>
              <a:t>ASW</a:t>
            </a:r>
            <a:r>
              <a:rPr kumimoji="1" lang="ja-JP" altLang="en-US" sz="1000" b="1" dirty="0">
                <a:solidFill>
                  <a:srgbClr val="9A6212"/>
                </a:solidFill>
                <a:latin typeface="BIZ UDPゴシック" panose="020B0400000000000000" pitchFamily="50" charset="-128"/>
                <a:ea typeface="BIZ UDPゴシック" panose="020B0400000000000000" pitchFamily="50" charset="-128"/>
              </a:rPr>
              <a:t>）</a:t>
            </a:r>
          </a:p>
        </p:txBody>
      </p:sp>
      <p:sp>
        <p:nvSpPr>
          <p:cNvPr id="31" name="四角形: 角を丸くする 30">
            <a:extLst>
              <a:ext uri="{FF2B5EF4-FFF2-40B4-BE49-F238E27FC236}">
                <a16:creationId xmlns:a16="http://schemas.microsoft.com/office/drawing/2014/main" id="{99A4C4DE-3A61-A51D-2277-E1CDFF70B9AE}"/>
              </a:ext>
            </a:extLst>
          </p:cNvPr>
          <p:cNvSpPr/>
          <p:nvPr/>
        </p:nvSpPr>
        <p:spPr>
          <a:xfrm>
            <a:off x="546100" y="4851400"/>
            <a:ext cx="5397500" cy="1397000"/>
          </a:xfrm>
          <a:prstGeom prst="roundRect">
            <a:avLst>
              <a:gd name="adj" fmla="val 8000"/>
            </a:avLst>
          </a:prstGeom>
          <a:solidFill>
            <a:srgbClr val="FBF1D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四角形: 角を丸くする 31">
            <a:extLst>
              <a:ext uri="{FF2B5EF4-FFF2-40B4-BE49-F238E27FC236}">
                <a16:creationId xmlns:a16="http://schemas.microsoft.com/office/drawing/2014/main" id="{8448D354-A0D2-2698-C6D7-3DAB0E3DC4F0}"/>
              </a:ext>
            </a:extLst>
          </p:cNvPr>
          <p:cNvSpPr/>
          <p:nvPr/>
        </p:nvSpPr>
        <p:spPr>
          <a:xfrm>
            <a:off x="723900" y="5041900"/>
            <a:ext cx="965200" cy="330200"/>
          </a:xfrm>
          <a:prstGeom prst="roundRect">
            <a:avLst>
              <a:gd name="adj" fmla="val 50000"/>
            </a:avLst>
          </a:prstGeom>
          <a:solidFill>
            <a:srgbClr val="E3A3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kumimoji="1" lang="ja-JP" altLang="en-US" sz="1300" b="1">
                <a:solidFill>
                  <a:srgbClr val="1E2430"/>
                </a:solidFill>
                <a:latin typeface="BIZ UDPゴシック" panose="020B0400000000000000" pitchFamily="50" charset="-128"/>
                <a:ea typeface="BIZ UDPゴシック" panose="020B0400000000000000" pitchFamily="50" charset="-128"/>
              </a:rPr>
              <a:t>連続性</a:t>
            </a:r>
          </a:p>
        </p:txBody>
      </p:sp>
      <p:sp>
        <p:nvSpPr>
          <p:cNvPr id="33" name="テキスト ボックス 32">
            <a:extLst>
              <a:ext uri="{FF2B5EF4-FFF2-40B4-BE49-F238E27FC236}">
                <a16:creationId xmlns:a16="http://schemas.microsoft.com/office/drawing/2014/main" id="{CE80A148-0497-F734-806D-C6019C5ED2EC}"/>
              </a:ext>
            </a:extLst>
          </p:cNvPr>
          <p:cNvSpPr txBox="1"/>
          <p:nvPr/>
        </p:nvSpPr>
        <p:spPr>
          <a:xfrm>
            <a:off x="1841500" y="4991100"/>
            <a:ext cx="3937000" cy="369332"/>
          </a:xfrm>
          <a:prstGeom prst="rect">
            <a:avLst/>
          </a:prstGeom>
          <a:noFill/>
        </p:spPr>
        <p:txBody>
          <a:bodyPr vert="horz" wrap="square" lIns="0" tIns="0" rIns="0" bIns="0" rtlCol="0">
            <a:noAutofit/>
          </a:bodyPr>
          <a:lstStyle/>
          <a:p>
            <a:pPr>
              <a:lnSpc>
                <a:spcPct val="115000"/>
              </a:lnSpc>
            </a:pPr>
            <a:r>
              <a:rPr kumimoji="1" lang="ja-JP" altLang="en-US" sz="1150" dirty="0">
                <a:solidFill>
                  <a:srgbClr val="3A4250"/>
                </a:solidFill>
                <a:latin typeface="BIZ UDPゴシック" panose="020B0400000000000000" pitchFamily="50" charset="-128"/>
                <a:ea typeface="BIZ UDPゴシック" panose="020B0400000000000000" pitchFamily="50" charset="-128"/>
              </a:rPr>
              <a:t>移動時にレイが飛んだとしても全体を通して面で扱うことでどれかが飛んでも滑らかに動いて聞こえるように</a:t>
            </a:r>
          </a:p>
        </p:txBody>
      </p:sp>
      <p:sp>
        <p:nvSpPr>
          <p:cNvPr id="34" name="四角形: 角を丸くする 33">
            <a:extLst>
              <a:ext uri="{FF2B5EF4-FFF2-40B4-BE49-F238E27FC236}">
                <a16:creationId xmlns:a16="http://schemas.microsoft.com/office/drawing/2014/main" id="{99D5E500-AE85-DF6E-5197-A077B2CC56E8}"/>
              </a:ext>
            </a:extLst>
          </p:cNvPr>
          <p:cNvSpPr/>
          <p:nvPr/>
        </p:nvSpPr>
        <p:spPr>
          <a:xfrm>
            <a:off x="723900" y="5638800"/>
            <a:ext cx="965200" cy="330200"/>
          </a:xfrm>
          <a:prstGeom prst="roundRect">
            <a:avLst>
              <a:gd name="adj" fmla="val 50000"/>
            </a:avLst>
          </a:prstGeom>
          <a:solidFill>
            <a:srgbClr val="E3A3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kumimoji="1" lang="ja-JP" altLang="en-US" sz="1300" b="1">
                <a:solidFill>
                  <a:srgbClr val="1E2430"/>
                </a:solidFill>
                <a:latin typeface="BIZ UDPゴシック" panose="020B0400000000000000" pitchFamily="50" charset="-128"/>
                <a:ea typeface="BIZ UDPゴシック" panose="020B0400000000000000" pitchFamily="50" charset="-128"/>
              </a:rPr>
              <a:t>方向性</a:t>
            </a:r>
          </a:p>
        </p:txBody>
      </p:sp>
      <p:sp>
        <p:nvSpPr>
          <p:cNvPr id="35" name="テキスト ボックス 34">
            <a:extLst>
              <a:ext uri="{FF2B5EF4-FFF2-40B4-BE49-F238E27FC236}">
                <a16:creationId xmlns:a16="http://schemas.microsoft.com/office/drawing/2014/main" id="{835B397A-A07C-69CF-79FB-75F5AEF3C825}"/>
              </a:ext>
            </a:extLst>
          </p:cNvPr>
          <p:cNvSpPr txBox="1"/>
          <p:nvPr/>
        </p:nvSpPr>
        <p:spPr>
          <a:xfrm>
            <a:off x="1841500" y="5588000"/>
            <a:ext cx="3937000" cy="369332"/>
          </a:xfrm>
          <a:prstGeom prst="rect">
            <a:avLst/>
          </a:prstGeom>
          <a:noFill/>
        </p:spPr>
        <p:txBody>
          <a:bodyPr vert="horz" wrap="square" lIns="0" tIns="0" rIns="0" bIns="0" rtlCol="0">
            <a:noAutofit/>
          </a:bodyPr>
          <a:lstStyle/>
          <a:p>
            <a:pPr>
              <a:lnSpc>
                <a:spcPct val="115000"/>
              </a:lnSpc>
            </a:pPr>
            <a:r>
              <a:rPr kumimoji="1" lang="ja-JP" altLang="en-US" sz="1150" dirty="0">
                <a:solidFill>
                  <a:srgbClr val="3A4250"/>
                </a:solidFill>
                <a:latin typeface="BIZ UDPゴシック" panose="020B0400000000000000" pitchFamily="50" charset="-128"/>
                <a:ea typeface="BIZ UDPゴシック" panose="020B0400000000000000" pitchFamily="50" charset="-128"/>
              </a:rPr>
              <a:t>方向バスに落とすと見かけの壁と聞こえてる幅の合わなさに違和感を覚えるかもしれないから、早期反射での虚像は面音源として扱うように</a:t>
            </a:r>
          </a:p>
        </p:txBody>
      </p:sp>
      <p:sp>
        <p:nvSpPr>
          <p:cNvPr id="36" name="四角形: 角を丸くする 35">
            <a:extLst>
              <a:ext uri="{FF2B5EF4-FFF2-40B4-BE49-F238E27FC236}">
                <a16:creationId xmlns:a16="http://schemas.microsoft.com/office/drawing/2014/main" id="{62D21C44-323B-757D-6A94-688DE402B41A}"/>
              </a:ext>
            </a:extLst>
          </p:cNvPr>
          <p:cNvSpPr/>
          <p:nvPr/>
        </p:nvSpPr>
        <p:spPr>
          <a:xfrm>
            <a:off x="6159500" y="1549400"/>
            <a:ext cx="5486400" cy="1498600"/>
          </a:xfrm>
          <a:prstGeom prst="roundRect">
            <a:avLst>
              <a:gd name="adj" fmla="val 6000"/>
            </a:avLst>
          </a:prstGeom>
          <a:solidFill>
            <a:srgbClr val="F0F2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四角形: 角を丸くする 36">
            <a:extLst>
              <a:ext uri="{FF2B5EF4-FFF2-40B4-BE49-F238E27FC236}">
                <a16:creationId xmlns:a16="http://schemas.microsoft.com/office/drawing/2014/main" id="{D840176A-AC65-BB63-2EE7-A1DA92D71BF5}"/>
              </a:ext>
            </a:extLst>
          </p:cNvPr>
          <p:cNvSpPr/>
          <p:nvPr/>
        </p:nvSpPr>
        <p:spPr>
          <a:xfrm>
            <a:off x="6362700" y="1714500"/>
            <a:ext cx="330200" cy="330200"/>
          </a:xfrm>
          <a:prstGeom prst="roundRect">
            <a:avLst>
              <a:gd name="adj" fmla="val 50000"/>
            </a:avLst>
          </a:prstGeom>
          <a:solidFill>
            <a:srgbClr val="E3A3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kumimoji="1" lang="en-US" altLang="ja-JP" sz="1300" b="1">
                <a:solidFill>
                  <a:srgbClr val="1E2430"/>
                </a:solidFill>
                <a:latin typeface="BIZ UDPゴシック" panose="020B0400000000000000" pitchFamily="50" charset="-128"/>
                <a:ea typeface="BIZ UDPゴシック" panose="020B0400000000000000" pitchFamily="50" charset="-128"/>
              </a:rPr>
              <a:t>1</a:t>
            </a:r>
            <a:endParaRPr kumimoji="1" lang="ja-JP" altLang="en-US" sz="1300" b="1">
              <a:solidFill>
                <a:srgbClr val="1E2430"/>
              </a:solidFill>
              <a:latin typeface="BIZ UDPゴシック" panose="020B0400000000000000" pitchFamily="50" charset="-128"/>
              <a:ea typeface="BIZ UDPゴシック" panose="020B0400000000000000" pitchFamily="50" charset="-128"/>
            </a:endParaRPr>
          </a:p>
        </p:txBody>
      </p:sp>
      <p:sp>
        <p:nvSpPr>
          <p:cNvPr id="38" name="テキスト ボックス 37">
            <a:extLst>
              <a:ext uri="{FF2B5EF4-FFF2-40B4-BE49-F238E27FC236}">
                <a16:creationId xmlns:a16="http://schemas.microsoft.com/office/drawing/2014/main" id="{383EAC93-4A05-CE2D-8B9B-AC52E3698F22}"/>
              </a:ext>
            </a:extLst>
          </p:cNvPr>
          <p:cNvSpPr txBox="1"/>
          <p:nvPr/>
        </p:nvSpPr>
        <p:spPr>
          <a:xfrm>
            <a:off x="6819900" y="1752600"/>
            <a:ext cx="3175000" cy="369332"/>
          </a:xfrm>
          <a:prstGeom prst="rect">
            <a:avLst/>
          </a:prstGeom>
          <a:noFill/>
        </p:spPr>
        <p:txBody>
          <a:bodyPr vert="horz" wrap="square" lIns="0" tIns="0" rIns="0" bIns="0" rtlCol="0">
            <a:noAutofit/>
          </a:bodyPr>
          <a:lstStyle/>
          <a:p>
            <a:r>
              <a:rPr kumimoji="1" lang="ja-JP" altLang="en-US" sz="1550" b="1">
                <a:solidFill>
                  <a:srgbClr val="1E2430"/>
                </a:solidFill>
                <a:latin typeface="BIZ UDPゴシック" panose="020B0400000000000000" pitchFamily="50" charset="-128"/>
                <a:ea typeface="BIZ UDPゴシック" panose="020B0400000000000000" pitchFamily="50" charset="-128"/>
              </a:rPr>
              <a:t>虚像をつないで面にする</a:t>
            </a:r>
          </a:p>
        </p:txBody>
      </p:sp>
      <p:sp>
        <p:nvSpPr>
          <p:cNvPr id="39" name="四角形: 角を丸くする 38">
            <a:extLst>
              <a:ext uri="{FF2B5EF4-FFF2-40B4-BE49-F238E27FC236}">
                <a16:creationId xmlns:a16="http://schemas.microsoft.com/office/drawing/2014/main" id="{907FF55B-EDBC-F51A-0A6D-BEEF69608CB7}"/>
              </a:ext>
            </a:extLst>
          </p:cNvPr>
          <p:cNvSpPr/>
          <p:nvPr/>
        </p:nvSpPr>
        <p:spPr>
          <a:xfrm>
            <a:off x="10718800" y="1739900"/>
            <a:ext cx="723900" cy="279400"/>
          </a:xfrm>
          <a:prstGeom prst="roundRect">
            <a:avLst>
              <a:gd name="adj" fmla="val 50000"/>
            </a:avLst>
          </a:prstGeom>
          <a:solidFill>
            <a:srgbClr val="DDE1E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kumimoji="1" lang="ja-JP" altLang="en-US" sz="1100" b="1">
                <a:solidFill>
                  <a:srgbClr val="1E2430"/>
                </a:solidFill>
                <a:latin typeface="BIZ UDPゴシック" panose="020B0400000000000000" pitchFamily="50" charset="-128"/>
                <a:ea typeface="BIZ UDPゴシック" panose="020B0400000000000000" pitchFamily="50" charset="-128"/>
              </a:rPr>
              <a:t>面音源</a:t>
            </a:r>
          </a:p>
        </p:txBody>
      </p:sp>
      <p:sp>
        <p:nvSpPr>
          <p:cNvPr id="40" name="四角形: 角を丸くする 39">
            <a:extLst>
              <a:ext uri="{FF2B5EF4-FFF2-40B4-BE49-F238E27FC236}">
                <a16:creationId xmlns:a16="http://schemas.microsoft.com/office/drawing/2014/main" id="{FBCAA647-674C-8F48-DB22-82DA96DF2B8A}"/>
              </a:ext>
            </a:extLst>
          </p:cNvPr>
          <p:cNvSpPr/>
          <p:nvPr/>
        </p:nvSpPr>
        <p:spPr>
          <a:xfrm>
            <a:off x="9918700" y="1739900"/>
            <a:ext cx="723900" cy="279400"/>
          </a:xfrm>
          <a:prstGeom prst="roundRect">
            <a:avLst>
              <a:gd name="adj" fmla="val 50000"/>
            </a:avLst>
          </a:prstGeom>
          <a:solidFill>
            <a:srgbClr val="DDE1E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kumimoji="1" lang="en-US" altLang="ja-JP" sz="1100" b="1">
                <a:solidFill>
                  <a:srgbClr val="1E2430"/>
                </a:solidFill>
                <a:latin typeface="BIZ UDPゴシック" panose="020B0400000000000000" pitchFamily="50" charset="-128"/>
                <a:ea typeface="BIZ UDPゴシック" panose="020B0400000000000000" pitchFamily="50" charset="-128"/>
              </a:rPr>
              <a:t>ISM</a:t>
            </a:r>
            <a:endParaRPr kumimoji="1" lang="ja-JP" altLang="en-US" sz="1100" b="1">
              <a:solidFill>
                <a:srgbClr val="1E2430"/>
              </a:solidFill>
              <a:latin typeface="BIZ UDPゴシック" panose="020B0400000000000000" pitchFamily="50" charset="-128"/>
              <a:ea typeface="BIZ UDPゴシック" panose="020B0400000000000000" pitchFamily="50" charset="-128"/>
            </a:endParaRPr>
          </a:p>
        </p:txBody>
      </p:sp>
      <p:sp>
        <p:nvSpPr>
          <p:cNvPr id="41" name="テキスト ボックス 40">
            <a:extLst>
              <a:ext uri="{FF2B5EF4-FFF2-40B4-BE49-F238E27FC236}">
                <a16:creationId xmlns:a16="http://schemas.microsoft.com/office/drawing/2014/main" id="{DB2CA262-DE40-6D61-1462-D190E8303910}"/>
              </a:ext>
            </a:extLst>
          </p:cNvPr>
          <p:cNvSpPr txBox="1"/>
          <p:nvPr/>
        </p:nvSpPr>
        <p:spPr>
          <a:xfrm>
            <a:off x="6388100" y="2184400"/>
            <a:ext cx="5054600" cy="369332"/>
          </a:xfrm>
          <a:prstGeom prst="rect">
            <a:avLst/>
          </a:prstGeom>
          <a:noFill/>
        </p:spPr>
        <p:txBody>
          <a:bodyPr vert="horz" wrap="square" lIns="0" tIns="0" rIns="0" bIns="0" rtlCol="0">
            <a:noAutofit/>
          </a:bodyPr>
          <a:lstStyle/>
          <a:p>
            <a:pPr>
              <a:lnSpc>
                <a:spcPct val="115000"/>
              </a:lnSpc>
            </a:pPr>
            <a:r>
              <a:rPr kumimoji="1" lang="ja-JP" altLang="en-US" sz="1200" dirty="0">
                <a:solidFill>
                  <a:srgbClr val="3A4250"/>
                </a:solidFill>
                <a:latin typeface="BIZ UDPゴシック" panose="020B0400000000000000" pitchFamily="50" charset="-128"/>
                <a:ea typeface="BIZ UDPゴシック" panose="020B0400000000000000" pitchFamily="50" charset="-128"/>
              </a:rPr>
              <a:t>壁で鏡に映した虚像のうち、耳から見て向きと届く時刻が近いものほど強くつなぐ。壁が近いと虚像群もある程度密集していて、壁が遠いと到達距離も長くばらけてぼんやりと聞こえるように。</a:t>
            </a:r>
          </a:p>
        </p:txBody>
      </p:sp>
      <p:sp>
        <p:nvSpPr>
          <p:cNvPr id="42" name="四角形: 角を丸くする 41">
            <a:extLst>
              <a:ext uri="{FF2B5EF4-FFF2-40B4-BE49-F238E27FC236}">
                <a16:creationId xmlns:a16="http://schemas.microsoft.com/office/drawing/2014/main" id="{F0CCF7C1-68CD-2D61-A06B-7BAF22EF42A3}"/>
              </a:ext>
            </a:extLst>
          </p:cNvPr>
          <p:cNvSpPr/>
          <p:nvPr/>
        </p:nvSpPr>
        <p:spPr>
          <a:xfrm>
            <a:off x="6159500" y="3149600"/>
            <a:ext cx="5486400" cy="1498600"/>
          </a:xfrm>
          <a:prstGeom prst="roundRect">
            <a:avLst>
              <a:gd name="adj" fmla="val 6000"/>
            </a:avLst>
          </a:prstGeom>
          <a:solidFill>
            <a:srgbClr val="FBF1D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四角形: 角を丸くする 42">
            <a:extLst>
              <a:ext uri="{FF2B5EF4-FFF2-40B4-BE49-F238E27FC236}">
                <a16:creationId xmlns:a16="http://schemas.microsoft.com/office/drawing/2014/main" id="{054F4664-2E7F-9273-E2AF-2B45D1F1BE6D}"/>
              </a:ext>
            </a:extLst>
          </p:cNvPr>
          <p:cNvSpPr/>
          <p:nvPr/>
        </p:nvSpPr>
        <p:spPr>
          <a:xfrm>
            <a:off x="6362700" y="3314700"/>
            <a:ext cx="330200" cy="330200"/>
          </a:xfrm>
          <a:prstGeom prst="roundRect">
            <a:avLst>
              <a:gd name="adj" fmla="val 50000"/>
            </a:avLst>
          </a:prstGeom>
          <a:solidFill>
            <a:srgbClr val="E3A3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kumimoji="1" lang="en-US" altLang="ja-JP" sz="1300" b="1">
                <a:solidFill>
                  <a:srgbClr val="1E2430"/>
                </a:solidFill>
                <a:latin typeface="BIZ UDPゴシック" panose="020B0400000000000000" pitchFamily="50" charset="-128"/>
                <a:ea typeface="BIZ UDPゴシック" panose="020B0400000000000000" pitchFamily="50" charset="-128"/>
              </a:rPr>
              <a:t>2</a:t>
            </a:r>
            <a:endParaRPr kumimoji="1" lang="ja-JP" altLang="en-US" sz="1300" b="1">
              <a:solidFill>
                <a:srgbClr val="1E2430"/>
              </a:solidFill>
              <a:latin typeface="BIZ UDPゴシック" panose="020B0400000000000000" pitchFamily="50" charset="-128"/>
              <a:ea typeface="BIZ UDPゴシック" panose="020B0400000000000000" pitchFamily="50" charset="-128"/>
            </a:endParaRPr>
          </a:p>
        </p:txBody>
      </p:sp>
      <p:sp>
        <p:nvSpPr>
          <p:cNvPr id="44" name="テキスト ボックス 43">
            <a:extLst>
              <a:ext uri="{FF2B5EF4-FFF2-40B4-BE49-F238E27FC236}">
                <a16:creationId xmlns:a16="http://schemas.microsoft.com/office/drawing/2014/main" id="{A2C20A55-63B7-25AC-5EBB-266C4586C7FF}"/>
              </a:ext>
            </a:extLst>
          </p:cNvPr>
          <p:cNvSpPr txBox="1"/>
          <p:nvPr/>
        </p:nvSpPr>
        <p:spPr>
          <a:xfrm>
            <a:off x="6819900" y="3352800"/>
            <a:ext cx="3175000" cy="369332"/>
          </a:xfrm>
          <a:prstGeom prst="rect">
            <a:avLst/>
          </a:prstGeom>
          <a:noFill/>
        </p:spPr>
        <p:txBody>
          <a:bodyPr vert="horz" wrap="square" lIns="0" tIns="0" rIns="0" bIns="0" rtlCol="0">
            <a:noAutofit/>
          </a:bodyPr>
          <a:lstStyle/>
          <a:p>
            <a:r>
              <a:rPr kumimoji="1" lang="ja-JP" altLang="en-US" sz="1550" b="1" dirty="0">
                <a:solidFill>
                  <a:srgbClr val="1E2430"/>
                </a:solidFill>
                <a:latin typeface="BIZ UDPゴシック" panose="020B0400000000000000" pitchFamily="50" charset="-128"/>
                <a:ea typeface="BIZ UDPゴシック" panose="020B0400000000000000" pitchFamily="50" charset="-128"/>
              </a:rPr>
              <a:t>集まり・近さで重みを付ける</a:t>
            </a:r>
          </a:p>
        </p:txBody>
      </p:sp>
      <p:sp>
        <p:nvSpPr>
          <p:cNvPr id="45" name="四角形: 角を丸くする 44">
            <a:extLst>
              <a:ext uri="{FF2B5EF4-FFF2-40B4-BE49-F238E27FC236}">
                <a16:creationId xmlns:a16="http://schemas.microsoft.com/office/drawing/2014/main" id="{E21DACA1-CDB8-5B2B-D477-EA45DD1490F5}"/>
              </a:ext>
            </a:extLst>
          </p:cNvPr>
          <p:cNvSpPr/>
          <p:nvPr/>
        </p:nvSpPr>
        <p:spPr>
          <a:xfrm>
            <a:off x="10782300" y="3340100"/>
            <a:ext cx="660400" cy="279400"/>
          </a:xfrm>
          <a:prstGeom prst="roundRect">
            <a:avLst>
              <a:gd name="adj" fmla="val 50000"/>
            </a:avLst>
          </a:prstGeom>
          <a:solidFill>
            <a:srgbClr val="E3A3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kumimoji="1" lang="ja-JP" altLang="en-US" sz="1100" b="1">
                <a:solidFill>
                  <a:srgbClr val="1E2430"/>
                </a:solidFill>
                <a:latin typeface="BIZ UDPゴシック" panose="020B0400000000000000" pitchFamily="50" charset="-128"/>
                <a:ea typeface="BIZ UDPゴシック" panose="020B0400000000000000" pitchFamily="50" charset="-128"/>
              </a:rPr>
              <a:t>演出</a:t>
            </a:r>
          </a:p>
        </p:txBody>
      </p:sp>
      <p:sp>
        <p:nvSpPr>
          <p:cNvPr id="46" name="テキスト ボックス 45">
            <a:extLst>
              <a:ext uri="{FF2B5EF4-FFF2-40B4-BE49-F238E27FC236}">
                <a16:creationId xmlns:a16="http://schemas.microsoft.com/office/drawing/2014/main" id="{65A37C99-98A5-C929-A1A8-0FB413080BE8}"/>
              </a:ext>
            </a:extLst>
          </p:cNvPr>
          <p:cNvSpPr txBox="1"/>
          <p:nvPr/>
        </p:nvSpPr>
        <p:spPr>
          <a:xfrm>
            <a:off x="6388100" y="3784600"/>
            <a:ext cx="5054600" cy="369332"/>
          </a:xfrm>
          <a:prstGeom prst="rect">
            <a:avLst/>
          </a:prstGeom>
          <a:noFill/>
        </p:spPr>
        <p:txBody>
          <a:bodyPr vert="horz" wrap="square" lIns="0" tIns="0" rIns="0" bIns="0" rtlCol="0">
            <a:noAutofit/>
          </a:bodyPr>
          <a:lstStyle/>
          <a:p>
            <a:pPr>
              <a:lnSpc>
                <a:spcPct val="115000"/>
              </a:lnSpc>
            </a:pPr>
            <a:r>
              <a:rPr kumimoji="1" lang="ja-JP" altLang="en-US" sz="1200" dirty="0">
                <a:solidFill>
                  <a:srgbClr val="3A4250"/>
                </a:solidFill>
                <a:latin typeface="BIZ UDPゴシック" panose="020B0400000000000000" pitchFamily="50" charset="-128"/>
                <a:ea typeface="BIZ UDPゴシック" panose="020B0400000000000000" pitchFamily="50" charset="-128"/>
              </a:rPr>
              <a:t>虚像が集中して集まっているところや到達までの距離が近い箇所を特に強く表して、奥行き感や圧迫感等がわかりやすいように</a:t>
            </a:r>
          </a:p>
        </p:txBody>
      </p:sp>
    </p:spTree>
    <p:extLst>
      <p:ext uri="{BB962C8B-B14F-4D97-AF65-F5344CB8AC3E}">
        <p14:creationId xmlns:p14="http://schemas.microsoft.com/office/powerpoint/2010/main" val="26141473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D62D5E50-1B00-652A-A749-CAE9520F4E8E}"/>
              </a:ext>
            </a:extLst>
          </p:cNvPr>
          <p:cNvSpPr txBox="1"/>
          <p:nvPr/>
        </p:nvSpPr>
        <p:spPr>
          <a:xfrm>
            <a:off x="355600" y="177800"/>
            <a:ext cx="8128000" cy="369332"/>
          </a:xfrm>
          <a:prstGeom prst="rect">
            <a:avLst/>
          </a:prstGeom>
          <a:noFill/>
        </p:spPr>
        <p:txBody>
          <a:bodyPr vert="horz" wrap="square" lIns="0" tIns="0" rIns="0" bIns="0" rtlCol="0">
            <a:noAutofit/>
          </a:bodyPr>
          <a:lstStyle/>
          <a:p>
            <a:r>
              <a:rPr kumimoji="1" lang="ja-JP" altLang="en-US" sz="1600" b="1">
                <a:solidFill>
                  <a:srgbClr val="1E2430"/>
                </a:solidFill>
                <a:latin typeface="BIZ UDPゴシック" panose="020B0400000000000000" pitchFamily="50" charset="-128"/>
                <a:ea typeface="BIZ UDPゴシック" panose="020B0400000000000000" pitchFamily="50" charset="-128"/>
              </a:rPr>
              <a:t>・技術選定　部屋で聞こえる音の響き方</a:t>
            </a:r>
          </a:p>
        </p:txBody>
      </p:sp>
      <p:sp>
        <p:nvSpPr>
          <p:cNvPr id="3" name="テキスト ボックス 2">
            <a:extLst>
              <a:ext uri="{FF2B5EF4-FFF2-40B4-BE49-F238E27FC236}">
                <a16:creationId xmlns:a16="http://schemas.microsoft.com/office/drawing/2014/main" id="{0039D650-5F76-8B24-C24D-CD702B23227E}"/>
              </a:ext>
            </a:extLst>
          </p:cNvPr>
          <p:cNvSpPr txBox="1"/>
          <p:nvPr/>
        </p:nvSpPr>
        <p:spPr>
          <a:xfrm>
            <a:off x="736600" y="558800"/>
            <a:ext cx="10668000" cy="369332"/>
          </a:xfrm>
          <a:prstGeom prst="rect">
            <a:avLst/>
          </a:prstGeom>
          <a:noFill/>
        </p:spPr>
        <p:txBody>
          <a:bodyPr vert="horz" wrap="square" lIns="0" tIns="0" rIns="0" bIns="0" rtlCol="0">
            <a:noAutofit/>
          </a:bodyPr>
          <a:lstStyle/>
          <a:p>
            <a:r>
              <a:rPr kumimoji="1" lang="ja-JP" altLang="en-US" sz="3400" b="1">
                <a:solidFill>
                  <a:srgbClr val="1E2430"/>
                </a:solidFill>
                <a:latin typeface="BIZ UDPゴシック" panose="020B0400000000000000" pitchFamily="50" charset="-128"/>
                <a:ea typeface="BIZ UDPゴシック" panose="020B0400000000000000" pitchFamily="50" charset="-128"/>
              </a:rPr>
              <a:t>隣の部屋の音は戸口から聞こえるように</a:t>
            </a:r>
          </a:p>
        </p:txBody>
      </p:sp>
      <p:sp>
        <p:nvSpPr>
          <p:cNvPr id="4" name="正方形/長方形 3">
            <a:extLst>
              <a:ext uri="{FF2B5EF4-FFF2-40B4-BE49-F238E27FC236}">
                <a16:creationId xmlns:a16="http://schemas.microsoft.com/office/drawing/2014/main" id="{4763DC5B-A857-25A7-DEBF-E20E0FFAC86B}"/>
              </a:ext>
            </a:extLst>
          </p:cNvPr>
          <p:cNvSpPr/>
          <p:nvPr/>
        </p:nvSpPr>
        <p:spPr>
          <a:xfrm>
            <a:off x="655320" y="1310640"/>
            <a:ext cx="3192780" cy="22860"/>
          </a:xfrm>
          <a:prstGeom prst="rect">
            <a:avLst/>
          </a:prstGeom>
          <a:solidFill>
            <a:srgbClr val="D86EC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4">
            <a:extLst>
              <a:ext uri="{FF2B5EF4-FFF2-40B4-BE49-F238E27FC236}">
                <a16:creationId xmlns:a16="http://schemas.microsoft.com/office/drawing/2014/main" id="{890D4EED-FA84-35F0-5149-0F81EADFA580}"/>
              </a:ext>
            </a:extLst>
          </p:cNvPr>
          <p:cNvSpPr/>
          <p:nvPr/>
        </p:nvSpPr>
        <p:spPr>
          <a:xfrm>
            <a:off x="3863340" y="1315720"/>
            <a:ext cx="7937500" cy="7620"/>
          </a:xfrm>
          <a:prstGeom prst="rect">
            <a:avLst/>
          </a:prstGeom>
          <a:solidFill>
            <a:srgbClr val="E2E5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7" name="図 6">
            <a:extLst>
              <a:ext uri="{FF2B5EF4-FFF2-40B4-BE49-F238E27FC236}">
                <a16:creationId xmlns:a16="http://schemas.microsoft.com/office/drawing/2014/main" id="{E5385708-4AF1-6255-4B37-453F5DF31302}"/>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0896600" y="342900"/>
            <a:ext cx="838200" cy="457200"/>
          </a:xfrm>
          <a:prstGeom prst="rect">
            <a:avLst/>
          </a:prstGeom>
        </p:spPr>
      </p:pic>
      <p:pic>
        <p:nvPicPr>
          <p:cNvPr id="9" name="図 8">
            <a:extLst>
              <a:ext uri="{FF2B5EF4-FFF2-40B4-BE49-F238E27FC236}">
                <a16:creationId xmlns:a16="http://schemas.microsoft.com/office/drawing/2014/main" id="{0D479DA9-8796-1809-6E92-B09EB27DF77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324600"/>
            <a:ext cx="12192000" cy="533400"/>
          </a:xfrm>
          <a:prstGeom prst="rect">
            <a:avLst/>
          </a:prstGeom>
        </p:spPr>
      </p:pic>
      <p:sp>
        <p:nvSpPr>
          <p:cNvPr id="10" name="四角形: 角を丸くする 9">
            <a:extLst>
              <a:ext uri="{FF2B5EF4-FFF2-40B4-BE49-F238E27FC236}">
                <a16:creationId xmlns:a16="http://schemas.microsoft.com/office/drawing/2014/main" id="{58A7B416-D797-35A0-A9DC-9209AA1D6616}"/>
              </a:ext>
            </a:extLst>
          </p:cNvPr>
          <p:cNvSpPr/>
          <p:nvPr/>
        </p:nvSpPr>
        <p:spPr>
          <a:xfrm>
            <a:off x="546100" y="1834356"/>
            <a:ext cx="5397500" cy="2889012"/>
          </a:xfrm>
          <a:prstGeom prst="roundRect">
            <a:avLst>
              <a:gd name="adj" fmla="val 5000"/>
            </a:avLst>
          </a:prstGeom>
          <a:solidFill>
            <a:srgbClr val="F0F2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EC948834-0C39-F43A-B991-38FB31621C4C}"/>
              </a:ext>
            </a:extLst>
          </p:cNvPr>
          <p:cNvSpPr/>
          <p:nvPr/>
        </p:nvSpPr>
        <p:spPr>
          <a:xfrm>
            <a:off x="914400" y="2094706"/>
            <a:ext cx="2286000" cy="2159000"/>
          </a:xfrm>
          <a:prstGeom prst="rect">
            <a:avLst/>
          </a:prstGeom>
          <a:noFill/>
          <a:ln w="19050" cap="flat" cmpd="sng" algn="ctr">
            <a:solidFill>
              <a:srgbClr val="9AA3B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43560912-A3AC-2D6E-1C2A-4A553726B69A}"/>
              </a:ext>
            </a:extLst>
          </p:cNvPr>
          <p:cNvSpPr/>
          <p:nvPr/>
        </p:nvSpPr>
        <p:spPr>
          <a:xfrm>
            <a:off x="3200400" y="2094706"/>
            <a:ext cx="2413000" cy="2159000"/>
          </a:xfrm>
          <a:prstGeom prst="rect">
            <a:avLst/>
          </a:prstGeom>
          <a:noFill/>
          <a:ln w="19050" cap="flat" cmpd="sng" algn="ctr">
            <a:solidFill>
              <a:srgbClr val="9AA3B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8CA1CD00-81A9-ACFA-2EF6-9455348F943A}"/>
              </a:ext>
            </a:extLst>
          </p:cNvPr>
          <p:cNvSpPr/>
          <p:nvPr/>
        </p:nvSpPr>
        <p:spPr>
          <a:xfrm>
            <a:off x="3162300" y="2882106"/>
            <a:ext cx="76200" cy="635000"/>
          </a:xfrm>
          <a:prstGeom prst="rect">
            <a:avLst/>
          </a:prstGeom>
          <a:solidFill>
            <a:srgbClr val="F0F2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5" name="直線コネクタ 14">
            <a:extLst>
              <a:ext uri="{FF2B5EF4-FFF2-40B4-BE49-F238E27FC236}">
                <a16:creationId xmlns:a16="http://schemas.microsoft.com/office/drawing/2014/main" id="{09857887-08C8-8449-2E65-7316D6E6E88F}"/>
              </a:ext>
            </a:extLst>
          </p:cNvPr>
          <p:cNvCxnSpPr/>
          <p:nvPr/>
        </p:nvCxnSpPr>
        <p:spPr>
          <a:xfrm flipV="1">
            <a:off x="3200400" y="2628106"/>
            <a:ext cx="381000" cy="254000"/>
          </a:xfrm>
          <a:prstGeom prst="line">
            <a:avLst/>
          </a:prstGeom>
          <a:ln w="31750">
            <a:solidFill>
              <a:srgbClr val="1E2430"/>
            </a:solidFill>
            <a:prstDash val="solid"/>
          </a:ln>
        </p:spPr>
        <p:style>
          <a:lnRef idx="2">
            <a:schemeClr val="accent1"/>
          </a:lnRef>
          <a:fillRef idx="0">
            <a:schemeClr val="accent1"/>
          </a:fillRef>
          <a:effectRef idx="1">
            <a:schemeClr val="accent1"/>
          </a:effectRef>
          <a:fontRef idx="minor">
            <a:schemeClr val="tx1"/>
          </a:fontRef>
        </p:style>
      </p:cxnSp>
      <p:sp>
        <p:nvSpPr>
          <p:cNvPr id="16" name="楕円 15">
            <a:extLst>
              <a:ext uri="{FF2B5EF4-FFF2-40B4-BE49-F238E27FC236}">
                <a16:creationId xmlns:a16="http://schemas.microsoft.com/office/drawing/2014/main" id="{FC401DBE-3594-D894-8CC5-1AD0EB8890B6}"/>
              </a:ext>
            </a:extLst>
          </p:cNvPr>
          <p:cNvSpPr/>
          <p:nvPr/>
        </p:nvSpPr>
        <p:spPr>
          <a:xfrm>
            <a:off x="3155950" y="2913856"/>
            <a:ext cx="88900" cy="88900"/>
          </a:xfrm>
          <a:prstGeom prst="ellipse">
            <a:avLst/>
          </a:prstGeom>
          <a:solidFill>
            <a:srgbClr val="E3A3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楕円 16">
            <a:extLst>
              <a:ext uri="{FF2B5EF4-FFF2-40B4-BE49-F238E27FC236}">
                <a16:creationId xmlns:a16="http://schemas.microsoft.com/office/drawing/2014/main" id="{491593DE-5397-265F-512D-CB8DA119D618}"/>
              </a:ext>
            </a:extLst>
          </p:cNvPr>
          <p:cNvSpPr/>
          <p:nvPr/>
        </p:nvSpPr>
        <p:spPr>
          <a:xfrm>
            <a:off x="3155950" y="3034506"/>
            <a:ext cx="88900" cy="88900"/>
          </a:xfrm>
          <a:prstGeom prst="ellipse">
            <a:avLst/>
          </a:prstGeom>
          <a:solidFill>
            <a:srgbClr val="E3A3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楕円 17">
            <a:extLst>
              <a:ext uri="{FF2B5EF4-FFF2-40B4-BE49-F238E27FC236}">
                <a16:creationId xmlns:a16="http://schemas.microsoft.com/office/drawing/2014/main" id="{586A640F-C53A-15F2-8A33-E63398FC7507}"/>
              </a:ext>
            </a:extLst>
          </p:cNvPr>
          <p:cNvSpPr/>
          <p:nvPr/>
        </p:nvSpPr>
        <p:spPr>
          <a:xfrm>
            <a:off x="3155950" y="3155156"/>
            <a:ext cx="88900" cy="88900"/>
          </a:xfrm>
          <a:prstGeom prst="ellipse">
            <a:avLst/>
          </a:prstGeom>
          <a:solidFill>
            <a:srgbClr val="E3A3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楕円 18">
            <a:extLst>
              <a:ext uri="{FF2B5EF4-FFF2-40B4-BE49-F238E27FC236}">
                <a16:creationId xmlns:a16="http://schemas.microsoft.com/office/drawing/2014/main" id="{904B8B69-0B5B-EE6B-4E6E-B0F798498205}"/>
              </a:ext>
            </a:extLst>
          </p:cNvPr>
          <p:cNvSpPr/>
          <p:nvPr/>
        </p:nvSpPr>
        <p:spPr>
          <a:xfrm>
            <a:off x="3155950" y="3275806"/>
            <a:ext cx="88900" cy="88900"/>
          </a:xfrm>
          <a:prstGeom prst="ellipse">
            <a:avLst/>
          </a:prstGeom>
          <a:solidFill>
            <a:srgbClr val="E3A3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楕円 19">
            <a:extLst>
              <a:ext uri="{FF2B5EF4-FFF2-40B4-BE49-F238E27FC236}">
                <a16:creationId xmlns:a16="http://schemas.microsoft.com/office/drawing/2014/main" id="{9295C59F-B8BF-D46C-477E-6E78BB0D6C70}"/>
              </a:ext>
            </a:extLst>
          </p:cNvPr>
          <p:cNvSpPr/>
          <p:nvPr/>
        </p:nvSpPr>
        <p:spPr>
          <a:xfrm>
            <a:off x="3155950" y="3396456"/>
            <a:ext cx="88900" cy="88900"/>
          </a:xfrm>
          <a:prstGeom prst="ellipse">
            <a:avLst/>
          </a:prstGeom>
          <a:solidFill>
            <a:srgbClr val="E3A3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1" name="直線コネクタ 20">
            <a:extLst>
              <a:ext uri="{FF2B5EF4-FFF2-40B4-BE49-F238E27FC236}">
                <a16:creationId xmlns:a16="http://schemas.microsoft.com/office/drawing/2014/main" id="{920D9AE1-6215-0DF3-E1D6-5DB27405EDAD}"/>
              </a:ext>
            </a:extLst>
          </p:cNvPr>
          <p:cNvCxnSpPr/>
          <p:nvPr/>
        </p:nvCxnSpPr>
        <p:spPr>
          <a:xfrm flipH="1">
            <a:off x="1803400" y="3009106"/>
            <a:ext cx="1320800" cy="190500"/>
          </a:xfrm>
          <a:prstGeom prst="line">
            <a:avLst/>
          </a:prstGeom>
          <a:ln w="25400">
            <a:solidFill>
              <a:srgbClr val="E3A33B"/>
            </a:solidFill>
            <a:prstDash val="solid"/>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直線コネクタ 21">
            <a:extLst>
              <a:ext uri="{FF2B5EF4-FFF2-40B4-BE49-F238E27FC236}">
                <a16:creationId xmlns:a16="http://schemas.microsoft.com/office/drawing/2014/main" id="{D4EBD7FA-5D01-3DBD-A625-9FAB3DDE7E10}"/>
              </a:ext>
            </a:extLst>
          </p:cNvPr>
          <p:cNvCxnSpPr/>
          <p:nvPr/>
        </p:nvCxnSpPr>
        <p:spPr>
          <a:xfrm flipH="1">
            <a:off x="1803400" y="3199606"/>
            <a:ext cx="1320800" cy="38100"/>
          </a:xfrm>
          <a:prstGeom prst="line">
            <a:avLst/>
          </a:prstGeom>
          <a:ln w="25400">
            <a:solidFill>
              <a:srgbClr val="E3A33B"/>
            </a:solidFill>
            <a:prstDash val="solid"/>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直線コネクタ 22">
            <a:extLst>
              <a:ext uri="{FF2B5EF4-FFF2-40B4-BE49-F238E27FC236}">
                <a16:creationId xmlns:a16="http://schemas.microsoft.com/office/drawing/2014/main" id="{041C382B-41C7-D9E2-683B-E26F2E26B326}"/>
              </a:ext>
            </a:extLst>
          </p:cNvPr>
          <p:cNvCxnSpPr/>
          <p:nvPr/>
        </p:nvCxnSpPr>
        <p:spPr>
          <a:xfrm flipH="1" flipV="1">
            <a:off x="1803400" y="3275806"/>
            <a:ext cx="1320800" cy="165100"/>
          </a:xfrm>
          <a:prstGeom prst="line">
            <a:avLst/>
          </a:prstGeom>
          <a:ln w="25400">
            <a:solidFill>
              <a:srgbClr val="E3A33B"/>
            </a:solidFill>
            <a:prstDash val="solid"/>
            <a:tailEnd type="triangle" w="med" len="med"/>
          </a:ln>
        </p:spPr>
        <p:style>
          <a:lnRef idx="2">
            <a:schemeClr val="accent1"/>
          </a:lnRef>
          <a:fillRef idx="0">
            <a:schemeClr val="accent1"/>
          </a:fillRef>
          <a:effectRef idx="1">
            <a:schemeClr val="accent1"/>
          </a:effectRef>
          <a:fontRef idx="minor">
            <a:schemeClr val="tx1"/>
          </a:fontRef>
        </p:style>
      </p:cxnSp>
      <p:sp>
        <p:nvSpPr>
          <p:cNvPr id="24" name="楕円 23">
            <a:extLst>
              <a:ext uri="{FF2B5EF4-FFF2-40B4-BE49-F238E27FC236}">
                <a16:creationId xmlns:a16="http://schemas.microsoft.com/office/drawing/2014/main" id="{BDEA9DB3-FEAA-0845-2DD6-D8AC01423ED7}"/>
              </a:ext>
            </a:extLst>
          </p:cNvPr>
          <p:cNvSpPr/>
          <p:nvPr/>
        </p:nvSpPr>
        <p:spPr>
          <a:xfrm>
            <a:off x="1587500" y="3148806"/>
            <a:ext cx="177800" cy="177800"/>
          </a:xfrm>
          <a:prstGeom prst="ellipse">
            <a:avLst/>
          </a:prstGeom>
          <a:solidFill>
            <a:srgbClr val="1E243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B5D474B8-0C1E-F72E-827C-4E665136D70B}"/>
              </a:ext>
            </a:extLst>
          </p:cNvPr>
          <p:cNvSpPr txBox="1"/>
          <p:nvPr/>
        </p:nvSpPr>
        <p:spPr>
          <a:xfrm>
            <a:off x="1549400" y="3364706"/>
            <a:ext cx="254000" cy="369332"/>
          </a:xfrm>
          <a:prstGeom prst="rect">
            <a:avLst/>
          </a:prstGeom>
          <a:noFill/>
        </p:spPr>
        <p:txBody>
          <a:bodyPr vert="horz" wrap="square" lIns="0" tIns="0" rIns="0" bIns="0" rtlCol="0">
            <a:noAutofit/>
          </a:bodyPr>
          <a:lstStyle/>
          <a:p>
            <a:r>
              <a:rPr kumimoji="1" lang="ja-JP" altLang="en-US" sz="1000">
                <a:solidFill>
                  <a:srgbClr val="1E2430"/>
                </a:solidFill>
                <a:latin typeface="BIZ UDPゴシック" panose="020B0400000000000000" pitchFamily="50" charset="-128"/>
                <a:ea typeface="BIZ UDPゴシック" panose="020B0400000000000000" pitchFamily="50" charset="-128"/>
              </a:rPr>
              <a:t>耳</a:t>
            </a:r>
          </a:p>
        </p:txBody>
      </p:sp>
      <p:sp>
        <p:nvSpPr>
          <p:cNvPr id="26" name="楕円 25">
            <a:extLst>
              <a:ext uri="{FF2B5EF4-FFF2-40B4-BE49-F238E27FC236}">
                <a16:creationId xmlns:a16="http://schemas.microsoft.com/office/drawing/2014/main" id="{D6F771E6-F5F8-B7FD-F552-BF1A1191B455}"/>
              </a:ext>
            </a:extLst>
          </p:cNvPr>
          <p:cNvSpPr/>
          <p:nvPr/>
        </p:nvSpPr>
        <p:spPr>
          <a:xfrm>
            <a:off x="4826000" y="2513806"/>
            <a:ext cx="177800" cy="177800"/>
          </a:xfrm>
          <a:prstGeom prst="ellipse">
            <a:avLst/>
          </a:prstGeom>
          <a:solidFill>
            <a:srgbClr val="1E243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テキスト ボックス 26">
            <a:extLst>
              <a:ext uri="{FF2B5EF4-FFF2-40B4-BE49-F238E27FC236}">
                <a16:creationId xmlns:a16="http://schemas.microsoft.com/office/drawing/2014/main" id="{42F7A779-F580-6CE2-5173-5D0A390E779C}"/>
              </a:ext>
            </a:extLst>
          </p:cNvPr>
          <p:cNvSpPr txBox="1"/>
          <p:nvPr/>
        </p:nvSpPr>
        <p:spPr>
          <a:xfrm>
            <a:off x="5054600" y="2513806"/>
            <a:ext cx="508000" cy="369332"/>
          </a:xfrm>
          <a:prstGeom prst="rect">
            <a:avLst/>
          </a:prstGeom>
          <a:noFill/>
        </p:spPr>
        <p:txBody>
          <a:bodyPr vert="horz" wrap="square" lIns="0" tIns="0" rIns="0" bIns="0" rtlCol="0">
            <a:noAutofit/>
          </a:bodyPr>
          <a:lstStyle/>
          <a:p>
            <a:r>
              <a:rPr kumimoji="1" lang="ja-JP" altLang="en-US" sz="1000">
                <a:solidFill>
                  <a:srgbClr val="1E2430"/>
                </a:solidFill>
                <a:latin typeface="BIZ UDPゴシック" panose="020B0400000000000000" pitchFamily="50" charset="-128"/>
                <a:ea typeface="BIZ UDPゴシック" panose="020B0400000000000000" pitchFamily="50" charset="-128"/>
              </a:rPr>
              <a:t>音源</a:t>
            </a:r>
          </a:p>
        </p:txBody>
      </p:sp>
      <p:cxnSp>
        <p:nvCxnSpPr>
          <p:cNvPr id="28" name="直線コネクタ 27">
            <a:extLst>
              <a:ext uri="{FF2B5EF4-FFF2-40B4-BE49-F238E27FC236}">
                <a16:creationId xmlns:a16="http://schemas.microsoft.com/office/drawing/2014/main" id="{21073F3D-C59A-644A-58BE-02DC48872641}"/>
              </a:ext>
            </a:extLst>
          </p:cNvPr>
          <p:cNvCxnSpPr/>
          <p:nvPr/>
        </p:nvCxnSpPr>
        <p:spPr>
          <a:xfrm flipH="1" flipV="1">
            <a:off x="3276600" y="2348706"/>
            <a:ext cx="1549400" cy="304800"/>
          </a:xfrm>
          <a:prstGeom prst="line">
            <a:avLst/>
          </a:prstGeom>
          <a:ln w="15875">
            <a:solidFill>
              <a:srgbClr val="9AA3B0"/>
            </a:solidFill>
            <a:prstDash val="dash"/>
          </a:ln>
        </p:spPr>
        <p:style>
          <a:lnRef idx="2">
            <a:schemeClr val="accent1"/>
          </a:lnRef>
          <a:fillRef idx="0">
            <a:schemeClr val="accent1"/>
          </a:fillRef>
          <a:effectRef idx="1">
            <a:schemeClr val="accent1"/>
          </a:effectRef>
          <a:fontRef idx="minor">
            <a:schemeClr val="tx1"/>
          </a:fontRef>
        </p:style>
      </p:cxnSp>
      <p:cxnSp>
        <p:nvCxnSpPr>
          <p:cNvPr id="29" name="直線コネクタ 28">
            <a:extLst>
              <a:ext uri="{FF2B5EF4-FFF2-40B4-BE49-F238E27FC236}">
                <a16:creationId xmlns:a16="http://schemas.microsoft.com/office/drawing/2014/main" id="{3980692F-8FC0-D8EF-0731-0E287D867847}"/>
              </a:ext>
            </a:extLst>
          </p:cNvPr>
          <p:cNvCxnSpPr/>
          <p:nvPr/>
        </p:nvCxnSpPr>
        <p:spPr>
          <a:xfrm flipH="1">
            <a:off x="3276600" y="2678906"/>
            <a:ext cx="1549400" cy="1295400"/>
          </a:xfrm>
          <a:prstGeom prst="line">
            <a:avLst/>
          </a:prstGeom>
          <a:ln w="15875">
            <a:solidFill>
              <a:srgbClr val="9AA3B0"/>
            </a:solidFill>
            <a:prstDash val="dash"/>
          </a:ln>
        </p:spPr>
        <p:style>
          <a:lnRef idx="2">
            <a:schemeClr val="accent1"/>
          </a:lnRef>
          <a:fillRef idx="0">
            <a:schemeClr val="accent1"/>
          </a:fillRef>
          <a:effectRef idx="1">
            <a:schemeClr val="accent1"/>
          </a:effectRef>
          <a:fontRef idx="minor">
            <a:schemeClr val="tx1"/>
          </a:fontRef>
        </p:style>
      </p:cxnSp>
      <p:sp>
        <p:nvSpPr>
          <p:cNvPr id="30" name="テキスト ボックス 29">
            <a:extLst>
              <a:ext uri="{FF2B5EF4-FFF2-40B4-BE49-F238E27FC236}">
                <a16:creationId xmlns:a16="http://schemas.microsoft.com/office/drawing/2014/main" id="{C6A4D296-9BE5-8426-DFB1-8127A0CE54C7}"/>
              </a:ext>
            </a:extLst>
          </p:cNvPr>
          <p:cNvSpPr txBox="1"/>
          <p:nvPr/>
        </p:nvSpPr>
        <p:spPr>
          <a:xfrm>
            <a:off x="3022600" y="2221706"/>
            <a:ext cx="228600" cy="369332"/>
          </a:xfrm>
          <a:prstGeom prst="rect">
            <a:avLst/>
          </a:prstGeom>
          <a:noFill/>
        </p:spPr>
        <p:txBody>
          <a:bodyPr vert="horz" wrap="square" lIns="0" tIns="0" rIns="0" bIns="0" rtlCol="0">
            <a:noAutofit/>
          </a:bodyPr>
          <a:lstStyle/>
          <a:p>
            <a:pPr algn="ctr"/>
            <a:r>
              <a:rPr kumimoji="1" lang="en-US" altLang="ja-JP" sz="1400" b="1">
                <a:solidFill>
                  <a:srgbClr val="5C6677"/>
                </a:solidFill>
                <a:latin typeface="BIZ UDPゴシック" panose="020B0400000000000000" pitchFamily="50" charset="-128"/>
                <a:ea typeface="BIZ UDPゴシック" panose="020B0400000000000000" pitchFamily="50" charset="-128"/>
              </a:rPr>
              <a:t>×</a:t>
            </a:r>
            <a:endParaRPr kumimoji="1" lang="ja-JP" altLang="en-US" sz="1400" b="1">
              <a:solidFill>
                <a:srgbClr val="5C6677"/>
              </a:solidFill>
              <a:latin typeface="BIZ UDPゴシック" panose="020B0400000000000000" pitchFamily="50" charset="-128"/>
              <a:ea typeface="BIZ UDPゴシック" panose="020B0400000000000000" pitchFamily="50" charset="-128"/>
            </a:endParaRPr>
          </a:p>
        </p:txBody>
      </p:sp>
      <p:sp>
        <p:nvSpPr>
          <p:cNvPr id="31" name="テキスト ボックス 30">
            <a:extLst>
              <a:ext uri="{FF2B5EF4-FFF2-40B4-BE49-F238E27FC236}">
                <a16:creationId xmlns:a16="http://schemas.microsoft.com/office/drawing/2014/main" id="{41F60282-A2D4-CC4E-48F3-22B6F393406E}"/>
              </a:ext>
            </a:extLst>
          </p:cNvPr>
          <p:cNvSpPr txBox="1"/>
          <p:nvPr/>
        </p:nvSpPr>
        <p:spPr>
          <a:xfrm>
            <a:off x="3022600" y="3847306"/>
            <a:ext cx="228600" cy="369332"/>
          </a:xfrm>
          <a:prstGeom prst="rect">
            <a:avLst/>
          </a:prstGeom>
          <a:noFill/>
        </p:spPr>
        <p:txBody>
          <a:bodyPr vert="horz" wrap="square" lIns="0" tIns="0" rIns="0" bIns="0" rtlCol="0">
            <a:noAutofit/>
          </a:bodyPr>
          <a:lstStyle/>
          <a:p>
            <a:pPr algn="ctr"/>
            <a:r>
              <a:rPr kumimoji="1" lang="en-US" altLang="ja-JP" sz="1400" b="1">
                <a:solidFill>
                  <a:srgbClr val="5C6677"/>
                </a:solidFill>
                <a:latin typeface="BIZ UDPゴシック" panose="020B0400000000000000" pitchFamily="50" charset="-128"/>
                <a:ea typeface="BIZ UDPゴシック" panose="020B0400000000000000" pitchFamily="50" charset="-128"/>
              </a:rPr>
              <a:t>×</a:t>
            </a:r>
            <a:endParaRPr kumimoji="1" lang="ja-JP" altLang="en-US" sz="1400" b="1">
              <a:solidFill>
                <a:srgbClr val="5C6677"/>
              </a:solidFill>
              <a:latin typeface="BIZ UDPゴシック" panose="020B0400000000000000" pitchFamily="50" charset="-128"/>
              <a:ea typeface="BIZ UDPゴシック" panose="020B0400000000000000" pitchFamily="50" charset="-128"/>
            </a:endParaRPr>
          </a:p>
        </p:txBody>
      </p:sp>
      <p:sp>
        <p:nvSpPr>
          <p:cNvPr id="32" name="テキスト ボックス 31">
            <a:extLst>
              <a:ext uri="{FF2B5EF4-FFF2-40B4-BE49-F238E27FC236}">
                <a16:creationId xmlns:a16="http://schemas.microsoft.com/office/drawing/2014/main" id="{9FA6848A-A001-A724-555D-9E12EE39A8FE}"/>
              </a:ext>
            </a:extLst>
          </p:cNvPr>
          <p:cNvSpPr txBox="1"/>
          <p:nvPr/>
        </p:nvSpPr>
        <p:spPr>
          <a:xfrm>
            <a:off x="990600" y="2158206"/>
            <a:ext cx="889000" cy="369332"/>
          </a:xfrm>
          <a:prstGeom prst="rect">
            <a:avLst/>
          </a:prstGeom>
          <a:noFill/>
        </p:spPr>
        <p:txBody>
          <a:bodyPr vert="horz" wrap="square" lIns="0" tIns="0" rIns="0" bIns="0" rtlCol="0">
            <a:noAutofit/>
          </a:bodyPr>
          <a:lstStyle/>
          <a:p>
            <a:r>
              <a:rPr kumimoji="1" lang="ja-JP" altLang="en-US" sz="950">
                <a:solidFill>
                  <a:srgbClr val="5C6677"/>
                </a:solidFill>
                <a:latin typeface="BIZ UDPゴシック" panose="020B0400000000000000" pitchFamily="50" charset="-128"/>
                <a:ea typeface="BIZ UDPゴシック" panose="020B0400000000000000" pitchFamily="50" charset="-128"/>
              </a:rPr>
              <a:t>今いる部屋</a:t>
            </a:r>
          </a:p>
        </p:txBody>
      </p:sp>
      <p:sp>
        <p:nvSpPr>
          <p:cNvPr id="33" name="テキスト ボックス 32">
            <a:extLst>
              <a:ext uri="{FF2B5EF4-FFF2-40B4-BE49-F238E27FC236}">
                <a16:creationId xmlns:a16="http://schemas.microsoft.com/office/drawing/2014/main" id="{75AE8B12-B54E-3203-0374-740B3FE2699A}"/>
              </a:ext>
            </a:extLst>
          </p:cNvPr>
          <p:cNvSpPr txBox="1"/>
          <p:nvPr/>
        </p:nvSpPr>
        <p:spPr>
          <a:xfrm>
            <a:off x="4851400" y="4374356"/>
            <a:ext cx="711200" cy="369332"/>
          </a:xfrm>
          <a:prstGeom prst="rect">
            <a:avLst/>
          </a:prstGeom>
          <a:noFill/>
        </p:spPr>
        <p:txBody>
          <a:bodyPr vert="horz" wrap="square" lIns="0" tIns="0" rIns="0" bIns="0" rtlCol="0">
            <a:noAutofit/>
          </a:bodyPr>
          <a:lstStyle/>
          <a:p>
            <a:r>
              <a:rPr kumimoji="1" lang="ja-JP" altLang="en-US" sz="950" dirty="0">
                <a:solidFill>
                  <a:srgbClr val="5C6677"/>
                </a:solidFill>
                <a:latin typeface="BIZ UDPゴシック" panose="020B0400000000000000" pitchFamily="50" charset="-128"/>
                <a:ea typeface="BIZ UDPゴシック" panose="020B0400000000000000" pitchFamily="50" charset="-128"/>
              </a:rPr>
              <a:t>隣の部屋</a:t>
            </a:r>
          </a:p>
        </p:txBody>
      </p:sp>
      <p:sp>
        <p:nvSpPr>
          <p:cNvPr id="34" name="テキスト ボックス 33">
            <a:extLst>
              <a:ext uri="{FF2B5EF4-FFF2-40B4-BE49-F238E27FC236}">
                <a16:creationId xmlns:a16="http://schemas.microsoft.com/office/drawing/2014/main" id="{F1D9CA02-8882-FE7A-F788-4F37BCCB2807}"/>
              </a:ext>
            </a:extLst>
          </p:cNvPr>
          <p:cNvSpPr txBox="1"/>
          <p:nvPr/>
        </p:nvSpPr>
        <p:spPr>
          <a:xfrm>
            <a:off x="1828800" y="2755106"/>
            <a:ext cx="1270000" cy="369332"/>
          </a:xfrm>
          <a:prstGeom prst="rect">
            <a:avLst/>
          </a:prstGeom>
          <a:noFill/>
        </p:spPr>
        <p:txBody>
          <a:bodyPr vert="horz" wrap="square" lIns="0" tIns="0" rIns="0" bIns="0" rtlCol="0">
            <a:noAutofit/>
          </a:bodyPr>
          <a:lstStyle/>
          <a:p>
            <a:r>
              <a:rPr kumimoji="1" lang="ja-JP" altLang="en-US" sz="950" b="1" dirty="0">
                <a:solidFill>
                  <a:srgbClr val="9A6212"/>
                </a:solidFill>
                <a:latin typeface="BIZ UDPゴシック" panose="020B0400000000000000" pitchFamily="50" charset="-128"/>
                <a:ea typeface="BIZ UDPゴシック" panose="020B0400000000000000" pitchFamily="50" charset="-128"/>
              </a:rPr>
              <a:t>残響音の聞こえ幅がドアの幅になるように</a:t>
            </a:r>
          </a:p>
        </p:txBody>
      </p:sp>
      <p:sp>
        <p:nvSpPr>
          <p:cNvPr id="35" name="テキスト ボックス 34">
            <a:extLst>
              <a:ext uri="{FF2B5EF4-FFF2-40B4-BE49-F238E27FC236}">
                <a16:creationId xmlns:a16="http://schemas.microsoft.com/office/drawing/2014/main" id="{2AEA3A32-D65E-8462-2C1A-45A607E96377}"/>
              </a:ext>
            </a:extLst>
          </p:cNvPr>
          <p:cNvSpPr txBox="1"/>
          <p:nvPr/>
        </p:nvSpPr>
        <p:spPr>
          <a:xfrm>
            <a:off x="3810000" y="3720306"/>
            <a:ext cx="1270000" cy="369332"/>
          </a:xfrm>
          <a:prstGeom prst="rect">
            <a:avLst/>
          </a:prstGeom>
          <a:noFill/>
        </p:spPr>
        <p:txBody>
          <a:bodyPr vert="horz" wrap="square" lIns="0" tIns="0" rIns="0" bIns="0" rtlCol="0">
            <a:noAutofit/>
          </a:bodyPr>
          <a:lstStyle/>
          <a:p>
            <a:r>
              <a:rPr kumimoji="1" lang="ja-JP" altLang="en-US" sz="950" dirty="0">
                <a:solidFill>
                  <a:srgbClr val="5C6677"/>
                </a:solidFill>
                <a:latin typeface="BIZ UDPゴシック" panose="020B0400000000000000" pitchFamily="50" charset="-128"/>
                <a:ea typeface="BIZ UDPゴシック" panose="020B0400000000000000" pitchFamily="50" charset="-128"/>
              </a:rPr>
              <a:t>残響や反射音は壁越しには抜けないように</a:t>
            </a:r>
          </a:p>
        </p:txBody>
      </p:sp>
      <p:sp>
        <p:nvSpPr>
          <p:cNvPr id="37" name="四角形: 角を丸くする 36">
            <a:extLst>
              <a:ext uri="{FF2B5EF4-FFF2-40B4-BE49-F238E27FC236}">
                <a16:creationId xmlns:a16="http://schemas.microsoft.com/office/drawing/2014/main" id="{F3867E16-B142-2D49-0B1B-78F291B285A2}"/>
              </a:ext>
            </a:extLst>
          </p:cNvPr>
          <p:cNvSpPr/>
          <p:nvPr/>
        </p:nvSpPr>
        <p:spPr>
          <a:xfrm>
            <a:off x="546100" y="4851400"/>
            <a:ext cx="5397500" cy="1397000"/>
          </a:xfrm>
          <a:prstGeom prst="roundRect">
            <a:avLst>
              <a:gd name="adj" fmla="val 8000"/>
            </a:avLst>
          </a:prstGeom>
          <a:solidFill>
            <a:srgbClr val="FBF1D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四角形: 角を丸くする 37">
            <a:extLst>
              <a:ext uri="{FF2B5EF4-FFF2-40B4-BE49-F238E27FC236}">
                <a16:creationId xmlns:a16="http://schemas.microsoft.com/office/drawing/2014/main" id="{D3B77C18-0687-AF1B-AF0B-B57CC26F82D8}"/>
              </a:ext>
            </a:extLst>
          </p:cNvPr>
          <p:cNvSpPr/>
          <p:nvPr/>
        </p:nvSpPr>
        <p:spPr>
          <a:xfrm>
            <a:off x="723900" y="5041900"/>
            <a:ext cx="965200" cy="330200"/>
          </a:xfrm>
          <a:prstGeom prst="roundRect">
            <a:avLst>
              <a:gd name="adj" fmla="val 50000"/>
            </a:avLst>
          </a:prstGeom>
          <a:solidFill>
            <a:srgbClr val="E3A3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kumimoji="1" lang="ja-JP" altLang="en-US" sz="1300" b="1">
                <a:solidFill>
                  <a:srgbClr val="1E2430"/>
                </a:solidFill>
                <a:latin typeface="BIZ UDPゴシック" panose="020B0400000000000000" pitchFamily="50" charset="-128"/>
                <a:ea typeface="BIZ UDPゴシック" panose="020B0400000000000000" pitchFamily="50" charset="-128"/>
              </a:rPr>
              <a:t>方向性</a:t>
            </a:r>
          </a:p>
        </p:txBody>
      </p:sp>
      <p:sp>
        <p:nvSpPr>
          <p:cNvPr id="39" name="テキスト ボックス 38">
            <a:extLst>
              <a:ext uri="{FF2B5EF4-FFF2-40B4-BE49-F238E27FC236}">
                <a16:creationId xmlns:a16="http://schemas.microsoft.com/office/drawing/2014/main" id="{0CE3D359-4102-F3B8-3922-113F26EAA9AC}"/>
              </a:ext>
            </a:extLst>
          </p:cNvPr>
          <p:cNvSpPr txBox="1"/>
          <p:nvPr/>
        </p:nvSpPr>
        <p:spPr>
          <a:xfrm>
            <a:off x="1841500" y="4991100"/>
            <a:ext cx="3937000" cy="369332"/>
          </a:xfrm>
          <a:prstGeom prst="rect">
            <a:avLst/>
          </a:prstGeom>
          <a:noFill/>
        </p:spPr>
        <p:txBody>
          <a:bodyPr vert="horz" wrap="square" lIns="0" tIns="0" rIns="0" bIns="0" rtlCol="0">
            <a:noAutofit/>
          </a:bodyPr>
          <a:lstStyle/>
          <a:p>
            <a:pPr>
              <a:lnSpc>
                <a:spcPct val="115000"/>
              </a:lnSpc>
            </a:pPr>
            <a:r>
              <a:rPr lang="ja-JP" altLang="en-US" sz="1150" dirty="0">
                <a:solidFill>
                  <a:srgbClr val="3A4250"/>
                </a:solidFill>
                <a:latin typeface="BIZ UDPゴシック" panose="020B0400000000000000" pitchFamily="50" charset="-128"/>
                <a:ea typeface="BIZ UDPゴシック" panose="020B0400000000000000" pitchFamily="50" charset="-128"/>
              </a:rPr>
              <a:t>響きの音だけをドアから出すことで、透過音で壁の方から聞こえていても響き具合などはドアから聞こえるように</a:t>
            </a:r>
            <a:endParaRPr kumimoji="1" lang="ja-JP" altLang="en-US" sz="1150" dirty="0">
              <a:solidFill>
                <a:srgbClr val="3A4250"/>
              </a:solidFill>
              <a:latin typeface="BIZ UDPゴシック" panose="020B0400000000000000" pitchFamily="50" charset="-128"/>
              <a:ea typeface="BIZ UDPゴシック" panose="020B0400000000000000" pitchFamily="50" charset="-128"/>
            </a:endParaRPr>
          </a:p>
        </p:txBody>
      </p:sp>
      <p:sp>
        <p:nvSpPr>
          <p:cNvPr id="40" name="四角形: 角を丸くする 39">
            <a:extLst>
              <a:ext uri="{FF2B5EF4-FFF2-40B4-BE49-F238E27FC236}">
                <a16:creationId xmlns:a16="http://schemas.microsoft.com/office/drawing/2014/main" id="{945A4E51-D461-2AF8-465C-3FC7461612A7}"/>
              </a:ext>
            </a:extLst>
          </p:cNvPr>
          <p:cNvSpPr/>
          <p:nvPr/>
        </p:nvSpPr>
        <p:spPr>
          <a:xfrm>
            <a:off x="723900" y="5638800"/>
            <a:ext cx="965200" cy="330200"/>
          </a:xfrm>
          <a:prstGeom prst="roundRect">
            <a:avLst>
              <a:gd name="adj" fmla="val 50000"/>
            </a:avLst>
          </a:prstGeom>
          <a:solidFill>
            <a:srgbClr val="E3A3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kumimoji="1" lang="ja-JP" altLang="en-US" sz="1300" b="1">
                <a:solidFill>
                  <a:srgbClr val="1E2430"/>
                </a:solidFill>
                <a:latin typeface="BIZ UDPゴシック" panose="020B0400000000000000" pitchFamily="50" charset="-128"/>
                <a:ea typeface="BIZ UDPゴシック" panose="020B0400000000000000" pitchFamily="50" charset="-128"/>
              </a:rPr>
              <a:t>連続性</a:t>
            </a:r>
          </a:p>
        </p:txBody>
      </p:sp>
      <p:sp>
        <p:nvSpPr>
          <p:cNvPr id="41" name="テキスト ボックス 40">
            <a:extLst>
              <a:ext uri="{FF2B5EF4-FFF2-40B4-BE49-F238E27FC236}">
                <a16:creationId xmlns:a16="http://schemas.microsoft.com/office/drawing/2014/main" id="{80D9B2C7-79E1-6D7B-F92C-3B9F166CE059}"/>
              </a:ext>
            </a:extLst>
          </p:cNvPr>
          <p:cNvSpPr txBox="1"/>
          <p:nvPr/>
        </p:nvSpPr>
        <p:spPr>
          <a:xfrm>
            <a:off x="1841500" y="5588000"/>
            <a:ext cx="3937000" cy="369332"/>
          </a:xfrm>
          <a:prstGeom prst="rect">
            <a:avLst/>
          </a:prstGeom>
          <a:noFill/>
        </p:spPr>
        <p:txBody>
          <a:bodyPr vert="horz" wrap="square" lIns="0" tIns="0" rIns="0" bIns="0" rtlCol="0">
            <a:noAutofit/>
          </a:bodyPr>
          <a:lstStyle/>
          <a:p>
            <a:pPr>
              <a:lnSpc>
                <a:spcPct val="115000"/>
              </a:lnSpc>
            </a:pPr>
            <a:r>
              <a:rPr kumimoji="1" lang="ja-JP" altLang="en-US" sz="1150" dirty="0">
                <a:solidFill>
                  <a:srgbClr val="3A4250"/>
                </a:solidFill>
                <a:latin typeface="BIZ UDPゴシック" panose="020B0400000000000000" pitchFamily="50" charset="-128"/>
                <a:ea typeface="BIZ UDPゴシック" panose="020B0400000000000000" pitchFamily="50" charset="-128"/>
              </a:rPr>
              <a:t>部屋を移動したときに不自然にならないように、ドアをくぐるまではドアの幅、くぐった瞬間から</a:t>
            </a:r>
            <a:r>
              <a:rPr kumimoji="1" lang="en-US" altLang="ja-JP" sz="1150" dirty="0">
                <a:solidFill>
                  <a:srgbClr val="3A4250"/>
                </a:solidFill>
                <a:latin typeface="BIZ UDPゴシック" panose="020B0400000000000000" pitchFamily="50" charset="-128"/>
                <a:ea typeface="BIZ UDPゴシック" panose="020B0400000000000000" pitchFamily="50" charset="-128"/>
              </a:rPr>
              <a:t>LEV</a:t>
            </a:r>
            <a:r>
              <a:rPr kumimoji="1" lang="ja-JP" altLang="en-US" sz="1150" dirty="0">
                <a:solidFill>
                  <a:srgbClr val="3A4250"/>
                </a:solidFill>
                <a:latin typeface="BIZ UDPゴシック" panose="020B0400000000000000" pitchFamily="50" charset="-128"/>
                <a:ea typeface="BIZ UDPゴシック" panose="020B0400000000000000" pitchFamily="50" charset="-128"/>
              </a:rPr>
              <a:t>で包まれ感を作る</a:t>
            </a:r>
          </a:p>
        </p:txBody>
      </p:sp>
      <p:sp>
        <p:nvSpPr>
          <p:cNvPr id="47" name="四角形: 角を丸くする 46">
            <a:extLst>
              <a:ext uri="{FF2B5EF4-FFF2-40B4-BE49-F238E27FC236}">
                <a16:creationId xmlns:a16="http://schemas.microsoft.com/office/drawing/2014/main" id="{A6A8F24F-3E4F-8B91-2833-EBB79EB98187}"/>
              </a:ext>
            </a:extLst>
          </p:cNvPr>
          <p:cNvSpPr/>
          <p:nvPr/>
        </p:nvSpPr>
        <p:spPr>
          <a:xfrm>
            <a:off x="6159500" y="1834356"/>
            <a:ext cx="5486400" cy="1440180"/>
          </a:xfrm>
          <a:prstGeom prst="roundRect">
            <a:avLst>
              <a:gd name="adj" fmla="val 6000"/>
            </a:avLst>
          </a:prstGeom>
          <a:solidFill>
            <a:srgbClr val="FBF1D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四角形: 角を丸くする 47">
            <a:extLst>
              <a:ext uri="{FF2B5EF4-FFF2-40B4-BE49-F238E27FC236}">
                <a16:creationId xmlns:a16="http://schemas.microsoft.com/office/drawing/2014/main" id="{13E3BA98-4099-04A4-9EC5-2AEDF4858612}"/>
              </a:ext>
            </a:extLst>
          </p:cNvPr>
          <p:cNvSpPr/>
          <p:nvPr/>
        </p:nvSpPr>
        <p:spPr>
          <a:xfrm>
            <a:off x="6362700" y="2038310"/>
            <a:ext cx="330200" cy="330200"/>
          </a:xfrm>
          <a:prstGeom prst="roundRect">
            <a:avLst>
              <a:gd name="adj" fmla="val 50000"/>
            </a:avLst>
          </a:prstGeom>
          <a:solidFill>
            <a:srgbClr val="E3A3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ja-JP" sz="1300" b="1" dirty="0">
                <a:solidFill>
                  <a:srgbClr val="1E2430"/>
                </a:solidFill>
                <a:latin typeface="BIZ UDPゴシック" panose="020B0400000000000000" pitchFamily="50" charset="-128"/>
                <a:ea typeface="BIZ UDPゴシック" panose="020B0400000000000000" pitchFamily="50" charset="-128"/>
              </a:rPr>
              <a:t>1</a:t>
            </a:r>
            <a:endParaRPr kumimoji="1" lang="ja-JP" altLang="en-US" sz="1300" b="1" dirty="0">
              <a:solidFill>
                <a:srgbClr val="1E2430"/>
              </a:solidFill>
              <a:latin typeface="BIZ UDPゴシック" panose="020B0400000000000000" pitchFamily="50" charset="-128"/>
              <a:ea typeface="BIZ UDPゴシック" panose="020B0400000000000000" pitchFamily="50" charset="-128"/>
            </a:endParaRPr>
          </a:p>
        </p:txBody>
      </p:sp>
      <p:sp>
        <p:nvSpPr>
          <p:cNvPr id="49" name="テキスト ボックス 48">
            <a:extLst>
              <a:ext uri="{FF2B5EF4-FFF2-40B4-BE49-F238E27FC236}">
                <a16:creationId xmlns:a16="http://schemas.microsoft.com/office/drawing/2014/main" id="{1C107308-A2E4-CD37-1C92-399EC81B1F8C}"/>
              </a:ext>
            </a:extLst>
          </p:cNvPr>
          <p:cNvSpPr txBox="1"/>
          <p:nvPr/>
        </p:nvSpPr>
        <p:spPr>
          <a:xfrm>
            <a:off x="6819900" y="2076410"/>
            <a:ext cx="3175000" cy="369332"/>
          </a:xfrm>
          <a:prstGeom prst="rect">
            <a:avLst/>
          </a:prstGeom>
          <a:noFill/>
        </p:spPr>
        <p:txBody>
          <a:bodyPr vert="horz" wrap="square" lIns="0" tIns="0" rIns="0" bIns="0" rtlCol="0">
            <a:noAutofit/>
          </a:bodyPr>
          <a:lstStyle/>
          <a:p>
            <a:r>
              <a:rPr kumimoji="1" lang="ja-JP" altLang="en-US" sz="1550" b="1" dirty="0">
                <a:solidFill>
                  <a:srgbClr val="1E2430"/>
                </a:solidFill>
                <a:latin typeface="BIZ UDPゴシック" panose="020B0400000000000000" pitchFamily="50" charset="-128"/>
                <a:ea typeface="BIZ UDPゴシック" panose="020B0400000000000000" pitchFamily="50" charset="-128"/>
              </a:rPr>
              <a:t>隣の響きは</a:t>
            </a:r>
            <a:r>
              <a:rPr lang="ja-JP" altLang="en-US" sz="1550" b="1" dirty="0">
                <a:solidFill>
                  <a:srgbClr val="1E2430"/>
                </a:solidFill>
                <a:latin typeface="BIZ UDPゴシック" panose="020B0400000000000000" pitchFamily="50" charset="-128"/>
                <a:ea typeface="BIZ UDPゴシック" panose="020B0400000000000000" pitchFamily="50" charset="-128"/>
              </a:rPr>
              <a:t>ドア</a:t>
            </a:r>
            <a:r>
              <a:rPr kumimoji="1" lang="ja-JP" altLang="en-US" sz="1550" b="1" dirty="0">
                <a:solidFill>
                  <a:srgbClr val="1E2430"/>
                </a:solidFill>
                <a:latin typeface="BIZ UDPゴシック" panose="020B0400000000000000" pitchFamily="50" charset="-128"/>
                <a:ea typeface="BIZ UDPゴシック" panose="020B0400000000000000" pitchFamily="50" charset="-128"/>
              </a:rPr>
              <a:t>の横幅から鳴らす</a:t>
            </a:r>
          </a:p>
        </p:txBody>
      </p:sp>
      <p:sp>
        <p:nvSpPr>
          <p:cNvPr id="50" name="四角形: 角を丸くする 49">
            <a:extLst>
              <a:ext uri="{FF2B5EF4-FFF2-40B4-BE49-F238E27FC236}">
                <a16:creationId xmlns:a16="http://schemas.microsoft.com/office/drawing/2014/main" id="{587A6387-7FAC-0C6D-EB6E-B6A9AEA541A9}"/>
              </a:ext>
            </a:extLst>
          </p:cNvPr>
          <p:cNvSpPr/>
          <p:nvPr/>
        </p:nvSpPr>
        <p:spPr>
          <a:xfrm>
            <a:off x="10782300" y="2082006"/>
            <a:ext cx="660400" cy="279400"/>
          </a:xfrm>
          <a:prstGeom prst="roundRect">
            <a:avLst>
              <a:gd name="adj" fmla="val 50000"/>
            </a:avLst>
          </a:prstGeom>
          <a:solidFill>
            <a:srgbClr val="E3A3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kumimoji="1" lang="ja-JP" altLang="en-US" sz="1100" b="1" dirty="0">
                <a:solidFill>
                  <a:srgbClr val="1E2430"/>
                </a:solidFill>
                <a:latin typeface="BIZ UDPゴシック" panose="020B0400000000000000" pitchFamily="50" charset="-128"/>
                <a:ea typeface="BIZ UDPゴシック" panose="020B0400000000000000" pitchFamily="50" charset="-128"/>
              </a:rPr>
              <a:t>音の幅</a:t>
            </a:r>
          </a:p>
        </p:txBody>
      </p:sp>
      <p:sp>
        <p:nvSpPr>
          <p:cNvPr id="51" name="テキスト ボックス 50">
            <a:extLst>
              <a:ext uri="{FF2B5EF4-FFF2-40B4-BE49-F238E27FC236}">
                <a16:creationId xmlns:a16="http://schemas.microsoft.com/office/drawing/2014/main" id="{6467CEBD-F520-0B1D-80F6-13D2B9501373}"/>
              </a:ext>
            </a:extLst>
          </p:cNvPr>
          <p:cNvSpPr txBox="1"/>
          <p:nvPr/>
        </p:nvSpPr>
        <p:spPr>
          <a:xfrm>
            <a:off x="6388100" y="2571710"/>
            <a:ext cx="5054600" cy="369332"/>
          </a:xfrm>
          <a:prstGeom prst="rect">
            <a:avLst/>
          </a:prstGeom>
          <a:noFill/>
        </p:spPr>
        <p:txBody>
          <a:bodyPr vert="horz" wrap="square" lIns="0" tIns="0" rIns="0" bIns="0" rtlCol="0">
            <a:noAutofit/>
          </a:bodyPr>
          <a:lstStyle/>
          <a:p>
            <a:pPr>
              <a:lnSpc>
                <a:spcPct val="115000"/>
              </a:lnSpc>
            </a:pPr>
            <a:r>
              <a:rPr kumimoji="1" lang="ja-JP" altLang="en-US" sz="1200" dirty="0">
                <a:solidFill>
                  <a:srgbClr val="3A4250"/>
                </a:solidFill>
                <a:latin typeface="BIZ UDPゴシック" panose="020B0400000000000000" pitchFamily="50" charset="-128"/>
                <a:ea typeface="BIZ UDPゴシック" panose="020B0400000000000000" pitchFamily="50" charset="-128"/>
              </a:rPr>
              <a:t>ドアが小さければ場所がピンポイントに分かる、ドアが大きければ全体から聞こえるようにドアの横幅が音の聞こえ幅としてなるように</a:t>
            </a:r>
          </a:p>
        </p:txBody>
      </p:sp>
      <p:sp>
        <p:nvSpPr>
          <p:cNvPr id="52" name="四角形: 角を丸くする 51">
            <a:extLst>
              <a:ext uri="{FF2B5EF4-FFF2-40B4-BE49-F238E27FC236}">
                <a16:creationId xmlns:a16="http://schemas.microsoft.com/office/drawing/2014/main" id="{FC231FBA-B336-B2D0-2C31-70E2F16F4960}"/>
              </a:ext>
            </a:extLst>
          </p:cNvPr>
          <p:cNvSpPr/>
          <p:nvPr/>
        </p:nvSpPr>
        <p:spPr>
          <a:xfrm>
            <a:off x="6172200" y="3421856"/>
            <a:ext cx="5486400" cy="1561624"/>
          </a:xfrm>
          <a:prstGeom prst="roundRect">
            <a:avLst>
              <a:gd name="adj" fmla="val 6000"/>
            </a:avLst>
          </a:prstGeom>
          <a:solidFill>
            <a:srgbClr val="F0F2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四角形: 角を丸くする 52">
            <a:extLst>
              <a:ext uri="{FF2B5EF4-FFF2-40B4-BE49-F238E27FC236}">
                <a16:creationId xmlns:a16="http://schemas.microsoft.com/office/drawing/2014/main" id="{CAC969D8-7323-52A4-4938-AF4CE906820C}"/>
              </a:ext>
            </a:extLst>
          </p:cNvPr>
          <p:cNvSpPr/>
          <p:nvPr/>
        </p:nvSpPr>
        <p:spPr>
          <a:xfrm>
            <a:off x="6375400" y="3586956"/>
            <a:ext cx="330200" cy="330200"/>
          </a:xfrm>
          <a:prstGeom prst="roundRect">
            <a:avLst>
              <a:gd name="adj" fmla="val 50000"/>
            </a:avLst>
          </a:prstGeom>
          <a:solidFill>
            <a:srgbClr val="E3A3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ja-JP" sz="1300" b="1" dirty="0">
                <a:solidFill>
                  <a:srgbClr val="1E2430"/>
                </a:solidFill>
                <a:latin typeface="BIZ UDPゴシック" panose="020B0400000000000000" pitchFamily="50" charset="-128"/>
                <a:ea typeface="BIZ UDPゴシック" panose="020B0400000000000000" pitchFamily="50" charset="-128"/>
              </a:rPr>
              <a:t>2</a:t>
            </a:r>
            <a:endParaRPr kumimoji="1" lang="ja-JP" altLang="en-US" sz="1300" b="1" dirty="0">
              <a:solidFill>
                <a:srgbClr val="1E2430"/>
              </a:solidFill>
              <a:latin typeface="BIZ UDPゴシック" panose="020B0400000000000000" pitchFamily="50" charset="-128"/>
              <a:ea typeface="BIZ UDPゴシック" panose="020B0400000000000000" pitchFamily="50" charset="-128"/>
            </a:endParaRPr>
          </a:p>
        </p:txBody>
      </p:sp>
      <p:sp>
        <p:nvSpPr>
          <p:cNvPr id="54" name="テキスト ボックス 53">
            <a:extLst>
              <a:ext uri="{FF2B5EF4-FFF2-40B4-BE49-F238E27FC236}">
                <a16:creationId xmlns:a16="http://schemas.microsoft.com/office/drawing/2014/main" id="{B0001159-E351-2FAF-7F3A-D78C61B6F3C7}"/>
              </a:ext>
            </a:extLst>
          </p:cNvPr>
          <p:cNvSpPr txBox="1"/>
          <p:nvPr/>
        </p:nvSpPr>
        <p:spPr>
          <a:xfrm>
            <a:off x="6832600" y="3625056"/>
            <a:ext cx="3175000" cy="369332"/>
          </a:xfrm>
          <a:prstGeom prst="rect">
            <a:avLst/>
          </a:prstGeom>
          <a:noFill/>
        </p:spPr>
        <p:txBody>
          <a:bodyPr vert="horz" wrap="square" lIns="0" tIns="0" rIns="0" bIns="0" rtlCol="0">
            <a:noAutofit/>
          </a:bodyPr>
          <a:lstStyle/>
          <a:p>
            <a:r>
              <a:rPr kumimoji="1" lang="ja-JP" altLang="en-US" sz="1550" b="1">
                <a:solidFill>
                  <a:srgbClr val="1E2430"/>
                </a:solidFill>
                <a:latin typeface="BIZ UDPゴシック" panose="020B0400000000000000" pitchFamily="50" charset="-128"/>
                <a:ea typeface="BIZ UDPゴシック" panose="020B0400000000000000" pitchFamily="50" charset="-128"/>
              </a:rPr>
              <a:t>今いる部屋では響かせない</a:t>
            </a:r>
          </a:p>
        </p:txBody>
      </p:sp>
      <p:sp>
        <p:nvSpPr>
          <p:cNvPr id="55" name="四角形: 角を丸くする 54">
            <a:extLst>
              <a:ext uri="{FF2B5EF4-FFF2-40B4-BE49-F238E27FC236}">
                <a16:creationId xmlns:a16="http://schemas.microsoft.com/office/drawing/2014/main" id="{8892B519-C332-9868-1802-5F53DEEE0969}"/>
              </a:ext>
            </a:extLst>
          </p:cNvPr>
          <p:cNvSpPr/>
          <p:nvPr/>
        </p:nvSpPr>
        <p:spPr>
          <a:xfrm>
            <a:off x="10566400" y="3612356"/>
            <a:ext cx="889000" cy="279400"/>
          </a:xfrm>
          <a:prstGeom prst="roundRect">
            <a:avLst>
              <a:gd name="adj" fmla="val 50000"/>
            </a:avLst>
          </a:prstGeom>
          <a:solidFill>
            <a:srgbClr val="DDE1E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ja-JP" altLang="en-US" sz="1100" b="1" dirty="0">
                <a:solidFill>
                  <a:srgbClr val="1E2430"/>
                </a:solidFill>
                <a:latin typeface="BIZ UDPゴシック" panose="020B0400000000000000" pitchFamily="50" charset="-128"/>
                <a:ea typeface="BIZ UDPゴシック" panose="020B0400000000000000" pitchFamily="50" charset="-128"/>
              </a:rPr>
              <a:t>聞こえ方</a:t>
            </a:r>
            <a:endParaRPr kumimoji="1" lang="ja-JP" altLang="en-US" sz="1100" b="1" dirty="0">
              <a:solidFill>
                <a:srgbClr val="1E2430"/>
              </a:solidFill>
              <a:latin typeface="BIZ UDPゴシック" panose="020B0400000000000000" pitchFamily="50" charset="-128"/>
              <a:ea typeface="BIZ UDPゴシック" panose="020B0400000000000000" pitchFamily="50" charset="-128"/>
            </a:endParaRPr>
          </a:p>
        </p:txBody>
      </p:sp>
      <p:sp>
        <p:nvSpPr>
          <p:cNvPr id="56" name="テキスト ボックス 55">
            <a:extLst>
              <a:ext uri="{FF2B5EF4-FFF2-40B4-BE49-F238E27FC236}">
                <a16:creationId xmlns:a16="http://schemas.microsoft.com/office/drawing/2014/main" id="{870D1FA7-A606-5D4B-8497-33C86127B26F}"/>
              </a:ext>
            </a:extLst>
          </p:cNvPr>
          <p:cNvSpPr txBox="1"/>
          <p:nvPr/>
        </p:nvSpPr>
        <p:spPr>
          <a:xfrm>
            <a:off x="6400800" y="4056856"/>
            <a:ext cx="5054600" cy="369332"/>
          </a:xfrm>
          <a:prstGeom prst="rect">
            <a:avLst/>
          </a:prstGeom>
          <a:noFill/>
        </p:spPr>
        <p:txBody>
          <a:bodyPr vert="horz" wrap="square" lIns="0" tIns="0" rIns="0" bIns="0" rtlCol="0">
            <a:noAutofit/>
          </a:bodyPr>
          <a:lstStyle/>
          <a:p>
            <a:pPr>
              <a:lnSpc>
                <a:spcPct val="115000"/>
              </a:lnSpc>
            </a:pPr>
            <a:r>
              <a:rPr kumimoji="1" lang="ja-JP" altLang="en-US" sz="1200" dirty="0">
                <a:solidFill>
                  <a:srgbClr val="3A4250"/>
                </a:solidFill>
                <a:latin typeface="BIZ UDPゴシック" panose="020B0400000000000000" pitchFamily="50" charset="-128"/>
                <a:ea typeface="BIZ UDPゴシック" panose="020B0400000000000000" pitchFamily="50" charset="-128"/>
              </a:rPr>
              <a:t>なってる部屋自体の空間が伝わるようにドアを通じて通ってきた別の部屋の音はプレイヤーのいる部屋の残響計算などには組み込まずそのままの音が聞こえるように</a:t>
            </a:r>
          </a:p>
        </p:txBody>
      </p:sp>
    </p:spTree>
    <p:extLst>
      <p:ext uri="{BB962C8B-B14F-4D97-AF65-F5344CB8AC3E}">
        <p14:creationId xmlns:p14="http://schemas.microsoft.com/office/powerpoint/2010/main" val="802737145"/>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6139D93495F2624C917EEF16A9DA3E1A" ma:contentTypeVersion="14" ma:contentTypeDescription="新しいドキュメントを作成します。" ma:contentTypeScope="" ma:versionID="712b043f39acaa843b47ce0ff47cdb14">
  <xsd:schema xmlns:xsd="http://www.w3.org/2001/XMLSchema" xmlns:xs="http://www.w3.org/2001/XMLSchema" xmlns:p="http://schemas.microsoft.com/office/2006/metadata/properties" xmlns:ns3="fa551098-4004-44fe-a016-5407d130625c" xmlns:ns4="e4463ffd-d7ab-4e4f-a3b1-de7144f98700" targetNamespace="http://schemas.microsoft.com/office/2006/metadata/properties" ma:root="true" ma:fieldsID="55eca7160f1be1aed6532e21a6912db8" ns3:_="" ns4:_="">
    <xsd:import namespace="fa551098-4004-44fe-a016-5407d130625c"/>
    <xsd:import namespace="e4463ffd-d7ab-4e4f-a3b1-de7144f98700"/>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MediaServiceSystemTags" minOccurs="0"/>
                <xsd:element ref="ns3:MediaServiceGenerationTime" minOccurs="0"/>
                <xsd:element ref="ns3:MediaServiceEventHashCode" minOccurs="0"/>
                <xsd:element ref="ns3:MediaLengthInSeconds" minOccurs="0"/>
                <xsd:element ref="ns3:_activity" minOccurs="0"/>
                <xsd:element ref="ns4:SharedWithUsers" minOccurs="0"/>
                <xsd:element ref="ns4:SharedWithDetails" minOccurs="0"/>
                <xsd:element ref="ns4:SharingHintHash"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a551098-4004-44fe-a016-5407d130625c"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_activity" ma:index="17" nillable="true" ma:displayName="_activity" ma:hidden="true" ma:internalName="_activity">
      <xsd:simpleType>
        <xsd:restriction base="dms:Note"/>
      </xsd:simple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4463ffd-d7ab-4e4f-a3b1-de7144f98700" elementFormDefault="qualified">
    <xsd:import namespace="http://schemas.microsoft.com/office/2006/documentManagement/types"/>
    <xsd:import namespace="http://schemas.microsoft.com/office/infopath/2007/PartnerControls"/>
    <xsd:element name="SharedWithUsers" ma:index="18"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共有相手の詳細情報" ma:internalName="SharedWithDetails" ma:readOnly="true">
      <xsd:simpleType>
        <xsd:restriction base="dms:Note">
          <xsd:maxLength value="255"/>
        </xsd:restriction>
      </xsd:simpleType>
    </xsd:element>
    <xsd:element name="SharingHintHash" ma:index="20" nillable="true" ma:displayName="共有のヒントのハッシュ"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fa551098-4004-44fe-a016-5407d130625c" xsi:nil="true"/>
  </documentManagement>
</p:properties>
</file>

<file path=customXml/itemProps1.xml><?xml version="1.0" encoding="utf-8"?>
<ds:datastoreItem xmlns:ds="http://schemas.openxmlformats.org/officeDocument/2006/customXml" ds:itemID="{97E42505-7A29-44B9-875B-02E46D6E4B6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a551098-4004-44fe-a016-5407d130625c"/>
    <ds:schemaRef ds:uri="e4463ffd-d7ab-4e4f-a3b1-de7144f9870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DB041D7-CB89-4ED4-BE62-442EEFCDC849}">
  <ds:schemaRefs>
    <ds:schemaRef ds:uri="http://schemas.microsoft.com/sharepoint/v3/contenttype/forms"/>
  </ds:schemaRefs>
</ds:datastoreItem>
</file>

<file path=customXml/itemProps3.xml><?xml version="1.0" encoding="utf-8"?>
<ds:datastoreItem xmlns:ds="http://schemas.openxmlformats.org/officeDocument/2006/customXml" ds:itemID="{6D1CE89B-2CA6-4D15-B5CD-0C4761464D49}">
  <ds:schemaRefs>
    <ds:schemaRef ds:uri="http://schemas.microsoft.com/office/2006/documentManagement/types"/>
    <ds:schemaRef ds:uri="http://purl.org/dc/terms/"/>
    <ds:schemaRef ds:uri="http://schemas.microsoft.com/office/infopath/2007/PartnerControls"/>
    <ds:schemaRef ds:uri="http://schemas.microsoft.com/office/2006/metadata/properties"/>
    <ds:schemaRef ds:uri="http://www.w3.org/XML/1998/namespace"/>
    <ds:schemaRef ds:uri="fa551098-4004-44fe-a016-5407d130625c"/>
    <ds:schemaRef ds:uri="http://schemas.openxmlformats.org/package/2006/metadata/core-properties"/>
    <ds:schemaRef ds:uri="e4463ffd-d7ab-4e4f-a3b1-de7144f98700"/>
    <ds:schemaRef ds:uri="http://purl.org/dc/dcmitype/"/>
    <ds:schemaRef ds:uri="http://purl.org/dc/elements/1.1/"/>
  </ds:schemaRefs>
</ds:datastoreItem>
</file>

<file path=docProps/app.xml><?xml version="1.0" encoding="utf-8"?>
<Properties xmlns="http://schemas.openxmlformats.org/officeDocument/2006/extended-properties" xmlns:vt="http://schemas.openxmlformats.org/officeDocument/2006/docPropsVTypes">
  <TotalTime>3239</TotalTime>
  <Words>1423</Words>
  <Application>Microsoft Office PowerPoint</Application>
  <PresentationFormat>ワイド画面</PresentationFormat>
  <Paragraphs>172</Paragraphs>
  <Slides>11</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11</vt:i4>
      </vt:variant>
    </vt:vector>
  </HeadingPairs>
  <TitlesOfParts>
    <vt:vector size="16" baseType="lpstr">
      <vt:lpstr>BIZ UDPゴシック</vt:lpstr>
      <vt:lpstr>游ゴシック</vt:lpstr>
      <vt:lpstr>游ゴシック Light</vt:lpstr>
      <vt:lpstr>Arial</vt:lpstr>
      <vt:lpstr>Office テーマ</vt:lpstr>
      <vt:lpstr>就職作品資料</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OHAT13B60714 竹内寛登</dc:creator>
  <cp:lastModifiedBy>OHAT13B60714 竹内寛登</cp:lastModifiedBy>
  <cp:revision>6</cp:revision>
  <dcterms:created xsi:type="dcterms:W3CDTF">2026-09-18T05:41:46Z</dcterms:created>
  <dcterms:modified xsi:type="dcterms:W3CDTF">2026-09-24T02:31:41Z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0x0101006139D93495F2624C917EEF16A9DA3E1A</vt:lpwstr>
  </property>
</Properties>
</file>