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7" r:id="rId5"/>
    <p:sldId id="288" r:id="rId19"/>
    <p:sldId id="289" r:id="rId20"/>
    <p:sldId id="290" r:id="rId21"/>
    <p:sldId id="291" r:id="rId22"/>
    <p:sldId id="292" r:id="rId23"/>
    <p:sldId id="286" r:id="rId10"/>
    <p:sldId id="263" r:id="rId11"/>
    <p:sldId id="270" r:id="rId12"/>
    <p:sldId id="272" r:id="rId13"/>
    <p:sldId id="293" r:id="rId24"/>
    <p:sldId id="294" r:id="rId25"/>
    <p:sldId id="295" r:id="rId26"/>
    <p:sldId id="296"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6ACFE8-6AD6-4725-99DB-1E5CBC20DF13}" v="1" dt="2026-09-18T07:30:40.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56" d="100"/>
          <a:sy n="156" d="100"/>
        </p:scale>
        <p:origin x="42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14" Type="http://schemas.openxmlformats.org/officeDocument/2006/relationships/presProps" Target="presProps.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4A3C4E-8514-8B83-FE2A-285A012FEC5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BB4E6E5-5D29-FC97-B0D8-65C087F3C5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E3E8099-FAC6-747A-D4F4-C5D98AC9B7C3}"/>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E3CF228D-9DF8-77C4-8FAD-B8A2FAD344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43E47A-C368-58CF-EC75-65ECEFFDCE57}"/>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9160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673D49-A275-870A-2280-4BE155512F2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2E6ECC-378D-3FC7-1318-86F2BFE485F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101848-5A1C-B5BF-E1D6-869489184DF4}"/>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6A558946-5E32-ACE4-4D3D-8C5578D71D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EA2615-1972-AFA4-90B4-F236DC6423FE}"/>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502531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544C78-41E0-EDC0-5F61-FF9329BFA54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5BAF89-C37F-D418-E319-325F4BFC7B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75EEB06-4C91-47F8-EB6D-8EEFBB6CEC1C}"/>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865D894D-8DCA-A853-8ACC-67D8BE4F40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189333-C615-560C-08B0-1860C9544F2E}"/>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65395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3B1F7C-5BC9-0D03-C7ED-53375408454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32D0388-AD30-0476-3C05-4523E7CCFC3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3903D71-8BCD-CA04-C544-99FA04FFDF6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3A6EB03-B126-EB4C-89BD-5EDD6206541E}"/>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6" name="フッター プレースホルダー 5">
            <a:extLst>
              <a:ext uri="{FF2B5EF4-FFF2-40B4-BE49-F238E27FC236}">
                <a16:creationId xmlns:a16="http://schemas.microsoft.com/office/drawing/2014/main" id="{BD84C633-FB12-2B0E-36DE-6DEC19FAA6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BCA8FA-CC12-C6B5-F9E0-77FB7D146226}"/>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988403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CD847D-0366-FAFD-20B6-BCB76D42E9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3258C6-BC24-5E5F-7AB6-7C7B557AF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1AF5A97-9C99-7076-8AB0-F4859639553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4BDCDBC-3A2C-29AA-DA0E-5D9CACA783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2B02B2C-A244-F27A-F4D4-A82DAD8E6A0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DA2B241-384A-A6D6-A7B6-A9EB01CD67D0}"/>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8" name="フッター プレースホルダー 7">
            <a:extLst>
              <a:ext uri="{FF2B5EF4-FFF2-40B4-BE49-F238E27FC236}">
                <a16:creationId xmlns:a16="http://schemas.microsoft.com/office/drawing/2014/main" id="{693518D2-4033-1046-59FD-4B8BDFB57BC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7D896ED-DBAC-7356-794C-C2563C3C558D}"/>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3429262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D40D97-250A-F6AF-7107-82CC22703E6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3897A72-885D-43D8-5F29-987730DD58F4}"/>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4" name="フッター プレースホルダー 3">
            <a:extLst>
              <a:ext uri="{FF2B5EF4-FFF2-40B4-BE49-F238E27FC236}">
                <a16:creationId xmlns:a16="http://schemas.microsoft.com/office/drawing/2014/main" id="{5288A01D-0F33-AC42-2C7A-A4FBCB264A9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3B317C4-30E9-8000-CA0B-417FF6047D3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316747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8161FC-2683-B082-D1AA-DF15DA7DEC1F}"/>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3" name="フッター プレースホルダー 2">
            <a:extLst>
              <a:ext uri="{FF2B5EF4-FFF2-40B4-BE49-F238E27FC236}">
                <a16:creationId xmlns:a16="http://schemas.microsoft.com/office/drawing/2014/main" id="{692F8E52-BA0A-2DCE-8595-BCF5ED22E62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0DE87E-52EB-3072-20E7-B71EDC1D28F9}"/>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186376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41E990-569E-7C34-631B-E74777196C6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781E26E-634C-BA68-1542-D72F21B056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2C09022-BD68-977E-32AD-28AB5BF24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99B59C-4C15-2F0E-9589-0D25653DD9A9}"/>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6" name="フッター プレースホルダー 5">
            <a:extLst>
              <a:ext uri="{FF2B5EF4-FFF2-40B4-BE49-F238E27FC236}">
                <a16:creationId xmlns:a16="http://schemas.microsoft.com/office/drawing/2014/main" id="{57A8DB41-75FF-9056-090C-AF72D5BA946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569E810-C42A-7B20-B313-B5A1519A352B}"/>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177489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A1B674-10E8-BF62-682E-62E6BF0E7B6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DF79050-13CF-4D18-6339-D3941F7553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50F4891-72AF-F1D9-27C9-0D91778B63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29BDCEC-9BC6-64CE-3B18-DE4C16A77279}"/>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6" name="フッター プレースホルダー 5">
            <a:extLst>
              <a:ext uri="{FF2B5EF4-FFF2-40B4-BE49-F238E27FC236}">
                <a16:creationId xmlns:a16="http://schemas.microsoft.com/office/drawing/2014/main" id="{E204B2C2-3F51-3980-5BEA-413AF34F71B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5C86812-6860-EB54-CABE-293D51998637}"/>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67535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210067-7390-8361-643D-9CE68DFA70B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9466DC-F3C0-FE93-87E6-5D649BFCC48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BA193E-A29E-562D-6992-188B60611EC1}"/>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09E2863E-9363-28E8-DB96-D0DCC39B04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3B6499-12E3-CDE4-77FB-B44A5D4B782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3849523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289E0D6-E2FA-7E83-A7CC-EBAF7EFF5CF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CA491F3-3267-80EA-B5B0-FB0E2B67E5E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CCDD8D1-FE86-9118-9D7C-AF1CF8DD35CA}"/>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3B15A288-4716-1884-4394-A3A5B71218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9C6286-2694-A796-1940-D59A1ABE6F5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1065704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D1FBD23-492B-2985-6729-33FF947838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EE682E-232A-1757-E4CF-8A1043C9D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0668D80-FD2E-CC38-685D-49B13065B5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83504E48-68AE-B0F0-F2C3-8287254E1A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101281-24CC-108D-038D-DE019E05F2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584646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CA7F9B-7597-C11D-F482-EE320D33182C}"/>
              </a:ext>
            </a:extLst>
          </p:cNvPr>
          <p:cNvSpPr>
            <a:spLocks noGrp="1"/>
          </p:cNvSpPr>
          <p:nvPr>
            <p:ph type="ctrTitle"/>
          </p:nvPr>
        </p:nvSpPr>
        <p:spPr/>
        <p:txBody>
          <a:bodyPr/>
          <a:lstStyle/>
          <a:p>
            <a:r>
              <a:rPr kumimoji="1" lang="ja-JP" altLang="en-US" b="1" dirty="0"/>
              <a:t>就職作品資料</a:t>
            </a:r>
          </a:p>
        </p:txBody>
      </p:sp>
    </p:spTree>
    <p:extLst>
      <p:ext uri="{BB962C8B-B14F-4D97-AF65-F5344CB8AC3E}">
        <p14:creationId xmlns:p14="http://schemas.microsoft.com/office/powerpoint/2010/main" val="2083859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F5108F-6C79-C345-69F5-9CB75BF25331}"/>
              </a:ext>
            </a:extLst>
          </p:cNvPr>
          <p:cNvSpPr txBox="1"/>
          <p:nvPr/>
        </p:nvSpPr>
        <p:spPr>
          <a:xfrm>
            <a:off x="466344" y="466344"/>
            <a:ext cx="11594592" cy="1477328"/>
          </a:xfrm>
          <a:prstGeom prst="rect">
            <a:avLst/>
          </a:prstGeom>
          <a:noFill/>
        </p:spPr>
        <p:txBody>
          <a:bodyPr wrap="square" rtlCol="0">
            <a:spAutoFit/>
          </a:bodyPr>
          <a:lstStyle/>
          <a:p>
            <a:r>
              <a:rPr kumimoji="1" lang="ja-JP" altLang="en-US" sz="3600" b="1" dirty="0"/>
              <a:t>システムとしてのアプローチと理由</a:t>
            </a:r>
            <a:endParaRPr kumimoji="1" lang="en-US" altLang="ja-JP" sz="3600" b="1" dirty="0"/>
          </a:p>
          <a:p>
            <a:r>
              <a:rPr kumimoji="1" lang="ja-JP" altLang="en-US" dirty="0"/>
              <a:t>システム全体としての決め事</a:t>
            </a:r>
            <a:endParaRPr kumimoji="1" lang="en-US" altLang="ja-JP" dirty="0"/>
          </a:p>
          <a:p>
            <a:endParaRPr lang="en-US" altLang="ja-JP" dirty="0"/>
          </a:p>
          <a:p>
            <a:endParaRPr kumimoji="1" lang="ja-JP" altLang="en-US" dirty="0"/>
          </a:p>
        </p:txBody>
      </p:sp>
      <p:sp>
        <p:nvSpPr>
          <p:cNvPr id="4" name="カード 6">
            <a:extLst>
              <a:ext uri="{FF2B5EF4-FFF2-40B4-BE49-F238E27FC236}">
                <a16:creationId xmlns:a16="http://schemas.microsoft.com/office/drawing/2014/main" id="{E63C17A6-4423-CBD4-1FCB-D783DDEDEAE9}"/>
              </a:ext>
            </a:extLst>
          </p:cNvPr>
          <p:cNvSpPr/>
          <p:nvPr/>
        </p:nvSpPr>
        <p:spPr>
          <a:xfrm>
            <a:off x="548640" y="2971800"/>
            <a:ext cx="3544824" cy="3337560"/>
          </a:xfrm>
          <a:prstGeom prst="roundRect">
            <a:avLst>
              <a:gd name="adj" fmla="val 5000"/>
            </a:avLst>
          </a:prstGeom>
          <a:solidFill>
            <a:srgbClr val="F0F2F5"/>
          </a:solidFill>
          <a:ln>
            <a:noFill/>
          </a:ln>
        </p:spPr>
        <p:txBody>
          <a:bodyPr/>
          <a:lstStyle/>
          <a:p>
            <a:endParaRPr lang="ja-JP" altLang="en-US"/>
          </a:p>
        </p:txBody>
      </p:sp>
      <p:sp>
        <p:nvSpPr>
          <p:cNvPr id="5" name="ラベル 7">
            <a:extLst>
              <a:ext uri="{FF2B5EF4-FFF2-40B4-BE49-F238E27FC236}">
                <a16:creationId xmlns:a16="http://schemas.microsoft.com/office/drawing/2014/main" id="{2629A221-001D-31F0-39EF-29DE0A1662AA}"/>
              </a:ext>
            </a:extLst>
          </p:cNvPr>
          <p:cNvSpPr/>
          <p:nvPr/>
        </p:nvSpPr>
        <p:spPr>
          <a:xfrm>
            <a:off x="765048"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連続性</a:t>
            </a:r>
            <a:endParaRPr lang="ja-JP" altLang="en-US" sz="1500" dirty="0"/>
          </a:p>
        </p:txBody>
      </p:sp>
      <p:sp>
        <p:nvSpPr>
          <p:cNvPr id="6" name="テキスト 8">
            <a:extLst>
              <a:ext uri="{FF2B5EF4-FFF2-40B4-BE49-F238E27FC236}">
                <a16:creationId xmlns:a16="http://schemas.microsoft.com/office/drawing/2014/main" id="{3A63ABDB-9596-6AF8-6AEF-B46F0DFF3F90}"/>
              </a:ext>
            </a:extLst>
          </p:cNvPr>
          <p:cNvSpPr txBox="1"/>
          <p:nvPr/>
        </p:nvSpPr>
        <p:spPr>
          <a:xfrm>
            <a:off x="838200"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プレイヤーが高速で動いたりテレポートをしない限り音が急に切り替わると強い違和感を感じやすい。基本滑らかに変化して行くことを大事にする。</a:t>
            </a:r>
            <a:endParaRPr lang="ja-JP" altLang="en-US" sz="1450" dirty="0"/>
          </a:p>
        </p:txBody>
      </p:sp>
      <p:sp>
        <p:nvSpPr>
          <p:cNvPr id="7" name="カード 9">
            <a:extLst>
              <a:ext uri="{FF2B5EF4-FFF2-40B4-BE49-F238E27FC236}">
                <a16:creationId xmlns:a16="http://schemas.microsoft.com/office/drawing/2014/main" id="{1BF29227-25EF-DC3B-DAEB-2B071D051804}"/>
              </a:ext>
            </a:extLst>
          </p:cNvPr>
          <p:cNvSpPr/>
          <p:nvPr/>
        </p:nvSpPr>
        <p:spPr>
          <a:xfrm>
            <a:off x="4322064" y="2971800"/>
            <a:ext cx="3544824" cy="3337560"/>
          </a:xfrm>
          <a:prstGeom prst="roundRect">
            <a:avLst>
              <a:gd name="adj" fmla="val 5000"/>
            </a:avLst>
          </a:prstGeom>
          <a:solidFill>
            <a:srgbClr val="F0F2F5"/>
          </a:solidFill>
          <a:ln>
            <a:noFill/>
          </a:ln>
        </p:spPr>
        <p:txBody>
          <a:bodyPr/>
          <a:lstStyle/>
          <a:p>
            <a:endParaRPr lang="ja-JP" altLang="en-US"/>
          </a:p>
        </p:txBody>
      </p:sp>
      <p:sp>
        <p:nvSpPr>
          <p:cNvPr id="8" name="ラベル 10">
            <a:extLst>
              <a:ext uri="{FF2B5EF4-FFF2-40B4-BE49-F238E27FC236}">
                <a16:creationId xmlns:a16="http://schemas.microsoft.com/office/drawing/2014/main" id="{26D5FBB5-477A-B087-75EC-482B19496F2F}"/>
              </a:ext>
            </a:extLst>
          </p:cNvPr>
          <p:cNvSpPr/>
          <p:nvPr/>
        </p:nvSpPr>
        <p:spPr>
          <a:xfrm>
            <a:off x="4596384"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即時性</a:t>
            </a:r>
            <a:endParaRPr lang="ja-JP" altLang="en-US" sz="1500" dirty="0"/>
          </a:p>
        </p:txBody>
      </p:sp>
      <p:sp>
        <p:nvSpPr>
          <p:cNvPr id="9" name="テキスト 11">
            <a:extLst>
              <a:ext uri="{FF2B5EF4-FFF2-40B4-BE49-F238E27FC236}">
                <a16:creationId xmlns:a16="http://schemas.microsoft.com/office/drawing/2014/main" id="{D3041117-9EE9-9C89-CE84-23993AF1EEC7}"/>
              </a:ext>
            </a:extLst>
          </p:cNvPr>
          <p:cNvSpPr txBox="1"/>
          <p:nvPr/>
        </p:nvSpPr>
        <p:spPr>
          <a:xfrm>
            <a:off x="4596384"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ドアを開けたり部屋を移動した際に音が変わるまでに何秒もかけてると体験としての新鮮さがない、リアルタイムで音が変化してラグや飛びが無いように心がける。</a:t>
            </a:r>
            <a:endParaRPr lang="ja-JP" altLang="en-US" sz="1450" dirty="0"/>
          </a:p>
        </p:txBody>
      </p:sp>
      <p:sp>
        <p:nvSpPr>
          <p:cNvPr id="10" name="カード 12">
            <a:extLst>
              <a:ext uri="{FF2B5EF4-FFF2-40B4-BE49-F238E27FC236}">
                <a16:creationId xmlns:a16="http://schemas.microsoft.com/office/drawing/2014/main" id="{0801A3C9-29A0-412A-DEFE-0AFEBF7E1D12}"/>
              </a:ext>
            </a:extLst>
          </p:cNvPr>
          <p:cNvSpPr/>
          <p:nvPr/>
        </p:nvSpPr>
        <p:spPr>
          <a:xfrm>
            <a:off x="8095488" y="2971800"/>
            <a:ext cx="3544824" cy="3337560"/>
          </a:xfrm>
          <a:prstGeom prst="roundRect">
            <a:avLst>
              <a:gd name="adj" fmla="val 5000"/>
            </a:avLst>
          </a:prstGeom>
          <a:solidFill>
            <a:srgbClr val="F0F2F5"/>
          </a:solidFill>
          <a:ln>
            <a:noFill/>
          </a:ln>
        </p:spPr>
        <p:txBody>
          <a:bodyPr/>
          <a:lstStyle/>
          <a:p>
            <a:endParaRPr lang="ja-JP" altLang="en-US"/>
          </a:p>
        </p:txBody>
      </p:sp>
      <p:sp>
        <p:nvSpPr>
          <p:cNvPr id="11" name="ラベル 13">
            <a:extLst>
              <a:ext uri="{FF2B5EF4-FFF2-40B4-BE49-F238E27FC236}">
                <a16:creationId xmlns:a16="http://schemas.microsoft.com/office/drawing/2014/main" id="{8B08268E-5F27-576A-0145-088E5A0D3A1E}"/>
              </a:ext>
            </a:extLst>
          </p:cNvPr>
          <p:cNvSpPr/>
          <p:nvPr/>
        </p:nvSpPr>
        <p:spPr>
          <a:xfrm>
            <a:off x="8357616"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方向性</a:t>
            </a:r>
            <a:endParaRPr lang="ja-JP" altLang="en-US" sz="1500" dirty="0"/>
          </a:p>
        </p:txBody>
      </p:sp>
      <p:sp>
        <p:nvSpPr>
          <p:cNvPr id="12" name="テキスト 14">
            <a:extLst>
              <a:ext uri="{FF2B5EF4-FFF2-40B4-BE49-F238E27FC236}">
                <a16:creationId xmlns:a16="http://schemas.microsoft.com/office/drawing/2014/main" id="{64FF3AA6-F967-062C-5389-F6AA12662DD1}"/>
              </a:ext>
            </a:extLst>
          </p:cNvPr>
          <p:cNvSpPr txBox="1"/>
          <p:nvPr/>
        </p:nvSpPr>
        <p:spPr>
          <a:xfrm>
            <a:off x="8357616"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隣の部屋への扉やそもそもの音源の位置と言ったどの方向から聞こえるかは場所を考えられるための重要な情報になる、聞いて伝わる、のためにどの方向からかをわかりやすくする</a:t>
            </a:r>
            <a:endParaRPr lang="ja-JP" altLang="en-US" sz="1450" dirty="0"/>
          </a:p>
        </p:txBody>
      </p:sp>
      <p:sp>
        <p:nvSpPr>
          <p:cNvPr id="13" name="Rounded Rectangle 7">
            <a:extLst>
              <a:ext uri="{FF2B5EF4-FFF2-40B4-BE49-F238E27FC236}">
                <a16:creationId xmlns:a16="http://schemas.microsoft.com/office/drawing/2014/main" id="{B8F840D1-89C6-AE09-3C6C-FFFB139ABADC}"/>
              </a:ext>
            </a:extLst>
          </p:cNvPr>
          <p:cNvSpPr/>
          <p:nvPr/>
        </p:nvSpPr>
        <p:spPr>
          <a:xfrm>
            <a:off x="765048" y="302666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 name="Connector 8">
            <a:extLst>
              <a:ext uri="{FF2B5EF4-FFF2-40B4-BE49-F238E27FC236}">
                <a16:creationId xmlns:a16="http://schemas.microsoft.com/office/drawing/2014/main" id="{8569A57E-444B-19BE-0ED0-6EDB8B968F04}"/>
              </a:ext>
            </a:extLst>
          </p:cNvPr>
          <p:cNvCxnSpPr/>
          <p:nvPr/>
        </p:nvCxnSpPr>
        <p:spPr>
          <a:xfrm>
            <a:off x="765048" y="4014215"/>
            <a:ext cx="3054096" cy="0"/>
          </a:xfrm>
          <a:prstGeom prst="line">
            <a:avLst/>
          </a:prstGeom>
          <a:ln w="12700">
            <a:solidFill>
              <a:srgbClr val="C9CFD8"/>
            </a:solidFill>
          </a:ln>
        </p:spPr>
        <p:style>
          <a:lnRef idx="2">
            <a:schemeClr val="accent1"/>
          </a:lnRef>
          <a:fillRef idx="0">
            <a:schemeClr val="accent1"/>
          </a:fillRef>
          <a:effectRef idx="1">
            <a:schemeClr val="accent1"/>
          </a:effectRef>
          <a:fontRef idx="minor">
            <a:schemeClr val="tx1"/>
          </a:fontRef>
        </p:style>
      </p:cxnSp>
      <p:sp>
        <p:nvSpPr>
          <p:cNvPr id="15" name="Freeform 9">
            <a:extLst>
              <a:ext uri="{FF2B5EF4-FFF2-40B4-BE49-F238E27FC236}">
                <a16:creationId xmlns:a16="http://schemas.microsoft.com/office/drawing/2014/main" id="{470F56E9-798C-CCF4-8D15-D39D2FD3E9BF}"/>
              </a:ext>
            </a:extLst>
          </p:cNvPr>
          <p:cNvSpPr/>
          <p:nvPr/>
        </p:nvSpPr>
        <p:spPr>
          <a:xfrm>
            <a:off x="838200" y="3154680"/>
            <a:ext cx="2907791" cy="859535"/>
          </a:xfrm>
          <a:custGeom>
            <a:avLst/>
            <a:gdLst/>
            <a:ahLst/>
            <a:cxnLst/>
            <a:rect l="l" t="t" r="r" b="b"/>
            <a:pathLst>
              <a:path w="2907791" h="859535">
                <a:moveTo>
                  <a:pt x="0" y="859535"/>
                </a:moveTo>
                <a:lnTo>
                  <a:pt x="121158" y="855183"/>
                </a:lnTo>
                <a:lnTo>
                  <a:pt x="242315" y="842623"/>
                </a:lnTo>
                <a:lnTo>
                  <a:pt x="363474" y="822602"/>
                </a:lnTo>
                <a:lnTo>
                  <a:pt x="484631" y="795866"/>
                </a:lnTo>
                <a:lnTo>
                  <a:pt x="605790" y="763161"/>
                </a:lnTo>
                <a:lnTo>
                  <a:pt x="726948" y="725233"/>
                </a:lnTo>
                <a:lnTo>
                  <a:pt x="848106" y="682828"/>
                </a:lnTo>
                <a:lnTo>
                  <a:pt x="969263" y="636693"/>
                </a:lnTo>
                <a:lnTo>
                  <a:pt x="1090421" y="587573"/>
                </a:lnTo>
                <a:lnTo>
                  <a:pt x="1211580" y="536215"/>
                </a:lnTo>
                <a:lnTo>
                  <a:pt x="1332737" y="483364"/>
                </a:lnTo>
                <a:lnTo>
                  <a:pt x="1453896" y="429768"/>
                </a:lnTo>
                <a:lnTo>
                  <a:pt x="1575053" y="376171"/>
                </a:lnTo>
                <a:lnTo>
                  <a:pt x="1696212" y="323320"/>
                </a:lnTo>
                <a:lnTo>
                  <a:pt x="1817370" y="271962"/>
                </a:lnTo>
                <a:lnTo>
                  <a:pt x="1938527" y="222842"/>
                </a:lnTo>
                <a:lnTo>
                  <a:pt x="2059686" y="176707"/>
                </a:lnTo>
                <a:lnTo>
                  <a:pt x="2180844" y="134302"/>
                </a:lnTo>
                <a:lnTo>
                  <a:pt x="2302001" y="96374"/>
                </a:lnTo>
                <a:lnTo>
                  <a:pt x="2423160" y="63669"/>
                </a:lnTo>
                <a:lnTo>
                  <a:pt x="2544317" y="36933"/>
                </a:lnTo>
                <a:lnTo>
                  <a:pt x="2665475" y="16912"/>
                </a:lnTo>
                <a:lnTo>
                  <a:pt x="2786634" y="4352"/>
                </a:lnTo>
                <a:lnTo>
                  <a:pt x="2907791" y="0"/>
                </a:lnTo>
              </a:path>
            </a:pathLst>
          </a:custGeom>
          <a:noFill/>
          <a:ln w="28575">
            <a:solidFill>
              <a:srgbClr val="E3A3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0">
            <a:extLst>
              <a:ext uri="{FF2B5EF4-FFF2-40B4-BE49-F238E27FC236}">
                <a16:creationId xmlns:a16="http://schemas.microsoft.com/office/drawing/2014/main" id="{E5C172BA-C7BA-3791-E750-F5785FAE8489}"/>
              </a:ext>
            </a:extLst>
          </p:cNvPr>
          <p:cNvSpPr/>
          <p:nvPr/>
        </p:nvSpPr>
        <p:spPr>
          <a:xfrm>
            <a:off x="838200" y="3154680"/>
            <a:ext cx="2907791" cy="859535"/>
          </a:xfrm>
          <a:custGeom>
            <a:avLst/>
            <a:gdLst/>
            <a:ahLst/>
            <a:cxnLst/>
            <a:rect l="l" t="t" r="r" b="b"/>
            <a:pathLst>
              <a:path w="2907791" h="859535">
                <a:moveTo>
                  <a:pt x="0" y="859535"/>
                </a:moveTo>
                <a:lnTo>
                  <a:pt x="726948" y="859535"/>
                </a:lnTo>
                <a:lnTo>
                  <a:pt x="726948" y="644652"/>
                </a:lnTo>
                <a:lnTo>
                  <a:pt x="726948" y="644652"/>
                </a:lnTo>
                <a:lnTo>
                  <a:pt x="1453896" y="644652"/>
                </a:lnTo>
                <a:lnTo>
                  <a:pt x="1453896" y="429768"/>
                </a:lnTo>
                <a:lnTo>
                  <a:pt x="1453896" y="429768"/>
                </a:lnTo>
                <a:lnTo>
                  <a:pt x="2180844" y="429768"/>
                </a:lnTo>
                <a:lnTo>
                  <a:pt x="2180844" y="214884"/>
                </a:lnTo>
                <a:lnTo>
                  <a:pt x="2180844" y="214884"/>
                </a:lnTo>
                <a:lnTo>
                  <a:pt x="2907791" y="214884"/>
                </a:lnTo>
                <a:lnTo>
                  <a:pt x="2907791" y="0"/>
                </a:lnTo>
              </a:path>
            </a:pathLst>
          </a:custGeom>
          <a:noFill/>
          <a:ln w="15875">
            <a:solidFill>
              <a:srgbClr val="9AA3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4">
            <a:extLst>
              <a:ext uri="{FF2B5EF4-FFF2-40B4-BE49-F238E27FC236}">
                <a16:creationId xmlns:a16="http://schemas.microsoft.com/office/drawing/2014/main" id="{E49BFD00-784F-E4B2-1A88-7D592749E85A}"/>
              </a:ext>
            </a:extLst>
          </p:cNvPr>
          <p:cNvSpPr/>
          <p:nvPr/>
        </p:nvSpPr>
        <p:spPr>
          <a:xfrm>
            <a:off x="4553712"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5">
            <a:extLst>
              <a:ext uri="{FF2B5EF4-FFF2-40B4-BE49-F238E27FC236}">
                <a16:creationId xmlns:a16="http://schemas.microsoft.com/office/drawing/2014/main" id="{BC66F38A-7146-C121-D1EC-8B15BDB998F9}"/>
              </a:ext>
            </a:extLst>
          </p:cNvPr>
          <p:cNvSpPr txBox="1"/>
          <p:nvPr/>
        </p:nvSpPr>
        <p:spPr>
          <a:xfrm>
            <a:off x="4553712" y="321868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19" name="Right Arrow 16">
            <a:extLst>
              <a:ext uri="{FF2B5EF4-FFF2-40B4-BE49-F238E27FC236}">
                <a16:creationId xmlns:a16="http://schemas.microsoft.com/office/drawing/2014/main" id="{BB7155B4-6034-788E-E642-409B46D000BC}"/>
              </a:ext>
            </a:extLst>
          </p:cNvPr>
          <p:cNvSpPr/>
          <p:nvPr/>
        </p:nvSpPr>
        <p:spPr>
          <a:xfrm>
            <a:off x="4992623" y="3282696"/>
            <a:ext cx="320040" cy="118872"/>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7">
            <a:extLst>
              <a:ext uri="{FF2B5EF4-FFF2-40B4-BE49-F238E27FC236}">
                <a16:creationId xmlns:a16="http://schemas.microsoft.com/office/drawing/2014/main" id="{127D9511-C6F7-A776-AE3E-A0179AA9BDED}"/>
              </a:ext>
            </a:extLst>
          </p:cNvPr>
          <p:cNvSpPr txBox="1"/>
          <p:nvPr/>
        </p:nvSpPr>
        <p:spPr>
          <a:xfrm>
            <a:off x="5367527" y="321868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21" name="TextBox 18">
            <a:extLst>
              <a:ext uri="{FF2B5EF4-FFF2-40B4-BE49-F238E27FC236}">
                <a16:creationId xmlns:a16="http://schemas.microsoft.com/office/drawing/2014/main" id="{5DF17413-BEFE-3956-3783-993FB6E5A1AF}"/>
              </a:ext>
            </a:extLst>
          </p:cNvPr>
          <p:cNvSpPr txBox="1"/>
          <p:nvPr/>
        </p:nvSpPr>
        <p:spPr>
          <a:xfrm>
            <a:off x="5714999" y="3218688"/>
            <a:ext cx="1005840" cy="237744"/>
          </a:xfrm>
          <a:prstGeom prst="rect">
            <a:avLst/>
          </a:prstGeom>
          <a:noFill/>
        </p:spPr>
        <p:txBody>
          <a:bodyPr wrap="square" lIns="0" tIns="0" rIns="0" bIns="0" anchor="ctr">
            <a:spAutoFit/>
          </a:bodyPr>
          <a:lstStyle/>
          <a:p>
            <a:pPr algn="l">
              <a:spcAft>
                <a:spcPts val="0"/>
              </a:spcAft>
              <a:buNone/>
            </a:pPr>
            <a:r>
              <a:rPr sz="1050" b="1">
                <a:solidFill>
                  <a:srgbClr val="E3A33B"/>
                </a:solidFill>
                <a:latin typeface="BIZ UDPゴシック"/>
                <a:ea typeface="BIZ UDPゴシック"/>
                <a:cs typeface="BIZ UDPゴシック"/>
              </a:rPr>
              <a:t>○　すぐ</a:t>
            </a:r>
          </a:p>
        </p:txBody>
      </p:sp>
      <p:sp>
        <p:nvSpPr>
          <p:cNvPr id="22" name="TextBox 19">
            <a:extLst>
              <a:ext uri="{FF2B5EF4-FFF2-40B4-BE49-F238E27FC236}">
                <a16:creationId xmlns:a16="http://schemas.microsoft.com/office/drawing/2014/main" id="{47924666-D837-53B6-6378-578D56176519}"/>
              </a:ext>
            </a:extLst>
          </p:cNvPr>
          <p:cNvSpPr txBox="1"/>
          <p:nvPr/>
        </p:nvSpPr>
        <p:spPr>
          <a:xfrm>
            <a:off x="4553712" y="372160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23" name="Right Arrow 20">
            <a:extLst>
              <a:ext uri="{FF2B5EF4-FFF2-40B4-BE49-F238E27FC236}">
                <a16:creationId xmlns:a16="http://schemas.microsoft.com/office/drawing/2014/main" id="{06FD9C8C-0096-B039-D44A-AC8CFDB7ED37}"/>
              </a:ext>
            </a:extLst>
          </p:cNvPr>
          <p:cNvSpPr/>
          <p:nvPr/>
        </p:nvSpPr>
        <p:spPr>
          <a:xfrm>
            <a:off x="4992623" y="3785616"/>
            <a:ext cx="1234440" cy="118872"/>
          </a:xfrm>
          <a:prstGeom prst="rightArrow">
            <a:avLst/>
          </a:prstGeom>
          <a:solidFill>
            <a:srgbClr val="9AA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1">
            <a:extLst>
              <a:ext uri="{FF2B5EF4-FFF2-40B4-BE49-F238E27FC236}">
                <a16:creationId xmlns:a16="http://schemas.microsoft.com/office/drawing/2014/main" id="{2A1B8664-DE29-41AF-02B6-745092DD0583}"/>
              </a:ext>
            </a:extLst>
          </p:cNvPr>
          <p:cNvSpPr txBox="1"/>
          <p:nvPr/>
        </p:nvSpPr>
        <p:spPr>
          <a:xfrm>
            <a:off x="6281928" y="372160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25" name="TextBox 22">
            <a:extLst>
              <a:ext uri="{FF2B5EF4-FFF2-40B4-BE49-F238E27FC236}">
                <a16:creationId xmlns:a16="http://schemas.microsoft.com/office/drawing/2014/main" id="{0A4DFEE8-5D57-5B72-EFE2-96876517F39C}"/>
              </a:ext>
            </a:extLst>
          </p:cNvPr>
          <p:cNvSpPr txBox="1"/>
          <p:nvPr/>
        </p:nvSpPr>
        <p:spPr>
          <a:xfrm>
            <a:off x="6629400" y="3721608"/>
            <a:ext cx="1005840" cy="237744"/>
          </a:xfrm>
          <a:prstGeom prst="rect">
            <a:avLst/>
          </a:prstGeom>
          <a:noFill/>
        </p:spPr>
        <p:txBody>
          <a:bodyPr wrap="square" lIns="0" tIns="0" rIns="0" bIns="0" anchor="ctr">
            <a:spAutoFit/>
          </a:bodyPr>
          <a:lstStyle/>
          <a:p>
            <a:pPr algn="l">
              <a:spcAft>
                <a:spcPts val="0"/>
              </a:spcAft>
              <a:buNone/>
            </a:pPr>
            <a:r>
              <a:rPr sz="1050" b="1">
                <a:solidFill>
                  <a:srgbClr val="9AA3B0"/>
                </a:solidFill>
                <a:latin typeface="BIZ UDPゴシック"/>
                <a:ea typeface="BIZ UDPゴシック"/>
                <a:cs typeface="BIZ UDPゴシック"/>
              </a:rPr>
              <a:t>×　ラグ</a:t>
            </a:r>
          </a:p>
        </p:txBody>
      </p:sp>
      <p:sp>
        <p:nvSpPr>
          <p:cNvPr id="26" name="Rounded Rectangle 26">
            <a:extLst>
              <a:ext uri="{FF2B5EF4-FFF2-40B4-BE49-F238E27FC236}">
                <a16:creationId xmlns:a16="http://schemas.microsoft.com/office/drawing/2014/main" id="{AF836CD0-E411-9E1E-53C0-11F4B6D6D162}"/>
              </a:ext>
            </a:extLst>
          </p:cNvPr>
          <p:cNvSpPr/>
          <p:nvPr/>
        </p:nvSpPr>
        <p:spPr>
          <a:xfrm>
            <a:off x="8302751"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7">
            <a:extLst>
              <a:ext uri="{FF2B5EF4-FFF2-40B4-BE49-F238E27FC236}">
                <a16:creationId xmlns:a16="http://schemas.microsoft.com/office/drawing/2014/main" id="{A731478D-F5BB-DB4A-CBBD-3CCFF5B956AB}"/>
              </a:ext>
            </a:extLst>
          </p:cNvPr>
          <p:cNvSpPr/>
          <p:nvPr/>
        </p:nvSpPr>
        <p:spPr>
          <a:xfrm>
            <a:off x="8714231" y="3163824"/>
            <a:ext cx="2231136" cy="914400"/>
          </a:xfrm>
          <a:prstGeom prst="roundRect">
            <a:avLst>
              <a:gd name="adj" fmla="val 3000"/>
            </a:avLst>
          </a:prstGeom>
          <a:noFill/>
          <a:ln w="15875">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8">
            <a:extLst>
              <a:ext uri="{FF2B5EF4-FFF2-40B4-BE49-F238E27FC236}">
                <a16:creationId xmlns:a16="http://schemas.microsoft.com/office/drawing/2014/main" id="{6F134554-286D-131B-4CBD-45D60F81A530}"/>
              </a:ext>
            </a:extLst>
          </p:cNvPr>
          <p:cNvSpPr/>
          <p:nvPr/>
        </p:nvSpPr>
        <p:spPr>
          <a:xfrm>
            <a:off x="8668511" y="3419856"/>
            <a:ext cx="109728" cy="402336"/>
          </a:xfrm>
          <a:prstGeom prst="rect">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9">
            <a:extLst>
              <a:ext uri="{FF2B5EF4-FFF2-40B4-BE49-F238E27FC236}">
                <a16:creationId xmlns:a16="http://schemas.microsoft.com/office/drawing/2014/main" id="{021054F0-B80C-9830-301F-FE123E14AB67}"/>
              </a:ext>
            </a:extLst>
          </p:cNvPr>
          <p:cNvSpPr txBox="1"/>
          <p:nvPr/>
        </p:nvSpPr>
        <p:spPr>
          <a:xfrm>
            <a:off x="8302751" y="3483864"/>
            <a:ext cx="347472" cy="274320"/>
          </a:xfrm>
          <a:prstGeom prst="rect">
            <a:avLst/>
          </a:prstGeom>
          <a:noFill/>
        </p:spPr>
        <p:txBody>
          <a:bodyPr wrap="square" lIns="0" tIns="0" rIns="0" bIns="0" anchor="t">
            <a:spAutoFit/>
          </a:bodyPr>
          <a:lstStyle/>
          <a:p>
            <a:pPr algn="l">
              <a:spcAft>
                <a:spcPts val="0"/>
              </a:spcAft>
              <a:buNone/>
            </a:pPr>
            <a:r>
              <a:rPr sz="1000" b="1">
                <a:solidFill>
                  <a:srgbClr val="9A6212"/>
                </a:solidFill>
                <a:latin typeface="BIZ UDPゴシック"/>
                <a:ea typeface="BIZ UDPゴシック"/>
                <a:cs typeface="BIZ UDPゴシック"/>
              </a:rPr>
              <a:t>扉</a:t>
            </a:r>
          </a:p>
        </p:txBody>
      </p:sp>
      <p:sp>
        <p:nvSpPr>
          <p:cNvPr id="30" name="Right Arrow 30">
            <a:extLst>
              <a:ext uri="{FF2B5EF4-FFF2-40B4-BE49-F238E27FC236}">
                <a16:creationId xmlns:a16="http://schemas.microsoft.com/office/drawing/2014/main" id="{79148AF1-3721-7128-D958-B08C164D6504}"/>
              </a:ext>
            </a:extLst>
          </p:cNvPr>
          <p:cNvSpPr/>
          <p:nvPr/>
        </p:nvSpPr>
        <p:spPr>
          <a:xfrm>
            <a:off x="8869679" y="3557016"/>
            <a:ext cx="868680" cy="128016"/>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1">
            <a:extLst>
              <a:ext uri="{FF2B5EF4-FFF2-40B4-BE49-F238E27FC236}">
                <a16:creationId xmlns:a16="http://schemas.microsoft.com/office/drawing/2014/main" id="{61E5CCC1-02F2-F3B0-CFD6-DB49A8E36381}"/>
              </a:ext>
            </a:extLst>
          </p:cNvPr>
          <p:cNvSpPr/>
          <p:nvPr/>
        </p:nvSpPr>
        <p:spPr>
          <a:xfrm>
            <a:off x="9838943" y="3502152"/>
            <a:ext cx="237744" cy="237744"/>
          </a:xfrm>
          <a:prstGeom prst="ellipse">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Aft>
                <a:spcPts val="0"/>
              </a:spcAft>
              <a:buNone/>
            </a:pPr>
            <a:endParaRPr/>
          </a:p>
        </p:txBody>
      </p:sp>
      <p:sp>
        <p:nvSpPr>
          <p:cNvPr id="32" name="TextBox 32">
            <a:extLst>
              <a:ext uri="{FF2B5EF4-FFF2-40B4-BE49-F238E27FC236}">
                <a16:creationId xmlns:a16="http://schemas.microsoft.com/office/drawing/2014/main" id="{B9DD349B-7826-EF74-0D98-F0CD63FD78EA}"/>
              </a:ext>
            </a:extLst>
          </p:cNvPr>
          <p:cNvSpPr txBox="1"/>
          <p:nvPr/>
        </p:nvSpPr>
        <p:spPr>
          <a:xfrm>
            <a:off x="10177272" y="3474720"/>
            <a:ext cx="1005840" cy="274320"/>
          </a:xfrm>
          <a:prstGeom prst="rect">
            <a:avLst/>
          </a:prstGeom>
          <a:noFill/>
        </p:spPr>
        <p:txBody>
          <a:bodyPr wrap="square" lIns="0" tIns="0" rIns="0" bIns="0" anchor="t">
            <a:spAutoFit/>
          </a:bodyPr>
          <a:lstStyle/>
          <a:p>
            <a:pPr algn="l">
              <a:spcAft>
                <a:spcPts val="0"/>
              </a:spcAft>
              <a:buNone/>
            </a:pPr>
            <a:r>
              <a:rPr sz="1000" b="1">
                <a:solidFill>
                  <a:srgbClr val="1E2430"/>
                </a:solidFill>
                <a:latin typeface="BIZ UDPゴシック"/>
                <a:ea typeface="BIZ UDPゴシック"/>
                <a:cs typeface="BIZ UDPゴシック"/>
              </a:rPr>
              <a:t>自分</a:t>
            </a:r>
          </a:p>
        </p:txBody>
      </p:sp>
      <p:sp>
        <p:nvSpPr>
          <p:cNvPr id="33" name="テキスト ボックス 32">
            <a:extLst>
              <a:ext uri="{FF2B5EF4-FFF2-40B4-BE49-F238E27FC236}">
                <a16:creationId xmlns:a16="http://schemas.microsoft.com/office/drawing/2014/main" id="{77A24883-8F13-4C4C-27FB-E1BF4142CC97}"/>
              </a:ext>
            </a:extLst>
          </p:cNvPr>
          <p:cNvSpPr txBox="1"/>
          <p:nvPr/>
        </p:nvSpPr>
        <p:spPr>
          <a:xfrm>
            <a:off x="548640" y="1912096"/>
            <a:ext cx="4339650" cy="369332"/>
          </a:xfrm>
          <a:prstGeom prst="rect">
            <a:avLst/>
          </a:prstGeom>
          <a:noFill/>
        </p:spPr>
        <p:txBody>
          <a:bodyPr wrap="none" rtlCol="0">
            <a:spAutoFit/>
          </a:bodyPr>
          <a:lstStyle/>
          <a:p>
            <a:r>
              <a:rPr kumimoji="1" lang="ja-JP" altLang="en-US" dirty="0"/>
              <a:t>音の体験として以下の三つを大事にする</a:t>
            </a:r>
          </a:p>
        </p:txBody>
      </p:sp>
      <p:sp>
        <p:nvSpPr>
          <p:cNvPr id="34" name="ページ番号 3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7</a:t>
            </a:r>
            <a:endParaRPr lang="ja-JP" altLang="en-US" sz="1000" dirty="0"/>
          </a:p>
        </p:txBody>
      </p:sp>
    </p:spTree>
    <p:extLst>
      <p:ext uri="{BB962C8B-B14F-4D97-AF65-F5344CB8AC3E}">
        <p14:creationId xmlns:p14="http://schemas.microsoft.com/office/powerpoint/2010/main" val="1744910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ドアの開き具合での演出</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dirty="0">
                <a:solidFill>
                  <a:srgbClr val="1E2430"/>
                </a:solidFill>
                <a:latin typeface="BIZ UDPゴシック"/>
                <a:ea typeface="BIZ UDPゴシック"/>
                <a:cs typeface="BIZ UDPゴシック"/>
              </a:rPr>
              <a:t>ドアの開けた感の伝え方</a:t>
            </a: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扉を開けたこと、どこまで開けたかをより伝わりやすくなるようアプローチを大きく 2 つに。</a:t>
            </a:r>
          </a:p>
        </p:txBody>
      </p:sp>
      <p:sp>
        <p:nvSpPr>
          <p:cNvPr id="5" name="カード 5"/>
          <p:cNvSpPr/>
          <p:nvPr/>
        </p:nvSpPr>
        <p:spPr>
          <a:xfrm>
            <a:off x="499545" y="2527016"/>
            <a:ext cx="5420836" cy="3550000"/>
          </a:xfrm>
          <a:prstGeom prst="roundRect">
            <a:avLst>
              <a:gd name="adj" fmla="val 5000"/>
            </a:avLst>
          </a:prstGeom>
          <a:solidFill>
            <a:srgbClr val="F0F2F5"/>
          </a:solidFill>
          <a:ln>
            <a:noFill/>
          </a:ln>
        </p:spPr>
        <p:txBody>
          <a:bodyPr/>
          <a:lstStyle/>
          <a:p>
            <a:endParaRPr lang="ja-JP" altLang="en-US"/>
          </a:p>
        </p:txBody>
      </p:sp>
      <p:sp>
        <p:nvSpPr>
          <p:cNvPr id="6" name="ラベル 6"/>
          <p:cNvSpPr/>
          <p:nvPr/>
        </p:nvSpPr>
        <p:spPr>
          <a:xfrm>
            <a:off x="799545" y="2777016"/>
            <a:ext cx="190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開けた感</a:t>
            </a:r>
            <a:endParaRPr lang="ja-JP" altLang="en-US" sz="1250" dirty="0">
              <a:solidFill>
                <a:srgbClr val="1E2430"/>
              </a:solidFill>
              <a:latin typeface="BIZ UDPゴシック"/>
              <a:ea typeface="BIZ UDPゴシック"/>
              <a:cs typeface="BIZ UDPゴシック"/>
            </a:endParaRPr>
          </a:p>
        </p:txBody>
      </p:sp>
      <p:sp>
        <p:nvSpPr>
          <p:cNvPr id="7" name="テキスト 7"/>
          <p:cNvSpPr txBox="1"/>
          <p:nvPr/>
        </p:nvSpPr>
        <p:spPr>
          <a:xfrm>
            <a:off x="799545" y="3247016"/>
            <a:ext cx="4820836" cy="4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850" b="1" dirty="0">
                <a:solidFill>
                  <a:srgbClr val="1E2430"/>
                </a:solidFill>
                <a:latin typeface="BIZ UDPゴシック"/>
                <a:ea typeface="BIZ UDPゴシック"/>
                <a:cs typeface="BIZ UDPゴシック"/>
              </a:rPr>
              <a:t>開いた瞬間に、音量が大きく広がる</a:t>
            </a:r>
            <a:endParaRPr lang="ja-JP" altLang="en-US" sz="1850" dirty="0">
              <a:solidFill>
                <a:srgbClr val="1E2430"/>
              </a:solidFill>
              <a:latin typeface="BIZ UDPゴシック"/>
              <a:ea typeface="BIZ UDPゴシック"/>
              <a:cs typeface="BIZ UDPゴシック"/>
            </a:endParaRPr>
          </a:p>
        </p:txBody>
      </p:sp>
      <p:sp>
        <p:nvSpPr>
          <p:cNvPr id="8" name="テキスト 8"/>
          <p:cNvSpPr txBox="1"/>
          <p:nvPr/>
        </p:nvSpPr>
        <p:spPr>
          <a:xfrm>
            <a:off x="799545" y="3757016"/>
            <a:ext cx="4820836" cy="6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少しでも開いた瞬間、開いたと思わせるために開いた瞬間のカーブを大きく、そこからはなだらかに</a:t>
            </a:r>
          </a:p>
        </p:txBody>
      </p:sp>
      <p:sp>
        <p:nvSpPr>
          <p:cNvPr id="9" name="カード 9"/>
          <p:cNvSpPr/>
          <p:nvPr/>
        </p:nvSpPr>
        <p:spPr>
          <a:xfrm>
            <a:off x="6170381" y="2527016"/>
            <a:ext cx="5420836" cy="3550000"/>
          </a:xfrm>
          <a:prstGeom prst="roundRect">
            <a:avLst>
              <a:gd name="adj" fmla="val 5000"/>
            </a:avLst>
          </a:prstGeom>
          <a:solidFill>
            <a:srgbClr val="F0F2F5"/>
          </a:solidFill>
          <a:ln>
            <a:noFill/>
          </a:ln>
        </p:spPr>
        <p:txBody>
          <a:bodyPr/>
          <a:lstStyle/>
          <a:p>
            <a:endParaRPr lang="ja-JP" altLang="en-US"/>
          </a:p>
        </p:txBody>
      </p:sp>
      <p:sp>
        <p:nvSpPr>
          <p:cNvPr id="10" name="ラベル 10"/>
          <p:cNvSpPr/>
          <p:nvPr/>
        </p:nvSpPr>
        <p:spPr>
          <a:xfrm>
            <a:off x="6470381" y="2777016"/>
            <a:ext cx="190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どこまで開いたか</a:t>
            </a:r>
            <a:endParaRPr lang="ja-JP" altLang="en-US" sz="1250" dirty="0">
              <a:solidFill>
                <a:srgbClr val="1E2430"/>
              </a:solidFill>
              <a:latin typeface="BIZ UDPゴシック"/>
              <a:ea typeface="BIZ UDPゴシック"/>
              <a:cs typeface="BIZ UDPゴシック"/>
            </a:endParaRPr>
          </a:p>
        </p:txBody>
      </p:sp>
      <p:sp>
        <p:nvSpPr>
          <p:cNvPr id="11" name="テキスト 11"/>
          <p:cNvSpPr txBox="1"/>
          <p:nvPr/>
        </p:nvSpPr>
        <p:spPr>
          <a:xfrm>
            <a:off x="6470381" y="3247016"/>
            <a:ext cx="4820836" cy="4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850" b="1" dirty="0">
                <a:solidFill>
                  <a:srgbClr val="1E2430"/>
                </a:solidFill>
                <a:latin typeface="BIZ UDPゴシック"/>
                <a:ea typeface="BIZ UDPゴシック"/>
                <a:cs typeface="BIZ UDPゴシック"/>
              </a:rPr>
              <a:t>音源に対する角度で、こもるか開くか</a:t>
            </a:r>
            <a:endParaRPr lang="ja-JP" altLang="en-US" sz="1850" dirty="0">
              <a:solidFill>
                <a:srgbClr val="1E2430"/>
              </a:solidFill>
              <a:latin typeface="BIZ UDPゴシック"/>
              <a:ea typeface="BIZ UDPゴシック"/>
              <a:cs typeface="BIZ UDPゴシック"/>
            </a:endParaRPr>
          </a:p>
        </p:txBody>
      </p:sp>
      <p:sp>
        <p:nvSpPr>
          <p:cNvPr id="12" name="テキスト 12"/>
          <p:cNvSpPr txBox="1"/>
          <p:nvPr/>
        </p:nvSpPr>
        <p:spPr>
          <a:xfrm>
            <a:off x="6470381" y="3757016"/>
            <a:ext cx="4820836" cy="6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どこまで開いたかで音源に対しての音のこもり方を調節して、音源の場所や方向が伝わるように</a:t>
            </a:r>
          </a:p>
        </p:txBody>
      </p:sp>
      <p:cxnSp>
        <p:nvCxnSpPr>
          <p:cNvPr id="13" name="線 13"/>
          <p:cNvCxnSpPr/>
          <p:nvPr/>
        </p:nvCxnSpPr>
        <p:spPr>
          <a:xfrm>
            <a:off x="999545" y="5777016"/>
            <a:ext cx="4420836" cy="0"/>
          </a:xfrm>
          <a:prstGeom prst="line">
            <a:avLst/>
          </a:prstGeom>
          <a:ln w="12700" cap="rnd">
            <a:solidFill>
              <a:srgbClr val="C9CFD8"/>
            </a:solidFill>
            <a:round/>
          </a:ln>
        </p:spPr>
      </p:cxnSp>
      <p:cxnSp>
        <p:nvCxnSpPr>
          <p:cNvPr id="14" name="線 14"/>
          <p:cNvCxnSpPr/>
          <p:nvPr/>
        </p:nvCxnSpPr>
        <p:spPr>
          <a:xfrm>
            <a:off x="999545" y="4527016"/>
            <a:ext cx="0" cy="1250000"/>
          </a:xfrm>
          <a:prstGeom prst="line">
            <a:avLst/>
          </a:prstGeom>
          <a:ln w="12700" cap="rnd">
            <a:solidFill>
              <a:srgbClr val="C9CFD8"/>
            </a:solidFill>
            <a:round/>
          </a:ln>
        </p:spPr>
      </p:cxnSp>
      <p:sp>
        <p:nvSpPr>
          <p:cNvPr id="16" name="テキスト 16"/>
          <p:cNvSpPr txBox="1"/>
          <p:nvPr/>
        </p:nvSpPr>
        <p:spPr>
          <a:xfrm>
            <a:off x="549545" y="5677016"/>
            <a:ext cx="42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閉</a:t>
            </a:r>
            <a:endParaRPr lang="ja-JP" altLang="en-US" sz="1000" dirty="0">
              <a:solidFill>
                <a:srgbClr val="5C6677"/>
              </a:solidFill>
              <a:latin typeface="BIZ UDPゴシック"/>
              <a:ea typeface="BIZ UDPゴシック"/>
              <a:cs typeface="BIZ UDPゴシック"/>
            </a:endParaRPr>
          </a:p>
        </p:txBody>
      </p:sp>
      <p:sp>
        <p:nvSpPr>
          <p:cNvPr id="17" name="テキスト 17"/>
          <p:cNvSpPr txBox="1"/>
          <p:nvPr/>
        </p:nvSpPr>
        <p:spPr>
          <a:xfrm>
            <a:off x="549545" y="4427016"/>
            <a:ext cx="42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全開</a:t>
            </a:r>
            <a:endParaRPr lang="ja-JP" altLang="en-US" sz="1000" dirty="0">
              <a:solidFill>
                <a:srgbClr val="5C6677"/>
              </a:solidFill>
              <a:latin typeface="BIZ UDPゴシック"/>
              <a:ea typeface="BIZ UDPゴシック"/>
              <a:cs typeface="BIZ UDPゴシック"/>
            </a:endParaRPr>
          </a:p>
        </p:txBody>
      </p:sp>
      <p:sp>
        <p:nvSpPr>
          <p:cNvPr id="18" name="テキスト 18"/>
          <p:cNvSpPr txBox="1"/>
          <p:nvPr/>
        </p:nvSpPr>
        <p:spPr>
          <a:xfrm>
            <a:off x="999545" y="581701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0°</a:t>
            </a:r>
          </a:p>
        </p:txBody>
      </p:sp>
      <p:sp>
        <p:nvSpPr>
          <p:cNvPr id="19" name="テキスト 19"/>
          <p:cNvSpPr txBox="1"/>
          <p:nvPr/>
        </p:nvSpPr>
        <p:spPr>
          <a:xfrm>
            <a:off x="4620381" y="5817016"/>
            <a:ext cx="80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90°</a:t>
            </a:r>
          </a:p>
        </p:txBody>
      </p:sp>
      <p:sp>
        <p:nvSpPr>
          <p:cNvPr id="22" name="面 22"/>
          <p:cNvSpPr/>
          <p:nvPr/>
        </p:nvSpPr>
        <p:spPr>
          <a:xfrm>
            <a:off x="9173619" y="4611016"/>
            <a:ext cx="1102735" cy="896000"/>
          </a:xfrm>
          <a:custGeom>
            <a:avLst/>
            <a:gdLst/>
            <a:ahLst/>
            <a:cxnLst/>
            <a:rect l="0" t="0" r="r" b="b"/>
            <a:pathLst>
              <a:path w="1102735" h="896000">
                <a:moveTo>
                  <a:pt x="0" y="496000"/>
                </a:moveTo>
                <a:lnTo>
                  <a:pt x="191103" y="0"/>
                </a:lnTo>
                <a:lnTo>
                  <a:pt x="1102735" y="0"/>
                </a:lnTo>
                <a:lnTo>
                  <a:pt x="107179" y="896000"/>
                </a:lnTo>
                <a:close/>
              </a:path>
            </a:pathLst>
          </a:custGeom>
          <a:solidFill>
            <a:srgbClr val="FBF1DF"/>
          </a:solidFill>
          <a:ln>
            <a:noFill/>
          </a:ln>
        </p:spPr>
        <p:txBody>
          <a:bodyPr/>
          <a:lstStyle/>
          <a:p>
            <a:endParaRPr lang="ja-JP" altLang="en-US"/>
          </a:p>
        </p:txBody>
      </p:sp>
      <p:sp>
        <p:nvSpPr>
          <p:cNvPr id="23" name="壁 23"/>
          <p:cNvSpPr/>
          <p:nvPr/>
        </p:nvSpPr>
        <p:spPr>
          <a:xfrm>
            <a:off x="6480799" y="5487016"/>
            <a:ext cx="2000000" cy="40000"/>
          </a:xfrm>
          <a:prstGeom prst="rect">
            <a:avLst/>
          </a:prstGeom>
          <a:solidFill>
            <a:srgbClr val="9AA3B0"/>
          </a:solidFill>
          <a:ln>
            <a:noFill/>
          </a:ln>
        </p:spPr>
        <p:txBody>
          <a:bodyPr/>
          <a:lstStyle/>
          <a:p>
            <a:endParaRPr lang="ja-JP" altLang="en-US"/>
          </a:p>
        </p:txBody>
      </p:sp>
      <p:sp>
        <p:nvSpPr>
          <p:cNvPr id="24" name="壁 24"/>
          <p:cNvSpPr/>
          <p:nvPr/>
        </p:nvSpPr>
        <p:spPr>
          <a:xfrm>
            <a:off x="9280799" y="5487016"/>
            <a:ext cx="2000000" cy="40000"/>
          </a:xfrm>
          <a:prstGeom prst="rect">
            <a:avLst/>
          </a:prstGeom>
          <a:solidFill>
            <a:srgbClr val="9AA3B0"/>
          </a:solidFill>
          <a:ln>
            <a:noFill/>
          </a:ln>
        </p:spPr>
        <p:txBody>
          <a:bodyPr/>
          <a:lstStyle/>
          <a:p>
            <a:endParaRPr lang="ja-JP" altLang="en-US"/>
          </a:p>
        </p:txBody>
      </p:sp>
      <p:cxnSp>
        <p:nvCxnSpPr>
          <p:cNvPr id="25" name="線 25"/>
          <p:cNvCxnSpPr/>
          <p:nvPr/>
        </p:nvCxnSpPr>
        <p:spPr>
          <a:xfrm flipV="1">
            <a:off x="8480799" y="5107016"/>
            <a:ext cx="692820" cy="400000"/>
          </a:xfrm>
          <a:prstGeom prst="line">
            <a:avLst/>
          </a:prstGeom>
          <a:ln w="44450" cap="rnd">
            <a:solidFill>
              <a:srgbClr val="1E2430"/>
            </a:solidFill>
            <a:round/>
          </a:ln>
        </p:spPr>
      </p:cxnSp>
      <p:sp>
        <p:nvSpPr>
          <p:cNvPr id="26" name="番号 26"/>
          <p:cNvSpPr/>
          <p:nvPr/>
        </p:nvSpPr>
        <p:spPr>
          <a:xfrm>
            <a:off x="8265857" y="4788538"/>
            <a:ext cx="150000" cy="150000"/>
          </a:xfrm>
          <a:prstGeom prst="ellipse">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7" name="テキスト 27"/>
          <p:cNvSpPr txBox="1"/>
          <p:nvPr/>
        </p:nvSpPr>
        <p:spPr>
          <a:xfrm>
            <a:off x="7440857" y="4763538"/>
            <a:ext cx="78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こもる</a:t>
            </a:r>
            <a:endParaRPr lang="ja-JP" altLang="en-US" sz="1050" dirty="0">
              <a:solidFill>
                <a:srgbClr val="5C6677"/>
              </a:solidFill>
              <a:latin typeface="BIZ UDPゴシック"/>
              <a:ea typeface="BIZ UDPゴシック"/>
              <a:cs typeface="BIZ UDPゴシック"/>
            </a:endParaRPr>
          </a:p>
        </p:txBody>
      </p:sp>
      <p:sp>
        <p:nvSpPr>
          <p:cNvPr id="28" name="番号 28"/>
          <p:cNvSpPr/>
          <p:nvPr/>
        </p:nvSpPr>
        <p:spPr>
          <a:xfrm>
            <a:off x="8805799" y="4592016"/>
            <a:ext cx="150000" cy="150000"/>
          </a:xfrm>
          <a:prstGeom prst="ellipse">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9" name="テキスト 29"/>
          <p:cNvSpPr txBox="1"/>
          <p:nvPr/>
        </p:nvSpPr>
        <p:spPr>
          <a:xfrm>
            <a:off x="9010799" y="456701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こもる</a:t>
            </a:r>
            <a:endParaRPr lang="ja-JP" altLang="en-US" sz="1050" dirty="0">
              <a:solidFill>
                <a:srgbClr val="5C6677"/>
              </a:solidFill>
              <a:latin typeface="BIZ UDPゴシック"/>
              <a:ea typeface="BIZ UDPゴシック"/>
              <a:cs typeface="BIZ UDPゴシック"/>
            </a:endParaRPr>
          </a:p>
        </p:txBody>
      </p:sp>
      <p:sp>
        <p:nvSpPr>
          <p:cNvPr id="30" name="番号 30"/>
          <p:cNvSpPr/>
          <p:nvPr/>
        </p:nvSpPr>
        <p:spPr>
          <a:xfrm>
            <a:off x="9302954" y="4750086"/>
            <a:ext cx="190000" cy="19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1" name="テキスト 31"/>
          <p:cNvSpPr txBox="1"/>
          <p:nvPr/>
        </p:nvSpPr>
        <p:spPr>
          <a:xfrm>
            <a:off x="9527954" y="474508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開く</a:t>
            </a:r>
            <a:endParaRPr lang="ja-JP" altLang="en-US" sz="1050" dirty="0">
              <a:solidFill>
                <a:srgbClr val="9A6212"/>
              </a:solidFill>
              <a:latin typeface="BIZ UDPゴシック"/>
              <a:ea typeface="BIZ UDPゴシック"/>
              <a:cs typeface="BIZ UDPゴシック"/>
            </a:endParaRPr>
          </a:p>
        </p:txBody>
      </p:sp>
      <p:sp>
        <p:nvSpPr>
          <p:cNvPr id="32" name="番号 32"/>
          <p:cNvSpPr/>
          <p:nvPr/>
        </p:nvSpPr>
        <p:spPr>
          <a:xfrm>
            <a:off x="8805799" y="5792016"/>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3" name="テキスト 33"/>
          <p:cNvSpPr txBox="1"/>
          <p:nvPr/>
        </p:nvSpPr>
        <p:spPr>
          <a:xfrm>
            <a:off x="8990799" y="5767016"/>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耳</a:t>
            </a:r>
            <a:endParaRPr lang="ja-JP" altLang="en-US" sz="1000" dirty="0">
              <a:solidFill>
                <a:srgbClr val="1E2430"/>
              </a:solidFill>
              <a:latin typeface="BIZ UDPゴシック"/>
              <a:ea typeface="BIZ UDPゴシック"/>
              <a:cs typeface="BIZ UDPゴシック"/>
            </a:endParaRPr>
          </a:p>
        </p:txBody>
      </p:sp>
      <p:sp>
        <p:nvSpPr>
          <p:cNvPr id="34" name="テキスト 34"/>
          <p:cNvSpPr txBox="1"/>
          <p:nvPr/>
        </p:nvSpPr>
        <p:spPr>
          <a:xfrm>
            <a:off x="7780799" y="5227016"/>
            <a:ext cx="65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蝶番</a:t>
            </a:r>
          </a:p>
        </p:txBody>
      </p:sp>
      <p:sp>
        <p:nvSpPr>
          <p:cNvPr id="37" name="テキスト ボックス 36">
            <a:extLst>
              <a:ext uri="{FF2B5EF4-FFF2-40B4-BE49-F238E27FC236}">
                <a16:creationId xmlns:a16="http://schemas.microsoft.com/office/drawing/2014/main" id="{9B80E292-9C19-69FA-D979-5630C04A7EDE}"/>
              </a:ext>
            </a:extLst>
          </p:cNvPr>
          <p:cNvSpPr txBox="1"/>
          <p:nvPr/>
        </p:nvSpPr>
        <p:spPr>
          <a:xfrm>
            <a:off x="548640" y="2000538"/>
            <a:ext cx="1747591" cy="369332"/>
          </a:xfrm>
          <a:prstGeom prst="rect">
            <a:avLst/>
          </a:prstGeom>
          <a:noFill/>
        </p:spPr>
        <p:txBody>
          <a:bodyPr wrap="square" rtlCol="0">
            <a:spAutoFit/>
          </a:bodyPr>
          <a:lstStyle/>
          <a:p>
            <a:r>
              <a:rPr kumimoji="1" lang="ja-JP" altLang="en-US" b="1" dirty="0">
                <a:latin typeface="BIZ UDPゴシック" panose="020B0400000000000000" pitchFamily="50" charset="-128"/>
                <a:ea typeface="BIZ UDPゴシック" panose="020B0400000000000000" pitchFamily="50" charset="-128"/>
              </a:rPr>
              <a:t>一つ目</a:t>
            </a:r>
          </a:p>
        </p:txBody>
      </p:sp>
      <p:sp>
        <p:nvSpPr>
          <p:cNvPr id="38" name="テキスト ボックス 37">
            <a:extLst>
              <a:ext uri="{FF2B5EF4-FFF2-40B4-BE49-F238E27FC236}">
                <a16:creationId xmlns:a16="http://schemas.microsoft.com/office/drawing/2014/main" id="{07C1BD18-5BEE-8C70-8663-88A79570CEA2}"/>
              </a:ext>
            </a:extLst>
          </p:cNvPr>
          <p:cNvSpPr txBox="1"/>
          <p:nvPr/>
        </p:nvSpPr>
        <p:spPr>
          <a:xfrm>
            <a:off x="6170381" y="2000538"/>
            <a:ext cx="1747591" cy="369332"/>
          </a:xfrm>
          <a:prstGeom prst="rect">
            <a:avLst/>
          </a:prstGeom>
          <a:noFill/>
        </p:spPr>
        <p:txBody>
          <a:bodyPr wrap="square" rtlCol="0">
            <a:spAutoFit/>
          </a:bodyPr>
          <a:lstStyle/>
          <a:p>
            <a:r>
              <a:rPr lang="ja-JP" altLang="en-US" b="1" dirty="0">
                <a:latin typeface="BIZ UDPゴシック" panose="020B0400000000000000" pitchFamily="50" charset="-128"/>
                <a:ea typeface="BIZ UDPゴシック" panose="020B0400000000000000" pitchFamily="50" charset="-128"/>
              </a:rPr>
              <a:t>二</a:t>
            </a:r>
            <a:r>
              <a:rPr kumimoji="1" lang="ja-JP" altLang="en-US" b="1" dirty="0">
                <a:latin typeface="BIZ UDPゴシック" panose="020B0400000000000000" pitchFamily="50" charset="-128"/>
                <a:ea typeface="BIZ UDPゴシック" panose="020B0400000000000000" pitchFamily="50" charset="-128"/>
              </a:rPr>
              <a:t>つ目</a:t>
            </a:r>
          </a:p>
        </p:txBody>
      </p:sp>
      <p:sp>
        <p:nvSpPr>
          <p:cNvPr id="81" name="折れ線 81"/>
          <p:cNvSpPr/>
          <p:nvPr/>
        </p:nvSpPr>
        <p:spPr>
          <a:xfrm>
            <a:off x="999545" y="4527016"/>
            <a:ext cx="4420836" cy="1250000"/>
          </a:xfrm>
          <a:custGeom>
            <a:avLst/>
            <a:gdLst/>
            <a:ahLst/>
            <a:cxnLst/>
            <a:rect l="0" t="0" r="r" b="b"/>
            <a:pathLst>
              <a:path w="4420836" h="1250000" fill="none">
                <a:moveTo>
                  <a:pt x="0" y="1250000"/>
                </a:moveTo>
                <a:lnTo>
                  <a:pt x="49120" y="1250000"/>
                </a:lnTo>
                <a:lnTo>
                  <a:pt x="98240" y="1250000"/>
                </a:lnTo>
                <a:lnTo>
                  <a:pt x="147361" y="1211916"/>
                </a:lnTo>
                <a:lnTo>
                  <a:pt x="196481" y="1113702"/>
                </a:lnTo>
                <a:lnTo>
                  <a:pt x="245602" y="979409"/>
                </a:lnTo>
                <a:lnTo>
                  <a:pt x="294722" y="833090"/>
                </a:lnTo>
                <a:lnTo>
                  <a:pt x="343842" y="698797"/>
                </a:lnTo>
                <a:lnTo>
                  <a:pt x="392963" y="600583"/>
                </a:lnTo>
                <a:lnTo>
                  <a:pt x="442083" y="562500"/>
                </a:lnTo>
                <a:lnTo>
                  <a:pt x="589444" y="546204"/>
                </a:lnTo>
                <a:lnTo>
                  <a:pt x="736806" y="523743"/>
                </a:lnTo>
                <a:lnTo>
                  <a:pt x="982408" y="479819"/>
                </a:lnTo>
                <a:lnTo>
                  <a:pt x="1228010" y="430428"/>
                </a:lnTo>
                <a:lnTo>
                  <a:pt x="1473612" y="376961"/>
                </a:lnTo>
                <a:lnTo>
                  <a:pt x="1719214" y="320187"/>
                </a:lnTo>
                <a:lnTo>
                  <a:pt x="1964816" y="260600"/>
                </a:lnTo>
                <a:lnTo>
                  <a:pt x="2210418" y="198553"/>
                </a:lnTo>
                <a:lnTo>
                  <a:pt x="2456020" y="134306"/>
                </a:lnTo>
                <a:lnTo>
                  <a:pt x="2701622" y="68067"/>
                </a:lnTo>
                <a:lnTo>
                  <a:pt x="2947224" y="0"/>
                </a:lnTo>
                <a:lnTo>
                  <a:pt x="3438428" y="0"/>
                </a:lnTo>
                <a:lnTo>
                  <a:pt x="3929632" y="0"/>
                </a:lnTo>
                <a:lnTo>
                  <a:pt x="4420836" y="0"/>
                </a:lnTo>
              </a:path>
            </a:pathLst>
          </a:custGeom>
          <a:noFill/>
          <a:ln w="38100" cap="rnd">
            <a:solidFill>
              <a:srgbClr val="E3A33B"/>
            </a:solidFill>
            <a:round/>
          </a:ln>
        </p:spPr>
        <p:txBody>
          <a:bodyPr/>
          <a:lstStyle/>
          <a:p>
            <a:endParaRPr lang="ja-JP" altLang="en-US"/>
          </a:p>
        </p:txBody>
      </p:sp>
      <p:sp>
        <p:nvSpPr>
          <p:cNvPr id="82" name="テキスト 82"/>
          <p:cNvSpPr txBox="1"/>
          <p:nvPr/>
        </p:nvSpPr>
        <p:spPr>
          <a:xfrm>
            <a:off x="1501628" y="5149516"/>
            <a:ext cx="1900000" cy="2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b="1" dirty="0">
                <a:solidFill>
                  <a:srgbClr val="9A6212"/>
                </a:solidFill>
                <a:latin typeface="BIZ UDPゴシック"/>
                <a:ea typeface="BIZ UDPゴシック"/>
                <a:cs typeface="BIZ UDPゴシック"/>
              </a:rPr>
              <a:t>開いた瞬間に大きく</a:t>
            </a:r>
            <a:endParaRPr lang="ja-JP" altLang="en-US" sz="1100" dirty="0">
              <a:solidFill>
                <a:srgbClr val="9A6212"/>
              </a:solidFill>
              <a:latin typeface="BIZ UDPゴシック"/>
              <a:ea typeface="BIZ UDPゴシック"/>
              <a:cs typeface="BIZ UDPゴシック"/>
            </a:endParaRPr>
          </a:p>
        </p:txBody>
      </p:sp>
      <p:sp>
        <p:nvSpPr>
          <p:cNvPr id="83" name="テキスト 83"/>
          <p:cNvSpPr txBox="1"/>
          <p:nvPr/>
        </p:nvSpPr>
        <p:spPr>
          <a:xfrm>
            <a:off x="2374916" y="4414516"/>
            <a:ext cx="2000000" cy="2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b="1" dirty="0">
                <a:solidFill>
                  <a:srgbClr val="5C6677"/>
                </a:solidFill>
                <a:latin typeface="BIZ UDPゴシック"/>
                <a:ea typeface="BIZ UDPゴシック"/>
                <a:cs typeface="BIZ UDPゴシック"/>
              </a:rPr>
              <a:t>そのあとはなだらか</a:t>
            </a:r>
            <a:endParaRPr lang="ja-JP" altLang="en-US" sz="1100" dirty="0">
              <a:solidFill>
                <a:srgbClr val="5C6677"/>
              </a:solidFill>
              <a:latin typeface="BIZ UDPゴシック"/>
              <a:ea typeface="BIZ UDPゴシック"/>
              <a:cs typeface="BIZ UDPゴシック"/>
            </a:endParaRPr>
          </a:p>
        </p:txBody>
      </p:sp>
      <p:sp>
        <p:nvSpPr>
          <p:cNvPr id="84" name="ページ番号 8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8</a:t>
            </a:r>
            <a:endParaRPr lang="ja-JP" alt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ドアの開き具合での演出</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ドアが開いたことが伝わるように</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240000"/>
            <a:ext cx="11091672" cy="560000"/>
          </a:xfrm>
          <a:prstGeom prst="rect">
            <a:avLst/>
          </a:prstGeom>
          <a:noFill/>
          <a:ln>
            <a:noFill/>
          </a:ln>
        </p:spPr>
        <p:txBody>
          <a:bodyPr wrap="square" lIns="0" tIns="0" rIns="0" bIns="0" rtlCol="0" anchor="t">
            <a:noAutofit/>
          </a:bodyPr>
          <a:lstStyle/>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ドアを開いた瞬間の開けた感が伝わるように開け始めの瞬間だけ</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大きくラウドネスが変化するように、ただ音が急に飛ばないようにしました</a:t>
            </a:r>
            <a:endParaRPr lang="en-US" altLang="ja-JP" sz="1450" dirty="0">
              <a:solidFill>
                <a:srgbClr val="1E2430"/>
              </a:solidFill>
              <a:latin typeface="BIZ UDPゴシック"/>
              <a:ea typeface="BIZ UDPゴシック"/>
              <a:cs typeface="BIZ UDPゴシック"/>
            </a:endParaRPr>
          </a:p>
        </p:txBody>
      </p:sp>
      <p:sp>
        <p:nvSpPr>
          <p:cNvPr id="5" name="カード 5"/>
          <p:cNvSpPr/>
          <p:nvPr/>
        </p:nvSpPr>
        <p:spPr>
          <a:xfrm>
            <a:off x="548640" y="1850000"/>
            <a:ext cx="5350000" cy="2900000"/>
          </a:xfrm>
          <a:prstGeom prst="roundRect">
            <a:avLst>
              <a:gd name="adj" fmla="val 5000"/>
            </a:avLst>
          </a:prstGeom>
          <a:solidFill>
            <a:srgbClr val="F0F2F5"/>
          </a:solidFill>
          <a:ln>
            <a:noFill/>
          </a:ln>
        </p:spPr>
        <p:txBody>
          <a:bodyPr/>
          <a:lstStyle/>
          <a:p>
            <a:endParaRPr lang="ja-JP" altLang="en-US"/>
          </a:p>
        </p:txBody>
      </p:sp>
      <p:sp>
        <p:nvSpPr>
          <p:cNvPr id="6" name="テキスト 6"/>
          <p:cNvSpPr txBox="1"/>
          <p:nvPr/>
        </p:nvSpPr>
        <p:spPr>
          <a:xfrm>
            <a:off x="798640" y="2000000"/>
            <a:ext cx="485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開き角と音量（模式図）</a:t>
            </a:r>
            <a:endParaRPr lang="ja-JP" altLang="en-US" sz="1300" dirty="0">
              <a:solidFill>
                <a:srgbClr val="1E2430"/>
              </a:solidFill>
              <a:latin typeface="BIZ UDPゴシック"/>
              <a:ea typeface="BIZ UDPゴシック"/>
              <a:cs typeface="BIZ UDPゴシック"/>
            </a:endParaRPr>
          </a:p>
        </p:txBody>
      </p:sp>
      <p:sp>
        <p:nvSpPr>
          <p:cNvPr id="7" name="区間 7"/>
          <p:cNvSpPr/>
          <p:nvPr/>
        </p:nvSpPr>
        <p:spPr>
          <a:xfrm>
            <a:off x="1278640" y="2400000"/>
            <a:ext cx="97555" cy="2000000"/>
          </a:xfrm>
          <a:prstGeom prst="rect">
            <a:avLst/>
          </a:prstGeom>
          <a:solidFill>
            <a:srgbClr val="E6E9EE"/>
          </a:solidFill>
          <a:ln>
            <a:noFill/>
          </a:ln>
        </p:spPr>
        <p:txBody>
          <a:bodyPr/>
          <a:lstStyle/>
          <a:p>
            <a:endParaRPr lang="ja-JP" altLang="en-US"/>
          </a:p>
        </p:txBody>
      </p:sp>
      <p:sp>
        <p:nvSpPr>
          <p:cNvPr id="8" name="区間 8"/>
          <p:cNvSpPr/>
          <p:nvPr/>
        </p:nvSpPr>
        <p:spPr>
          <a:xfrm>
            <a:off x="1376195" y="2400000"/>
            <a:ext cx="341444" cy="2000000"/>
          </a:xfrm>
          <a:prstGeom prst="rect">
            <a:avLst/>
          </a:prstGeom>
          <a:solidFill>
            <a:srgbClr val="FBF1DF"/>
          </a:solidFill>
          <a:ln>
            <a:noFill/>
          </a:ln>
        </p:spPr>
        <p:txBody>
          <a:bodyPr/>
          <a:lstStyle/>
          <a:p>
            <a:endParaRPr lang="ja-JP" altLang="en-US"/>
          </a:p>
        </p:txBody>
      </p:sp>
      <p:sp>
        <p:nvSpPr>
          <p:cNvPr id="9" name="区間 9"/>
          <p:cNvSpPr/>
          <p:nvPr/>
        </p:nvSpPr>
        <p:spPr>
          <a:xfrm>
            <a:off x="4205306" y="2400000"/>
            <a:ext cx="1463333" cy="2000000"/>
          </a:xfrm>
          <a:prstGeom prst="rect">
            <a:avLst/>
          </a:prstGeom>
          <a:solidFill>
            <a:srgbClr val="E6E9EE"/>
          </a:solidFill>
          <a:ln>
            <a:noFill/>
          </a:ln>
        </p:spPr>
        <p:txBody>
          <a:bodyPr/>
          <a:lstStyle/>
          <a:p>
            <a:endParaRPr lang="ja-JP" altLang="en-US"/>
          </a:p>
        </p:txBody>
      </p:sp>
      <p:cxnSp>
        <p:nvCxnSpPr>
          <p:cNvPr id="10" name="線 10"/>
          <p:cNvCxnSpPr/>
          <p:nvPr/>
        </p:nvCxnSpPr>
        <p:spPr>
          <a:xfrm>
            <a:off x="1278640" y="2700000"/>
            <a:ext cx="4390000" cy="0"/>
          </a:xfrm>
          <a:prstGeom prst="line">
            <a:avLst/>
          </a:prstGeom>
          <a:ln w="9525" cap="rnd">
            <a:solidFill>
              <a:srgbClr val="C9CFD8"/>
            </a:solidFill>
            <a:prstDash val="dash"/>
            <a:round/>
          </a:ln>
        </p:spPr>
      </p:cxnSp>
      <p:sp>
        <p:nvSpPr>
          <p:cNvPr id="11" name="テキスト 11"/>
          <p:cNvSpPr txBox="1"/>
          <p:nvPr/>
        </p:nvSpPr>
        <p:spPr>
          <a:xfrm>
            <a:off x="628640" y="26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 dB</a:t>
            </a:r>
          </a:p>
        </p:txBody>
      </p:sp>
      <p:cxnSp>
        <p:nvCxnSpPr>
          <p:cNvPr id="12" name="線 12"/>
          <p:cNvCxnSpPr/>
          <p:nvPr/>
        </p:nvCxnSpPr>
        <p:spPr>
          <a:xfrm>
            <a:off x="1278640" y="3500000"/>
            <a:ext cx="4390000" cy="0"/>
          </a:xfrm>
          <a:prstGeom prst="line">
            <a:avLst/>
          </a:prstGeom>
          <a:ln w="9525" cap="rnd">
            <a:solidFill>
              <a:srgbClr val="C9CFD8"/>
            </a:solidFill>
            <a:prstDash val="dash"/>
            <a:round/>
          </a:ln>
        </p:spPr>
      </p:cxnSp>
      <p:sp>
        <p:nvSpPr>
          <p:cNvPr id="13" name="テキスト 13"/>
          <p:cNvSpPr txBox="1"/>
          <p:nvPr/>
        </p:nvSpPr>
        <p:spPr>
          <a:xfrm>
            <a:off x="628640" y="34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-10 dB</a:t>
            </a:r>
          </a:p>
        </p:txBody>
      </p:sp>
      <p:cxnSp>
        <p:nvCxnSpPr>
          <p:cNvPr id="14" name="線 14"/>
          <p:cNvCxnSpPr/>
          <p:nvPr/>
        </p:nvCxnSpPr>
        <p:spPr>
          <a:xfrm>
            <a:off x="1278640" y="4300000"/>
            <a:ext cx="4390000" cy="0"/>
          </a:xfrm>
          <a:prstGeom prst="line">
            <a:avLst/>
          </a:prstGeom>
          <a:ln w="9525" cap="rnd">
            <a:solidFill>
              <a:srgbClr val="C9CFD8"/>
            </a:solidFill>
            <a:prstDash val="dash"/>
            <a:round/>
          </a:ln>
        </p:spPr>
      </p:cxnSp>
      <p:sp>
        <p:nvSpPr>
          <p:cNvPr id="15" name="テキスト 15"/>
          <p:cNvSpPr txBox="1"/>
          <p:nvPr/>
        </p:nvSpPr>
        <p:spPr>
          <a:xfrm>
            <a:off x="628640" y="42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-20 dB</a:t>
            </a:r>
          </a:p>
        </p:txBody>
      </p:sp>
      <p:sp>
        <p:nvSpPr>
          <p:cNvPr id="16" name="テキスト 16"/>
          <p:cNvSpPr txBox="1"/>
          <p:nvPr/>
        </p:nvSpPr>
        <p:spPr>
          <a:xfrm>
            <a:off x="1028640"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a:t>
            </a:r>
          </a:p>
        </p:txBody>
      </p:sp>
      <p:sp>
        <p:nvSpPr>
          <p:cNvPr id="17" name="テキスト 17"/>
          <p:cNvSpPr txBox="1"/>
          <p:nvPr/>
        </p:nvSpPr>
        <p:spPr>
          <a:xfrm>
            <a:off x="2491973"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30°</a:t>
            </a:r>
          </a:p>
        </p:txBody>
      </p:sp>
      <p:sp>
        <p:nvSpPr>
          <p:cNvPr id="18" name="テキスト 18"/>
          <p:cNvSpPr txBox="1"/>
          <p:nvPr/>
        </p:nvSpPr>
        <p:spPr>
          <a:xfrm>
            <a:off x="3955306"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60°</a:t>
            </a:r>
          </a:p>
        </p:txBody>
      </p:sp>
      <p:sp>
        <p:nvSpPr>
          <p:cNvPr id="19" name="テキスト 19"/>
          <p:cNvSpPr txBox="1"/>
          <p:nvPr/>
        </p:nvSpPr>
        <p:spPr>
          <a:xfrm>
            <a:off x="5418640"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90°</a:t>
            </a:r>
          </a:p>
        </p:txBody>
      </p:sp>
      <p:sp>
        <p:nvSpPr>
          <p:cNvPr id="20" name="折れ線 20"/>
          <p:cNvSpPr/>
          <p:nvPr/>
        </p:nvSpPr>
        <p:spPr>
          <a:xfrm>
            <a:off x="1278640" y="2700000"/>
            <a:ext cx="4390000" cy="1600000"/>
          </a:xfrm>
          <a:custGeom>
            <a:avLst/>
            <a:gdLst/>
            <a:ahLst/>
            <a:cxnLst/>
            <a:rect l="0" t="0" r="r" b="b"/>
            <a:pathLst>
              <a:path w="4390000" h="1600000" fill="none">
                <a:moveTo>
                  <a:pt x="0" y="1600000"/>
                </a:moveTo>
                <a:lnTo>
                  <a:pt x="48777" y="1600000"/>
                </a:lnTo>
                <a:lnTo>
                  <a:pt x="97555" y="1600000"/>
                </a:lnTo>
                <a:lnTo>
                  <a:pt x="146333" y="1551253"/>
                </a:lnTo>
                <a:lnTo>
                  <a:pt x="195111" y="1425539"/>
                </a:lnTo>
                <a:lnTo>
                  <a:pt x="243888" y="1253644"/>
                </a:lnTo>
                <a:lnTo>
                  <a:pt x="292666" y="1066355"/>
                </a:lnTo>
                <a:lnTo>
                  <a:pt x="341444" y="894460"/>
                </a:lnTo>
                <a:lnTo>
                  <a:pt x="390222" y="768746"/>
                </a:lnTo>
                <a:lnTo>
                  <a:pt x="439000" y="720000"/>
                </a:lnTo>
                <a:lnTo>
                  <a:pt x="585333" y="699142"/>
                </a:lnTo>
                <a:lnTo>
                  <a:pt x="731666" y="670391"/>
                </a:lnTo>
                <a:lnTo>
                  <a:pt x="975555" y="614169"/>
                </a:lnTo>
                <a:lnTo>
                  <a:pt x="1219444" y="550948"/>
                </a:lnTo>
                <a:lnTo>
                  <a:pt x="1463333" y="482510"/>
                </a:lnTo>
                <a:lnTo>
                  <a:pt x="1707222" y="409839"/>
                </a:lnTo>
                <a:lnTo>
                  <a:pt x="1951111" y="333569"/>
                </a:lnTo>
                <a:lnTo>
                  <a:pt x="2195000" y="254148"/>
                </a:lnTo>
                <a:lnTo>
                  <a:pt x="2438888" y="171912"/>
                </a:lnTo>
                <a:lnTo>
                  <a:pt x="2682777" y="87126"/>
                </a:lnTo>
                <a:lnTo>
                  <a:pt x="2926666" y="0"/>
                </a:lnTo>
                <a:lnTo>
                  <a:pt x="3414444" y="0"/>
                </a:lnTo>
                <a:lnTo>
                  <a:pt x="3902222" y="0"/>
                </a:lnTo>
                <a:lnTo>
                  <a:pt x="4390000" y="0"/>
                </a:lnTo>
              </a:path>
            </a:pathLst>
          </a:custGeom>
          <a:noFill/>
          <a:ln w="44450" cap="rnd">
            <a:solidFill>
              <a:srgbClr val="E3A33B"/>
            </a:solidFill>
            <a:round/>
          </a:ln>
        </p:spPr>
        <p:txBody>
          <a:bodyPr/>
          <a:lstStyle/>
          <a:p>
            <a:endParaRPr lang="ja-JP" altLang="en-US"/>
          </a:p>
        </p:txBody>
      </p:sp>
      <p:sp>
        <p:nvSpPr>
          <p:cNvPr id="21" name="テキスト 21"/>
          <p:cNvSpPr txBox="1"/>
          <p:nvPr/>
        </p:nvSpPr>
        <p:spPr>
          <a:xfrm>
            <a:off x="948640" y="2420000"/>
            <a:ext cx="300000" cy="24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①</a:t>
            </a:r>
            <a:endParaRPr lang="ja-JP" altLang="en-US" sz="1000" dirty="0">
              <a:solidFill>
                <a:srgbClr val="1E2430"/>
              </a:solidFill>
              <a:latin typeface="BIZ UDPゴシック"/>
              <a:ea typeface="BIZ UDPゴシック"/>
              <a:cs typeface="BIZ UDPゴシック"/>
            </a:endParaRPr>
          </a:p>
        </p:txBody>
      </p:sp>
      <p:sp>
        <p:nvSpPr>
          <p:cNvPr id="22" name="テキスト 22"/>
          <p:cNvSpPr txBox="1"/>
          <p:nvPr/>
        </p:nvSpPr>
        <p:spPr>
          <a:xfrm>
            <a:off x="1406195" y="2420000"/>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9A6212"/>
                </a:solidFill>
                <a:latin typeface="BIZ UDPゴシック"/>
                <a:ea typeface="BIZ UDPゴシック"/>
                <a:cs typeface="BIZ UDPゴシック"/>
              </a:rPr>
              <a:t>②</a:t>
            </a:r>
            <a:endParaRPr lang="ja-JP" altLang="en-US" sz="1000" dirty="0">
              <a:solidFill>
                <a:srgbClr val="9A6212"/>
              </a:solidFill>
              <a:latin typeface="BIZ UDPゴシック"/>
              <a:ea typeface="BIZ UDPゴシック"/>
              <a:cs typeface="BIZ UDPゴシック"/>
            </a:endParaRPr>
          </a:p>
        </p:txBody>
      </p:sp>
      <p:sp>
        <p:nvSpPr>
          <p:cNvPr id="23" name="テキスト 23"/>
          <p:cNvSpPr txBox="1"/>
          <p:nvPr/>
        </p:nvSpPr>
        <p:spPr>
          <a:xfrm>
            <a:off x="4255306" y="2420000"/>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③</a:t>
            </a:r>
            <a:endParaRPr lang="ja-JP" altLang="en-US" sz="1000" dirty="0">
              <a:solidFill>
                <a:srgbClr val="1E2430"/>
              </a:solidFill>
              <a:latin typeface="BIZ UDPゴシック"/>
              <a:ea typeface="BIZ UDPゴシック"/>
              <a:cs typeface="BIZ UDPゴシック"/>
            </a:endParaRPr>
          </a:p>
        </p:txBody>
      </p:sp>
      <p:cxnSp>
        <p:nvCxnSpPr>
          <p:cNvPr id="24" name="線 24"/>
          <p:cNvCxnSpPr/>
          <p:nvPr/>
        </p:nvCxnSpPr>
        <p:spPr>
          <a:xfrm>
            <a:off x="1376195" y="4360000"/>
            <a:ext cx="341444" cy="0"/>
          </a:xfrm>
          <a:prstGeom prst="line">
            <a:avLst/>
          </a:prstGeom>
          <a:ln w="19050" cap="rnd">
            <a:solidFill>
              <a:srgbClr val="9A6212"/>
            </a:solidFill>
            <a:round/>
          </a:ln>
        </p:spPr>
      </p:cxnSp>
      <p:cxnSp>
        <p:nvCxnSpPr>
          <p:cNvPr id="25" name="線 25"/>
          <p:cNvCxnSpPr/>
          <p:nvPr/>
        </p:nvCxnSpPr>
        <p:spPr>
          <a:xfrm>
            <a:off x="1376195" y="4310000"/>
            <a:ext cx="0" cy="100000"/>
          </a:xfrm>
          <a:prstGeom prst="line">
            <a:avLst/>
          </a:prstGeom>
          <a:ln w="19050" cap="rnd">
            <a:solidFill>
              <a:srgbClr val="9A6212"/>
            </a:solidFill>
            <a:round/>
          </a:ln>
        </p:spPr>
      </p:cxnSp>
      <p:cxnSp>
        <p:nvCxnSpPr>
          <p:cNvPr id="26" name="線 26"/>
          <p:cNvCxnSpPr/>
          <p:nvPr/>
        </p:nvCxnSpPr>
        <p:spPr>
          <a:xfrm>
            <a:off x="1717640" y="4310000"/>
            <a:ext cx="0" cy="100000"/>
          </a:xfrm>
          <a:prstGeom prst="line">
            <a:avLst/>
          </a:prstGeom>
          <a:ln w="19050" cap="rnd">
            <a:solidFill>
              <a:srgbClr val="9A6212"/>
            </a:solidFill>
            <a:round/>
          </a:ln>
        </p:spPr>
      </p:cxnSp>
      <p:sp>
        <p:nvSpPr>
          <p:cNvPr id="27" name="フェード 27"/>
          <p:cNvSpPr/>
          <p:nvPr/>
        </p:nvSpPr>
        <p:spPr>
          <a:xfrm>
            <a:off x="1917640" y="3610000"/>
            <a:ext cx="2000000" cy="500000"/>
          </a:xfrm>
          <a:prstGeom prst="roundRect">
            <a:avLst>
              <a:gd name="adj" fmla="val 20000"/>
            </a:avLst>
          </a:prstGeom>
          <a:solidFill>
            <a:srgbClr val="FFFFFF"/>
          </a:solidFill>
          <a:ln w="15875">
            <a:solidFill>
              <a:srgbClr val="E3A33B"/>
            </a:solidFill>
          </a:ln>
        </p:spPr>
        <p:txBody>
          <a:bodyPr wrap="square" lIns="130000" tIns="0" rIns="80000" bIns="0" rtlCol="0" anchor="ctr">
            <a:noAutofit/>
          </a:bodyPr>
          <a:lstStyle/>
          <a:p>
            <a:pPr marL="0" indent="0" algn="l">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ここだけフェード</a:t>
            </a:r>
            <a:endParaRPr lang="ja-JP" altLang="en-US" sz="1050" dirty="0">
              <a:solidFill>
                <a:srgbClr val="9A6212"/>
              </a:solidFill>
              <a:latin typeface="BIZ UDPゴシック"/>
              <a:ea typeface="BIZ UDPゴシック"/>
              <a:cs typeface="BIZ UDPゴシック"/>
            </a:endParaRPr>
          </a:p>
          <a:p>
            <a:pPr marL="0" indent="0" algn="l">
              <a:lnSpc>
                <a:spcPct val="100000"/>
              </a:lnSpc>
              <a:spcBef>
                <a:spcPts val="120"/>
              </a:spcBef>
              <a:spcAft>
                <a:spcPts val="0"/>
              </a:spcAft>
              <a:buNone/>
            </a:pPr>
            <a:r>
              <a:rPr lang="ja-JP" altLang="en-US" sz="900" dirty="0">
                <a:solidFill>
                  <a:srgbClr val="1E2430"/>
                </a:solidFill>
                <a:latin typeface="BIZ UDPゴシック"/>
                <a:ea typeface="BIZ UDPゴシック"/>
                <a:cs typeface="BIZ UDPゴシック"/>
              </a:rPr>
              <a:t>回折が入る瞬間を滑らかに</a:t>
            </a:r>
          </a:p>
        </p:txBody>
      </p:sp>
      <p:cxnSp>
        <p:nvCxnSpPr>
          <p:cNvPr id="28" name="線 28"/>
          <p:cNvCxnSpPr/>
          <p:nvPr/>
        </p:nvCxnSpPr>
        <p:spPr>
          <a:xfrm flipH="1">
            <a:off x="1586917" y="3860000"/>
            <a:ext cx="330722" cy="0"/>
          </a:xfrm>
          <a:prstGeom prst="line">
            <a:avLst/>
          </a:prstGeom>
          <a:ln w="12700" cap="rnd">
            <a:solidFill>
              <a:srgbClr val="E3A33B"/>
            </a:solidFill>
            <a:round/>
            <a:tailEnd type="triangle" w="med" len="med"/>
          </a:ln>
        </p:spPr>
      </p:cxnSp>
      <p:sp>
        <p:nvSpPr>
          <p:cNvPr id="29" name="カード 29"/>
          <p:cNvSpPr/>
          <p:nvPr/>
        </p:nvSpPr>
        <p:spPr>
          <a:xfrm>
            <a:off x="548640" y="4880000"/>
            <a:ext cx="5350000" cy="1570000"/>
          </a:xfrm>
          <a:prstGeom prst="roundRect">
            <a:avLst>
              <a:gd name="adj" fmla="val 5000"/>
            </a:avLst>
          </a:prstGeom>
          <a:solidFill>
            <a:srgbClr val="FBF1DF"/>
          </a:solidFill>
          <a:ln>
            <a:noFill/>
          </a:ln>
        </p:spPr>
        <p:txBody>
          <a:bodyPr/>
          <a:lstStyle/>
          <a:p>
            <a:endParaRPr lang="ja-JP" altLang="en-US"/>
          </a:p>
        </p:txBody>
      </p:sp>
      <p:sp>
        <p:nvSpPr>
          <p:cNvPr id="30" name="ラベル 30"/>
          <p:cNvSpPr/>
          <p:nvPr/>
        </p:nvSpPr>
        <p:spPr>
          <a:xfrm>
            <a:off x="768640" y="5162500"/>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連続性</a:t>
            </a:r>
            <a:endParaRPr lang="ja-JP" altLang="en-US" sz="1150" dirty="0">
              <a:solidFill>
                <a:srgbClr val="1E2430"/>
              </a:solidFill>
              <a:latin typeface="BIZ UDPゴシック"/>
              <a:ea typeface="BIZ UDPゴシック"/>
              <a:cs typeface="BIZ UDPゴシック"/>
            </a:endParaRPr>
          </a:p>
        </p:txBody>
      </p:sp>
      <p:sp>
        <p:nvSpPr>
          <p:cNvPr id="31" name="テキスト 31"/>
          <p:cNvSpPr txBox="1"/>
          <p:nvPr/>
        </p:nvSpPr>
        <p:spPr>
          <a:xfrm>
            <a:off x="1748640" y="4990000"/>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回折が新たに加わる瞬間だけフェードで滑らかにしつつそれ以降は回折と透過の経路の変化で直接音に切り替わるまで滑らかになるようにする</a:t>
            </a:r>
          </a:p>
        </p:txBody>
      </p:sp>
      <p:sp>
        <p:nvSpPr>
          <p:cNvPr id="32" name="ラベル 32"/>
          <p:cNvSpPr/>
          <p:nvPr/>
        </p:nvSpPr>
        <p:spPr>
          <a:xfrm>
            <a:off x="768640" y="5867500"/>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即時性</a:t>
            </a:r>
            <a:endParaRPr lang="ja-JP" altLang="en-US" sz="1150" dirty="0">
              <a:solidFill>
                <a:srgbClr val="1E2430"/>
              </a:solidFill>
              <a:latin typeface="BIZ UDPゴシック"/>
              <a:ea typeface="BIZ UDPゴシック"/>
              <a:cs typeface="BIZ UDPゴシック"/>
            </a:endParaRPr>
          </a:p>
        </p:txBody>
      </p:sp>
      <p:sp>
        <p:nvSpPr>
          <p:cNvPr id="33" name="テキスト 33"/>
          <p:cNvSpPr txBox="1"/>
          <p:nvPr/>
        </p:nvSpPr>
        <p:spPr>
          <a:xfrm>
            <a:off x="1748640" y="5695000"/>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扉の開口はレイでなく角度から解析で出して開き始めた瞬間から変化、動かしたそのフレームで音量が返るように</a:t>
            </a:r>
          </a:p>
        </p:txBody>
      </p:sp>
      <p:sp>
        <p:nvSpPr>
          <p:cNvPr id="34" name="カード 34"/>
          <p:cNvSpPr/>
          <p:nvPr/>
        </p:nvSpPr>
        <p:spPr>
          <a:xfrm>
            <a:off x="6148640" y="1850000"/>
            <a:ext cx="5491672" cy="1460000"/>
          </a:xfrm>
          <a:prstGeom prst="roundRect">
            <a:avLst>
              <a:gd name="adj" fmla="val 5000"/>
            </a:avLst>
          </a:prstGeom>
          <a:solidFill>
            <a:srgbClr val="F0F2F5"/>
          </a:solidFill>
          <a:ln>
            <a:noFill/>
          </a:ln>
        </p:spPr>
        <p:txBody>
          <a:bodyPr/>
          <a:lstStyle/>
          <a:p>
            <a:endParaRPr lang="ja-JP" altLang="en-US"/>
          </a:p>
        </p:txBody>
      </p:sp>
      <p:sp>
        <p:nvSpPr>
          <p:cNvPr id="35" name="壁 35"/>
          <p:cNvSpPr/>
          <p:nvPr/>
        </p:nvSpPr>
        <p:spPr>
          <a:xfrm>
            <a:off x="6468140" y="2629250"/>
            <a:ext cx="365500" cy="21500"/>
          </a:xfrm>
          <a:prstGeom prst="rect">
            <a:avLst/>
          </a:prstGeom>
          <a:solidFill>
            <a:srgbClr val="9AA3B0"/>
          </a:solidFill>
          <a:ln>
            <a:noFill/>
          </a:ln>
        </p:spPr>
        <p:txBody>
          <a:bodyPr/>
          <a:lstStyle/>
          <a:p>
            <a:endParaRPr lang="ja-JP" altLang="en-US"/>
          </a:p>
        </p:txBody>
      </p:sp>
      <p:sp>
        <p:nvSpPr>
          <p:cNvPr id="36" name="壁 36"/>
          <p:cNvSpPr/>
          <p:nvPr/>
        </p:nvSpPr>
        <p:spPr>
          <a:xfrm>
            <a:off x="7263640" y="2629250"/>
            <a:ext cx="365500" cy="21500"/>
          </a:xfrm>
          <a:prstGeom prst="rect">
            <a:avLst/>
          </a:prstGeom>
          <a:solidFill>
            <a:srgbClr val="9AA3B0"/>
          </a:solidFill>
          <a:ln>
            <a:noFill/>
          </a:ln>
        </p:spPr>
        <p:txBody>
          <a:bodyPr/>
          <a:lstStyle/>
          <a:p>
            <a:endParaRPr lang="ja-JP" altLang="en-US"/>
          </a:p>
        </p:txBody>
      </p:sp>
      <p:cxnSp>
        <p:nvCxnSpPr>
          <p:cNvPr id="37" name="線 37"/>
          <p:cNvCxnSpPr/>
          <p:nvPr/>
        </p:nvCxnSpPr>
        <p:spPr>
          <a:xfrm flipH="1">
            <a:off x="7005640" y="2210000"/>
            <a:ext cx="107500" cy="774000"/>
          </a:xfrm>
          <a:prstGeom prst="line">
            <a:avLst/>
          </a:prstGeom>
          <a:ln w="15875" cap="rnd">
            <a:solidFill>
              <a:srgbClr val="9AA3B0"/>
            </a:solidFill>
            <a:prstDash val="dash"/>
            <a:round/>
          </a:ln>
        </p:spPr>
      </p:cxnSp>
      <p:cxnSp>
        <p:nvCxnSpPr>
          <p:cNvPr id="38" name="線 38"/>
          <p:cNvCxnSpPr/>
          <p:nvPr/>
        </p:nvCxnSpPr>
        <p:spPr>
          <a:xfrm>
            <a:off x="6833640" y="2640000"/>
            <a:ext cx="430000" cy="0"/>
          </a:xfrm>
          <a:prstGeom prst="line">
            <a:avLst/>
          </a:prstGeom>
          <a:ln w="44450" cap="rnd">
            <a:solidFill>
              <a:srgbClr val="1E2430"/>
            </a:solidFill>
            <a:round/>
          </a:ln>
        </p:spPr>
      </p:cxnSp>
      <p:sp>
        <p:nvSpPr>
          <p:cNvPr id="39" name="番号 39"/>
          <p:cNvSpPr/>
          <p:nvPr/>
        </p:nvSpPr>
        <p:spPr>
          <a:xfrm>
            <a:off x="7038140" y="213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0" name="テキスト 40"/>
          <p:cNvSpPr txBox="1"/>
          <p:nvPr/>
        </p:nvSpPr>
        <p:spPr>
          <a:xfrm>
            <a:off x="7223140" y="211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41" name="番号 41"/>
          <p:cNvSpPr/>
          <p:nvPr/>
        </p:nvSpPr>
        <p:spPr>
          <a:xfrm>
            <a:off x="6930640" y="290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2" name="テキスト 42"/>
          <p:cNvSpPr txBox="1"/>
          <p:nvPr/>
        </p:nvSpPr>
        <p:spPr>
          <a:xfrm>
            <a:off x="7115640" y="288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43" name="番号 43"/>
          <p:cNvSpPr/>
          <p:nvPr/>
        </p:nvSpPr>
        <p:spPr>
          <a:xfrm>
            <a:off x="8048640" y="198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1</a:t>
            </a:r>
            <a:endParaRPr lang="ja-JP" altLang="en-US" sz="1050" dirty="0">
              <a:solidFill>
                <a:srgbClr val="1E2430"/>
              </a:solidFill>
              <a:latin typeface="BIZ UDPゴシック"/>
              <a:ea typeface="BIZ UDPゴシック"/>
              <a:cs typeface="BIZ UDPゴシック"/>
            </a:endParaRPr>
          </a:p>
        </p:txBody>
      </p:sp>
      <p:sp>
        <p:nvSpPr>
          <p:cNvPr id="44" name="テキスト 44"/>
          <p:cNvSpPr txBox="1"/>
          <p:nvPr/>
        </p:nvSpPr>
        <p:spPr>
          <a:xfrm>
            <a:off x="8408640" y="199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閉じている</a:t>
            </a:r>
            <a:endParaRPr lang="ja-JP" altLang="en-US" sz="1250" dirty="0">
              <a:solidFill>
                <a:srgbClr val="1E2430"/>
              </a:solidFill>
              <a:latin typeface="BIZ UDPゴシック"/>
              <a:ea typeface="BIZ UDPゴシック"/>
              <a:cs typeface="BIZ UDPゴシック"/>
            </a:endParaRPr>
          </a:p>
        </p:txBody>
      </p:sp>
      <p:sp>
        <p:nvSpPr>
          <p:cNvPr id="45" name="タグ 45"/>
          <p:cNvSpPr/>
          <p:nvPr/>
        </p:nvSpPr>
        <p:spPr>
          <a:xfrm>
            <a:off x="9402390" y="1995000"/>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46" name="テキスト 46"/>
          <p:cNvSpPr txBox="1"/>
          <p:nvPr/>
        </p:nvSpPr>
        <p:spPr>
          <a:xfrm>
            <a:off x="8048640" y="235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透過音だけのこもった小さい音</a:t>
            </a:r>
          </a:p>
        </p:txBody>
      </p:sp>
      <p:sp>
        <p:nvSpPr>
          <p:cNvPr id="47" name="カード 47"/>
          <p:cNvSpPr/>
          <p:nvPr/>
        </p:nvSpPr>
        <p:spPr>
          <a:xfrm>
            <a:off x="6148640" y="3420000"/>
            <a:ext cx="5491672" cy="1460000"/>
          </a:xfrm>
          <a:prstGeom prst="roundRect">
            <a:avLst>
              <a:gd name="adj" fmla="val 5000"/>
            </a:avLst>
          </a:prstGeom>
          <a:solidFill>
            <a:srgbClr val="FBF1DF"/>
          </a:solidFill>
          <a:ln>
            <a:noFill/>
          </a:ln>
        </p:spPr>
        <p:txBody>
          <a:bodyPr/>
          <a:lstStyle/>
          <a:p>
            <a:endParaRPr lang="ja-JP" altLang="en-US"/>
          </a:p>
        </p:txBody>
      </p:sp>
      <p:sp>
        <p:nvSpPr>
          <p:cNvPr id="48" name="壁 48"/>
          <p:cNvSpPr/>
          <p:nvPr/>
        </p:nvSpPr>
        <p:spPr>
          <a:xfrm>
            <a:off x="6468140" y="4199250"/>
            <a:ext cx="365500" cy="21500"/>
          </a:xfrm>
          <a:prstGeom prst="rect">
            <a:avLst/>
          </a:prstGeom>
          <a:solidFill>
            <a:srgbClr val="9AA3B0"/>
          </a:solidFill>
          <a:ln>
            <a:noFill/>
          </a:ln>
        </p:spPr>
        <p:txBody>
          <a:bodyPr/>
          <a:lstStyle/>
          <a:p>
            <a:endParaRPr lang="ja-JP" altLang="en-US"/>
          </a:p>
        </p:txBody>
      </p:sp>
      <p:sp>
        <p:nvSpPr>
          <p:cNvPr id="49" name="壁 49"/>
          <p:cNvSpPr/>
          <p:nvPr/>
        </p:nvSpPr>
        <p:spPr>
          <a:xfrm>
            <a:off x="7263640" y="4199250"/>
            <a:ext cx="365500" cy="21500"/>
          </a:xfrm>
          <a:prstGeom prst="rect">
            <a:avLst/>
          </a:prstGeom>
          <a:solidFill>
            <a:srgbClr val="9AA3B0"/>
          </a:solidFill>
          <a:ln>
            <a:noFill/>
          </a:ln>
        </p:spPr>
        <p:txBody>
          <a:bodyPr/>
          <a:lstStyle/>
          <a:p>
            <a:endParaRPr lang="ja-JP" altLang="en-US"/>
          </a:p>
        </p:txBody>
      </p:sp>
      <p:cxnSp>
        <p:nvCxnSpPr>
          <p:cNvPr id="50" name="線 50"/>
          <p:cNvCxnSpPr/>
          <p:nvPr/>
        </p:nvCxnSpPr>
        <p:spPr>
          <a:xfrm flipH="1">
            <a:off x="7005640" y="3780000"/>
            <a:ext cx="107500" cy="774000"/>
          </a:xfrm>
          <a:prstGeom prst="line">
            <a:avLst/>
          </a:prstGeom>
          <a:ln w="15875" cap="rnd">
            <a:solidFill>
              <a:srgbClr val="9AA3B0"/>
            </a:solidFill>
            <a:prstDash val="dash"/>
            <a:round/>
          </a:ln>
        </p:spPr>
      </p:cxnSp>
      <p:sp>
        <p:nvSpPr>
          <p:cNvPr id="51" name="折れ線 51"/>
          <p:cNvSpPr/>
          <p:nvPr/>
        </p:nvSpPr>
        <p:spPr>
          <a:xfrm>
            <a:off x="7005640" y="3780000"/>
            <a:ext cx="273056" cy="774000"/>
          </a:xfrm>
          <a:custGeom>
            <a:avLst/>
            <a:gdLst/>
            <a:ahLst/>
            <a:cxnLst/>
            <a:rect l="0" t="0" r="r" b="b"/>
            <a:pathLst>
              <a:path w="273056" h="774000" fill="none">
                <a:moveTo>
                  <a:pt x="107500" y="0"/>
                </a:moveTo>
                <a:lnTo>
                  <a:pt x="273056" y="335399"/>
                </a:lnTo>
                <a:lnTo>
                  <a:pt x="0" y="774000"/>
                </a:lnTo>
              </a:path>
            </a:pathLst>
          </a:custGeom>
          <a:noFill/>
          <a:ln w="31750" cap="rnd">
            <a:solidFill>
              <a:srgbClr val="E3A33B"/>
            </a:solidFill>
            <a:round/>
          </a:ln>
        </p:spPr>
        <p:txBody>
          <a:bodyPr/>
          <a:lstStyle/>
          <a:p>
            <a:endParaRPr lang="ja-JP" altLang="en-US"/>
          </a:p>
        </p:txBody>
      </p:sp>
      <p:cxnSp>
        <p:nvCxnSpPr>
          <p:cNvPr id="52" name="線 52"/>
          <p:cNvCxnSpPr/>
          <p:nvPr/>
        </p:nvCxnSpPr>
        <p:spPr>
          <a:xfrm flipV="1">
            <a:off x="6833640" y="4120597"/>
            <a:ext cx="420603" cy="89402"/>
          </a:xfrm>
          <a:prstGeom prst="line">
            <a:avLst/>
          </a:prstGeom>
          <a:ln w="44450" cap="rnd">
            <a:solidFill>
              <a:srgbClr val="1E2430"/>
            </a:solidFill>
            <a:round/>
          </a:ln>
        </p:spPr>
      </p:cxnSp>
      <p:sp>
        <p:nvSpPr>
          <p:cNvPr id="53" name="番号 53"/>
          <p:cNvSpPr/>
          <p:nvPr/>
        </p:nvSpPr>
        <p:spPr>
          <a:xfrm>
            <a:off x="7038140" y="370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4" name="テキスト 54"/>
          <p:cNvSpPr txBox="1"/>
          <p:nvPr/>
        </p:nvSpPr>
        <p:spPr>
          <a:xfrm>
            <a:off x="7223140" y="368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5" name="番号 55"/>
          <p:cNvSpPr/>
          <p:nvPr/>
        </p:nvSpPr>
        <p:spPr>
          <a:xfrm>
            <a:off x="6930640" y="447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6" name="テキスト 56"/>
          <p:cNvSpPr txBox="1"/>
          <p:nvPr/>
        </p:nvSpPr>
        <p:spPr>
          <a:xfrm>
            <a:off x="7115640" y="445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57" name="番号 57"/>
          <p:cNvSpPr/>
          <p:nvPr/>
        </p:nvSpPr>
        <p:spPr>
          <a:xfrm>
            <a:off x="8048640" y="355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2</a:t>
            </a:r>
            <a:endParaRPr lang="ja-JP" altLang="en-US" sz="1050" dirty="0">
              <a:solidFill>
                <a:srgbClr val="1E2430"/>
              </a:solidFill>
              <a:latin typeface="BIZ UDPゴシック"/>
              <a:ea typeface="BIZ UDPゴシック"/>
              <a:cs typeface="BIZ UDPゴシック"/>
            </a:endParaRPr>
          </a:p>
        </p:txBody>
      </p:sp>
      <p:sp>
        <p:nvSpPr>
          <p:cNvPr id="58" name="テキスト 58"/>
          <p:cNvSpPr txBox="1"/>
          <p:nvPr/>
        </p:nvSpPr>
        <p:spPr>
          <a:xfrm>
            <a:off x="8408640" y="356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開き始め</a:t>
            </a:r>
            <a:endParaRPr lang="ja-JP" altLang="en-US" sz="1250" dirty="0">
              <a:solidFill>
                <a:srgbClr val="1E2430"/>
              </a:solidFill>
              <a:latin typeface="BIZ UDPゴシック"/>
              <a:ea typeface="BIZ UDPゴシック"/>
              <a:cs typeface="BIZ UDPゴシック"/>
            </a:endParaRPr>
          </a:p>
        </p:txBody>
      </p:sp>
      <p:sp>
        <p:nvSpPr>
          <p:cNvPr id="59" name="タグ 59"/>
          <p:cNvSpPr/>
          <p:nvPr/>
        </p:nvSpPr>
        <p:spPr>
          <a:xfrm>
            <a:off x="9243640" y="3565000"/>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60" name="タグ 60"/>
          <p:cNvSpPr/>
          <p:nvPr/>
        </p:nvSpPr>
        <p:spPr>
          <a:xfrm>
            <a:off x="9863640" y="3565000"/>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回折</a:t>
            </a:r>
            <a:endParaRPr lang="ja-JP" altLang="en-US" sz="950" dirty="0">
              <a:solidFill>
                <a:srgbClr val="1E2430"/>
              </a:solidFill>
              <a:latin typeface="BIZ UDPゴシック"/>
              <a:ea typeface="BIZ UDPゴシック"/>
              <a:cs typeface="BIZ UDPゴシック"/>
            </a:endParaRPr>
          </a:p>
        </p:txBody>
      </p:sp>
      <p:sp>
        <p:nvSpPr>
          <p:cNvPr id="61" name="テキスト 61"/>
          <p:cNvSpPr txBox="1"/>
          <p:nvPr/>
        </p:nvSpPr>
        <p:spPr>
          <a:xfrm>
            <a:off x="8048640" y="392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開き始めの一瞬、回折が新たに入る瞬間だけフェードで滑らかに音量が上がるようにする</a:t>
            </a:r>
          </a:p>
        </p:txBody>
      </p:sp>
      <p:sp>
        <p:nvSpPr>
          <p:cNvPr id="62" name="カード 62"/>
          <p:cNvSpPr/>
          <p:nvPr/>
        </p:nvSpPr>
        <p:spPr>
          <a:xfrm>
            <a:off x="6148640" y="4990000"/>
            <a:ext cx="5491672" cy="1460000"/>
          </a:xfrm>
          <a:prstGeom prst="roundRect">
            <a:avLst>
              <a:gd name="adj" fmla="val 5000"/>
            </a:avLst>
          </a:prstGeom>
          <a:solidFill>
            <a:srgbClr val="F0F2F5"/>
          </a:solidFill>
          <a:ln>
            <a:noFill/>
          </a:ln>
        </p:spPr>
        <p:txBody>
          <a:bodyPr/>
          <a:lstStyle/>
          <a:p>
            <a:endParaRPr lang="ja-JP" altLang="en-US"/>
          </a:p>
        </p:txBody>
      </p:sp>
      <p:sp>
        <p:nvSpPr>
          <p:cNvPr id="63" name="壁 63"/>
          <p:cNvSpPr/>
          <p:nvPr/>
        </p:nvSpPr>
        <p:spPr>
          <a:xfrm>
            <a:off x="6468140" y="5769250"/>
            <a:ext cx="365500" cy="21500"/>
          </a:xfrm>
          <a:prstGeom prst="rect">
            <a:avLst/>
          </a:prstGeom>
          <a:solidFill>
            <a:srgbClr val="9AA3B0"/>
          </a:solidFill>
          <a:ln>
            <a:noFill/>
          </a:ln>
        </p:spPr>
        <p:txBody>
          <a:bodyPr/>
          <a:lstStyle/>
          <a:p>
            <a:endParaRPr lang="ja-JP" altLang="en-US"/>
          </a:p>
        </p:txBody>
      </p:sp>
      <p:sp>
        <p:nvSpPr>
          <p:cNvPr id="64" name="壁 64"/>
          <p:cNvSpPr/>
          <p:nvPr/>
        </p:nvSpPr>
        <p:spPr>
          <a:xfrm>
            <a:off x="7263640" y="5769250"/>
            <a:ext cx="365500" cy="21500"/>
          </a:xfrm>
          <a:prstGeom prst="rect">
            <a:avLst/>
          </a:prstGeom>
          <a:solidFill>
            <a:srgbClr val="9AA3B0"/>
          </a:solidFill>
          <a:ln>
            <a:noFill/>
          </a:ln>
        </p:spPr>
        <p:txBody>
          <a:bodyPr/>
          <a:lstStyle/>
          <a:p>
            <a:endParaRPr lang="ja-JP" altLang="en-US"/>
          </a:p>
        </p:txBody>
      </p:sp>
      <p:cxnSp>
        <p:nvCxnSpPr>
          <p:cNvPr id="65" name="線 65"/>
          <p:cNvCxnSpPr/>
          <p:nvPr/>
        </p:nvCxnSpPr>
        <p:spPr>
          <a:xfrm flipH="1">
            <a:off x="7005640" y="5350000"/>
            <a:ext cx="107500" cy="774000"/>
          </a:xfrm>
          <a:prstGeom prst="line">
            <a:avLst/>
          </a:prstGeom>
          <a:ln w="38100" cap="rnd">
            <a:solidFill>
              <a:srgbClr val="E3A33B"/>
            </a:solidFill>
            <a:round/>
          </a:ln>
        </p:spPr>
      </p:cxnSp>
      <p:cxnSp>
        <p:nvCxnSpPr>
          <p:cNvPr id="66" name="線 66"/>
          <p:cNvCxnSpPr/>
          <p:nvPr/>
        </p:nvCxnSpPr>
        <p:spPr>
          <a:xfrm flipV="1">
            <a:off x="6833640" y="5390287"/>
            <a:ext cx="181725" cy="389712"/>
          </a:xfrm>
          <a:prstGeom prst="line">
            <a:avLst/>
          </a:prstGeom>
          <a:ln w="44450" cap="rnd">
            <a:solidFill>
              <a:srgbClr val="1E2430"/>
            </a:solidFill>
            <a:round/>
          </a:ln>
        </p:spPr>
      </p:cxnSp>
      <p:sp>
        <p:nvSpPr>
          <p:cNvPr id="67" name="番号 67"/>
          <p:cNvSpPr/>
          <p:nvPr/>
        </p:nvSpPr>
        <p:spPr>
          <a:xfrm>
            <a:off x="7038140" y="527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68" name="テキスト 68"/>
          <p:cNvSpPr txBox="1"/>
          <p:nvPr/>
        </p:nvSpPr>
        <p:spPr>
          <a:xfrm>
            <a:off x="7223140" y="525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69" name="番号 69"/>
          <p:cNvSpPr/>
          <p:nvPr/>
        </p:nvSpPr>
        <p:spPr>
          <a:xfrm>
            <a:off x="6930640" y="604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70" name="テキスト 70"/>
          <p:cNvSpPr txBox="1"/>
          <p:nvPr/>
        </p:nvSpPr>
        <p:spPr>
          <a:xfrm>
            <a:off x="7115640" y="602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71" name="番号 71"/>
          <p:cNvSpPr/>
          <p:nvPr/>
        </p:nvSpPr>
        <p:spPr>
          <a:xfrm>
            <a:off x="8048640" y="512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3</a:t>
            </a:r>
            <a:endParaRPr lang="ja-JP" altLang="en-US" sz="1050" dirty="0">
              <a:solidFill>
                <a:srgbClr val="1E2430"/>
              </a:solidFill>
              <a:latin typeface="BIZ UDPゴシック"/>
              <a:ea typeface="BIZ UDPゴシック"/>
              <a:cs typeface="BIZ UDPゴシック"/>
            </a:endParaRPr>
          </a:p>
        </p:txBody>
      </p:sp>
      <p:sp>
        <p:nvSpPr>
          <p:cNvPr id="72" name="テキスト 72"/>
          <p:cNvSpPr txBox="1"/>
          <p:nvPr/>
        </p:nvSpPr>
        <p:spPr>
          <a:xfrm>
            <a:off x="8408640" y="513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開いた後</a:t>
            </a:r>
            <a:endParaRPr lang="ja-JP" altLang="en-US" sz="1250" dirty="0">
              <a:solidFill>
                <a:srgbClr val="1E2430"/>
              </a:solidFill>
              <a:latin typeface="BIZ UDPゴシック"/>
              <a:ea typeface="BIZ UDPゴシック"/>
              <a:cs typeface="BIZ UDPゴシック"/>
            </a:endParaRPr>
          </a:p>
        </p:txBody>
      </p:sp>
      <p:sp>
        <p:nvSpPr>
          <p:cNvPr id="73" name="タグ 73"/>
          <p:cNvSpPr/>
          <p:nvPr/>
        </p:nvSpPr>
        <p:spPr>
          <a:xfrm>
            <a:off x="9243640" y="5135000"/>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直接</a:t>
            </a:r>
            <a:endParaRPr lang="ja-JP" altLang="en-US" sz="950" dirty="0">
              <a:solidFill>
                <a:srgbClr val="1E2430"/>
              </a:solidFill>
              <a:latin typeface="BIZ UDPゴシック"/>
              <a:ea typeface="BIZ UDPゴシック"/>
              <a:cs typeface="BIZ UDPゴシック"/>
            </a:endParaRPr>
          </a:p>
        </p:txBody>
      </p:sp>
      <p:sp>
        <p:nvSpPr>
          <p:cNvPr id="74" name="テキスト 74"/>
          <p:cNvSpPr txBox="1"/>
          <p:nvPr/>
        </p:nvSpPr>
        <p:spPr>
          <a:xfrm>
            <a:off x="8048640" y="549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音源に対して開ききると直接音でしっかり聞こえるようになる、これ以降は開いても変化なし</a:t>
            </a:r>
          </a:p>
        </p:txBody>
      </p:sp>
      <p:sp>
        <p:nvSpPr>
          <p:cNvPr id="75" name="ページ番号 7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9</a:t>
            </a:r>
            <a:endParaRPr lang="ja-JP" alt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ドアの開き具合での演出</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音がドアの裏側にあるのが伝わるように</a:t>
            </a:r>
            <a:endParaRPr lang="ja-JP" altLang="en-US" sz="2600" dirty="0">
              <a:solidFill>
                <a:srgbClr val="1E2430"/>
              </a:solidFill>
              <a:latin typeface="BIZ UDPゴシック"/>
              <a:ea typeface="BIZ UDPゴシック"/>
              <a:cs typeface="BIZ UDPゴシック"/>
            </a:endParaRPr>
          </a:p>
        </p:txBody>
      </p:sp>
      <p:sp>
        <p:nvSpPr>
          <p:cNvPr id="11" name="カード 11"/>
          <p:cNvSpPr/>
          <p:nvPr/>
        </p:nvSpPr>
        <p:spPr>
          <a:xfrm>
            <a:off x="548640" y="2363344"/>
            <a:ext cx="11091672" cy="4110608"/>
          </a:xfrm>
          <a:prstGeom prst="roundRect">
            <a:avLst>
              <a:gd name="adj" fmla="val 5000"/>
            </a:avLst>
          </a:prstGeom>
          <a:solidFill>
            <a:srgbClr val="F0F2F5"/>
          </a:solidFill>
          <a:ln>
            <a:noFill/>
          </a:ln>
        </p:spPr>
        <p:txBody>
          <a:bodyPr/>
          <a:lstStyle/>
          <a:p>
            <a:endParaRPr lang="ja-JP" altLang="en-US" dirty="0"/>
          </a:p>
        </p:txBody>
      </p:sp>
      <p:sp>
        <p:nvSpPr>
          <p:cNvPr id="12" name="テキスト 12"/>
          <p:cNvSpPr txBox="1"/>
          <p:nvPr/>
        </p:nvSpPr>
        <p:spPr>
          <a:xfrm>
            <a:off x="848640" y="2513344"/>
            <a:ext cx="10491672"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扉の真後ろの音源で、閉じている → 開き始め → 開いた後</a:t>
            </a:r>
            <a:endParaRPr lang="ja-JP" altLang="en-US" sz="1250" dirty="0">
              <a:solidFill>
                <a:srgbClr val="1E2430"/>
              </a:solidFill>
              <a:latin typeface="BIZ UDPゴシック"/>
              <a:ea typeface="BIZ UDPゴシック"/>
              <a:cs typeface="BIZ UDPゴシック"/>
            </a:endParaRPr>
          </a:p>
        </p:txBody>
      </p:sp>
      <p:sp>
        <p:nvSpPr>
          <p:cNvPr id="13" name="壁 13"/>
          <p:cNvSpPr/>
          <p:nvPr/>
        </p:nvSpPr>
        <p:spPr>
          <a:xfrm>
            <a:off x="860696" y="3795844"/>
            <a:ext cx="595000" cy="35000"/>
          </a:xfrm>
          <a:prstGeom prst="rect">
            <a:avLst/>
          </a:prstGeom>
          <a:solidFill>
            <a:srgbClr val="9AA3B0"/>
          </a:solidFill>
          <a:ln>
            <a:noFill/>
          </a:ln>
        </p:spPr>
        <p:txBody>
          <a:bodyPr/>
          <a:lstStyle/>
          <a:p>
            <a:endParaRPr lang="ja-JP" altLang="en-US"/>
          </a:p>
        </p:txBody>
      </p:sp>
      <p:sp>
        <p:nvSpPr>
          <p:cNvPr id="14" name="壁 14"/>
          <p:cNvSpPr/>
          <p:nvPr/>
        </p:nvSpPr>
        <p:spPr>
          <a:xfrm>
            <a:off x="2155696" y="3795844"/>
            <a:ext cx="595000" cy="35000"/>
          </a:xfrm>
          <a:prstGeom prst="rect">
            <a:avLst/>
          </a:prstGeom>
          <a:solidFill>
            <a:srgbClr val="9AA3B0"/>
          </a:solidFill>
          <a:ln>
            <a:noFill/>
          </a:ln>
        </p:spPr>
        <p:txBody>
          <a:bodyPr/>
          <a:lstStyle/>
          <a:p>
            <a:endParaRPr lang="ja-JP" altLang="en-US"/>
          </a:p>
        </p:txBody>
      </p:sp>
      <p:cxnSp>
        <p:nvCxnSpPr>
          <p:cNvPr id="15" name="線 15"/>
          <p:cNvCxnSpPr/>
          <p:nvPr/>
        </p:nvCxnSpPr>
        <p:spPr>
          <a:xfrm flipH="1">
            <a:off x="1735696" y="3113344"/>
            <a:ext cx="175000" cy="1260000"/>
          </a:xfrm>
          <a:prstGeom prst="line">
            <a:avLst/>
          </a:prstGeom>
          <a:ln w="15875" cap="rnd">
            <a:solidFill>
              <a:srgbClr val="9AA3B0"/>
            </a:solidFill>
            <a:prstDash val="dash"/>
            <a:round/>
          </a:ln>
        </p:spPr>
      </p:cxnSp>
      <p:cxnSp>
        <p:nvCxnSpPr>
          <p:cNvPr id="16" name="線 16"/>
          <p:cNvCxnSpPr/>
          <p:nvPr/>
        </p:nvCxnSpPr>
        <p:spPr>
          <a:xfrm>
            <a:off x="1455696" y="3813344"/>
            <a:ext cx="700000" cy="0"/>
          </a:xfrm>
          <a:prstGeom prst="line">
            <a:avLst/>
          </a:prstGeom>
          <a:ln w="44450" cap="rnd">
            <a:solidFill>
              <a:srgbClr val="1E2430"/>
            </a:solidFill>
            <a:round/>
          </a:ln>
        </p:spPr>
      </p:cxnSp>
      <p:sp>
        <p:nvSpPr>
          <p:cNvPr id="17" name="番号 17"/>
          <p:cNvSpPr/>
          <p:nvPr/>
        </p:nvSpPr>
        <p:spPr>
          <a:xfrm>
            <a:off x="1835696" y="303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18" name="テキスト 18"/>
          <p:cNvSpPr txBox="1"/>
          <p:nvPr/>
        </p:nvSpPr>
        <p:spPr>
          <a:xfrm>
            <a:off x="2020696" y="301334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19" name="番号 19"/>
          <p:cNvSpPr/>
          <p:nvPr/>
        </p:nvSpPr>
        <p:spPr>
          <a:xfrm>
            <a:off x="1660696" y="429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0" name="テキスト 20"/>
          <p:cNvSpPr txBox="1"/>
          <p:nvPr/>
        </p:nvSpPr>
        <p:spPr>
          <a:xfrm>
            <a:off x="1845696" y="427334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21" name="棒 21"/>
          <p:cNvSpPr/>
          <p:nvPr/>
        </p:nvSpPr>
        <p:spPr>
          <a:xfrm>
            <a:off x="2988807" y="3450844"/>
            <a:ext cx="234000" cy="562500"/>
          </a:xfrm>
          <a:prstGeom prst="rect">
            <a:avLst/>
          </a:prstGeom>
          <a:solidFill>
            <a:srgbClr val="E3A33B"/>
          </a:solidFill>
          <a:ln>
            <a:noFill/>
          </a:ln>
        </p:spPr>
        <p:txBody>
          <a:bodyPr/>
          <a:lstStyle/>
          <a:p>
            <a:endParaRPr lang="ja-JP" altLang="en-US"/>
          </a:p>
        </p:txBody>
      </p:sp>
      <p:sp>
        <p:nvSpPr>
          <p:cNvPr id="22" name="テキスト 22"/>
          <p:cNvSpPr txBox="1"/>
          <p:nvPr/>
        </p:nvSpPr>
        <p:spPr>
          <a:xfrm>
            <a:off x="2928807"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23" name="棒 23"/>
          <p:cNvSpPr/>
          <p:nvPr/>
        </p:nvSpPr>
        <p:spPr>
          <a:xfrm>
            <a:off x="3313807" y="3900844"/>
            <a:ext cx="234000" cy="112500"/>
          </a:xfrm>
          <a:prstGeom prst="rect">
            <a:avLst/>
          </a:prstGeom>
          <a:solidFill>
            <a:srgbClr val="9AA3B0"/>
          </a:solidFill>
          <a:ln>
            <a:noFill/>
          </a:ln>
        </p:spPr>
        <p:txBody>
          <a:bodyPr/>
          <a:lstStyle/>
          <a:p>
            <a:endParaRPr lang="ja-JP" altLang="en-US"/>
          </a:p>
        </p:txBody>
      </p:sp>
      <p:sp>
        <p:nvSpPr>
          <p:cNvPr id="24" name="テキスト 24"/>
          <p:cNvSpPr txBox="1"/>
          <p:nvPr/>
        </p:nvSpPr>
        <p:spPr>
          <a:xfrm>
            <a:off x="3253807"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25" name="線 25"/>
          <p:cNvCxnSpPr/>
          <p:nvPr/>
        </p:nvCxnSpPr>
        <p:spPr>
          <a:xfrm>
            <a:off x="2948807" y="4013344"/>
            <a:ext cx="690000" cy="0"/>
          </a:xfrm>
          <a:prstGeom prst="line">
            <a:avLst/>
          </a:prstGeom>
          <a:ln w="9525" cap="rnd">
            <a:solidFill>
              <a:srgbClr val="C9CFD8"/>
            </a:solidFill>
            <a:round/>
          </a:ln>
        </p:spPr>
      </p:cxnSp>
      <p:sp>
        <p:nvSpPr>
          <p:cNvPr id="26" name="テキスト 26"/>
          <p:cNvSpPr txBox="1"/>
          <p:nvPr/>
        </p:nvSpPr>
        <p:spPr>
          <a:xfrm>
            <a:off x="2840918" y="426334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こもる</a:t>
            </a:r>
            <a:endParaRPr lang="ja-JP" altLang="en-US" sz="1250" dirty="0">
              <a:solidFill>
                <a:srgbClr val="5C6677"/>
              </a:solidFill>
              <a:latin typeface="BIZ UDPゴシック"/>
              <a:ea typeface="BIZ UDPゴシック"/>
              <a:cs typeface="BIZ UDPゴシック"/>
            </a:endParaRPr>
          </a:p>
        </p:txBody>
      </p:sp>
      <p:sp>
        <p:nvSpPr>
          <p:cNvPr id="27" name="テキスト 27"/>
          <p:cNvSpPr txBox="1"/>
          <p:nvPr/>
        </p:nvSpPr>
        <p:spPr>
          <a:xfrm>
            <a:off x="798640" y="491334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閉じている時</a:t>
            </a:r>
            <a:endParaRPr lang="ja-JP" altLang="en-US" sz="1300" dirty="0">
              <a:solidFill>
                <a:srgbClr val="1E2430"/>
              </a:solidFill>
              <a:latin typeface="BIZ UDPゴシック"/>
              <a:ea typeface="BIZ UDPゴシック"/>
              <a:cs typeface="BIZ UDPゴシック"/>
            </a:endParaRPr>
          </a:p>
        </p:txBody>
      </p:sp>
      <p:sp>
        <p:nvSpPr>
          <p:cNvPr id="28" name="テキスト 28"/>
          <p:cNvSpPr txBox="1"/>
          <p:nvPr/>
        </p:nvSpPr>
        <p:spPr>
          <a:xfrm>
            <a:off x="798640" y="5223344"/>
            <a:ext cx="3297224"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ドアを抜ける透過音のみ</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どの位置に音源があっても一様のこもり方</a:t>
            </a:r>
          </a:p>
        </p:txBody>
      </p:sp>
      <p:sp>
        <p:nvSpPr>
          <p:cNvPr id="29" name="矢印 29"/>
          <p:cNvSpPr/>
          <p:nvPr/>
        </p:nvSpPr>
        <p:spPr>
          <a:xfrm>
            <a:off x="4095864" y="3713344"/>
            <a:ext cx="260000" cy="200000"/>
          </a:xfrm>
          <a:prstGeom prst="rightArrow">
            <a:avLst/>
          </a:prstGeom>
          <a:solidFill>
            <a:srgbClr val="9AA3B0"/>
          </a:solidFill>
          <a:ln>
            <a:noFill/>
          </a:ln>
        </p:spPr>
        <p:txBody>
          <a:bodyPr/>
          <a:lstStyle/>
          <a:p>
            <a:endParaRPr lang="ja-JP" altLang="en-US"/>
          </a:p>
        </p:txBody>
      </p:sp>
      <p:sp>
        <p:nvSpPr>
          <p:cNvPr id="30" name="壁 30"/>
          <p:cNvSpPr/>
          <p:nvPr/>
        </p:nvSpPr>
        <p:spPr>
          <a:xfrm>
            <a:off x="4557920" y="3795844"/>
            <a:ext cx="595000" cy="35000"/>
          </a:xfrm>
          <a:prstGeom prst="rect">
            <a:avLst/>
          </a:prstGeom>
          <a:solidFill>
            <a:srgbClr val="9AA3B0"/>
          </a:solidFill>
          <a:ln>
            <a:noFill/>
          </a:ln>
        </p:spPr>
        <p:txBody>
          <a:bodyPr/>
          <a:lstStyle/>
          <a:p>
            <a:endParaRPr lang="ja-JP" altLang="en-US"/>
          </a:p>
        </p:txBody>
      </p:sp>
      <p:sp>
        <p:nvSpPr>
          <p:cNvPr id="31" name="壁 31"/>
          <p:cNvSpPr/>
          <p:nvPr/>
        </p:nvSpPr>
        <p:spPr>
          <a:xfrm>
            <a:off x="5852920" y="3795844"/>
            <a:ext cx="595000" cy="35000"/>
          </a:xfrm>
          <a:prstGeom prst="rect">
            <a:avLst/>
          </a:prstGeom>
          <a:solidFill>
            <a:srgbClr val="9AA3B0"/>
          </a:solidFill>
          <a:ln>
            <a:noFill/>
          </a:ln>
        </p:spPr>
        <p:txBody>
          <a:bodyPr/>
          <a:lstStyle/>
          <a:p>
            <a:endParaRPr lang="ja-JP" altLang="en-US"/>
          </a:p>
        </p:txBody>
      </p:sp>
      <p:sp>
        <p:nvSpPr>
          <p:cNvPr id="32" name="折れ線 32"/>
          <p:cNvSpPr/>
          <p:nvPr/>
        </p:nvSpPr>
        <p:spPr>
          <a:xfrm>
            <a:off x="5432920" y="3113344"/>
            <a:ext cx="401276" cy="1260000"/>
          </a:xfrm>
          <a:custGeom>
            <a:avLst/>
            <a:gdLst/>
            <a:ahLst/>
            <a:cxnLst/>
            <a:rect l="0" t="0" r="r" b="b"/>
            <a:pathLst>
              <a:path w="401276" h="1260000" fill="none">
                <a:moveTo>
                  <a:pt x="175000" y="0"/>
                </a:moveTo>
                <a:lnTo>
                  <a:pt x="401276" y="452034"/>
                </a:lnTo>
                <a:lnTo>
                  <a:pt x="0" y="1260000"/>
                </a:lnTo>
              </a:path>
            </a:pathLst>
          </a:custGeom>
          <a:noFill/>
          <a:ln w="31750" cap="rnd">
            <a:solidFill>
              <a:srgbClr val="E3A33B"/>
            </a:solidFill>
            <a:round/>
          </a:ln>
        </p:spPr>
        <p:txBody>
          <a:bodyPr/>
          <a:lstStyle/>
          <a:p>
            <a:endParaRPr lang="ja-JP" altLang="en-US"/>
          </a:p>
        </p:txBody>
      </p:sp>
      <p:cxnSp>
        <p:nvCxnSpPr>
          <p:cNvPr id="33" name="線 33"/>
          <p:cNvCxnSpPr/>
          <p:nvPr/>
        </p:nvCxnSpPr>
        <p:spPr>
          <a:xfrm flipV="1">
            <a:off x="5152920" y="3573929"/>
            <a:ext cx="657784" cy="239414"/>
          </a:xfrm>
          <a:prstGeom prst="line">
            <a:avLst/>
          </a:prstGeom>
          <a:ln w="44450" cap="rnd">
            <a:solidFill>
              <a:srgbClr val="1E2430"/>
            </a:solidFill>
            <a:round/>
          </a:ln>
        </p:spPr>
      </p:cxnSp>
      <p:sp>
        <p:nvSpPr>
          <p:cNvPr id="34" name="番号 34"/>
          <p:cNvSpPr/>
          <p:nvPr/>
        </p:nvSpPr>
        <p:spPr>
          <a:xfrm>
            <a:off x="5532920" y="303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5" name="テキスト 35"/>
          <p:cNvSpPr txBox="1"/>
          <p:nvPr/>
        </p:nvSpPr>
        <p:spPr>
          <a:xfrm>
            <a:off x="5717920" y="301334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36" name="番号 36"/>
          <p:cNvSpPr/>
          <p:nvPr/>
        </p:nvSpPr>
        <p:spPr>
          <a:xfrm>
            <a:off x="5357920" y="429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7" name="テキスト 37"/>
          <p:cNvSpPr txBox="1"/>
          <p:nvPr/>
        </p:nvSpPr>
        <p:spPr>
          <a:xfrm>
            <a:off x="5542920" y="427334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38" name="棒 38"/>
          <p:cNvSpPr/>
          <p:nvPr/>
        </p:nvSpPr>
        <p:spPr>
          <a:xfrm>
            <a:off x="6686031" y="3375844"/>
            <a:ext cx="234000" cy="637500"/>
          </a:xfrm>
          <a:prstGeom prst="rect">
            <a:avLst/>
          </a:prstGeom>
          <a:solidFill>
            <a:srgbClr val="E3A33B"/>
          </a:solidFill>
          <a:ln>
            <a:noFill/>
          </a:ln>
        </p:spPr>
        <p:txBody>
          <a:bodyPr/>
          <a:lstStyle/>
          <a:p>
            <a:endParaRPr lang="ja-JP" altLang="en-US"/>
          </a:p>
        </p:txBody>
      </p:sp>
      <p:sp>
        <p:nvSpPr>
          <p:cNvPr id="39" name="テキスト 39"/>
          <p:cNvSpPr txBox="1"/>
          <p:nvPr/>
        </p:nvSpPr>
        <p:spPr>
          <a:xfrm>
            <a:off x="6626031"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40" name="棒 40"/>
          <p:cNvSpPr/>
          <p:nvPr/>
        </p:nvSpPr>
        <p:spPr>
          <a:xfrm>
            <a:off x="7011031" y="3675844"/>
            <a:ext cx="234000" cy="337500"/>
          </a:xfrm>
          <a:prstGeom prst="rect">
            <a:avLst/>
          </a:prstGeom>
          <a:solidFill>
            <a:srgbClr val="9AA3B0"/>
          </a:solidFill>
          <a:ln>
            <a:noFill/>
          </a:ln>
        </p:spPr>
        <p:txBody>
          <a:bodyPr/>
          <a:lstStyle/>
          <a:p>
            <a:endParaRPr lang="ja-JP" altLang="en-US"/>
          </a:p>
        </p:txBody>
      </p:sp>
      <p:sp>
        <p:nvSpPr>
          <p:cNvPr id="41" name="テキスト 41"/>
          <p:cNvSpPr txBox="1"/>
          <p:nvPr/>
        </p:nvSpPr>
        <p:spPr>
          <a:xfrm>
            <a:off x="6951031"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42" name="線 42"/>
          <p:cNvCxnSpPr/>
          <p:nvPr/>
        </p:nvCxnSpPr>
        <p:spPr>
          <a:xfrm>
            <a:off x="6646031" y="4013344"/>
            <a:ext cx="690000" cy="0"/>
          </a:xfrm>
          <a:prstGeom prst="line">
            <a:avLst/>
          </a:prstGeom>
          <a:ln w="9525" cap="rnd">
            <a:solidFill>
              <a:srgbClr val="C9CFD8"/>
            </a:solidFill>
            <a:round/>
          </a:ln>
        </p:spPr>
      </p:cxnSp>
      <p:sp>
        <p:nvSpPr>
          <p:cNvPr id="43" name="テキスト 43"/>
          <p:cNvSpPr txBox="1"/>
          <p:nvPr/>
        </p:nvSpPr>
        <p:spPr>
          <a:xfrm>
            <a:off x="6538142" y="426334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少しこもる</a:t>
            </a:r>
            <a:endParaRPr lang="ja-JP" altLang="en-US" sz="1250" dirty="0">
              <a:solidFill>
                <a:srgbClr val="5C6677"/>
              </a:solidFill>
              <a:latin typeface="BIZ UDPゴシック"/>
              <a:ea typeface="BIZ UDPゴシック"/>
              <a:cs typeface="BIZ UDPゴシック"/>
            </a:endParaRPr>
          </a:p>
        </p:txBody>
      </p:sp>
      <p:sp>
        <p:nvSpPr>
          <p:cNvPr id="44" name="テキスト 44"/>
          <p:cNvSpPr txBox="1"/>
          <p:nvPr/>
        </p:nvSpPr>
        <p:spPr>
          <a:xfrm>
            <a:off x="4495864" y="491334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影の間</a:t>
            </a:r>
            <a:endParaRPr lang="ja-JP" altLang="en-US" sz="1300" dirty="0">
              <a:solidFill>
                <a:srgbClr val="1E2430"/>
              </a:solidFill>
              <a:latin typeface="BIZ UDPゴシック"/>
              <a:ea typeface="BIZ UDPゴシック"/>
              <a:cs typeface="BIZ UDPゴシック"/>
            </a:endParaRPr>
          </a:p>
        </p:txBody>
      </p:sp>
      <p:sp>
        <p:nvSpPr>
          <p:cNvPr id="45" name="テキスト 45"/>
          <p:cNvSpPr txBox="1"/>
          <p:nvPr/>
        </p:nvSpPr>
        <p:spPr>
          <a:xfrm>
            <a:off x="4495864" y="5223344"/>
            <a:ext cx="3297224" cy="81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回折と透過音のミックス</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この時点でどのくらいの位置にあるかによって音のこもり具合に変化が出始める</a:t>
            </a:r>
          </a:p>
        </p:txBody>
      </p:sp>
      <p:sp>
        <p:nvSpPr>
          <p:cNvPr id="46" name="矢印 46"/>
          <p:cNvSpPr/>
          <p:nvPr/>
        </p:nvSpPr>
        <p:spPr>
          <a:xfrm>
            <a:off x="7793088" y="3713344"/>
            <a:ext cx="260000" cy="200000"/>
          </a:xfrm>
          <a:prstGeom prst="rightArrow">
            <a:avLst/>
          </a:prstGeom>
          <a:solidFill>
            <a:srgbClr val="9AA3B0"/>
          </a:solidFill>
          <a:ln>
            <a:noFill/>
          </a:ln>
        </p:spPr>
        <p:txBody>
          <a:bodyPr/>
          <a:lstStyle/>
          <a:p>
            <a:endParaRPr lang="ja-JP" altLang="en-US"/>
          </a:p>
        </p:txBody>
      </p:sp>
      <p:sp>
        <p:nvSpPr>
          <p:cNvPr id="47" name="壁 47"/>
          <p:cNvSpPr/>
          <p:nvPr/>
        </p:nvSpPr>
        <p:spPr>
          <a:xfrm>
            <a:off x="8255144" y="3795844"/>
            <a:ext cx="595000" cy="35000"/>
          </a:xfrm>
          <a:prstGeom prst="rect">
            <a:avLst/>
          </a:prstGeom>
          <a:solidFill>
            <a:srgbClr val="9AA3B0"/>
          </a:solidFill>
          <a:ln>
            <a:noFill/>
          </a:ln>
        </p:spPr>
        <p:txBody>
          <a:bodyPr/>
          <a:lstStyle/>
          <a:p>
            <a:endParaRPr lang="ja-JP" altLang="en-US"/>
          </a:p>
        </p:txBody>
      </p:sp>
      <p:sp>
        <p:nvSpPr>
          <p:cNvPr id="48" name="壁 48"/>
          <p:cNvSpPr/>
          <p:nvPr/>
        </p:nvSpPr>
        <p:spPr>
          <a:xfrm>
            <a:off x="9550144" y="3795844"/>
            <a:ext cx="595000" cy="35000"/>
          </a:xfrm>
          <a:prstGeom prst="rect">
            <a:avLst/>
          </a:prstGeom>
          <a:solidFill>
            <a:srgbClr val="9AA3B0"/>
          </a:solidFill>
          <a:ln>
            <a:noFill/>
          </a:ln>
        </p:spPr>
        <p:txBody>
          <a:bodyPr/>
          <a:lstStyle/>
          <a:p>
            <a:endParaRPr lang="ja-JP" altLang="en-US"/>
          </a:p>
        </p:txBody>
      </p:sp>
      <p:cxnSp>
        <p:nvCxnSpPr>
          <p:cNvPr id="49" name="線 49"/>
          <p:cNvCxnSpPr/>
          <p:nvPr/>
        </p:nvCxnSpPr>
        <p:spPr>
          <a:xfrm flipH="1">
            <a:off x="9130144" y="3113344"/>
            <a:ext cx="175000" cy="1260000"/>
          </a:xfrm>
          <a:prstGeom prst="line">
            <a:avLst/>
          </a:prstGeom>
          <a:ln w="38100" cap="rnd">
            <a:solidFill>
              <a:srgbClr val="E3A33B"/>
            </a:solidFill>
            <a:round/>
          </a:ln>
        </p:spPr>
      </p:cxnSp>
      <p:cxnSp>
        <p:nvCxnSpPr>
          <p:cNvPr id="50" name="線 50"/>
          <p:cNvCxnSpPr/>
          <p:nvPr/>
        </p:nvCxnSpPr>
        <p:spPr>
          <a:xfrm flipV="1">
            <a:off x="8850144" y="3155559"/>
            <a:ext cx="239414" cy="657784"/>
          </a:xfrm>
          <a:prstGeom prst="line">
            <a:avLst/>
          </a:prstGeom>
          <a:ln w="44450" cap="rnd">
            <a:solidFill>
              <a:srgbClr val="1E2430"/>
            </a:solidFill>
            <a:round/>
          </a:ln>
        </p:spPr>
      </p:cxnSp>
      <p:sp>
        <p:nvSpPr>
          <p:cNvPr id="51" name="番号 51"/>
          <p:cNvSpPr/>
          <p:nvPr/>
        </p:nvSpPr>
        <p:spPr>
          <a:xfrm>
            <a:off x="9230144" y="303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2" name="テキスト 52"/>
          <p:cNvSpPr txBox="1"/>
          <p:nvPr/>
        </p:nvSpPr>
        <p:spPr>
          <a:xfrm>
            <a:off x="9415144" y="301334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3" name="番号 53"/>
          <p:cNvSpPr/>
          <p:nvPr/>
        </p:nvSpPr>
        <p:spPr>
          <a:xfrm>
            <a:off x="9055144" y="429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4" name="テキスト 54"/>
          <p:cNvSpPr txBox="1"/>
          <p:nvPr/>
        </p:nvSpPr>
        <p:spPr>
          <a:xfrm>
            <a:off x="9240144" y="427334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55" name="棒 55"/>
          <p:cNvSpPr/>
          <p:nvPr/>
        </p:nvSpPr>
        <p:spPr>
          <a:xfrm>
            <a:off x="10383255" y="3263344"/>
            <a:ext cx="234000" cy="750000"/>
          </a:xfrm>
          <a:prstGeom prst="rect">
            <a:avLst/>
          </a:prstGeom>
          <a:solidFill>
            <a:srgbClr val="E3A33B"/>
          </a:solidFill>
          <a:ln>
            <a:noFill/>
          </a:ln>
        </p:spPr>
        <p:txBody>
          <a:bodyPr/>
          <a:lstStyle/>
          <a:p>
            <a:endParaRPr lang="ja-JP" altLang="en-US"/>
          </a:p>
        </p:txBody>
      </p:sp>
      <p:sp>
        <p:nvSpPr>
          <p:cNvPr id="56" name="テキスト 56"/>
          <p:cNvSpPr txBox="1"/>
          <p:nvPr/>
        </p:nvSpPr>
        <p:spPr>
          <a:xfrm>
            <a:off x="10323255"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57" name="棒 57"/>
          <p:cNvSpPr/>
          <p:nvPr/>
        </p:nvSpPr>
        <p:spPr>
          <a:xfrm>
            <a:off x="10708255" y="3263344"/>
            <a:ext cx="234000" cy="750000"/>
          </a:xfrm>
          <a:prstGeom prst="rect">
            <a:avLst/>
          </a:prstGeom>
          <a:solidFill>
            <a:srgbClr val="9AA3B0"/>
          </a:solidFill>
          <a:ln>
            <a:noFill/>
          </a:ln>
        </p:spPr>
        <p:txBody>
          <a:bodyPr/>
          <a:lstStyle/>
          <a:p>
            <a:endParaRPr lang="ja-JP" altLang="en-US"/>
          </a:p>
        </p:txBody>
      </p:sp>
      <p:sp>
        <p:nvSpPr>
          <p:cNvPr id="58" name="テキスト 58"/>
          <p:cNvSpPr txBox="1"/>
          <p:nvPr/>
        </p:nvSpPr>
        <p:spPr>
          <a:xfrm>
            <a:off x="10648255"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59" name="線 59"/>
          <p:cNvCxnSpPr/>
          <p:nvPr/>
        </p:nvCxnSpPr>
        <p:spPr>
          <a:xfrm>
            <a:off x="10343255" y="4013344"/>
            <a:ext cx="690000" cy="0"/>
          </a:xfrm>
          <a:prstGeom prst="line">
            <a:avLst/>
          </a:prstGeom>
          <a:ln w="9525" cap="rnd">
            <a:solidFill>
              <a:srgbClr val="C9CFD8"/>
            </a:solidFill>
            <a:round/>
          </a:ln>
        </p:spPr>
      </p:cxnSp>
      <p:sp>
        <p:nvSpPr>
          <p:cNvPr id="60" name="テキスト 60"/>
          <p:cNvSpPr txBox="1"/>
          <p:nvPr/>
        </p:nvSpPr>
        <p:spPr>
          <a:xfrm>
            <a:off x="10235366" y="426334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9A6212"/>
                </a:solidFill>
                <a:latin typeface="BIZ UDPゴシック"/>
                <a:ea typeface="BIZ UDPゴシック"/>
                <a:cs typeface="BIZ UDPゴシック"/>
              </a:rPr>
              <a:t>開く</a:t>
            </a:r>
            <a:endParaRPr lang="ja-JP" altLang="en-US" sz="1250" dirty="0">
              <a:solidFill>
                <a:srgbClr val="9A6212"/>
              </a:solidFill>
              <a:latin typeface="BIZ UDPゴシック"/>
              <a:ea typeface="BIZ UDPゴシック"/>
              <a:cs typeface="BIZ UDPゴシック"/>
            </a:endParaRPr>
          </a:p>
        </p:txBody>
      </p:sp>
      <p:sp>
        <p:nvSpPr>
          <p:cNvPr id="61" name="テキスト 61"/>
          <p:cNvSpPr txBox="1"/>
          <p:nvPr/>
        </p:nvSpPr>
        <p:spPr>
          <a:xfrm>
            <a:off x="8193088" y="491334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影から抜けた瞬間</a:t>
            </a:r>
            <a:endParaRPr lang="ja-JP" altLang="en-US" sz="1300" dirty="0">
              <a:solidFill>
                <a:srgbClr val="1E2430"/>
              </a:solidFill>
              <a:latin typeface="BIZ UDPゴシック"/>
              <a:ea typeface="BIZ UDPゴシック"/>
              <a:cs typeface="BIZ UDPゴシック"/>
            </a:endParaRPr>
          </a:p>
        </p:txBody>
      </p:sp>
      <p:sp>
        <p:nvSpPr>
          <p:cNvPr id="62" name="テキスト 62"/>
          <p:cNvSpPr txBox="1"/>
          <p:nvPr/>
        </p:nvSpPr>
        <p:spPr>
          <a:xfrm>
            <a:off x="8193088" y="5223344"/>
            <a:ext cx="2809167" cy="9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音源が見えて全て直接音になる</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段階的にしすぎるとわかりにくいから影から抜けた瞬間大きくこもりが解消されるように</a:t>
            </a:r>
          </a:p>
        </p:txBody>
      </p:sp>
      <p:sp>
        <p:nvSpPr>
          <p:cNvPr id="64" name="テキスト 4">
            <a:extLst>
              <a:ext uri="{FF2B5EF4-FFF2-40B4-BE49-F238E27FC236}">
                <a16:creationId xmlns:a16="http://schemas.microsoft.com/office/drawing/2014/main" id="{1746D23E-6BFA-3A98-A6ED-78E6D602BAED}"/>
              </a:ext>
            </a:extLst>
          </p:cNvPr>
          <p:cNvSpPr txBox="1"/>
          <p:nvPr/>
        </p:nvSpPr>
        <p:spPr>
          <a:xfrm>
            <a:off x="548640" y="1240000"/>
            <a:ext cx="11091672" cy="560000"/>
          </a:xfrm>
          <a:prstGeom prst="rect">
            <a:avLst/>
          </a:prstGeom>
          <a:noFill/>
          <a:ln>
            <a:noFill/>
          </a:ln>
        </p:spPr>
        <p:txBody>
          <a:bodyPr wrap="square" lIns="0" tIns="0" rIns="0" bIns="0" rtlCol="0" anchor="t">
            <a:noAutofit/>
          </a:bodyPr>
          <a:lstStyle/>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ドアの開けた瞬間はラウドネスの大きな変化で開けた感を</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そこからのドアを開けていく感覚はそのまま少しづつラウドネスを変化させるだけでは伝わりにくいため</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扉の板の角度と位置から影を毎フレーム探索して音源が影から外れた瞬間のそこまで開けた感が伝わるように心がけました。</a:t>
            </a:r>
            <a:endParaRPr lang="en-US" altLang="ja-JP" sz="1450" dirty="0">
              <a:solidFill>
                <a:srgbClr val="1E2430"/>
              </a:solidFill>
              <a:latin typeface="BIZ UDPゴシック"/>
              <a:ea typeface="BIZ UDPゴシック"/>
              <a:cs typeface="BIZ UDPゴシック"/>
            </a:endParaRPr>
          </a:p>
        </p:txBody>
      </p:sp>
      <p:sp>
        <p:nvSpPr>
          <p:cNvPr id="65" name="ページ番号 6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10</a:t>
            </a:r>
            <a:endParaRPr lang="ja-JP" alt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作品について</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基本情報</a:t>
            </a:r>
            <a:endParaRPr lang="ja-JP" altLang="en-US" sz="2600" dirty="0"/>
          </a:p>
        </p:txBody>
      </p:sp>
      <p:sp>
        <p:nvSpPr>
          <p:cNvPr id="4" name="テキスト 4"/>
          <p:cNvSpPr txBox="1"/>
          <p:nvPr/>
        </p:nvSpPr>
        <p:spPr>
          <a:xfrm>
            <a:off x="548640" y="1600200"/>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タイトル</a:t>
            </a:r>
            <a:endParaRPr lang="ja-JP" altLang="en-US" sz="1400" dirty="0"/>
          </a:p>
        </p:txBody>
      </p:sp>
      <p:sp>
        <p:nvSpPr>
          <p:cNvPr id="5" name="テキスト 5"/>
          <p:cNvSpPr txBox="1"/>
          <p:nvPr/>
        </p:nvSpPr>
        <p:spPr>
          <a:xfrm>
            <a:off x="1965960" y="1600200"/>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AcousticFlow</a:t>
            </a:r>
            <a:endParaRPr lang="ja-JP" altLang="en-US" sz="1400" dirty="0"/>
          </a:p>
        </p:txBody>
      </p:sp>
      <p:sp>
        <p:nvSpPr>
          <p:cNvPr id="6" name="テキスト 6"/>
          <p:cNvSpPr txBox="1"/>
          <p:nvPr/>
        </p:nvSpPr>
        <p:spPr>
          <a:xfrm>
            <a:off x="548640" y="2112264"/>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コンセプト</a:t>
            </a:r>
            <a:endParaRPr lang="ja-JP" altLang="en-US" sz="1400" dirty="0"/>
          </a:p>
        </p:txBody>
      </p:sp>
      <p:sp>
        <p:nvSpPr>
          <p:cNvPr id="7" name="テキスト 7"/>
          <p:cNvSpPr txBox="1"/>
          <p:nvPr/>
        </p:nvSpPr>
        <p:spPr>
          <a:xfrm>
            <a:off x="1965960" y="2112264"/>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プレイヤーの行動が伝わる体験</a:t>
            </a:r>
            <a:endParaRPr lang="ja-JP" altLang="en-US" sz="1400" dirty="0"/>
          </a:p>
        </p:txBody>
      </p:sp>
      <p:sp>
        <p:nvSpPr>
          <p:cNvPr id="8" name="テキスト 8"/>
          <p:cNvSpPr txBox="1"/>
          <p:nvPr/>
        </p:nvSpPr>
        <p:spPr>
          <a:xfrm>
            <a:off x="548640" y="2624328"/>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ジャンル</a:t>
            </a:r>
            <a:endParaRPr lang="ja-JP" altLang="en-US" sz="1400" dirty="0"/>
          </a:p>
        </p:txBody>
      </p:sp>
      <p:sp>
        <p:nvSpPr>
          <p:cNvPr id="9" name="テキスト 9"/>
          <p:cNvSpPr txBox="1"/>
          <p:nvPr/>
        </p:nvSpPr>
        <p:spPr>
          <a:xfrm>
            <a:off x="1965960" y="2624328"/>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ゲーム向けの空間音響エンジン</a:t>
            </a:r>
            <a:endParaRPr lang="ja-JP" altLang="en-US" sz="1400" dirty="0"/>
          </a:p>
        </p:txBody>
      </p:sp>
      <p:sp>
        <p:nvSpPr>
          <p:cNvPr id="10" name="テキスト 10"/>
          <p:cNvSpPr txBox="1"/>
          <p:nvPr/>
        </p:nvSpPr>
        <p:spPr>
          <a:xfrm>
            <a:off x="548640" y="3136392"/>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制作期間</a:t>
            </a:r>
            <a:endParaRPr lang="ja-JP" altLang="en-US" sz="1400" dirty="0"/>
          </a:p>
        </p:txBody>
      </p:sp>
      <p:sp>
        <p:nvSpPr>
          <p:cNvPr id="11" name="テキスト 11"/>
          <p:cNvSpPr txBox="1"/>
          <p:nvPr/>
        </p:nvSpPr>
        <p:spPr>
          <a:xfrm>
            <a:off x="1965960" y="3136392"/>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2026 年 6 月〜（約 3 か月・制作中）</a:t>
            </a:r>
            <a:endParaRPr lang="ja-JP" altLang="en-US" sz="1400" dirty="0"/>
          </a:p>
        </p:txBody>
      </p:sp>
      <p:sp>
        <p:nvSpPr>
          <p:cNvPr id="12" name="テキスト 12"/>
          <p:cNvSpPr txBox="1"/>
          <p:nvPr/>
        </p:nvSpPr>
        <p:spPr>
          <a:xfrm>
            <a:off x="548640" y="3648456"/>
            <a:ext cx="1371600" cy="93268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開発環境</a:t>
            </a:r>
            <a:endParaRPr lang="ja-JP" altLang="en-US" sz="1400" dirty="0"/>
          </a:p>
        </p:txBody>
      </p:sp>
      <p:sp>
        <p:nvSpPr>
          <p:cNvPr id="13" name="テキスト 13"/>
          <p:cNvSpPr txBox="1"/>
          <p:nvPr/>
        </p:nvSpPr>
        <p:spPr>
          <a:xfrm>
            <a:off x="1965960" y="3648456"/>
            <a:ext cx="4480560" cy="93268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C++17（Visual Studio）</a:t>
            </a:r>
            <a:br>
              <a:rPr lang="ja-JP" altLang="en-US" sz="1400" dirty="0">
                <a:solidFill>
                  <a:srgbClr val="1E2430"/>
                </a:solidFill>
                <a:latin typeface="BIZ UDPゴシック"/>
                <a:ea typeface="BIZ UDPゴシック"/>
                <a:cs typeface="BIZ UDPゴシック"/>
              </a:rPr>
            </a:br>
            <a:r>
              <a:rPr lang="ja-JP" altLang="en-US" sz="1400" dirty="0">
                <a:solidFill>
                  <a:srgbClr val="1E2430"/>
                </a:solidFill>
                <a:latin typeface="BIZ UDPゴシック"/>
                <a:ea typeface="BIZ UDPゴシック"/>
                <a:cs typeface="BIZ UDPゴシック"/>
              </a:rPr>
              <a:t>Unity（試聴用の場面）</a:t>
            </a:r>
            <a:br>
              <a:rPr lang="ja-JP" altLang="en-US" sz="1400" dirty="0">
                <a:solidFill>
                  <a:srgbClr val="1E2430"/>
                </a:solidFill>
                <a:latin typeface="BIZ UDPゴシック"/>
                <a:ea typeface="BIZ UDPゴシック"/>
                <a:cs typeface="BIZ UDPゴシック"/>
              </a:rPr>
            </a:br>
            <a:r>
              <a:rPr lang="ja-JP" altLang="en-US" sz="1400" dirty="0">
                <a:solidFill>
                  <a:srgbClr val="1E2430"/>
                </a:solidFill>
                <a:latin typeface="BIZ UDPゴシック"/>
                <a:ea typeface="BIZ UDPゴシック"/>
                <a:cs typeface="BIZ UDPゴシック"/>
              </a:rPr>
              <a:t>Direct3D 11（レイの GPU 計算）</a:t>
            </a:r>
            <a:endParaRPr lang="ja-JP" altLang="en-US" sz="1400" dirty="0"/>
          </a:p>
        </p:txBody>
      </p:sp>
      <p:sp>
        <p:nvSpPr>
          <p:cNvPr id="14" name="カード 14"/>
          <p:cNvSpPr/>
          <p:nvPr/>
        </p:nvSpPr>
        <p:spPr>
          <a:xfrm>
            <a:off x="548640" y="4526280"/>
            <a:ext cx="5623560" cy="1737360"/>
          </a:xfrm>
          <a:prstGeom prst="roundRect">
            <a:avLst>
              <a:gd name="adj" fmla="val 4000"/>
            </a:avLst>
          </a:prstGeom>
          <a:solidFill>
            <a:srgbClr val="FBF1DF"/>
          </a:solidFill>
          <a:ln>
            <a:noFill/>
          </a:ln>
        </p:spPr>
      </p:sp>
      <p:sp>
        <p:nvSpPr>
          <p:cNvPr id="15" name="テキスト 15"/>
          <p:cNvSpPr txBox="1"/>
          <p:nvPr/>
        </p:nvSpPr>
        <p:spPr>
          <a:xfrm>
            <a:off x="822960" y="4681728"/>
            <a:ext cx="5120640" cy="146304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どんな物か</a:t>
            </a:r>
            <a:endParaRPr lang="ja-JP" altLang="en-US" sz="1300" dirty="0"/>
          </a:p>
          <a:p>
            <a:pPr algn="l" marL="0" indent="0">
              <a:lnSpc>
                <a:spcPct val="130000"/>
              </a:lnSpc>
              <a:spcBef>
                <a:spcPts val="400"/>
              </a:spcBef>
              <a:spcAft>
                <a:spcPts val="0"/>
              </a:spcAft>
              <a:buNone/>
            </a:pPr>
            <a:r>
              <a:rPr lang="ja-JP" altLang="en-US" sz="1300" dirty="0">
                <a:solidFill>
                  <a:srgbClr val="1E2430"/>
                </a:solidFill>
                <a:latin typeface="BIZ UDPゴシック"/>
                <a:ea typeface="BIZ UDPゴシック"/>
                <a:cs typeface="BIZ UDPゴシック"/>
              </a:rPr>
              <a:t>壁・床・扉を「箱」で渡すだけで、</a:t>
            </a:r>
            <a:r>
              <a:rPr lang="ja-JP" altLang="en-US" sz="1300" b="1" dirty="0">
                <a:solidFill>
                  <a:srgbClr val="9A6212"/>
                </a:solidFill>
                <a:latin typeface="BIZ UDPゴシック"/>
                <a:ea typeface="BIZ UDPゴシック"/>
                <a:cs typeface="BIZ UDPゴシック"/>
              </a:rPr>
              <a:t>扉越しの音・部屋の響き・隣の部屋の音</a:t>
            </a:r>
            <a:r>
              <a:rPr lang="ja-JP" altLang="en-US" sz="1300" dirty="0">
                <a:solidFill>
                  <a:srgbClr val="1E2430"/>
                </a:solidFill>
                <a:latin typeface="BIZ UDPゴシック"/>
                <a:ea typeface="BIZ UDPゴシック"/>
                <a:cs typeface="BIZ UDPゴシック"/>
              </a:rPr>
              <a:t>を毎フレーム作る音響エンジン。ゲーム側は箱と音源と耳の位置を渡し、音はエンジンが作る。</a:t>
            </a:r>
            <a:endParaRPr lang="ja-JP" altLang="en-US" sz="1300" dirty="0"/>
          </a:p>
        </p:txBody>
      </p:sp>
      <p:sp>
        <p:nvSpPr>
          <p:cNvPr id="16" name="画像の枠 16"/>
          <p:cNvSpPr/>
          <p:nvPr/>
        </p:nvSpPr>
        <p:spPr>
          <a:xfrm>
            <a:off x="6492240" y="1600200"/>
            <a:ext cx="5148072" cy="2743200"/>
          </a:xfrm>
          <a:prstGeom prst="rect">
            <a:avLst/>
          </a:prstGeom>
          <a:solidFill>
            <a:srgbClr val="F7F8FA"/>
          </a:solidFill>
          <a:ln w="15875">
            <a:solidFill>
              <a:srgbClr val="C9CED6"/>
            </a:solidFill>
            <a:prstDash val="dash"/>
          </a:ln>
        </p:spPr>
        <p:txBody>
          <a:bodyPr wrap="square" lIns="54864" tIns="27432" rIns="54864" bIns="27432" rtlCol="0" anchor="ctr">
            <a:noAutofit/>
          </a:bodyPr>
          <a:lstStyle/>
          <a:p>
            <a:pPr algn="ctr" marL="0" indent="0">
              <a:lnSpc>
                <a:spcPct val="130000"/>
              </a:lnSpc>
              <a:spcBef>
                <a:spcPts val="0"/>
              </a:spcBef>
              <a:spcAft>
                <a:spcPts val="0"/>
              </a:spcAft>
              <a:buNone/>
            </a:pPr>
            <a:r>
              <a:rPr lang="ja-JP" altLang="en-US" sz="1200" dirty="0">
                <a:solidFill>
                  <a:srgbClr val="5C6677"/>
                </a:solidFill>
                <a:latin typeface="BIZ UDPゴシック"/>
                <a:ea typeface="BIZ UDPゴシック"/>
                <a:cs typeface="BIZ UDPゴシック"/>
              </a:rPr>
              <a:t>スクリーンショット</a:t>
            </a:r>
            <a:br>
              <a:rPr lang="ja-JP" altLang="en-US" sz="1200" dirty="0">
                <a:solidFill>
                  <a:srgbClr val="5C6677"/>
                </a:solidFill>
                <a:latin typeface="BIZ UDPゴシック"/>
                <a:ea typeface="BIZ UDPゴシック"/>
                <a:cs typeface="BIZ UDPゴシック"/>
              </a:rPr>
            </a:br>
            <a:r>
              <a:rPr lang="ja-JP" altLang="en-US" sz="1200" dirty="0">
                <a:solidFill>
                  <a:srgbClr val="5C6677"/>
                </a:solidFill>
                <a:latin typeface="BIZ UDPゴシック"/>
                <a:ea typeface="BIZ UDPゴシック"/>
                <a:cs typeface="BIZ UDPゴシック"/>
              </a:rPr>
              <a:t>（Unity の試聴場面：扉のある 2 部屋）</a:t>
            </a:r>
            <a:endParaRPr lang="ja-JP" altLang="en-US" sz="1200" dirty="0"/>
          </a:p>
        </p:txBody>
      </p:sp>
      <p:sp>
        <p:nvSpPr>
          <p:cNvPr id="17" name="画像の枠 17"/>
          <p:cNvSpPr/>
          <p:nvPr/>
        </p:nvSpPr>
        <p:spPr>
          <a:xfrm>
            <a:off x="6492240" y="4526280"/>
            <a:ext cx="5148072" cy="1737360"/>
          </a:xfrm>
          <a:prstGeom prst="rect">
            <a:avLst/>
          </a:prstGeom>
          <a:solidFill>
            <a:srgbClr val="F7F8FA"/>
          </a:solidFill>
          <a:ln w="15875">
            <a:solidFill>
              <a:srgbClr val="C9CED6"/>
            </a:solidFill>
            <a:prstDash val="dash"/>
          </a:ln>
        </p:spPr>
        <p:txBody>
          <a:bodyPr wrap="square" lIns="54864" tIns="27432" rIns="54864" bIns="27432" rtlCol="0" anchor="ctr">
            <a:noAutofit/>
          </a:bodyPr>
          <a:lstStyle/>
          <a:p>
            <a:pPr algn="ctr" marL="0" indent="0">
              <a:lnSpc>
                <a:spcPct val="130000"/>
              </a:lnSpc>
              <a:spcBef>
                <a:spcPts val="0"/>
              </a:spcBef>
              <a:spcAft>
                <a:spcPts val="0"/>
              </a:spcAft>
              <a:buNone/>
            </a:pPr>
            <a:r>
              <a:rPr lang="ja-JP" altLang="en-US" sz="1200" dirty="0">
                <a:solidFill>
                  <a:srgbClr val="5C6677"/>
                </a:solidFill>
                <a:latin typeface="BIZ UDPゴシック"/>
                <a:ea typeface="BIZ UDPゴシック"/>
                <a:cs typeface="BIZ UDPゴシック"/>
              </a:rPr>
              <a:t>スクリーンショット</a:t>
            </a:r>
            <a:br>
              <a:rPr lang="ja-JP" altLang="en-US" sz="1200" dirty="0">
                <a:solidFill>
                  <a:srgbClr val="5C6677"/>
                </a:solidFill>
                <a:latin typeface="BIZ UDPゴシック"/>
                <a:ea typeface="BIZ UDPゴシック"/>
                <a:cs typeface="BIZ UDPゴシック"/>
              </a:rPr>
            </a:br>
            <a:r>
              <a:rPr lang="ja-JP" altLang="en-US" sz="1200" dirty="0">
                <a:solidFill>
                  <a:srgbClr val="5C6677"/>
                </a:solidFill>
                <a:latin typeface="BIZ UDPゴシック"/>
                <a:ea typeface="BIZ UDPゴシック"/>
                <a:cs typeface="BIZ UDPゴシック"/>
              </a:rPr>
              <a:t>（音の出どころの地図）</a:t>
            </a:r>
            <a:endParaRPr lang="ja-JP" altLang="en-US" sz="1200" dirty="0"/>
          </a:p>
        </p:txBody>
      </p:sp>
      <p:sp>
        <p:nvSpPr>
          <p:cNvPr id="18" name="ページ番号 18"/>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a:t>
            </a:r>
            <a:endParaRPr lang="ja-JP" alt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作品について</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体験の流れ</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行動すると、音の聞こえ方が変わる。音だけで「何をしたか」「どこにいるか」が伝わるようにした。</a:t>
            </a:r>
            <a:endParaRPr lang="ja-JP" altLang="en-US" sz="1450" dirty="0"/>
          </a:p>
        </p:txBody>
      </p:sp>
      <p:sp>
        <p:nvSpPr>
          <p:cNvPr id="5" name="カード 5"/>
          <p:cNvSpPr/>
          <p:nvPr/>
        </p:nvSpPr>
        <p:spPr>
          <a:xfrm>
            <a:off x="548640" y="1920240"/>
            <a:ext cx="2587752" cy="3931920"/>
          </a:xfrm>
          <a:prstGeom prst="roundRect">
            <a:avLst>
              <a:gd name="adj" fmla="val 4000"/>
            </a:avLst>
          </a:prstGeom>
          <a:solidFill>
            <a:srgbClr val="F0F2F5"/>
          </a:solidFill>
          <a:ln>
            <a:noFill/>
          </a:ln>
        </p:spPr>
      </p:sp>
      <p:sp>
        <p:nvSpPr>
          <p:cNvPr id="6" name="図形 6"/>
          <p:cNvSpPr/>
          <p:nvPr/>
        </p:nvSpPr>
        <p:spPr>
          <a:xfrm>
            <a:off x="73152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1</a:t>
            </a:r>
            <a:endParaRPr lang="ja-JP" altLang="en-US" sz="1400" dirty="0"/>
          </a:p>
        </p:txBody>
      </p:sp>
      <p:sp>
        <p:nvSpPr>
          <p:cNvPr id="7" name="テキスト 7"/>
          <p:cNvSpPr txBox="1"/>
          <p:nvPr/>
        </p:nvSpPr>
        <p:spPr>
          <a:xfrm>
            <a:off x="120700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ドアを開ける</a:t>
            </a:r>
            <a:endParaRPr lang="ja-JP" altLang="en-US" sz="1600" dirty="0"/>
          </a:p>
        </p:txBody>
      </p:sp>
      <p:sp>
        <p:nvSpPr>
          <p:cNvPr id="8" name="部屋 8"/>
          <p:cNvSpPr/>
          <p:nvPr/>
        </p:nvSpPr>
        <p:spPr>
          <a:xfrm>
            <a:off x="749808" y="2697480"/>
            <a:ext cx="2185416" cy="1874520"/>
          </a:xfrm>
          <a:prstGeom prst="rect">
            <a:avLst/>
          </a:prstGeom>
          <a:solidFill>
            <a:srgbClr val="FFFFFF"/>
          </a:solidFill>
          <a:ln w="25400">
            <a:solidFill>
              <a:srgbClr val="8A94A6"/>
            </a:solidFill>
          </a:ln>
        </p:spPr>
      </p:sp>
      <p:cxnSp>
        <p:nvCxnSpPr>
          <p:cNvPr id="9" name="線 9"/>
          <p:cNvCxnSpPr/>
          <p:nvPr/>
        </p:nvCxnSpPr>
        <p:spPr>
          <a:xfrm>
            <a:off x="1842516" y="2697480"/>
            <a:ext cx="0" cy="1874520"/>
          </a:xfrm>
          <a:prstGeom prst="line">
            <a:avLst/>
          </a:prstGeom>
          <a:ln w="25400">
            <a:solidFill>
              <a:srgbClr val="8A94A6"/>
            </a:solidFill>
          </a:ln>
        </p:spPr>
      </p:cxnSp>
      <p:sp>
        <p:nvSpPr>
          <p:cNvPr id="10" name="開口 10"/>
          <p:cNvSpPr/>
          <p:nvPr/>
        </p:nvSpPr>
        <p:spPr>
          <a:xfrm>
            <a:off x="1815084" y="3447288"/>
            <a:ext cx="54864" cy="412394"/>
          </a:xfrm>
          <a:prstGeom prst="rect">
            <a:avLst/>
          </a:prstGeom>
          <a:solidFill>
            <a:srgbClr val="FFFFFF"/>
          </a:solidFill>
          <a:ln>
            <a:noFill/>
          </a:ln>
        </p:spPr>
      </p:sp>
      <p:cxnSp>
        <p:nvCxnSpPr>
          <p:cNvPr id="11" name="線 11"/>
          <p:cNvCxnSpPr/>
          <p:nvPr/>
        </p:nvCxnSpPr>
        <p:spPr>
          <a:xfrm>
            <a:off x="1842516" y="3447288"/>
            <a:ext cx="265082" cy="315912"/>
          </a:xfrm>
          <a:prstGeom prst="line">
            <a:avLst/>
          </a:prstGeom>
          <a:ln w="38100">
            <a:solidFill>
              <a:srgbClr val="1E2430"/>
            </a:solidFill>
          </a:ln>
        </p:spPr>
      </p:cxnSp>
      <p:sp>
        <p:nvSpPr>
          <p:cNvPr id="12" name="弧 12"/>
          <p:cNvSpPr/>
          <p:nvPr/>
        </p:nvSpPr>
        <p:spPr>
          <a:xfrm>
            <a:off x="1842516" y="3763200"/>
            <a:ext cx="265082" cy="96482"/>
          </a:xfrm>
          <a:custGeom>
            <a:avLst/>
            <a:gdLst/>
            <a:ahLst/>
            <a:cxnLst/>
            <a:rect l="0" t="0" r="r" b="b"/>
            <a:pathLst>
              <a:path w="265082" h="96482" fill="none">
                <a:moveTo>
                  <a:pt x="0" y="96482"/>
                </a:moveTo>
                <a:lnTo>
                  <a:pt x="23979" y="95784"/>
                </a:lnTo>
                <a:lnTo>
                  <a:pt x="47876" y="93693"/>
                </a:lnTo>
                <a:lnTo>
                  <a:pt x="71612" y="90217"/>
                </a:lnTo>
                <a:lnTo>
                  <a:pt x="95105" y="85366"/>
                </a:lnTo>
                <a:lnTo>
                  <a:pt x="118276" y="79157"/>
                </a:lnTo>
                <a:lnTo>
                  <a:pt x="141047" y="71612"/>
                </a:lnTo>
                <a:lnTo>
                  <a:pt x="163341" y="62755"/>
                </a:lnTo>
                <a:lnTo>
                  <a:pt x="185082" y="52617"/>
                </a:lnTo>
                <a:lnTo>
                  <a:pt x="206197" y="41232"/>
                </a:lnTo>
                <a:lnTo>
                  <a:pt x="226614" y="28638"/>
                </a:lnTo>
                <a:lnTo>
                  <a:pt x="246265" y="14879"/>
                </a:lnTo>
                <a:lnTo>
                  <a:pt x="265082" y="0"/>
                </a:lnTo>
              </a:path>
            </a:pathLst>
          </a:custGeom>
          <a:noFill/>
          <a:ln w="9525">
            <a:solidFill>
              <a:srgbClr val="C9CED6"/>
            </a:solidFill>
            <a:prstDash val="dash"/>
          </a:ln>
        </p:spPr>
      </p:sp>
      <p:sp>
        <p:nvSpPr>
          <p:cNvPr id="13" name="点 13"/>
          <p:cNvSpPr/>
          <p:nvPr/>
        </p:nvSpPr>
        <p:spPr>
          <a:xfrm>
            <a:off x="2434133" y="3570732"/>
            <a:ext cx="128016" cy="128016"/>
          </a:xfrm>
          <a:prstGeom prst="ellipse">
            <a:avLst/>
          </a:prstGeom>
          <a:solidFill>
            <a:srgbClr val="1E2430"/>
          </a:solidFill>
          <a:ln>
            <a:noFill/>
          </a:ln>
        </p:spPr>
      </p:sp>
      <p:sp>
        <p:nvSpPr>
          <p:cNvPr id="14" name="テキスト 14"/>
          <p:cNvSpPr txBox="1"/>
          <p:nvPr/>
        </p:nvSpPr>
        <p:spPr>
          <a:xfrm>
            <a:off x="2635301" y="3506724"/>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sp>
        <p:nvSpPr>
          <p:cNvPr id="15" name="点 15"/>
          <p:cNvSpPr/>
          <p:nvPr/>
        </p:nvSpPr>
        <p:spPr>
          <a:xfrm>
            <a:off x="1122883" y="3289554"/>
            <a:ext cx="128016" cy="128016"/>
          </a:xfrm>
          <a:prstGeom prst="ellipse">
            <a:avLst/>
          </a:prstGeom>
          <a:solidFill>
            <a:srgbClr val="E3A33B"/>
          </a:solidFill>
          <a:ln>
            <a:noFill/>
          </a:ln>
        </p:spPr>
      </p:sp>
      <p:sp>
        <p:nvSpPr>
          <p:cNvPr id="16" name="テキスト 16"/>
          <p:cNvSpPr txBox="1"/>
          <p:nvPr/>
        </p:nvSpPr>
        <p:spPr>
          <a:xfrm>
            <a:off x="1324051" y="3225546"/>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音源</a:t>
            </a:r>
            <a:endParaRPr lang="ja-JP" altLang="en-US" sz="950" dirty="0"/>
          </a:p>
        </p:txBody>
      </p:sp>
      <p:sp>
        <p:nvSpPr>
          <p:cNvPr id="17" name="テキスト 17"/>
          <p:cNvSpPr txBox="1"/>
          <p:nvPr/>
        </p:nvSpPr>
        <p:spPr>
          <a:xfrm>
            <a:off x="74980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こもった音が、開いた瞬間に大きく開ける。どこまで開けたかで、こもり方が変わる</a:t>
            </a:r>
            <a:endParaRPr lang="ja-JP" altLang="en-US" sz="1250" dirty="0"/>
          </a:p>
        </p:txBody>
      </p:sp>
      <p:sp>
        <p:nvSpPr>
          <p:cNvPr id="18" name="矢印 18"/>
          <p:cNvSpPr/>
          <p:nvPr/>
        </p:nvSpPr>
        <p:spPr>
          <a:xfrm>
            <a:off x="3182112" y="3785616"/>
            <a:ext cx="155448" cy="201168"/>
          </a:xfrm>
          <a:prstGeom prst="rightArrow">
            <a:avLst/>
          </a:prstGeom>
          <a:solidFill>
            <a:srgbClr val="C9CED6"/>
          </a:solidFill>
          <a:ln>
            <a:noFill/>
          </a:ln>
        </p:spPr>
      </p:sp>
      <p:sp>
        <p:nvSpPr>
          <p:cNvPr id="19" name="カード 19"/>
          <p:cNvSpPr/>
          <p:nvPr/>
        </p:nvSpPr>
        <p:spPr>
          <a:xfrm>
            <a:off x="3383280" y="1920240"/>
            <a:ext cx="2587752" cy="3931920"/>
          </a:xfrm>
          <a:prstGeom prst="roundRect">
            <a:avLst>
              <a:gd name="adj" fmla="val 4000"/>
            </a:avLst>
          </a:prstGeom>
          <a:solidFill>
            <a:srgbClr val="F0F2F5"/>
          </a:solidFill>
          <a:ln>
            <a:noFill/>
          </a:ln>
        </p:spPr>
      </p:sp>
      <p:sp>
        <p:nvSpPr>
          <p:cNvPr id="20" name="図形 20"/>
          <p:cNvSpPr/>
          <p:nvPr/>
        </p:nvSpPr>
        <p:spPr>
          <a:xfrm>
            <a:off x="356616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2</a:t>
            </a:r>
            <a:endParaRPr lang="ja-JP" altLang="en-US" sz="1400" dirty="0"/>
          </a:p>
        </p:txBody>
      </p:sp>
      <p:sp>
        <p:nvSpPr>
          <p:cNvPr id="21" name="テキスト 21"/>
          <p:cNvSpPr txBox="1"/>
          <p:nvPr/>
        </p:nvSpPr>
        <p:spPr>
          <a:xfrm>
            <a:off x="404164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部屋の中を歩く</a:t>
            </a:r>
            <a:endParaRPr lang="ja-JP" altLang="en-US" sz="1600" dirty="0"/>
          </a:p>
        </p:txBody>
      </p:sp>
      <p:sp>
        <p:nvSpPr>
          <p:cNvPr id="22" name="部屋 22"/>
          <p:cNvSpPr/>
          <p:nvPr/>
        </p:nvSpPr>
        <p:spPr>
          <a:xfrm>
            <a:off x="3584448" y="2697480"/>
            <a:ext cx="2185416" cy="1874520"/>
          </a:xfrm>
          <a:prstGeom prst="rect">
            <a:avLst/>
          </a:prstGeom>
          <a:solidFill>
            <a:srgbClr val="FFFFFF"/>
          </a:solidFill>
          <a:ln w="25400">
            <a:solidFill>
              <a:srgbClr val="8A94A6"/>
            </a:solidFill>
          </a:ln>
        </p:spPr>
      </p:sp>
      <p:sp>
        <p:nvSpPr>
          <p:cNvPr id="23" name="点 23"/>
          <p:cNvSpPr/>
          <p:nvPr/>
        </p:nvSpPr>
        <p:spPr>
          <a:xfrm>
            <a:off x="3913815" y="4095598"/>
            <a:ext cx="128016" cy="128016"/>
          </a:xfrm>
          <a:prstGeom prst="ellipse">
            <a:avLst/>
          </a:prstGeom>
          <a:solidFill>
            <a:srgbClr val="E3A33B"/>
          </a:solidFill>
          <a:ln>
            <a:noFill/>
          </a:ln>
        </p:spPr>
      </p:sp>
      <p:sp>
        <p:nvSpPr>
          <p:cNvPr id="24" name="テキスト 24"/>
          <p:cNvSpPr txBox="1"/>
          <p:nvPr/>
        </p:nvSpPr>
        <p:spPr>
          <a:xfrm>
            <a:off x="4114983" y="4031590"/>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音源</a:t>
            </a:r>
            <a:endParaRPr lang="ja-JP" altLang="en-US" sz="950" dirty="0"/>
          </a:p>
        </p:txBody>
      </p:sp>
      <p:cxnSp>
        <p:nvCxnSpPr>
          <p:cNvPr id="25" name="線 25"/>
          <p:cNvCxnSpPr/>
          <p:nvPr/>
        </p:nvCxnSpPr>
        <p:spPr>
          <a:xfrm>
            <a:off x="4939406" y="3541014"/>
            <a:ext cx="524500" cy="0"/>
          </a:xfrm>
          <a:prstGeom prst="line">
            <a:avLst/>
          </a:prstGeom>
          <a:ln w="15875">
            <a:solidFill>
              <a:srgbClr val="1E2430"/>
            </a:solidFill>
            <a:prstDash val="sysDash"/>
            <a:tailEnd type="triangle" w="med" len="med"/>
          </a:ln>
        </p:spPr>
      </p:cxnSp>
      <p:sp>
        <p:nvSpPr>
          <p:cNvPr id="26" name="点 26"/>
          <p:cNvSpPr/>
          <p:nvPr/>
        </p:nvSpPr>
        <p:spPr>
          <a:xfrm>
            <a:off x="4875398" y="3477006"/>
            <a:ext cx="128016" cy="128016"/>
          </a:xfrm>
          <a:prstGeom prst="ellipse">
            <a:avLst/>
          </a:prstGeom>
          <a:solidFill>
            <a:srgbClr val="1E2430"/>
          </a:solidFill>
          <a:ln>
            <a:noFill/>
          </a:ln>
        </p:spPr>
      </p:sp>
      <p:sp>
        <p:nvSpPr>
          <p:cNvPr id="27" name="テキスト 27"/>
          <p:cNvSpPr txBox="1"/>
          <p:nvPr/>
        </p:nvSpPr>
        <p:spPr>
          <a:xfrm>
            <a:off x="4710806" y="3632454"/>
            <a:ext cx="45720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sp>
        <p:nvSpPr>
          <p:cNvPr id="28" name="弧 28"/>
          <p:cNvSpPr/>
          <p:nvPr/>
        </p:nvSpPr>
        <p:spPr>
          <a:xfrm>
            <a:off x="5605272" y="3398473"/>
            <a:ext cx="82296" cy="285082"/>
          </a:xfrm>
          <a:custGeom>
            <a:avLst/>
            <a:gdLst/>
            <a:ahLst/>
            <a:cxnLst/>
            <a:rect l="0" t="0" r="r" b="b"/>
            <a:pathLst>
              <a:path w="82296" h="285082" fill="none">
                <a:moveTo>
                  <a:pt x="82296" y="0"/>
                </a:moveTo>
                <a:lnTo>
                  <a:pt x="54458" y="20225"/>
                </a:lnTo>
                <a:lnTo>
                  <a:pt x="31434" y="45796"/>
                </a:lnTo>
                <a:lnTo>
                  <a:pt x="14230" y="75595"/>
                </a:lnTo>
                <a:lnTo>
                  <a:pt x="3597" y="108320"/>
                </a:lnTo>
                <a:lnTo>
                  <a:pt x="0" y="142541"/>
                </a:lnTo>
                <a:lnTo>
                  <a:pt x="3597" y="176761"/>
                </a:lnTo>
                <a:lnTo>
                  <a:pt x="14230" y="209486"/>
                </a:lnTo>
                <a:lnTo>
                  <a:pt x="31434" y="239286"/>
                </a:lnTo>
                <a:lnTo>
                  <a:pt x="54458" y="264857"/>
                </a:lnTo>
                <a:lnTo>
                  <a:pt x="82296" y="285082"/>
                </a:lnTo>
              </a:path>
            </a:pathLst>
          </a:custGeom>
          <a:noFill/>
          <a:ln w="15875">
            <a:solidFill>
              <a:srgbClr val="E3A33B"/>
            </a:solidFill>
          </a:ln>
        </p:spPr>
      </p:sp>
      <p:sp>
        <p:nvSpPr>
          <p:cNvPr id="29" name="弧 29"/>
          <p:cNvSpPr/>
          <p:nvPr/>
        </p:nvSpPr>
        <p:spPr>
          <a:xfrm>
            <a:off x="5495544" y="3303446"/>
            <a:ext cx="137160" cy="475136"/>
          </a:xfrm>
          <a:custGeom>
            <a:avLst/>
            <a:gdLst/>
            <a:ahLst/>
            <a:cxnLst/>
            <a:rect l="0" t="0" r="r" b="b"/>
            <a:pathLst>
              <a:path w="137160" h="475136" fill="none">
                <a:moveTo>
                  <a:pt x="137160" y="0"/>
                </a:moveTo>
                <a:lnTo>
                  <a:pt x="90764" y="33709"/>
                </a:lnTo>
                <a:lnTo>
                  <a:pt x="52390" y="76327"/>
                </a:lnTo>
                <a:lnTo>
                  <a:pt x="23716" y="125992"/>
                </a:lnTo>
                <a:lnTo>
                  <a:pt x="5995" y="180534"/>
                </a:lnTo>
                <a:lnTo>
                  <a:pt x="0" y="237568"/>
                </a:lnTo>
                <a:lnTo>
                  <a:pt x="5995" y="294602"/>
                </a:lnTo>
                <a:lnTo>
                  <a:pt x="23716" y="349144"/>
                </a:lnTo>
                <a:lnTo>
                  <a:pt x="52390" y="398809"/>
                </a:lnTo>
                <a:lnTo>
                  <a:pt x="90764" y="441428"/>
                </a:lnTo>
                <a:lnTo>
                  <a:pt x="137160" y="475136"/>
                </a:lnTo>
              </a:path>
            </a:pathLst>
          </a:custGeom>
          <a:noFill/>
          <a:ln w="15875">
            <a:solidFill>
              <a:srgbClr val="E3A33B"/>
            </a:solidFill>
          </a:ln>
        </p:spPr>
      </p:sp>
      <p:sp>
        <p:nvSpPr>
          <p:cNvPr id="30" name="弧 30"/>
          <p:cNvSpPr/>
          <p:nvPr/>
        </p:nvSpPr>
        <p:spPr>
          <a:xfrm>
            <a:off x="5385816" y="3208419"/>
            <a:ext cx="192024" cy="665191"/>
          </a:xfrm>
          <a:custGeom>
            <a:avLst/>
            <a:gdLst/>
            <a:ahLst/>
            <a:cxnLst/>
            <a:rect l="0" t="0" r="r" b="b"/>
            <a:pathLst>
              <a:path w="192024" h="665191" fill="none">
                <a:moveTo>
                  <a:pt x="192024" y="0"/>
                </a:moveTo>
                <a:lnTo>
                  <a:pt x="127070" y="47192"/>
                </a:lnTo>
                <a:lnTo>
                  <a:pt x="73347" y="106858"/>
                </a:lnTo>
                <a:lnTo>
                  <a:pt x="33203" y="176389"/>
                </a:lnTo>
                <a:lnTo>
                  <a:pt x="8392" y="252747"/>
                </a:lnTo>
                <a:lnTo>
                  <a:pt x="0" y="332595"/>
                </a:lnTo>
                <a:lnTo>
                  <a:pt x="8392" y="412443"/>
                </a:lnTo>
                <a:lnTo>
                  <a:pt x="33203" y="488802"/>
                </a:lnTo>
                <a:lnTo>
                  <a:pt x="73347" y="558333"/>
                </a:lnTo>
                <a:lnTo>
                  <a:pt x="127070" y="617999"/>
                </a:lnTo>
                <a:lnTo>
                  <a:pt x="192024" y="665191"/>
                </a:lnTo>
              </a:path>
            </a:pathLst>
          </a:custGeom>
          <a:noFill/>
          <a:ln w="15875">
            <a:solidFill>
              <a:srgbClr val="E3A33B"/>
            </a:solidFill>
          </a:ln>
        </p:spPr>
      </p:sp>
      <p:sp>
        <p:nvSpPr>
          <p:cNvPr id="31" name="テキスト 31"/>
          <p:cNvSpPr txBox="1"/>
          <p:nvPr/>
        </p:nvSpPr>
        <p:spPr>
          <a:xfrm>
            <a:off x="358444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壁に近づくと、反射が近く・広く聞こえる。歩いても響きは途切れない</a:t>
            </a:r>
            <a:endParaRPr lang="ja-JP" altLang="en-US" sz="1250" dirty="0"/>
          </a:p>
        </p:txBody>
      </p:sp>
      <p:sp>
        <p:nvSpPr>
          <p:cNvPr id="32" name="矢印 32"/>
          <p:cNvSpPr/>
          <p:nvPr/>
        </p:nvSpPr>
        <p:spPr>
          <a:xfrm>
            <a:off x="6016752" y="3785616"/>
            <a:ext cx="155448" cy="201168"/>
          </a:xfrm>
          <a:prstGeom prst="rightArrow">
            <a:avLst/>
          </a:prstGeom>
          <a:solidFill>
            <a:srgbClr val="C9CED6"/>
          </a:solidFill>
          <a:ln>
            <a:noFill/>
          </a:ln>
        </p:spPr>
      </p:sp>
      <p:sp>
        <p:nvSpPr>
          <p:cNvPr id="33" name="カード 33"/>
          <p:cNvSpPr/>
          <p:nvPr/>
        </p:nvSpPr>
        <p:spPr>
          <a:xfrm>
            <a:off x="6217920" y="1920240"/>
            <a:ext cx="2587752" cy="3931920"/>
          </a:xfrm>
          <a:prstGeom prst="roundRect">
            <a:avLst>
              <a:gd name="adj" fmla="val 4000"/>
            </a:avLst>
          </a:prstGeom>
          <a:solidFill>
            <a:srgbClr val="F0F2F5"/>
          </a:solidFill>
          <a:ln>
            <a:noFill/>
          </a:ln>
        </p:spPr>
      </p:sp>
      <p:sp>
        <p:nvSpPr>
          <p:cNvPr id="34" name="図形 34"/>
          <p:cNvSpPr/>
          <p:nvPr/>
        </p:nvSpPr>
        <p:spPr>
          <a:xfrm>
            <a:off x="640080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3</a:t>
            </a:r>
            <a:endParaRPr lang="ja-JP" altLang="en-US" sz="1400" dirty="0"/>
          </a:p>
        </p:txBody>
      </p:sp>
      <p:sp>
        <p:nvSpPr>
          <p:cNvPr id="35" name="テキスト 35"/>
          <p:cNvSpPr txBox="1"/>
          <p:nvPr/>
        </p:nvSpPr>
        <p:spPr>
          <a:xfrm>
            <a:off x="687628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別の部屋に入る</a:t>
            </a:r>
            <a:endParaRPr lang="ja-JP" altLang="en-US" sz="1600" dirty="0"/>
          </a:p>
        </p:txBody>
      </p:sp>
      <p:sp>
        <p:nvSpPr>
          <p:cNvPr id="36" name="部屋 36"/>
          <p:cNvSpPr/>
          <p:nvPr/>
        </p:nvSpPr>
        <p:spPr>
          <a:xfrm>
            <a:off x="6419088" y="2697480"/>
            <a:ext cx="2185416" cy="1874520"/>
          </a:xfrm>
          <a:prstGeom prst="rect">
            <a:avLst/>
          </a:prstGeom>
          <a:solidFill>
            <a:srgbClr val="FFFFFF"/>
          </a:solidFill>
          <a:ln w="25400">
            <a:solidFill>
              <a:srgbClr val="8A94A6"/>
            </a:solidFill>
          </a:ln>
        </p:spPr>
      </p:sp>
      <p:cxnSp>
        <p:nvCxnSpPr>
          <p:cNvPr id="37" name="線 37"/>
          <p:cNvCxnSpPr/>
          <p:nvPr/>
        </p:nvCxnSpPr>
        <p:spPr>
          <a:xfrm>
            <a:off x="7511796" y="2697480"/>
            <a:ext cx="0" cy="1874520"/>
          </a:xfrm>
          <a:prstGeom prst="line">
            <a:avLst/>
          </a:prstGeom>
          <a:ln w="25400">
            <a:solidFill>
              <a:srgbClr val="8A94A6"/>
            </a:solidFill>
          </a:ln>
        </p:spPr>
      </p:cxnSp>
      <p:sp>
        <p:nvSpPr>
          <p:cNvPr id="38" name="開口 38"/>
          <p:cNvSpPr/>
          <p:nvPr/>
        </p:nvSpPr>
        <p:spPr>
          <a:xfrm>
            <a:off x="7484364" y="3447288"/>
            <a:ext cx="54864" cy="412394"/>
          </a:xfrm>
          <a:prstGeom prst="rect">
            <a:avLst/>
          </a:prstGeom>
          <a:solidFill>
            <a:srgbClr val="FFFFFF"/>
          </a:solidFill>
          <a:ln>
            <a:noFill/>
          </a:ln>
        </p:spPr>
      </p:sp>
      <p:sp>
        <p:nvSpPr>
          <p:cNvPr id="39" name="響き 39"/>
          <p:cNvSpPr/>
          <p:nvPr/>
        </p:nvSpPr>
        <p:spPr>
          <a:xfrm>
            <a:off x="7539228" y="2724912"/>
            <a:ext cx="1037844" cy="1819656"/>
          </a:xfrm>
          <a:prstGeom prst="rect">
            <a:avLst/>
          </a:prstGeom>
          <a:solidFill>
            <a:srgbClr val="E3A33B">
              <a:alpha val="22000"/>
            </a:srgbClr>
          </a:solidFill>
          <a:ln>
            <a:noFill/>
          </a:ln>
        </p:spPr>
      </p:sp>
      <p:cxnSp>
        <p:nvCxnSpPr>
          <p:cNvPr id="40" name="線 40"/>
          <p:cNvCxnSpPr/>
          <p:nvPr/>
        </p:nvCxnSpPr>
        <p:spPr>
          <a:xfrm>
            <a:off x="7074713" y="3653485"/>
            <a:ext cx="917875" cy="0"/>
          </a:xfrm>
          <a:prstGeom prst="line">
            <a:avLst/>
          </a:prstGeom>
          <a:ln w="15875">
            <a:solidFill>
              <a:srgbClr val="1E2430"/>
            </a:solidFill>
            <a:prstDash val="sysDash"/>
            <a:tailEnd type="triangle" w="med" len="med"/>
          </a:ln>
        </p:spPr>
      </p:cxnSp>
      <p:sp>
        <p:nvSpPr>
          <p:cNvPr id="41" name="点 41"/>
          <p:cNvSpPr/>
          <p:nvPr/>
        </p:nvSpPr>
        <p:spPr>
          <a:xfrm>
            <a:off x="7010705" y="3589477"/>
            <a:ext cx="128016" cy="128016"/>
          </a:xfrm>
          <a:prstGeom prst="ellipse">
            <a:avLst/>
          </a:prstGeom>
          <a:solidFill>
            <a:srgbClr val="1E2430"/>
          </a:solidFill>
          <a:ln>
            <a:noFill/>
          </a:ln>
        </p:spPr>
      </p:sp>
      <p:sp>
        <p:nvSpPr>
          <p:cNvPr id="42" name="テキスト 42"/>
          <p:cNvSpPr txBox="1"/>
          <p:nvPr/>
        </p:nvSpPr>
        <p:spPr>
          <a:xfrm>
            <a:off x="6637630" y="3744925"/>
            <a:ext cx="45720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sp>
        <p:nvSpPr>
          <p:cNvPr id="43" name="テキスト 43"/>
          <p:cNvSpPr txBox="1"/>
          <p:nvPr/>
        </p:nvSpPr>
        <p:spPr>
          <a:xfrm>
            <a:off x="641908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その部屋の広さと材質の響きに包まれる</a:t>
            </a:r>
            <a:endParaRPr lang="ja-JP" altLang="en-US" sz="1250" dirty="0"/>
          </a:p>
        </p:txBody>
      </p:sp>
      <p:sp>
        <p:nvSpPr>
          <p:cNvPr id="44" name="矢印 44"/>
          <p:cNvSpPr/>
          <p:nvPr/>
        </p:nvSpPr>
        <p:spPr>
          <a:xfrm>
            <a:off x="8851392" y="3785616"/>
            <a:ext cx="155448" cy="201168"/>
          </a:xfrm>
          <a:prstGeom prst="rightArrow">
            <a:avLst/>
          </a:prstGeom>
          <a:solidFill>
            <a:srgbClr val="C9CED6"/>
          </a:solidFill>
          <a:ln>
            <a:noFill/>
          </a:ln>
        </p:spPr>
      </p:sp>
      <p:sp>
        <p:nvSpPr>
          <p:cNvPr id="45" name="カード 45"/>
          <p:cNvSpPr/>
          <p:nvPr/>
        </p:nvSpPr>
        <p:spPr>
          <a:xfrm>
            <a:off x="9052560" y="1920240"/>
            <a:ext cx="2587752" cy="3931920"/>
          </a:xfrm>
          <a:prstGeom prst="roundRect">
            <a:avLst>
              <a:gd name="adj" fmla="val 4000"/>
            </a:avLst>
          </a:prstGeom>
          <a:solidFill>
            <a:srgbClr val="F0F2F5"/>
          </a:solidFill>
          <a:ln>
            <a:noFill/>
          </a:ln>
        </p:spPr>
      </p:sp>
      <p:sp>
        <p:nvSpPr>
          <p:cNvPr id="46" name="図形 46"/>
          <p:cNvSpPr/>
          <p:nvPr/>
        </p:nvSpPr>
        <p:spPr>
          <a:xfrm>
            <a:off x="923544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4</a:t>
            </a:r>
            <a:endParaRPr lang="ja-JP" altLang="en-US" sz="1400" dirty="0"/>
          </a:p>
        </p:txBody>
      </p:sp>
      <p:sp>
        <p:nvSpPr>
          <p:cNvPr id="47" name="テキスト 47"/>
          <p:cNvSpPr txBox="1"/>
          <p:nvPr/>
        </p:nvSpPr>
        <p:spPr>
          <a:xfrm>
            <a:off x="971092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隣の部屋に近づく</a:t>
            </a:r>
            <a:endParaRPr lang="ja-JP" altLang="en-US" sz="1600" dirty="0"/>
          </a:p>
        </p:txBody>
      </p:sp>
      <p:sp>
        <p:nvSpPr>
          <p:cNvPr id="48" name="部屋 48"/>
          <p:cNvSpPr/>
          <p:nvPr/>
        </p:nvSpPr>
        <p:spPr>
          <a:xfrm>
            <a:off x="9253728" y="2697480"/>
            <a:ext cx="2185416" cy="1874520"/>
          </a:xfrm>
          <a:prstGeom prst="rect">
            <a:avLst/>
          </a:prstGeom>
          <a:solidFill>
            <a:srgbClr val="FFFFFF"/>
          </a:solidFill>
          <a:ln w="25400">
            <a:solidFill>
              <a:srgbClr val="8A94A6"/>
            </a:solidFill>
          </a:ln>
        </p:spPr>
      </p:sp>
      <p:cxnSp>
        <p:nvCxnSpPr>
          <p:cNvPr id="49" name="線 49"/>
          <p:cNvCxnSpPr/>
          <p:nvPr/>
        </p:nvCxnSpPr>
        <p:spPr>
          <a:xfrm>
            <a:off x="10346436" y="2697480"/>
            <a:ext cx="0" cy="1874520"/>
          </a:xfrm>
          <a:prstGeom prst="line">
            <a:avLst/>
          </a:prstGeom>
          <a:ln w="25400">
            <a:solidFill>
              <a:srgbClr val="8A94A6"/>
            </a:solidFill>
          </a:ln>
        </p:spPr>
      </p:cxnSp>
      <p:sp>
        <p:nvSpPr>
          <p:cNvPr id="50" name="開口 50"/>
          <p:cNvSpPr/>
          <p:nvPr/>
        </p:nvSpPr>
        <p:spPr>
          <a:xfrm>
            <a:off x="10319004" y="3447288"/>
            <a:ext cx="54864" cy="412394"/>
          </a:xfrm>
          <a:prstGeom prst="rect">
            <a:avLst/>
          </a:prstGeom>
          <a:solidFill>
            <a:srgbClr val="FFFFFF"/>
          </a:solidFill>
          <a:ln>
            <a:noFill/>
          </a:ln>
        </p:spPr>
      </p:sp>
      <p:sp>
        <p:nvSpPr>
          <p:cNvPr id="51" name="点 51"/>
          <p:cNvSpPr/>
          <p:nvPr/>
        </p:nvSpPr>
        <p:spPr>
          <a:xfrm>
            <a:off x="9736074" y="3195828"/>
            <a:ext cx="128016" cy="128016"/>
          </a:xfrm>
          <a:prstGeom prst="ellipse">
            <a:avLst/>
          </a:prstGeom>
          <a:solidFill>
            <a:srgbClr val="E3A33B"/>
          </a:solidFill>
          <a:ln>
            <a:noFill/>
          </a:ln>
        </p:spPr>
      </p:sp>
      <p:sp>
        <p:nvSpPr>
          <p:cNvPr id="52" name="テキスト 52"/>
          <p:cNvSpPr txBox="1"/>
          <p:nvPr/>
        </p:nvSpPr>
        <p:spPr>
          <a:xfrm>
            <a:off x="9937242" y="3131820"/>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音源</a:t>
            </a:r>
            <a:endParaRPr lang="ja-JP" altLang="en-US" sz="950" dirty="0"/>
          </a:p>
        </p:txBody>
      </p:sp>
      <p:sp>
        <p:nvSpPr>
          <p:cNvPr id="53" name="弧 53"/>
          <p:cNvSpPr/>
          <p:nvPr/>
        </p:nvSpPr>
        <p:spPr>
          <a:xfrm>
            <a:off x="10415016" y="3534701"/>
            <a:ext cx="68580" cy="237568"/>
          </a:xfrm>
          <a:custGeom>
            <a:avLst/>
            <a:gdLst/>
            <a:ahLst/>
            <a:cxnLst/>
            <a:rect l="0" t="0" r="r" b="b"/>
            <a:pathLst>
              <a:path w="68580" h="237568" fill="none">
                <a:moveTo>
                  <a:pt x="0" y="237568"/>
                </a:moveTo>
                <a:lnTo>
                  <a:pt x="23198" y="220714"/>
                </a:lnTo>
                <a:lnTo>
                  <a:pt x="42385" y="199405"/>
                </a:lnTo>
                <a:lnTo>
                  <a:pt x="56722" y="174572"/>
                </a:lnTo>
                <a:lnTo>
                  <a:pt x="65583" y="147301"/>
                </a:lnTo>
                <a:lnTo>
                  <a:pt x="68580" y="118784"/>
                </a:lnTo>
                <a:lnTo>
                  <a:pt x="65583" y="90267"/>
                </a:lnTo>
                <a:lnTo>
                  <a:pt x="56722" y="62996"/>
                </a:lnTo>
                <a:lnTo>
                  <a:pt x="42385" y="38163"/>
                </a:lnTo>
                <a:lnTo>
                  <a:pt x="23198" y="16854"/>
                </a:lnTo>
                <a:lnTo>
                  <a:pt x="0" y="0"/>
                </a:lnTo>
              </a:path>
            </a:pathLst>
          </a:custGeom>
          <a:noFill/>
          <a:ln w="15875">
            <a:solidFill>
              <a:srgbClr val="E3A33B"/>
            </a:solidFill>
          </a:ln>
        </p:spPr>
      </p:sp>
      <p:sp>
        <p:nvSpPr>
          <p:cNvPr id="54" name="弧 54"/>
          <p:cNvSpPr/>
          <p:nvPr/>
        </p:nvSpPr>
        <p:spPr>
          <a:xfrm>
            <a:off x="10469880" y="3439674"/>
            <a:ext cx="123444" cy="427623"/>
          </a:xfrm>
          <a:custGeom>
            <a:avLst/>
            <a:gdLst/>
            <a:ahLst/>
            <a:cxnLst/>
            <a:rect l="0" t="0" r="r" b="b"/>
            <a:pathLst>
              <a:path w="123444" h="427623" fill="none">
                <a:moveTo>
                  <a:pt x="0" y="427623"/>
                </a:moveTo>
                <a:lnTo>
                  <a:pt x="41756" y="397285"/>
                </a:lnTo>
                <a:lnTo>
                  <a:pt x="76293" y="358928"/>
                </a:lnTo>
                <a:lnTo>
                  <a:pt x="102099" y="314230"/>
                </a:lnTo>
                <a:lnTo>
                  <a:pt x="118049" y="265142"/>
                </a:lnTo>
                <a:lnTo>
                  <a:pt x="123444" y="213811"/>
                </a:lnTo>
                <a:lnTo>
                  <a:pt x="118049" y="162480"/>
                </a:lnTo>
                <a:lnTo>
                  <a:pt x="102099" y="113393"/>
                </a:lnTo>
                <a:lnTo>
                  <a:pt x="76293" y="68694"/>
                </a:lnTo>
                <a:lnTo>
                  <a:pt x="41756" y="30338"/>
                </a:lnTo>
                <a:lnTo>
                  <a:pt x="0" y="0"/>
                </a:lnTo>
              </a:path>
            </a:pathLst>
          </a:custGeom>
          <a:noFill/>
          <a:ln w="15875">
            <a:solidFill>
              <a:srgbClr val="E3A33B"/>
            </a:solidFill>
          </a:ln>
        </p:spPr>
      </p:sp>
      <p:sp>
        <p:nvSpPr>
          <p:cNvPr id="55" name="点 55"/>
          <p:cNvSpPr/>
          <p:nvPr/>
        </p:nvSpPr>
        <p:spPr>
          <a:xfrm>
            <a:off x="10938053" y="3983126"/>
            <a:ext cx="128016" cy="128016"/>
          </a:xfrm>
          <a:prstGeom prst="ellipse">
            <a:avLst/>
          </a:prstGeom>
          <a:solidFill>
            <a:srgbClr val="1E2430"/>
          </a:solidFill>
          <a:ln>
            <a:noFill/>
          </a:ln>
        </p:spPr>
      </p:sp>
      <p:sp>
        <p:nvSpPr>
          <p:cNvPr id="56" name="テキスト 56"/>
          <p:cNvSpPr txBox="1"/>
          <p:nvPr/>
        </p:nvSpPr>
        <p:spPr>
          <a:xfrm>
            <a:off x="11139221" y="3919118"/>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cxnSp>
        <p:nvCxnSpPr>
          <p:cNvPr id="57" name="線 57"/>
          <p:cNvCxnSpPr/>
          <p:nvPr/>
        </p:nvCxnSpPr>
        <p:spPr>
          <a:xfrm>
            <a:off x="10419588" y="3699205"/>
            <a:ext cx="491033" cy="302209"/>
          </a:xfrm>
          <a:prstGeom prst="line">
            <a:avLst/>
          </a:prstGeom>
          <a:ln w="15875">
            <a:solidFill>
              <a:srgbClr val="E3A33B"/>
            </a:solidFill>
            <a:tailEnd type="triangle" w="med" len="med"/>
          </a:ln>
        </p:spPr>
      </p:cxnSp>
      <p:sp>
        <p:nvSpPr>
          <p:cNvPr id="58" name="テキスト 58"/>
          <p:cNvSpPr txBox="1"/>
          <p:nvPr/>
        </p:nvSpPr>
        <p:spPr>
          <a:xfrm>
            <a:off x="925372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隣で鳴っている音の響きが、ドアの方向から聞こえる</a:t>
            </a:r>
            <a:endParaRPr lang="ja-JP" altLang="en-US" sz="1250" dirty="0"/>
          </a:p>
        </p:txBody>
      </p:sp>
      <p:sp>
        <p:nvSpPr>
          <p:cNvPr id="59" name="テキスト 59"/>
          <p:cNvSpPr txBox="1"/>
          <p:nvPr/>
        </p:nvSpPr>
        <p:spPr>
          <a:xfrm>
            <a:off x="548640" y="6035040"/>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試聴場面の操作　</a:t>
            </a:r>
            <a:r>
              <a:rPr lang="ja-JP" altLang="en-US" sz="1100" dirty="0">
                <a:solidFill>
                  <a:srgbClr val="5C6677"/>
                </a:solidFill>
                <a:latin typeface="BIZ UDPゴシック"/>
                <a:ea typeface="BIZ UDPゴシック"/>
                <a:cs typeface="BIZ UDPゴシック"/>
              </a:rPr>
              <a:t>W A S D：移動　／　右ドラッグ：向き　／　5・6：ドアを開ける・閉める（左ドラッグでも動く）</a:t>
            </a:r>
            <a:endParaRPr lang="ja-JP" altLang="en-US" sz="1100" dirty="0"/>
          </a:p>
        </p:txBody>
      </p:sp>
      <p:sp>
        <p:nvSpPr>
          <p:cNvPr id="60" name="注 60"/>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図は上から見た模式図</a:t>
            </a:r>
            <a:endParaRPr lang="ja-JP" altLang="en-US" sz="950" dirty="0"/>
          </a:p>
        </p:txBody>
      </p:sp>
      <p:sp>
        <p:nvSpPr>
          <p:cNvPr id="61" name="ページ番号 6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3</a:t>
            </a:r>
            <a:endParaRPr lang="ja-JP" alt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822960"/>
            <a:ext cx="1109167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9A6212"/>
                </a:solidFill>
                <a:latin typeface="BIZ UDPゴシック"/>
                <a:ea typeface="BIZ UDPゴシック"/>
                <a:cs typeface="BIZ UDPゴシック"/>
              </a:rPr>
              <a:t>設計コンセプト</a:t>
            </a:r>
            <a:endParaRPr lang="ja-JP" altLang="en-US" sz="1600" dirty="0"/>
          </a:p>
        </p:txBody>
      </p:sp>
      <p:sp>
        <p:nvSpPr>
          <p:cNvPr id="3" name="テキスト 3"/>
          <p:cNvSpPr txBox="1"/>
          <p:nvPr/>
        </p:nvSpPr>
        <p:spPr>
          <a:xfrm>
            <a:off x="548640" y="1280160"/>
            <a:ext cx="11091672" cy="1005840"/>
          </a:xfrm>
          <a:prstGeom prst="rect">
            <a:avLst/>
          </a:prstGeom>
          <a:noFill/>
        </p:spPr>
        <p:txBody>
          <a:bodyPr wrap="square" lIns="0" tIns="0" rIns="0" bIns="0" rtlCol="0" anchor="ctr">
            <a:noAutofit/>
          </a:bodyPr>
          <a:lstStyle/>
          <a:p>
            <a:pPr algn="l" marL="0" indent="0">
              <a:spcBef>
                <a:spcPts val="0"/>
              </a:spcBef>
              <a:spcAft>
                <a:spcPts val="0"/>
              </a:spcAft>
              <a:buNone/>
            </a:pPr>
            <a:r>
              <a:rPr lang="ja-JP" altLang="en-US" sz="4000" b="1" dirty="0">
                <a:solidFill>
                  <a:srgbClr val="1E2430"/>
                </a:solidFill>
                <a:latin typeface="BIZ UDPゴシック"/>
                <a:ea typeface="BIZ UDPゴシック"/>
                <a:cs typeface="BIZ UDPゴシック"/>
              </a:rPr>
              <a:t>プレイヤーの行動が伝わる体験</a:t>
            </a:r>
            <a:endParaRPr lang="ja-JP" altLang="en-US" sz="4000" dirty="0"/>
          </a:p>
        </p:txBody>
      </p:sp>
      <p:cxnSp>
        <p:nvCxnSpPr>
          <p:cNvPr id="4" name="線 4"/>
          <p:cNvCxnSpPr/>
          <p:nvPr/>
        </p:nvCxnSpPr>
        <p:spPr>
          <a:xfrm>
            <a:off x="548640" y="2514600"/>
            <a:ext cx="4572000" cy="0"/>
          </a:xfrm>
          <a:prstGeom prst="line">
            <a:avLst/>
          </a:prstGeom>
          <a:ln w="31750">
            <a:solidFill>
              <a:srgbClr val="E3A33B"/>
            </a:solidFill>
          </a:ln>
        </p:spPr>
      </p:cxnSp>
      <p:sp>
        <p:nvSpPr>
          <p:cNvPr id="5" name="カード 5"/>
          <p:cNvSpPr/>
          <p:nvPr/>
        </p:nvSpPr>
        <p:spPr>
          <a:xfrm>
            <a:off x="548640" y="3063240"/>
            <a:ext cx="5486400" cy="3017520"/>
          </a:xfrm>
          <a:prstGeom prst="roundRect">
            <a:avLst>
              <a:gd name="adj" fmla="val 4000"/>
            </a:avLst>
          </a:prstGeom>
          <a:solidFill>
            <a:srgbClr val="F0F2F5"/>
          </a:solidFill>
          <a:ln>
            <a:noFill/>
          </a:ln>
        </p:spPr>
      </p:sp>
      <p:sp>
        <p:nvSpPr>
          <p:cNvPr id="6" name="テキスト 6"/>
          <p:cNvSpPr txBox="1"/>
          <p:nvPr/>
        </p:nvSpPr>
        <p:spPr>
          <a:xfrm>
            <a:off x="868680" y="3291840"/>
            <a:ext cx="484632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なぜこのコンセプト？</a:t>
            </a:r>
            <a:endParaRPr lang="ja-JP" altLang="en-US" sz="1400" dirty="0"/>
          </a:p>
        </p:txBody>
      </p:sp>
      <p:sp>
        <p:nvSpPr>
          <p:cNvPr id="7" name="テキスト 7"/>
          <p:cNvSpPr txBox="1"/>
          <p:nvPr/>
        </p:nvSpPr>
        <p:spPr>
          <a:xfrm>
            <a:off x="868680" y="3794760"/>
            <a:ext cx="4846320" cy="2103120"/>
          </a:xfrm>
          <a:prstGeom prst="rect">
            <a:avLst/>
          </a:prstGeom>
          <a:noFill/>
        </p:spPr>
        <p:txBody>
          <a:bodyPr wrap="square" lIns="0" tIns="0" rIns="0" bIns="0" rtlCol="0" anchor="t">
            <a:noAutofit/>
          </a:bodyPr>
          <a:lstStyle/>
          <a:p>
            <a:pPr algn="l" marL="0" indent="0">
              <a:lnSpc>
                <a:spcPct val="135000"/>
              </a:lnSpc>
              <a:spcBef>
                <a:spcPts val="400"/>
              </a:spcBef>
              <a:spcAft>
                <a:spcPts val="0"/>
              </a:spcAft>
              <a:buNone/>
            </a:pPr>
            <a:r>
              <a:rPr lang="ja-JP" altLang="en-US" sz="2000" b="1" dirty="0">
                <a:solidFill>
                  <a:srgbClr val="1E2430"/>
                </a:solidFill>
                <a:latin typeface="BIZ UDPゴシック"/>
                <a:ea typeface="BIZ UDPゴシック"/>
                <a:cs typeface="BIZ UDPゴシック"/>
              </a:rPr>
              <a:t>昔から音が好き！</a:t>
            </a:r>
            <a:endParaRPr lang="ja-JP" altLang="en-US" sz="2000" dirty="0"/>
          </a:p>
          <a:p>
            <a:pPr algn="l" marL="0" indent="0">
              <a:lnSpc>
                <a:spcPct val="135000"/>
              </a:lnSpc>
              <a:spcBef>
                <a:spcPts val="400"/>
              </a:spcBef>
              <a:spcAft>
                <a:spcPts val="0"/>
              </a:spcAft>
              <a:buNone/>
            </a:pPr>
            <a:r>
              <a:rPr lang="ja-JP" altLang="en-US" sz="2000" b="1" dirty="0">
                <a:solidFill>
                  <a:srgbClr val="1E2430"/>
                </a:solidFill>
                <a:latin typeface="BIZ UDPゴシック"/>
                <a:ea typeface="BIZ UDPゴシック"/>
                <a:cs typeface="BIZ UDPゴシック"/>
              </a:rPr>
              <a:t>自分の好きな音の体験をゲームでも味わえるように</a:t>
            </a:r>
            <a:endParaRPr lang="ja-JP" altLang="en-US" sz="2000" dirty="0"/>
          </a:p>
        </p:txBody>
      </p:sp>
      <p:sp>
        <p:nvSpPr>
          <p:cNvPr id="8" name="カード 8"/>
          <p:cNvSpPr/>
          <p:nvPr/>
        </p:nvSpPr>
        <p:spPr>
          <a:xfrm>
            <a:off x="6153912" y="3063240"/>
            <a:ext cx="5486400" cy="3017520"/>
          </a:xfrm>
          <a:prstGeom prst="roundRect">
            <a:avLst>
              <a:gd name="adj" fmla="val 4000"/>
            </a:avLst>
          </a:prstGeom>
          <a:solidFill>
            <a:srgbClr val="FBF1DF"/>
          </a:solidFill>
          <a:ln>
            <a:noFill/>
          </a:ln>
        </p:spPr>
      </p:sp>
      <p:sp>
        <p:nvSpPr>
          <p:cNvPr id="9" name="テキスト 9"/>
          <p:cNvSpPr txBox="1"/>
          <p:nvPr/>
        </p:nvSpPr>
        <p:spPr>
          <a:xfrm>
            <a:off x="6473952" y="3291840"/>
            <a:ext cx="484632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コンセプト実現のために</a:t>
            </a:r>
            <a:endParaRPr lang="ja-JP" altLang="en-US" sz="1400" dirty="0"/>
          </a:p>
        </p:txBody>
      </p:sp>
      <p:sp>
        <p:nvSpPr>
          <p:cNvPr id="10" name="テキスト 10"/>
          <p:cNvSpPr txBox="1"/>
          <p:nvPr/>
        </p:nvSpPr>
        <p:spPr>
          <a:xfrm>
            <a:off x="6473952" y="3794760"/>
            <a:ext cx="4846320" cy="2103120"/>
          </a:xfrm>
          <a:prstGeom prst="rect">
            <a:avLst/>
          </a:prstGeom>
          <a:noFill/>
        </p:spPr>
        <p:txBody>
          <a:bodyPr wrap="square" lIns="0" tIns="0" rIns="0" bIns="0" rtlCol="0" anchor="t">
            <a:noAutofit/>
          </a:bodyPr>
          <a:lstStyle/>
          <a:p>
            <a:pPr algn="l" marL="0" indent="0">
              <a:lnSpc>
                <a:spcPct val="135000"/>
              </a:lnSpc>
              <a:spcBef>
                <a:spcPts val="400"/>
              </a:spcBef>
              <a:spcAft>
                <a:spcPts val="0"/>
              </a:spcAft>
              <a:buNone/>
            </a:pPr>
            <a:r>
              <a:rPr lang="ja-JP" altLang="en-US" sz="2000" b="1" dirty="0">
                <a:solidFill>
                  <a:srgbClr val="1E2430"/>
                </a:solidFill>
                <a:latin typeface="BIZ UDPゴシック"/>
                <a:ea typeface="BIZ UDPゴシック"/>
                <a:cs typeface="BIZ UDPゴシック"/>
              </a:rPr>
              <a:t>ゲームだからこそリアルよりも伝わる音を目指す</a:t>
            </a:r>
            <a:endParaRPr lang="ja-JP" altLang="en-US" sz="2000" dirty="0"/>
          </a:p>
        </p:txBody>
      </p:sp>
      <p:sp>
        <p:nvSpPr>
          <p:cNvPr id="11" name="ページ番号 1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4</a:t>
            </a:r>
            <a:endParaRPr lang="ja-JP" alt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コンセプト実現のために</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必要な機能の洗い出し</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伝えたい行動ごとに、聞こえてほしいことと、そのために要る機能を切り出した。</a:t>
            </a:r>
            <a:endParaRPr lang="ja-JP" altLang="en-US" sz="1450" dirty="0"/>
          </a:p>
        </p:txBody>
      </p:sp>
      <p:graphicFrame>
        <p:nvGraphicFramePr>
          <p:cNvPr id="5" name="表 5"/>
          <p:cNvGraphicFramePr>
            <a:graphicFrameLocks noGrp="1"/>
          </p:cNvGraphicFramePr>
          <p:nvPr/>
        </p:nvGraphicFramePr>
        <p:xfrm>
          <a:off x="548640" y="1920240"/>
          <a:ext cx="11091672" cy="3749040"/>
        </p:xfrm>
        <a:graphic>
          <a:graphicData uri="http://schemas.openxmlformats.org/drawingml/2006/table">
            <a:tbl>
              <a:tblPr firstRow="1"/>
              <a:tblGrid>
                <a:gridCol w="2331720"/>
                <a:gridCol w="3749040"/>
                <a:gridCol w="5010912"/>
              </a:tblGrid>
              <a:tr h="457200">
                <a:tc>
                  <a:txBody>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伝えたい行動</a:t>
                      </a:r>
                      <a:endParaRPr lang="ja-JP" altLang="en-US" sz="1300" dirty="0"/>
                    </a:p>
                  </a:txBody>
                  <a:tcPr marL="128016" marR="128016" marT="54864" marB="54864" anchor="ctr">
                    <a:lnL w="0">
                      <a:noFill/>
                    </a:lnL>
                    <a:lnR w="0">
                      <a:noFill/>
                    </a:lnR>
                    <a:lnT w="0">
                      <a:noFill/>
                    </a:lnT>
                    <a:lnB w="9525">
                      <a:solidFill>
                        <a:srgbClr val="D5DAE1"/>
                      </a:solidFill>
                    </a:lnB>
                    <a:solidFill>
                      <a:srgbClr val="F6E3BF"/>
                    </a:solidFill>
                  </a:tcPr>
                </a:tc>
                <a:tc>
                  <a:txBody>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聞こえてほしいこと</a:t>
                      </a:r>
                      <a:endParaRPr lang="ja-JP" altLang="en-US" sz="1300" dirty="0"/>
                    </a:p>
                  </a:txBody>
                  <a:tcPr marL="128016" marR="128016" marT="54864" marB="54864" anchor="ctr">
                    <a:lnL w="0">
                      <a:noFill/>
                    </a:lnL>
                    <a:lnR w="0">
                      <a:noFill/>
                    </a:lnR>
                    <a:lnT w="0">
                      <a:noFill/>
                    </a:lnT>
                    <a:lnB w="9525">
                      <a:solidFill>
                        <a:srgbClr val="D5DAE1"/>
                      </a:solidFill>
                    </a:lnB>
                    <a:solidFill>
                      <a:srgbClr val="F6E3BF"/>
                    </a:solidFill>
                  </a:tcPr>
                </a:tc>
                <a:tc>
                  <a:txBody>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必要と考えた機能</a:t>
                      </a:r>
                      <a:endParaRPr lang="ja-JP" altLang="en-US" sz="1300" dirty="0"/>
                    </a:p>
                  </a:txBody>
                  <a:tcPr marL="128016" marR="128016" marT="54864" marB="54864" anchor="ctr">
                    <a:lnL w="0">
                      <a:noFill/>
                    </a:lnL>
                    <a:lnR w="0">
                      <a:noFill/>
                    </a:lnR>
                    <a:lnT w="0">
                      <a:noFill/>
                    </a:lnT>
                    <a:lnB w="9525">
                      <a:solidFill>
                        <a:srgbClr val="D5DAE1"/>
                      </a:solidFill>
                    </a:lnB>
                    <a:solidFill>
                      <a:srgbClr val="F6E3BF"/>
                    </a:solid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ドアを開ける</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開いた瞬間と、どこまで開けたか</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扉の板の影を毎フレーム解く（直接音・透過音・回折音）</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部屋の中を歩く</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壁の近さ・響きの広がり</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虚像をつないだ面音源（初期反射）</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別の部屋に入る</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その部屋らしい響きの長さと色</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形と材質から残響時間を出し、部屋ごとの FDN で鳴らす</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隣の部屋に近づく</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隣で鳴っている音の場所</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ドアのリスナープローブ（隣の響きをドアから鳴らす）</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5C6677"/>
                          </a:solidFill>
                          <a:latin typeface="BIZ UDPゴシック"/>
                          <a:ea typeface="BIZ UDPゴシック"/>
                          <a:cs typeface="BIZ UDPゴシック"/>
                        </a:rPr>
                        <a:t>どの行動でも</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途切れない・遅れない・方向がわかる</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足さずに配る仕組み（帳簿）と、行動に寄せた計算の配分</a:t>
                      </a:r>
                      <a:endParaRPr lang="ja-JP" altLang="en-US" sz="1350" dirty="0"/>
                    </a:p>
                  </a:txBody>
                  <a:tcPr marL="128016" marR="128016" marT="54864" marB="54864" anchor="ctr">
                    <a:lnL w="0">
                      <a:noFill/>
                    </a:lnL>
                    <a:lnR w="0">
                      <a:noFill/>
                    </a:lnR>
                    <a:lnT w="0">
                      <a:noFill/>
                    </a:lnT>
                    <a:lnB w="9525">
                      <a:solidFill>
                        <a:srgbClr val="D5DAE1"/>
                      </a:solidFill>
                    </a:lnB>
                    <a:noFill/>
                  </a:tcPr>
                </a:tc>
              </a:tr>
            </a:tbl>
          </a:graphicData>
        </a:graphic>
      </p:graphicFrame>
      <p:sp>
        <p:nvSpPr>
          <p:cNvPr id="6" name="カード 6"/>
          <p:cNvSpPr/>
          <p:nvPr/>
        </p:nvSpPr>
        <p:spPr>
          <a:xfrm>
            <a:off x="548640" y="5715000"/>
            <a:ext cx="11091672" cy="566928"/>
          </a:xfrm>
          <a:prstGeom prst="roundRect">
            <a:avLst>
              <a:gd name="adj" fmla="val 4000"/>
            </a:avLst>
          </a:prstGeom>
          <a:solidFill>
            <a:srgbClr val="FBF1DF"/>
          </a:solidFill>
          <a:ln>
            <a:noFill/>
          </a:ln>
        </p:spPr>
      </p:sp>
      <p:sp>
        <p:nvSpPr>
          <p:cNvPr id="7" name="テキスト 7"/>
          <p:cNvSpPr txBox="1"/>
          <p:nvPr/>
        </p:nvSpPr>
        <p:spPr>
          <a:xfrm>
            <a:off x="822960" y="5715000"/>
            <a:ext cx="10543032" cy="566928"/>
          </a:xfrm>
          <a:prstGeom prst="rect">
            <a:avLst/>
          </a:prstGeom>
          <a:noFill/>
        </p:spPr>
        <p:txBody>
          <a:bodyPr wrap="square" lIns="0" tIns="0" rIns="0" bIns="0" rtlCol="0" anchor="ctr">
            <a:noAutofit/>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コンセプトを行動に分けて、</a:t>
            </a:r>
            <a:r>
              <a:rPr lang="ja-JP" altLang="en-US" sz="1350" b="1" dirty="0">
                <a:solidFill>
                  <a:srgbClr val="9A6212"/>
                </a:solidFill>
                <a:latin typeface="BIZ UDPゴシック"/>
                <a:ea typeface="BIZ UDPゴシック"/>
                <a:cs typeface="BIZ UDPゴシック"/>
              </a:rPr>
              <a:t>行動ごとに要る機能だけ</a:t>
            </a:r>
            <a:r>
              <a:rPr lang="ja-JP" altLang="en-US" sz="1350" dirty="0">
                <a:solidFill>
                  <a:srgbClr val="1E2430"/>
                </a:solidFill>
                <a:latin typeface="BIZ UDPゴシック"/>
                <a:ea typeface="BIZ UDPゴシック"/>
                <a:cs typeface="BIZ UDPゴシック"/>
              </a:rPr>
              <a:t>を作る。全体は 3 つの決め事（連続性・即時性・方向性）で揃える。</a:t>
            </a:r>
            <a:endParaRPr lang="ja-JP" altLang="en-US" sz="1350" dirty="0"/>
          </a:p>
        </p:txBody>
      </p:sp>
      <p:sp>
        <p:nvSpPr>
          <p:cNvPr id="8" name="ページ番号 8"/>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5</a:t>
            </a:r>
            <a:endParaRPr lang="ja-JP" alt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実装物と全体ルール</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実装物 ── ゲームは箱を渡し、音はエンジンが作る</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C++ で作った音響エンジン（DLL）。Unity には依存せず、今は Unity を試聴台にしている。</a:t>
            </a:r>
            <a:endParaRPr lang="ja-JP" altLang="en-US" sz="1450" dirty="0"/>
          </a:p>
        </p:txBody>
      </p:sp>
      <p:sp>
        <p:nvSpPr>
          <p:cNvPr id="5" name="カード 5"/>
          <p:cNvSpPr/>
          <p:nvPr/>
        </p:nvSpPr>
        <p:spPr>
          <a:xfrm>
            <a:off x="548640" y="1920240"/>
            <a:ext cx="2148840" cy="2606040"/>
          </a:xfrm>
          <a:prstGeom prst="roundRect">
            <a:avLst>
              <a:gd name="adj" fmla="val 4000"/>
            </a:avLst>
          </a:prstGeom>
          <a:solidFill>
            <a:srgbClr val="F0F2F5"/>
          </a:solidFill>
          <a:ln>
            <a:noFill/>
          </a:ln>
        </p:spPr>
      </p:sp>
      <p:sp>
        <p:nvSpPr>
          <p:cNvPr id="6" name="テキスト 6"/>
          <p:cNvSpPr txBox="1"/>
          <p:nvPr/>
        </p:nvSpPr>
        <p:spPr>
          <a:xfrm>
            <a:off x="731520" y="2029968"/>
            <a:ext cx="18288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1E2430"/>
                </a:solidFill>
                <a:latin typeface="BIZ UDPゴシック"/>
                <a:ea typeface="BIZ UDPゴシック"/>
                <a:cs typeface="BIZ UDPゴシック"/>
              </a:rPr>
              <a:t>ゲーム側</a:t>
            </a:r>
            <a:endParaRPr lang="ja-JP" altLang="en-US" sz="1400" dirty="0"/>
          </a:p>
        </p:txBody>
      </p:sp>
      <p:sp>
        <p:nvSpPr>
          <p:cNvPr id="7" name="テキスト 7"/>
          <p:cNvSpPr txBox="1"/>
          <p:nvPr/>
        </p:nvSpPr>
        <p:spPr>
          <a:xfrm>
            <a:off x="731520" y="2359152"/>
            <a:ext cx="1828800" cy="4572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050" dirty="0">
                <a:solidFill>
                  <a:srgbClr val="5C6677"/>
                </a:solidFill>
                <a:latin typeface="BIZ UDPゴシック"/>
                <a:ea typeface="BIZ UDPゴシック"/>
                <a:cs typeface="BIZ UDPゴシック"/>
              </a:rPr>
              <a:t>今：Unity（試聴台）</a:t>
            </a:r>
            <a:br>
              <a:rPr lang="ja-JP" altLang="en-US" sz="1050" dirty="0">
                <a:solidFill>
                  <a:srgbClr val="5C6677"/>
                </a:solidFill>
                <a:latin typeface="BIZ UDPゴシック"/>
                <a:ea typeface="BIZ UDPゴシック"/>
                <a:cs typeface="BIZ UDPゴシック"/>
              </a:rPr>
            </a:br>
            <a:r>
              <a:rPr lang="ja-JP" altLang="en-US" sz="1050" dirty="0">
                <a:solidFill>
                  <a:srgbClr val="5C6677"/>
                </a:solidFill>
                <a:latin typeface="BIZ UDPゴシック"/>
                <a:ea typeface="BIZ UDPゴシック"/>
                <a:cs typeface="BIZ UDPゴシック"/>
              </a:rPr>
              <a:t>最終：DirectX＋Wwise</a:t>
            </a:r>
            <a:endParaRPr lang="ja-JP" altLang="en-US" sz="1050" dirty="0"/>
          </a:p>
        </p:txBody>
      </p:sp>
      <p:sp>
        <p:nvSpPr>
          <p:cNvPr id="8" name="図形 8"/>
          <p:cNvSpPr/>
          <p:nvPr/>
        </p:nvSpPr>
        <p:spPr>
          <a:xfrm>
            <a:off x="731520" y="2926080"/>
            <a:ext cx="1783080" cy="402336"/>
          </a:xfrm>
          <a:prstGeom prst="roundRect">
            <a:avLst>
              <a:gd name="adj" fmla="val 20000"/>
            </a:avLst>
          </a:prstGeom>
          <a:solidFill>
            <a:srgbClr val="FFFFFF"/>
          </a:solidFill>
          <a:ln w="12700">
            <a:solidFill>
              <a:srgbClr val="C9CED6"/>
            </a:solidFill>
          </a:ln>
        </p:spPr>
        <p:txBody>
          <a:bodyPr wrap="square" lIns="54864" tIns="27432" rIns="54864" bIns="27432" rtlCol="0" anchor="ctr">
            <a:noAutofit/>
          </a:bodyPr>
          <a:lstStyle/>
          <a:p>
            <a:pPr algn="ctr" marL="0" indent="0">
              <a:spcBef>
                <a:spcPts val="0"/>
              </a:spcBef>
              <a:spcAft>
                <a:spcPts val="0"/>
              </a:spcAft>
              <a:buNone/>
            </a:pPr>
            <a:r>
              <a:rPr lang="ja-JP" altLang="en-US" sz="1200" dirty="0">
                <a:solidFill>
                  <a:srgbClr val="1E2430"/>
                </a:solidFill>
                <a:latin typeface="BIZ UDPゴシック"/>
                <a:ea typeface="BIZ UDPゴシック"/>
                <a:cs typeface="BIZ UDPゴシック"/>
              </a:rPr>
              <a:t>壁・床・扉の箱</a:t>
            </a:r>
            <a:endParaRPr lang="ja-JP" altLang="en-US" sz="1200" dirty="0"/>
          </a:p>
        </p:txBody>
      </p:sp>
      <p:sp>
        <p:nvSpPr>
          <p:cNvPr id="9" name="図形 9"/>
          <p:cNvSpPr/>
          <p:nvPr/>
        </p:nvSpPr>
        <p:spPr>
          <a:xfrm>
            <a:off x="731520" y="3438144"/>
            <a:ext cx="1783080" cy="402336"/>
          </a:xfrm>
          <a:prstGeom prst="roundRect">
            <a:avLst>
              <a:gd name="adj" fmla="val 20000"/>
            </a:avLst>
          </a:prstGeom>
          <a:solidFill>
            <a:srgbClr val="FFFFFF"/>
          </a:solidFill>
          <a:ln w="12700">
            <a:solidFill>
              <a:srgbClr val="C9CED6"/>
            </a:solidFill>
          </a:ln>
        </p:spPr>
        <p:txBody>
          <a:bodyPr wrap="square" lIns="54864" tIns="27432" rIns="54864" bIns="27432" rtlCol="0" anchor="ctr">
            <a:noAutofit/>
          </a:bodyPr>
          <a:lstStyle/>
          <a:p>
            <a:pPr algn="ctr" marL="0" indent="0">
              <a:spcBef>
                <a:spcPts val="0"/>
              </a:spcBef>
              <a:spcAft>
                <a:spcPts val="0"/>
              </a:spcAft>
              <a:buNone/>
            </a:pPr>
            <a:r>
              <a:rPr lang="ja-JP" altLang="en-US" sz="1200" dirty="0">
                <a:solidFill>
                  <a:srgbClr val="1E2430"/>
                </a:solidFill>
                <a:latin typeface="BIZ UDPゴシック"/>
                <a:ea typeface="BIZ UDPゴシック"/>
                <a:cs typeface="BIZ UDPゴシック"/>
              </a:rPr>
              <a:t>音源と耳の位置</a:t>
            </a:r>
            <a:endParaRPr lang="ja-JP" altLang="en-US" sz="1200" dirty="0"/>
          </a:p>
        </p:txBody>
      </p:sp>
      <p:sp>
        <p:nvSpPr>
          <p:cNvPr id="10" name="図形 10"/>
          <p:cNvSpPr/>
          <p:nvPr/>
        </p:nvSpPr>
        <p:spPr>
          <a:xfrm>
            <a:off x="731520" y="3950208"/>
            <a:ext cx="1783080" cy="402336"/>
          </a:xfrm>
          <a:prstGeom prst="roundRect">
            <a:avLst>
              <a:gd name="adj" fmla="val 20000"/>
            </a:avLst>
          </a:prstGeom>
          <a:solidFill>
            <a:srgbClr val="FFFFFF"/>
          </a:solidFill>
          <a:ln w="12700">
            <a:solidFill>
              <a:srgbClr val="C9CED6"/>
            </a:solidFill>
          </a:ln>
        </p:spPr>
        <p:txBody>
          <a:bodyPr wrap="square" lIns="54864" tIns="27432" rIns="54864" bIns="27432" rtlCol="0" anchor="ctr">
            <a:noAutofit/>
          </a:bodyPr>
          <a:lstStyle/>
          <a:p>
            <a:pPr algn="ctr" marL="0" indent="0">
              <a:spcBef>
                <a:spcPts val="0"/>
              </a:spcBef>
              <a:spcAft>
                <a:spcPts val="0"/>
              </a:spcAft>
              <a:buNone/>
            </a:pPr>
            <a:r>
              <a:rPr lang="ja-JP" altLang="en-US" sz="1200" dirty="0">
                <a:solidFill>
                  <a:srgbClr val="1E2430"/>
                </a:solidFill>
                <a:latin typeface="BIZ UDPゴシック"/>
                <a:ea typeface="BIZ UDPゴシック"/>
                <a:cs typeface="BIZ UDPゴシック"/>
              </a:rPr>
              <a:t>鳴らす音</a:t>
            </a:r>
            <a:endParaRPr lang="ja-JP" altLang="en-US" sz="1200" dirty="0"/>
          </a:p>
        </p:txBody>
      </p:sp>
      <p:cxnSp>
        <p:nvCxnSpPr>
          <p:cNvPr id="11" name="線 11"/>
          <p:cNvCxnSpPr/>
          <p:nvPr/>
        </p:nvCxnSpPr>
        <p:spPr>
          <a:xfrm>
            <a:off x="2743200" y="3429000"/>
            <a:ext cx="411480" cy="0"/>
          </a:xfrm>
          <a:prstGeom prst="line">
            <a:avLst/>
          </a:prstGeom>
          <a:ln w="25400">
            <a:solidFill>
              <a:srgbClr val="E3A33B"/>
            </a:solidFill>
            <a:tailEnd type="triangle" w="med" len="med"/>
          </a:ln>
        </p:spPr>
      </p:cxnSp>
      <p:sp>
        <p:nvSpPr>
          <p:cNvPr id="12" name="テキスト 12"/>
          <p:cNvSpPr txBox="1"/>
          <p:nvPr/>
        </p:nvSpPr>
        <p:spPr>
          <a:xfrm>
            <a:off x="2606040" y="3108960"/>
            <a:ext cx="731520"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50" b="1" dirty="0">
                <a:solidFill>
                  <a:srgbClr val="9A6212"/>
                </a:solidFill>
                <a:latin typeface="BIZ UDPゴシック"/>
                <a:ea typeface="BIZ UDPゴシック"/>
                <a:cs typeface="BIZ UDPゴシック"/>
              </a:rPr>
              <a:t>C API</a:t>
            </a:r>
            <a:endParaRPr lang="ja-JP" altLang="en-US" sz="1050" dirty="0"/>
          </a:p>
        </p:txBody>
      </p:sp>
      <p:sp>
        <p:nvSpPr>
          <p:cNvPr id="13" name="カード 13"/>
          <p:cNvSpPr/>
          <p:nvPr/>
        </p:nvSpPr>
        <p:spPr>
          <a:xfrm>
            <a:off x="3200400" y="1920240"/>
            <a:ext cx="7086600" cy="2606040"/>
          </a:xfrm>
          <a:prstGeom prst="roundRect">
            <a:avLst>
              <a:gd name="adj" fmla="val 4000"/>
            </a:avLst>
          </a:prstGeom>
          <a:solidFill>
            <a:srgbClr val="FBF1DF"/>
          </a:solidFill>
          <a:ln>
            <a:noFill/>
          </a:ln>
        </p:spPr>
      </p:sp>
      <p:sp>
        <p:nvSpPr>
          <p:cNvPr id="14" name="テキスト 14"/>
          <p:cNvSpPr txBox="1"/>
          <p:nvPr/>
        </p:nvSpPr>
        <p:spPr>
          <a:xfrm>
            <a:off x="3383280" y="2029968"/>
            <a:ext cx="45720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1E2430"/>
                </a:solidFill>
                <a:latin typeface="BIZ UDPゴシック"/>
                <a:ea typeface="BIZ UDPゴシック"/>
                <a:cs typeface="BIZ UDPゴシック"/>
              </a:rPr>
              <a:t>音響エンジン（C++）</a:t>
            </a:r>
            <a:endParaRPr lang="ja-JP" altLang="en-US" sz="1400" dirty="0"/>
          </a:p>
        </p:txBody>
      </p:sp>
      <p:sp>
        <p:nvSpPr>
          <p:cNvPr id="15" name="図形 15"/>
          <p:cNvSpPr/>
          <p:nvPr/>
        </p:nvSpPr>
        <p:spPr>
          <a:xfrm>
            <a:off x="3383280" y="2432304"/>
            <a:ext cx="1591056" cy="1920240"/>
          </a:xfrm>
          <a:prstGeom prst="roundRect">
            <a:avLst>
              <a:gd name="adj" fmla="val 8000"/>
            </a:avLst>
          </a:prstGeom>
          <a:solidFill>
            <a:srgbClr val="FFFFFF"/>
          </a:solidFill>
          <a:ln>
            <a:noFill/>
          </a:ln>
        </p:spPr>
      </p:sp>
      <p:sp>
        <p:nvSpPr>
          <p:cNvPr id="16" name="テキスト 16"/>
          <p:cNvSpPr txBox="1"/>
          <p:nvPr/>
        </p:nvSpPr>
        <p:spPr>
          <a:xfrm>
            <a:off x="3493008"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① </a:t>
            </a:r>
            <a:r>
              <a:rPr lang="ja-JP" altLang="en-US" sz="1250" b="1" dirty="0">
                <a:solidFill>
                  <a:srgbClr val="1E2430"/>
                </a:solidFill>
                <a:latin typeface="BIZ UDPゴシック"/>
                <a:ea typeface="BIZ UDPゴシック"/>
                <a:cs typeface="BIZ UDPゴシック"/>
              </a:rPr>
              <a:t>部屋を見つける</a:t>
            </a:r>
            <a:endParaRPr lang="ja-JP" altLang="en-US" sz="1250" dirty="0"/>
          </a:p>
        </p:txBody>
      </p:sp>
      <p:sp>
        <p:nvSpPr>
          <p:cNvPr id="17" name="テキスト 17"/>
          <p:cNvSpPr txBox="1"/>
          <p:nvPr/>
        </p:nvSpPr>
        <p:spPr>
          <a:xfrm>
            <a:off x="3493008"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箱から部屋と戸口を自動で。焼くのは部屋の形だけ</a:t>
            </a:r>
            <a:endParaRPr lang="ja-JP" altLang="en-US" sz="1150" dirty="0"/>
          </a:p>
        </p:txBody>
      </p:sp>
      <p:sp>
        <p:nvSpPr>
          <p:cNvPr id="18" name="矢印 18"/>
          <p:cNvSpPr/>
          <p:nvPr/>
        </p:nvSpPr>
        <p:spPr>
          <a:xfrm>
            <a:off x="4965192" y="3310128"/>
            <a:ext cx="137160" cy="182880"/>
          </a:xfrm>
          <a:prstGeom prst="rightArrow">
            <a:avLst/>
          </a:prstGeom>
          <a:solidFill>
            <a:srgbClr val="E3A33B"/>
          </a:solidFill>
          <a:ln>
            <a:noFill/>
          </a:ln>
        </p:spPr>
      </p:sp>
      <p:sp>
        <p:nvSpPr>
          <p:cNvPr id="19" name="図形 19"/>
          <p:cNvSpPr/>
          <p:nvPr/>
        </p:nvSpPr>
        <p:spPr>
          <a:xfrm>
            <a:off x="5093208" y="2432304"/>
            <a:ext cx="1591056" cy="1920240"/>
          </a:xfrm>
          <a:prstGeom prst="roundRect">
            <a:avLst>
              <a:gd name="adj" fmla="val 8000"/>
            </a:avLst>
          </a:prstGeom>
          <a:solidFill>
            <a:srgbClr val="FFFFFF"/>
          </a:solidFill>
          <a:ln>
            <a:noFill/>
          </a:ln>
        </p:spPr>
      </p:sp>
      <p:sp>
        <p:nvSpPr>
          <p:cNvPr id="20" name="テキスト 20"/>
          <p:cNvSpPr txBox="1"/>
          <p:nvPr/>
        </p:nvSpPr>
        <p:spPr>
          <a:xfrm>
            <a:off x="5202936"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② </a:t>
            </a:r>
            <a:r>
              <a:rPr lang="ja-JP" altLang="en-US" sz="1250" b="1" dirty="0">
                <a:solidFill>
                  <a:srgbClr val="1E2430"/>
                </a:solidFill>
                <a:latin typeface="BIZ UDPゴシック"/>
                <a:ea typeface="BIZ UDPゴシック"/>
                <a:cs typeface="BIZ UDPゴシック"/>
              </a:rPr>
              <a:t>音の道を解く</a:t>
            </a:r>
            <a:endParaRPr lang="ja-JP" altLang="en-US" sz="1250" dirty="0"/>
          </a:p>
        </p:txBody>
      </p:sp>
      <p:sp>
        <p:nvSpPr>
          <p:cNvPr id="21" name="テキスト 21"/>
          <p:cNvSpPr txBox="1"/>
          <p:nvPr/>
        </p:nvSpPr>
        <p:spPr>
          <a:xfrm>
            <a:off x="5202936"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直接・透過・回折・初期反射・後期残響を毎フレーム</a:t>
            </a:r>
            <a:endParaRPr lang="ja-JP" altLang="en-US" sz="1150" dirty="0"/>
          </a:p>
        </p:txBody>
      </p:sp>
      <p:sp>
        <p:nvSpPr>
          <p:cNvPr id="22" name="矢印 22"/>
          <p:cNvSpPr/>
          <p:nvPr/>
        </p:nvSpPr>
        <p:spPr>
          <a:xfrm>
            <a:off x="6675120" y="3310128"/>
            <a:ext cx="137160" cy="182880"/>
          </a:xfrm>
          <a:prstGeom prst="rightArrow">
            <a:avLst/>
          </a:prstGeom>
          <a:solidFill>
            <a:srgbClr val="E3A33B"/>
          </a:solidFill>
          <a:ln>
            <a:noFill/>
          </a:ln>
        </p:spPr>
      </p:sp>
      <p:sp>
        <p:nvSpPr>
          <p:cNvPr id="23" name="図形 23"/>
          <p:cNvSpPr/>
          <p:nvPr/>
        </p:nvSpPr>
        <p:spPr>
          <a:xfrm>
            <a:off x="6803136" y="2432304"/>
            <a:ext cx="1591056" cy="1920240"/>
          </a:xfrm>
          <a:prstGeom prst="roundRect">
            <a:avLst>
              <a:gd name="adj" fmla="val 8000"/>
            </a:avLst>
          </a:prstGeom>
          <a:solidFill>
            <a:srgbClr val="FFFFFF"/>
          </a:solidFill>
          <a:ln>
            <a:noFill/>
          </a:ln>
        </p:spPr>
      </p:sp>
      <p:sp>
        <p:nvSpPr>
          <p:cNvPr id="24" name="テキスト 24"/>
          <p:cNvSpPr txBox="1"/>
          <p:nvPr/>
        </p:nvSpPr>
        <p:spPr>
          <a:xfrm>
            <a:off x="6912864"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③ </a:t>
            </a:r>
            <a:r>
              <a:rPr lang="ja-JP" altLang="en-US" sz="1250" b="1" dirty="0">
                <a:solidFill>
                  <a:srgbClr val="1E2430"/>
                </a:solidFill>
                <a:latin typeface="BIZ UDPゴシック"/>
                <a:ea typeface="BIZ UDPゴシック"/>
                <a:cs typeface="BIZ UDPゴシック"/>
              </a:rPr>
              <a:t>配る</a:t>
            </a:r>
            <a:endParaRPr lang="ja-JP" altLang="en-US" sz="1250" dirty="0"/>
          </a:p>
        </p:txBody>
      </p:sp>
      <p:sp>
        <p:nvSpPr>
          <p:cNvPr id="25" name="テキスト 25"/>
          <p:cNvSpPr txBox="1"/>
          <p:nvPr/>
        </p:nvSpPr>
        <p:spPr>
          <a:xfrm>
            <a:off x="6912864"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5 つの道に 1 回ずつ。量は帳簿で確かめる</a:t>
            </a:r>
            <a:endParaRPr lang="ja-JP" altLang="en-US" sz="1150" dirty="0"/>
          </a:p>
        </p:txBody>
      </p:sp>
      <p:sp>
        <p:nvSpPr>
          <p:cNvPr id="26" name="矢印 26"/>
          <p:cNvSpPr/>
          <p:nvPr/>
        </p:nvSpPr>
        <p:spPr>
          <a:xfrm>
            <a:off x="8385048" y="3310128"/>
            <a:ext cx="137160" cy="182880"/>
          </a:xfrm>
          <a:prstGeom prst="rightArrow">
            <a:avLst/>
          </a:prstGeom>
          <a:solidFill>
            <a:srgbClr val="E3A33B"/>
          </a:solidFill>
          <a:ln>
            <a:noFill/>
          </a:ln>
        </p:spPr>
      </p:sp>
      <p:sp>
        <p:nvSpPr>
          <p:cNvPr id="27" name="図形 27"/>
          <p:cNvSpPr/>
          <p:nvPr/>
        </p:nvSpPr>
        <p:spPr>
          <a:xfrm>
            <a:off x="8513064" y="2432304"/>
            <a:ext cx="1591056" cy="1920240"/>
          </a:xfrm>
          <a:prstGeom prst="roundRect">
            <a:avLst>
              <a:gd name="adj" fmla="val 8000"/>
            </a:avLst>
          </a:prstGeom>
          <a:solidFill>
            <a:srgbClr val="FFFFFF"/>
          </a:solidFill>
          <a:ln>
            <a:noFill/>
          </a:ln>
        </p:spPr>
      </p:sp>
      <p:sp>
        <p:nvSpPr>
          <p:cNvPr id="28" name="テキスト 28"/>
          <p:cNvSpPr txBox="1"/>
          <p:nvPr/>
        </p:nvSpPr>
        <p:spPr>
          <a:xfrm>
            <a:off x="8622792"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④ </a:t>
            </a:r>
            <a:r>
              <a:rPr lang="ja-JP" altLang="en-US" sz="1250" b="1" dirty="0">
                <a:solidFill>
                  <a:srgbClr val="1E2430"/>
                </a:solidFill>
                <a:latin typeface="BIZ UDPゴシック"/>
                <a:ea typeface="BIZ UDPゴシック"/>
                <a:cs typeface="BIZ UDPゴシック"/>
              </a:rPr>
              <a:t>鳴らす</a:t>
            </a:r>
            <a:endParaRPr lang="ja-JP" altLang="en-US" sz="1250" dirty="0"/>
          </a:p>
        </p:txBody>
      </p:sp>
      <p:sp>
        <p:nvSpPr>
          <p:cNvPr id="29" name="テキスト 29"/>
          <p:cNvSpPr txBox="1"/>
          <p:nvPr/>
        </p:nvSpPr>
        <p:spPr>
          <a:xfrm>
            <a:off x="8622792"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両耳（HRTF）・方向バス・部屋ごとの FDN</a:t>
            </a:r>
            <a:endParaRPr lang="ja-JP" altLang="en-US" sz="1150" dirty="0"/>
          </a:p>
        </p:txBody>
      </p:sp>
      <p:cxnSp>
        <p:nvCxnSpPr>
          <p:cNvPr id="30" name="線 30"/>
          <p:cNvCxnSpPr/>
          <p:nvPr/>
        </p:nvCxnSpPr>
        <p:spPr>
          <a:xfrm>
            <a:off x="10332720" y="3429000"/>
            <a:ext cx="411480" cy="0"/>
          </a:xfrm>
          <a:prstGeom prst="line">
            <a:avLst/>
          </a:prstGeom>
          <a:ln w="25400">
            <a:solidFill>
              <a:srgbClr val="E3A33B"/>
            </a:solidFill>
            <a:tailEnd type="triangle" w="med" len="med"/>
          </a:ln>
        </p:spPr>
      </p:cxnSp>
      <p:sp>
        <p:nvSpPr>
          <p:cNvPr id="31" name="テキスト 31"/>
          <p:cNvSpPr txBox="1"/>
          <p:nvPr/>
        </p:nvSpPr>
        <p:spPr>
          <a:xfrm>
            <a:off x="10744200" y="3291840"/>
            <a:ext cx="86868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両耳の音</a:t>
            </a:r>
            <a:endParaRPr lang="ja-JP" altLang="en-US" sz="1150" dirty="0"/>
          </a:p>
        </p:txBody>
      </p:sp>
      <p:sp>
        <p:nvSpPr>
          <p:cNvPr id="32" name="カード 32"/>
          <p:cNvSpPr/>
          <p:nvPr/>
        </p:nvSpPr>
        <p:spPr>
          <a:xfrm>
            <a:off x="548640" y="4754880"/>
            <a:ext cx="3657600" cy="1371600"/>
          </a:xfrm>
          <a:prstGeom prst="roundRect">
            <a:avLst>
              <a:gd name="adj" fmla="val 4000"/>
            </a:avLst>
          </a:prstGeom>
          <a:solidFill>
            <a:srgbClr val="F0F2F5"/>
          </a:solidFill>
          <a:ln>
            <a:noFill/>
          </a:ln>
        </p:spPr>
      </p:sp>
      <p:sp>
        <p:nvSpPr>
          <p:cNvPr id="33" name="テキスト 33"/>
          <p:cNvSpPr txBox="1"/>
          <p:nvPr/>
        </p:nvSpPr>
        <p:spPr>
          <a:xfrm>
            <a:off x="777240" y="4873752"/>
            <a:ext cx="32004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焼くのは形だけ</a:t>
            </a:r>
            <a:endParaRPr lang="ja-JP" altLang="en-US" sz="1300" dirty="0"/>
          </a:p>
        </p:txBody>
      </p:sp>
      <p:sp>
        <p:nvSpPr>
          <p:cNvPr id="34" name="テキスト 34"/>
          <p:cNvSpPr txBox="1"/>
          <p:nvPr/>
        </p:nvSpPr>
        <p:spPr>
          <a:xfrm>
            <a:off x="777240" y="5212080"/>
            <a:ext cx="3246120" cy="8229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部屋の形から決まる物だけ先に作り、扉と耳の位置は毎フレーム解く</a:t>
            </a:r>
            <a:endParaRPr lang="ja-JP" altLang="en-US" sz="1200" dirty="0"/>
          </a:p>
        </p:txBody>
      </p:sp>
      <p:sp>
        <p:nvSpPr>
          <p:cNvPr id="35" name="カード 35"/>
          <p:cNvSpPr/>
          <p:nvPr/>
        </p:nvSpPr>
        <p:spPr>
          <a:xfrm>
            <a:off x="4265676" y="4754880"/>
            <a:ext cx="3657600" cy="1371600"/>
          </a:xfrm>
          <a:prstGeom prst="roundRect">
            <a:avLst>
              <a:gd name="adj" fmla="val 4000"/>
            </a:avLst>
          </a:prstGeom>
          <a:solidFill>
            <a:srgbClr val="F0F2F5"/>
          </a:solidFill>
          <a:ln>
            <a:noFill/>
          </a:ln>
        </p:spPr>
      </p:sp>
      <p:sp>
        <p:nvSpPr>
          <p:cNvPr id="36" name="テキスト 36"/>
          <p:cNvSpPr txBox="1"/>
          <p:nvPr/>
        </p:nvSpPr>
        <p:spPr>
          <a:xfrm>
            <a:off x="4494276" y="4873752"/>
            <a:ext cx="32004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行動に寄せた計算</a:t>
            </a:r>
            <a:endParaRPr lang="ja-JP" altLang="en-US" sz="1300" dirty="0"/>
          </a:p>
        </p:txBody>
      </p:sp>
      <p:sp>
        <p:nvSpPr>
          <p:cNvPr id="37" name="テキスト 37"/>
          <p:cNvSpPr txBox="1"/>
          <p:nvPr/>
        </p:nvSpPr>
        <p:spPr>
          <a:xfrm>
            <a:off x="4494276" y="5212080"/>
            <a:ext cx="3246120" cy="8229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音源を厳密・簡易・保持の段に分け、操作している物の音を最優先に計算する</a:t>
            </a:r>
            <a:endParaRPr lang="ja-JP" altLang="en-US" sz="1200" dirty="0"/>
          </a:p>
        </p:txBody>
      </p:sp>
      <p:sp>
        <p:nvSpPr>
          <p:cNvPr id="38" name="カード 38"/>
          <p:cNvSpPr/>
          <p:nvPr/>
        </p:nvSpPr>
        <p:spPr>
          <a:xfrm>
            <a:off x="7982712" y="4754880"/>
            <a:ext cx="3657600" cy="1371600"/>
          </a:xfrm>
          <a:prstGeom prst="roundRect">
            <a:avLst>
              <a:gd name="adj" fmla="val 4000"/>
            </a:avLst>
          </a:prstGeom>
          <a:solidFill>
            <a:srgbClr val="F0F2F5"/>
          </a:solidFill>
          <a:ln>
            <a:noFill/>
          </a:ln>
        </p:spPr>
      </p:sp>
      <p:sp>
        <p:nvSpPr>
          <p:cNvPr id="39" name="テキスト 39"/>
          <p:cNvSpPr txBox="1"/>
          <p:nvPr/>
        </p:nvSpPr>
        <p:spPr>
          <a:xfrm>
            <a:off x="8211312" y="4873752"/>
            <a:ext cx="32004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GPU でも解ける</a:t>
            </a:r>
            <a:endParaRPr lang="ja-JP" altLang="en-US" sz="1300" dirty="0"/>
          </a:p>
        </p:txBody>
      </p:sp>
      <p:sp>
        <p:nvSpPr>
          <p:cNvPr id="40" name="テキスト 40"/>
          <p:cNvSpPr txBox="1"/>
          <p:nvPr/>
        </p:nvSpPr>
        <p:spPr>
          <a:xfrm>
            <a:off x="8211312" y="5212080"/>
            <a:ext cx="3246120" cy="8229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レイだけを GPU で解き、音は CPU で作る。CPU との差は ±0.05 dB</a:t>
            </a:r>
            <a:endParaRPr lang="ja-JP" altLang="en-US" sz="1200" dirty="0"/>
          </a:p>
        </p:txBody>
      </p:sp>
      <p:sp>
        <p:nvSpPr>
          <p:cNvPr id="41" name="ページ番号 4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6</a:t>
            </a:r>
            <a:endParaRPr lang="ja-JP" alt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音の空間印象</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歩いた位置で、響きの広がりが伝わるように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ISM（虚像法）の虚像を点で鳴らすと、反射の方向はわかるが、壁が近い・部屋が広いといった「広がり」や「近さ」が出ない。点が見えた・消えたで、歩くと音が跳ぶ。</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虚像どうしをつないで面にする。面の広さを音の幅（ASW）に、虚像の集まり具合と近さを重みにして、奥行き感を出す。</a:t>
            </a:r>
            <a:endParaRPr lang="ja-JP" altLang="en-US" sz="1300" dirty="0"/>
          </a:p>
        </p:txBody>
      </p:sp>
      <p:sp>
        <p:nvSpPr>
          <p:cNvPr id="11" name="カード 11"/>
          <p:cNvSpPr/>
          <p:nvPr/>
        </p:nvSpPr>
        <p:spPr>
          <a:xfrm>
            <a:off x="548640" y="3200400"/>
            <a:ext cx="3657600" cy="3090672"/>
          </a:xfrm>
          <a:prstGeom prst="roundRect">
            <a:avLst>
              <a:gd name="adj" fmla="val 4000"/>
            </a:avLst>
          </a:prstGeom>
          <a:solidFill>
            <a:srgbClr val="F0F2F5"/>
          </a:solidFill>
          <a:ln>
            <a:noFill/>
          </a:ln>
        </p:spPr>
      </p:sp>
      <p:sp>
        <p:nvSpPr>
          <p:cNvPr id="12" name="ラベル 12"/>
          <p:cNvSpPr/>
          <p:nvPr/>
        </p:nvSpPr>
        <p:spPr>
          <a:xfrm>
            <a:off x="731520" y="3337560"/>
            <a:ext cx="548640" cy="292608"/>
          </a:xfrm>
          <a:prstGeom prst="roundRect">
            <a:avLst>
              <a:gd name="adj" fmla="val 50000"/>
            </a:avLst>
          </a:prstGeom>
          <a:solidFill>
            <a:srgbClr val="C9CED6"/>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前</a:t>
            </a:r>
            <a:endParaRPr lang="ja-JP" altLang="en-US" sz="1200" dirty="0"/>
          </a:p>
        </p:txBody>
      </p:sp>
      <p:sp>
        <p:nvSpPr>
          <p:cNvPr id="13" name="テキスト 13"/>
          <p:cNvSpPr txBox="1"/>
          <p:nvPr/>
        </p:nvSpPr>
        <p:spPr>
          <a:xfrm>
            <a:off x="1371600" y="3346704"/>
            <a:ext cx="2743200"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1E2430"/>
                </a:solidFill>
                <a:latin typeface="BIZ UDPゴシック"/>
                <a:ea typeface="BIZ UDPゴシック"/>
                <a:cs typeface="BIZ UDPゴシック"/>
              </a:rPr>
              <a:t>虚像を点で鳴らす：方向だけ</a:t>
            </a:r>
            <a:endParaRPr lang="ja-JP" altLang="en-US" sz="1200" dirty="0"/>
          </a:p>
        </p:txBody>
      </p:sp>
      <p:sp>
        <p:nvSpPr>
          <p:cNvPr id="14" name="鏡に映した部屋 14"/>
          <p:cNvSpPr/>
          <p:nvPr/>
        </p:nvSpPr>
        <p:spPr>
          <a:xfrm>
            <a:off x="1005840" y="3927348"/>
            <a:ext cx="914400" cy="658368"/>
          </a:xfrm>
          <a:prstGeom prst="rect">
            <a:avLst/>
          </a:prstGeom>
          <a:noFill/>
          <a:ln w="9525">
            <a:solidFill>
              <a:srgbClr val="C9CED6"/>
            </a:solidFill>
            <a:prstDash val="dash"/>
          </a:ln>
        </p:spPr>
      </p:sp>
      <p:sp>
        <p:nvSpPr>
          <p:cNvPr id="15" name="鏡に映した部屋 15"/>
          <p:cNvSpPr/>
          <p:nvPr/>
        </p:nvSpPr>
        <p:spPr>
          <a:xfrm>
            <a:off x="1005840" y="4585716"/>
            <a:ext cx="914400" cy="658368"/>
          </a:xfrm>
          <a:prstGeom prst="rect">
            <a:avLst/>
          </a:prstGeom>
          <a:noFill/>
          <a:ln w="9525">
            <a:solidFill>
              <a:srgbClr val="C9CED6"/>
            </a:solidFill>
            <a:prstDash val="dash"/>
          </a:ln>
        </p:spPr>
      </p:sp>
      <p:sp>
        <p:nvSpPr>
          <p:cNvPr id="16" name="鏡に映した部屋 16"/>
          <p:cNvSpPr/>
          <p:nvPr/>
        </p:nvSpPr>
        <p:spPr>
          <a:xfrm>
            <a:off x="1005840" y="5244084"/>
            <a:ext cx="914400" cy="658368"/>
          </a:xfrm>
          <a:prstGeom prst="rect">
            <a:avLst/>
          </a:prstGeom>
          <a:noFill/>
          <a:ln w="9525">
            <a:solidFill>
              <a:srgbClr val="C9CED6"/>
            </a:solidFill>
            <a:prstDash val="dash"/>
          </a:ln>
        </p:spPr>
      </p:sp>
      <p:sp>
        <p:nvSpPr>
          <p:cNvPr id="17" name="鏡に映した部屋 17"/>
          <p:cNvSpPr/>
          <p:nvPr/>
        </p:nvSpPr>
        <p:spPr>
          <a:xfrm>
            <a:off x="1920240" y="3927348"/>
            <a:ext cx="914400" cy="658368"/>
          </a:xfrm>
          <a:prstGeom prst="rect">
            <a:avLst/>
          </a:prstGeom>
          <a:noFill/>
          <a:ln w="9525">
            <a:solidFill>
              <a:srgbClr val="C9CED6"/>
            </a:solidFill>
            <a:prstDash val="dash"/>
          </a:ln>
        </p:spPr>
      </p:sp>
      <p:sp>
        <p:nvSpPr>
          <p:cNvPr id="18" name="鏡に映した部屋 18"/>
          <p:cNvSpPr/>
          <p:nvPr/>
        </p:nvSpPr>
        <p:spPr>
          <a:xfrm>
            <a:off x="1920240" y="5244084"/>
            <a:ext cx="914400" cy="658368"/>
          </a:xfrm>
          <a:prstGeom prst="rect">
            <a:avLst/>
          </a:prstGeom>
          <a:noFill/>
          <a:ln w="9525">
            <a:solidFill>
              <a:srgbClr val="C9CED6"/>
            </a:solidFill>
            <a:prstDash val="dash"/>
          </a:ln>
        </p:spPr>
      </p:sp>
      <p:sp>
        <p:nvSpPr>
          <p:cNvPr id="19" name="鏡に映した部屋 19"/>
          <p:cNvSpPr/>
          <p:nvPr/>
        </p:nvSpPr>
        <p:spPr>
          <a:xfrm>
            <a:off x="2834640" y="3927348"/>
            <a:ext cx="914400" cy="658368"/>
          </a:xfrm>
          <a:prstGeom prst="rect">
            <a:avLst/>
          </a:prstGeom>
          <a:noFill/>
          <a:ln w="9525">
            <a:solidFill>
              <a:srgbClr val="C9CED6"/>
            </a:solidFill>
            <a:prstDash val="dash"/>
          </a:ln>
        </p:spPr>
      </p:sp>
      <p:sp>
        <p:nvSpPr>
          <p:cNvPr id="20" name="鏡に映した部屋 20"/>
          <p:cNvSpPr/>
          <p:nvPr/>
        </p:nvSpPr>
        <p:spPr>
          <a:xfrm>
            <a:off x="2834640" y="4585716"/>
            <a:ext cx="914400" cy="658368"/>
          </a:xfrm>
          <a:prstGeom prst="rect">
            <a:avLst/>
          </a:prstGeom>
          <a:noFill/>
          <a:ln w="9525">
            <a:solidFill>
              <a:srgbClr val="C9CED6"/>
            </a:solidFill>
            <a:prstDash val="dash"/>
          </a:ln>
        </p:spPr>
      </p:sp>
      <p:sp>
        <p:nvSpPr>
          <p:cNvPr id="21" name="鏡に映した部屋 21"/>
          <p:cNvSpPr/>
          <p:nvPr/>
        </p:nvSpPr>
        <p:spPr>
          <a:xfrm>
            <a:off x="2834640" y="5244084"/>
            <a:ext cx="914400" cy="658368"/>
          </a:xfrm>
          <a:prstGeom prst="rect">
            <a:avLst/>
          </a:prstGeom>
          <a:noFill/>
          <a:ln w="9525">
            <a:solidFill>
              <a:srgbClr val="C9CED6"/>
            </a:solidFill>
            <a:prstDash val="dash"/>
          </a:ln>
        </p:spPr>
      </p:sp>
      <p:cxnSp>
        <p:nvCxnSpPr>
          <p:cNvPr id="22" name="線 22"/>
          <p:cNvCxnSpPr/>
          <p:nvPr/>
        </p:nvCxnSpPr>
        <p:spPr>
          <a:xfrm>
            <a:off x="1645920" y="4816145"/>
            <a:ext cx="914400" cy="204094"/>
          </a:xfrm>
          <a:prstGeom prst="line">
            <a:avLst/>
          </a:prstGeom>
          <a:ln w="9525">
            <a:solidFill>
              <a:srgbClr val="C9CED6"/>
            </a:solidFill>
            <a:prstDash val="sysDash"/>
          </a:ln>
        </p:spPr>
      </p:cxnSp>
      <p:cxnSp>
        <p:nvCxnSpPr>
          <p:cNvPr id="23" name="線 23"/>
          <p:cNvCxnSpPr/>
          <p:nvPr/>
        </p:nvCxnSpPr>
        <p:spPr>
          <a:xfrm>
            <a:off x="1645920" y="4355287"/>
            <a:ext cx="914400" cy="664952"/>
          </a:xfrm>
          <a:prstGeom prst="line">
            <a:avLst/>
          </a:prstGeom>
          <a:ln w="9525">
            <a:solidFill>
              <a:srgbClr val="C9CED6"/>
            </a:solidFill>
            <a:prstDash val="sysDash"/>
          </a:ln>
        </p:spPr>
      </p:cxnSp>
      <p:cxnSp>
        <p:nvCxnSpPr>
          <p:cNvPr id="24" name="線 24"/>
          <p:cNvCxnSpPr/>
          <p:nvPr/>
        </p:nvCxnSpPr>
        <p:spPr>
          <a:xfrm>
            <a:off x="2194560" y="4355287"/>
            <a:ext cx="365760" cy="664952"/>
          </a:xfrm>
          <a:prstGeom prst="line">
            <a:avLst/>
          </a:prstGeom>
          <a:ln w="9525">
            <a:solidFill>
              <a:srgbClr val="C9CED6"/>
            </a:solidFill>
            <a:prstDash val="sysDash"/>
          </a:ln>
        </p:spPr>
      </p:cxnSp>
      <p:cxnSp>
        <p:nvCxnSpPr>
          <p:cNvPr id="25" name="線 25"/>
          <p:cNvCxnSpPr/>
          <p:nvPr/>
        </p:nvCxnSpPr>
        <p:spPr>
          <a:xfrm flipH="1">
            <a:off x="2560320" y="4355287"/>
            <a:ext cx="914400" cy="664952"/>
          </a:xfrm>
          <a:prstGeom prst="line">
            <a:avLst/>
          </a:prstGeom>
          <a:ln w="9525">
            <a:solidFill>
              <a:srgbClr val="C9CED6"/>
            </a:solidFill>
            <a:prstDash val="sysDash"/>
          </a:ln>
        </p:spPr>
      </p:cxnSp>
      <p:cxnSp>
        <p:nvCxnSpPr>
          <p:cNvPr id="26" name="線 26"/>
          <p:cNvCxnSpPr/>
          <p:nvPr/>
        </p:nvCxnSpPr>
        <p:spPr>
          <a:xfrm flipH="1">
            <a:off x="2560320" y="4816145"/>
            <a:ext cx="914400" cy="204094"/>
          </a:xfrm>
          <a:prstGeom prst="line">
            <a:avLst/>
          </a:prstGeom>
          <a:ln w="9525">
            <a:solidFill>
              <a:srgbClr val="C9CED6"/>
            </a:solidFill>
            <a:prstDash val="sysDash"/>
          </a:ln>
        </p:spPr>
      </p:cxnSp>
      <p:cxnSp>
        <p:nvCxnSpPr>
          <p:cNvPr id="27" name="線 27"/>
          <p:cNvCxnSpPr/>
          <p:nvPr/>
        </p:nvCxnSpPr>
        <p:spPr>
          <a:xfrm flipH="1" flipV="1">
            <a:off x="2560320" y="5020239"/>
            <a:ext cx="914400" cy="651784"/>
          </a:xfrm>
          <a:prstGeom prst="line">
            <a:avLst/>
          </a:prstGeom>
          <a:ln w="9525">
            <a:solidFill>
              <a:srgbClr val="C9CED6"/>
            </a:solidFill>
            <a:prstDash val="sysDash"/>
          </a:ln>
        </p:spPr>
      </p:cxnSp>
      <p:cxnSp>
        <p:nvCxnSpPr>
          <p:cNvPr id="28" name="線 28"/>
          <p:cNvCxnSpPr/>
          <p:nvPr/>
        </p:nvCxnSpPr>
        <p:spPr>
          <a:xfrm flipV="1">
            <a:off x="2194560" y="5020239"/>
            <a:ext cx="365760" cy="651784"/>
          </a:xfrm>
          <a:prstGeom prst="line">
            <a:avLst/>
          </a:prstGeom>
          <a:ln w="9525">
            <a:solidFill>
              <a:srgbClr val="C9CED6"/>
            </a:solidFill>
            <a:prstDash val="sysDash"/>
          </a:ln>
        </p:spPr>
      </p:cxnSp>
      <p:cxnSp>
        <p:nvCxnSpPr>
          <p:cNvPr id="29" name="線 29"/>
          <p:cNvCxnSpPr/>
          <p:nvPr/>
        </p:nvCxnSpPr>
        <p:spPr>
          <a:xfrm flipV="1">
            <a:off x="1645920" y="5020239"/>
            <a:ext cx="914400" cy="651784"/>
          </a:xfrm>
          <a:prstGeom prst="line">
            <a:avLst/>
          </a:prstGeom>
          <a:ln w="9525">
            <a:solidFill>
              <a:srgbClr val="C9CED6"/>
            </a:solidFill>
            <a:prstDash val="sysDash"/>
          </a:ln>
        </p:spPr>
      </p:cxnSp>
      <p:sp>
        <p:nvSpPr>
          <p:cNvPr id="30" name="部屋 30"/>
          <p:cNvSpPr/>
          <p:nvPr/>
        </p:nvSpPr>
        <p:spPr>
          <a:xfrm>
            <a:off x="1920240" y="4585716"/>
            <a:ext cx="914400" cy="658368"/>
          </a:xfrm>
          <a:prstGeom prst="rect">
            <a:avLst/>
          </a:prstGeom>
          <a:solidFill>
            <a:srgbClr val="FFFFFF"/>
          </a:solidFill>
          <a:ln w="25400">
            <a:solidFill>
              <a:srgbClr val="8A94A6"/>
            </a:solidFill>
          </a:ln>
        </p:spPr>
      </p:sp>
      <p:sp>
        <p:nvSpPr>
          <p:cNvPr id="31" name="虚像 31"/>
          <p:cNvSpPr/>
          <p:nvPr/>
        </p:nvSpPr>
        <p:spPr>
          <a:xfrm>
            <a:off x="1591056" y="4761281"/>
            <a:ext cx="109728" cy="109728"/>
          </a:xfrm>
          <a:prstGeom prst="ellipse">
            <a:avLst/>
          </a:prstGeom>
          <a:solidFill>
            <a:srgbClr val="5C6677"/>
          </a:solidFill>
          <a:ln>
            <a:noFill/>
          </a:ln>
        </p:spPr>
      </p:sp>
      <p:sp>
        <p:nvSpPr>
          <p:cNvPr id="32" name="虚像 32"/>
          <p:cNvSpPr/>
          <p:nvPr/>
        </p:nvSpPr>
        <p:spPr>
          <a:xfrm>
            <a:off x="1591056" y="4300423"/>
            <a:ext cx="109728" cy="109728"/>
          </a:xfrm>
          <a:prstGeom prst="ellipse">
            <a:avLst/>
          </a:prstGeom>
          <a:solidFill>
            <a:srgbClr val="5C6677"/>
          </a:solidFill>
          <a:ln>
            <a:noFill/>
          </a:ln>
        </p:spPr>
      </p:sp>
      <p:sp>
        <p:nvSpPr>
          <p:cNvPr id="33" name="虚像 33"/>
          <p:cNvSpPr/>
          <p:nvPr/>
        </p:nvSpPr>
        <p:spPr>
          <a:xfrm>
            <a:off x="2139696" y="4300423"/>
            <a:ext cx="109728" cy="109728"/>
          </a:xfrm>
          <a:prstGeom prst="ellipse">
            <a:avLst/>
          </a:prstGeom>
          <a:solidFill>
            <a:srgbClr val="5C6677"/>
          </a:solidFill>
          <a:ln>
            <a:noFill/>
          </a:ln>
        </p:spPr>
      </p:sp>
      <p:sp>
        <p:nvSpPr>
          <p:cNvPr id="34" name="虚像 34"/>
          <p:cNvSpPr/>
          <p:nvPr/>
        </p:nvSpPr>
        <p:spPr>
          <a:xfrm>
            <a:off x="3419856" y="4300423"/>
            <a:ext cx="109728" cy="109728"/>
          </a:xfrm>
          <a:prstGeom prst="ellipse">
            <a:avLst/>
          </a:prstGeom>
          <a:solidFill>
            <a:srgbClr val="5C6677"/>
          </a:solidFill>
          <a:ln>
            <a:noFill/>
          </a:ln>
        </p:spPr>
      </p:sp>
      <p:sp>
        <p:nvSpPr>
          <p:cNvPr id="35" name="虚像 35"/>
          <p:cNvSpPr/>
          <p:nvPr/>
        </p:nvSpPr>
        <p:spPr>
          <a:xfrm>
            <a:off x="3419856" y="4761281"/>
            <a:ext cx="109728" cy="109728"/>
          </a:xfrm>
          <a:prstGeom prst="ellipse">
            <a:avLst/>
          </a:prstGeom>
          <a:solidFill>
            <a:srgbClr val="5C6677"/>
          </a:solidFill>
          <a:ln>
            <a:noFill/>
          </a:ln>
        </p:spPr>
      </p:sp>
      <p:sp>
        <p:nvSpPr>
          <p:cNvPr id="36" name="虚像 36"/>
          <p:cNvSpPr/>
          <p:nvPr/>
        </p:nvSpPr>
        <p:spPr>
          <a:xfrm>
            <a:off x="3419856" y="5617159"/>
            <a:ext cx="109728" cy="109728"/>
          </a:xfrm>
          <a:prstGeom prst="ellipse">
            <a:avLst/>
          </a:prstGeom>
          <a:solidFill>
            <a:srgbClr val="5C6677"/>
          </a:solidFill>
          <a:ln>
            <a:noFill/>
          </a:ln>
        </p:spPr>
      </p:sp>
      <p:sp>
        <p:nvSpPr>
          <p:cNvPr id="37" name="虚像 37"/>
          <p:cNvSpPr/>
          <p:nvPr/>
        </p:nvSpPr>
        <p:spPr>
          <a:xfrm>
            <a:off x="2139696" y="5617159"/>
            <a:ext cx="109728" cy="109728"/>
          </a:xfrm>
          <a:prstGeom prst="ellipse">
            <a:avLst/>
          </a:prstGeom>
          <a:solidFill>
            <a:srgbClr val="5C6677"/>
          </a:solidFill>
          <a:ln>
            <a:noFill/>
          </a:ln>
        </p:spPr>
      </p:sp>
      <p:sp>
        <p:nvSpPr>
          <p:cNvPr id="38" name="虚像 38"/>
          <p:cNvSpPr/>
          <p:nvPr/>
        </p:nvSpPr>
        <p:spPr>
          <a:xfrm>
            <a:off x="1591056" y="5617159"/>
            <a:ext cx="109728" cy="109728"/>
          </a:xfrm>
          <a:prstGeom prst="ellipse">
            <a:avLst/>
          </a:prstGeom>
          <a:solidFill>
            <a:srgbClr val="5C6677"/>
          </a:solidFill>
          <a:ln>
            <a:noFill/>
          </a:ln>
        </p:spPr>
      </p:sp>
      <p:sp>
        <p:nvSpPr>
          <p:cNvPr id="39" name="点 39"/>
          <p:cNvSpPr/>
          <p:nvPr/>
        </p:nvSpPr>
        <p:spPr>
          <a:xfrm>
            <a:off x="2135124" y="4756709"/>
            <a:ext cx="118872" cy="118872"/>
          </a:xfrm>
          <a:prstGeom prst="ellipse">
            <a:avLst/>
          </a:prstGeom>
          <a:solidFill>
            <a:srgbClr val="E3A33B"/>
          </a:solidFill>
          <a:ln>
            <a:noFill/>
          </a:ln>
        </p:spPr>
      </p:sp>
      <p:sp>
        <p:nvSpPr>
          <p:cNvPr id="40" name="点 40"/>
          <p:cNvSpPr/>
          <p:nvPr/>
        </p:nvSpPr>
        <p:spPr>
          <a:xfrm>
            <a:off x="2500884" y="4960803"/>
            <a:ext cx="118872" cy="118872"/>
          </a:xfrm>
          <a:prstGeom prst="ellipse">
            <a:avLst/>
          </a:prstGeom>
          <a:solidFill>
            <a:srgbClr val="1E2430"/>
          </a:solidFill>
          <a:ln>
            <a:noFill/>
          </a:ln>
        </p:spPr>
      </p:sp>
      <p:sp>
        <p:nvSpPr>
          <p:cNvPr id="41" name="テキスト 41"/>
          <p:cNvSpPr txBox="1"/>
          <p:nvPr/>
        </p:nvSpPr>
        <p:spPr>
          <a:xfrm>
            <a:off x="1920240" y="4871009"/>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音源</a:t>
            </a:r>
            <a:endParaRPr lang="ja-JP" altLang="en-US" sz="900" dirty="0"/>
          </a:p>
        </p:txBody>
      </p:sp>
      <p:sp>
        <p:nvSpPr>
          <p:cNvPr id="42" name="テキスト 42"/>
          <p:cNvSpPr txBox="1"/>
          <p:nvPr/>
        </p:nvSpPr>
        <p:spPr>
          <a:xfrm>
            <a:off x="2286000" y="5075103"/>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耳</a:t>
            </a:r>
            <a:endParaRPr lang="ja-JP" altLang="en-US" sz="900" dirty="0"/>
          </a:p>
        </p:txBody>
      </p:sp>
      <p:sp>
        <p:nvSpPr>
          <p:cNvPr id="43" name="テキスト 43"/>
          <p:cNvSpPr txBox="1"/>
          <p:nvPr/>
        </p:nvSpPr>
        <p:spPr>
          <a:xfrm>
            <a:off x="1371600" y="4080967"/>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虚像</a:t>
            </a:r>
            <a:endParaRPr lang="ja-JP" altLang="en-US" sz="900" dirty="0"/>
          </a:p>
        </p:txBody>
      </p:sp>
      <p:sp>
        <p:nvSpPr>
          <p:cNvPr id="44" name="カード 44"/>
          <p:cNvSpPr/>
          <p:nvPr/>
        </p:nvSpPr>
        <p:spPr>
          <a:xfrm>
            <a:off x="4389120" y="3200400"/>
            <a:ext cx="3657600" cy="3090672"/>
          </a:xfrm>
          <a:prstGeom prst="roundRect">
            <a:avLst>
              <a:gd name="adj" fmla="val 4000"/>
            </a:avLst>
          </a:prstGeom>
          <a:solidFill>
            <a:srgbClr val="F0F2F5"/>
          </a:solidFill>
          <a:ln>
            <a:noFill/>
          </a:ln>
        </p:spPr>
      </p:sp>
      <p:sp>
        <p:nvSpPr>
          <p:cNvPr id="45" name="ラベル 45"/>
          <p:cNvSpPr/>
          <p:nvPr/>
        </p:nvSpPr>
        <p:spPr>
          <a:xfrm>
            <a:off x="4572000" y="3337560"/>
            <a:ext cx="548640" cy="292608"/>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今</a:t>
            </a:r>
            <a:endParaRPr lang="ja-JP" altLang="en-US" sz="1200" dirty="0"/>
          </a:p>
        </p:txBody>
      </p:sp>
      <p:sp>
        <p:nvSpPr>
          <p:cNvPr id="46" name="テキスト 46"/>
          <p:cNvSpPr txBox="1"/>
          <p:nvPr/>
        </p:nvSpPr>
        <p:spPr>
          <a:xfrm>
            <a:off x="5212080" y="3346704"/>
            <a:ext cx="2743200"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1E2430"/>
                </a:solidFill>
                <a:latin typeface="BIZ UDPゴシック"/>
                <a:ea typeface="BIZ UDPゴシック"/>
                <a:cs typeface="BIZ UDPゴシック"/>
              </a:rPr>
              <a:t>虚像をつないで面に：幅と奥行き</a:t>
            </a:r>
            <a:endParaRPr lang="ja-JP" altLang="en-US" sz="1200" dirty="0"/>
          </a:p>
        </p:txBody>
      </p:sp>
      <p:sp>
        <p:nvSpPr>
          <p:cNvPr id="47" name="鏡に映した部屋 47"/>
          <p:cNvSpPr/>
          <p:nvPr/>
        </p:nvSpPr>
        <p:spPr>
          <a:xfrm>
            <a:off x="4846320" y="3927348"/>
            <a:ext cx="914400" cy="658368"/>
          </a:xfrm>
          <a:prstGeom prst="rect">
            <a:avLst/>
          </a:prstGeom>
          <a:noFill/>
          <a:ln w="9525">
            <a:solidFill>
              <a:srgbClr val="C9CED6"/>
            </a:solidFill>
            <a:prstDash val="dash"/>
          </a:ln>
        </p:spPr>
      </p:sp>
      <p:sp>
        <p:nvSpPr>
          <p:cNvPr id="48" name="鏡に映した部屋 48"/>
          <p:cNvSpPr/>
          <p:nvPr/>
        </p:nvSpPr>
        <p:spPr>
          <a:xfrm>
            <a:off x="4846320" y="4585716"/>
            <a:ext cx="914400" cy="658368"/>
          </a:xfrm>
          <a:prstGeom prst="rect">
            <a:avLst/>
          </a:prstGeom>
          <a:noFill/>
          <a:ln w="9525">
            <a:solidFill>
              <a:srgbClr val="C9CED6"/>
            </a:solidFill>
            <a:prstDash val="dash"/>
          </a:ln>
        </p:spPr>
      </p:sp>
      <p:sp>
        <p:nvSpPr>
          <p:cNvPr id="49" name="鏡に映した部屋 49"/>
          <p:cNvSpPr/>
          <p:nvPr/>
        </p:nvSpPr>
        <p:spPr>
          <a:xfrm>
            <a:off x="4846320" y="5244084"/>
            <a:ext cx="914400" cy="658368"/>
          </a:xfrm>
          <a:prstGeom prst="rect">
            <a:avLst/>
          </a:prstGeom>
          <a:noFill/>
          <a:ln w="9525">
            <a:solidFill>
              <a:srgbClr val="C9CED6"/>
            </a:solidFill>
            <a:prstDash val="dash"/>
          </a:ln>
        </p:spPr>
      </p:sp>
      <p:sp>
        <p:nvSpPr>
          <p:cNvPr id="50" name="鏡に映した部屋 50"/>
          <p:cNvSpPr/>
          <p:nvPr/>
        </p:nvSpPr>
        <p:spPr>
          <a:xfrm>
            <a:off x="5760720" y="3927348"/>
            <a:ext cx="914400" cy="658368"/>
          </a:xfrm>
          <a:prstGeom prst="rect">
            <a:avLst/>
          </a:prstGeom>
          <a:noFill/>
          <a:ln w="9525">
            <a:solidFill>
              <a:srgbClr val="C9CED6"/>
            </a:solidFill>
            <a:prstDash val="dash"/>
          </a:ln>
        </p:spPr>
      </p:sp>
      <p:sp>
        <p:nvSpPr>
          <p:cNvPr id="51" name="鏡に映した部屋 51"/>
          <p:cNvSpPr/>
          <p:nvPr/>
        </p:nvSpPr>
        <p:spPr>
          <a:xfrm>
            <a:off x="5760720" y="5244084"/>
            <a:ext cx="914400" cy="658368"/>
          </a:xfrm>
          <a:prstGeom prst="rect">
            <a:avLst/>
          </a:prstGeom>
          <a:noFill/>
          <a:ln w="9525">
            <a:solidFill>
              <a:srgbClr val="C9CED6"/>
            </a:solidFill>
            <a:prstDash val="dash"/>
          </a:ln>
        </p:spPr>
      </p:sp>
      <p:sp>
        <p:nvSpPr>
          <p:cNvPr id="52" name="鏡に映した部屋 52"/>
          <p:cNvSpPr/>
          <p:nvPr/>
        </p:nvSpPr>
        <p:spPr>
          <a:xfrm>
            <a:off x="6675120" y="3927348"/>
            <a:ext cx="914400" cy="658368"/>
          </a:xfrm>
          <a:prstGeom prst="rect">
            <a:avLst/>
          </a:prstGeom>
          <a:noFill/>
          <a:ln w="9525">
            <a:solidFill>
              <a:srgbClr val="C9CED6"/>
            </a:solidFill>
            <a:prstDash val="dash"/>
          </a:ln>
        </p:spPr>
      </p:sp>
      <p:sp>
        <p:nvSpPr>
          <p:cNvPr id="53" name="鏡に映した部屋 53"/>
          <p:cNvSpPr/>
          <p:nvPr/>
        </p:nvSpPr>
        <p:spPr>
          <a:xfrm>
            <a:off x="6675120" y="4585716"/>
            <a:ext cx="914400" cy="658368"/>
          </a:xfrm>
          <a:prstGeom prst="rect">
            <a:avLst/>
          </a:prstGeom>
          <a:noFill/>
          <a:ln w="9525">
            <a:solidFill>
              <a:srgbClr val="C9CED6"/>
            </a:solidFill>
            <a:prstDash val="dash"/>
          </a:ln>
        </p:spPr>
      </p:sp>
      <p:sp>
        <p:nvSpPr>
          <p:cNvPr id="54" name="鏡に映した部屋 54"/>
          <p:cNvSpPr/>
          <p:nvPr/>
        </p:nvSpPr>
        <p:spPr>
          <a:xfrm>
            <a:off x="6675120" y="5244084"/>
            <a:ext cx="914400" cy="658368"/>
          </a:xfrm>
          <a:prstGeom prst="rect">
            <a:avLst/>
          </a:prstGeom>
          <a:noFill/>
          <a:ln w="9525">
            <a:solidFill>
              <a:srgbClr val="C9CED6"/>
            </a:solidFill>
            <a:prstDash val="dash"/>
          </a:ln>
        </p:spPr>
      </p:sp>
      <p:sp>
        <p:nvSpPr>
          <p:cNvPr id="55" name="虚像の面 55"/>
          <p:cNvSpPr/>
          <p:nvPr/>
        </p:nvSpPr>
        <p:spPr>
          <a:xfrm>
            <a:off x="5486400" y="4355287"/>
            <a:ext cx="1828800" cy="1316736"/>
          </a:xfrm>
          <a:custGeom>
            <a:avLst/>
            <a:gdLst/>
            <a:ahLst/>
            <a:cxnLst/>
            <a:rect l="0" t="0" r="r" b="b"/>
            <a:pathLst>
              <a:path w="1828800" h="1316736">
                <a:moveTo>
                  <a:pt x="0" y="460858"/>
                </a:moveTo>
                <a:lnTo>
                  <a:pt x="0" y="0"/>
                </a:lnTo>
                <a:lnTo>
                  <a:pt x="548640" y="0"/>
                </a:lnTo>
                <a:lnTo>
                  <a:pt x="1828800" y="0"/>
                </a:lnTo>
                <a:lnTo>
                  <a:pt x="1828800" y="460858"/>
                </a:lnTo>
                <a:lnTo>
                  <a:pt x="1828800" y="1316736"/>
                </a:lnTo>
                <a:lnTo>
                  <a:pt x="548640" y="1316736"/>
                </a:lnTo>
                <a:lnTo>
                  <a:pt x="0" y="1316736"/>
                </a:lnTo>
                <a:close/>
              </a:path>
            </a:pathLst>
          </a:custGeom>
          <a:solidFill>
            <a:srgbClr val="E3A33B">
              <a:alpha val="28000"/>
            </a:srgbClr>
          </a:solidFill>
          <a:ln w="31750">
            <a:solidFill>
              <a:srgbClr val="E3A33B"/>
            </a:solidFill>
          </a:ln>
        </p:spPr>
      </p:sp>
      <p:sp>
        <p:nvSpPr>
          <p:cNvPr id="56" name="部屋 56"/>
          <p:cNvSpPr/>
          <p:nvPr/>
        </p:nvSpPr>
        <p:spPr>
          <a:xfrm>
            <a:off x="5760720" y="4585716"/>
            <a:ext cx="914400" cy="658368"/>
          </a:xfrm>
          <a:prstGeom prst="rect">
            <a:avLst/>
          </a:prstGeom>
          <a:solidFill>
            <a:srgbClr val="FFFFFF"/>
          </a:solidFill>
          <a:ln w="25400">
            <a:solidFill>
              <a:srgbClr val="8A94A6"/>
            </a:solidFill>
          </a:ln>
        </p:spPr>
      </p:sp>
      <p:sp>
        <p:nvSpPr>
          <p:cNvPr id="57" name="虚像 57"/>
          <p:cNvSpPr/>
          <p:nvPr/>
        </p:nvSpPr>
        <p:spPr>
          <a:xfrm>
            <a:off x="5431536" y="4761281"/>
            <a:ext cx="109728" cy="109728"/>
          </a:xfrm>
          <a:prstGeom prst="ellipse">
            <a:avLst/>
          </a:prstGeom>
          <a:solidFill>
            <a:srgbClr val="FFFFFF"/>
          </a:solidFill>
          <a:ln w="15875">
            <a:solidFill>
              <a:srgbClr val="9A6212"/>
            </a:solidFill>
          </a:ln>
        </p:spPr>
      </p:sp>
      <p:sp>
        <p:nvSpPr>
          <p:cNvPr id="58" name="虚像 58"/>
          <p:cNvSpPr/>
          <p:nvPr/>
        </p:nvSpPr>
        <p:spPr>
          <a:xfrm>
            <a:off x="5431536" y="4300423"/>
            <a:ext cx="109728" cy="109728"/>
          </a:xfrm>
          <a:prstGeom prst="ellipse">
            <a:avLst/>
          </a:prstGeom>
          <a:solidFill>
            <a:srgbClr val="FFFFFF"/>
          </a:solidFill>
          <a:ln w="15875">
            <a:solidFill>
              <a:srgbClr val="9A6212"/>
            </a:solidFill>
          </a:ln>
        </p:spPr>
      </p:sp>
      <p:sp>
        <p:nvSpPr>
          <p:cNvPr id="59" name="虚像 59"/>
          <p:cNvSpPr/>
          <p:nvPr/>
        </p:nvSpPr>
        <p:spPr>
          <a:xfrm>
            <a:off x="5980176" y="4300423"/>
            <a:ext cx="109728" cy="109728"/>
          </a:xfrm>
          <a:prstGeom prst="ellipse">
            <a:avLst/>
          </a:prstGeom>
          <a:solidFill>
            <a:srgbClr val="FFFFFF"/>
          </a:solidFill>
          <a:ln w="15875">
            <a:solidFill>
              <a:srgbClr val="9A6212"/>
            </a:solidFill>
          </a:ln>
        </p:spPr>
      </p:sp>
      <p:sp>
        <p:nvSpPr>
          <p:cNvPr id="60" name="虚像 60"/>
          <p:cNvSpPr/>
          <p:nvPr/>
        </p:nvSpPr>
        <p:spPr>
          <a:xfrm>
            <a:off x="7260336" y="4300423"/>
            <a:ext cx="109728" cy="109728"/>
          </a:xfrm>
          <a:prstGeom prst="ellipse">
            <a:avLst/>
          </a:prstGeom>
          <a:solidFill>
            <a:srgbClr val="FFFFFF"/>
          </a:solidFill>
          <a:ln w="15875">
            <a:solidFill>
              <a:srgbClr val="9A6212"/>
            </a:solidFill>
          </a:ln>
        </p:spPr>
      </p:sp>
      <p:sp>
        <p:nvSpPr>
          <p:cNvPr id="61" name="虚像 61"/>
          <p:cNvSpPr/>
          <p:nvPr/>
        </p:nvSpPr>
        <p:spPr>
          <a:xfrm>
            <a:off x="7260336" y="4761281"/>
            <a:ext cx="109728" cy="109728"/>
          </a:xfrm>
          <a:prstGeom prst="ellipse">
            <a:avLst/>
          </a:prstGeom>
          <a:solidFill>
            <a:srgbClr val="FFFFFF"/>
          </a:solidFill>
          <a:ln w="15875">
            <a:solidFill>
              <a:srgbClr val="9A6212"/>
            </a:solidFill>
          </a:ln>
        </p:spPr>
      </p:sp>
      <p:sp>
        <p:nvSpPr>
          <p:cNvPr id="62" name="虚像 62"/>
          <p:cNvSpPr/>
          <p:nvPr/>
        </p:nvSpPr>
        <p:spPr>
          <a:xfrm>
            <a:off x="7260336" y="5617159"/>
            <a:ext cx="109728" cy="109728"/>
          </a:xfrm>
          <a:prstGeom prst="ellipse">
            <a:avLst/>
          </a:prstGeom>
          <a:solidFill>
            <a:srgbClr val="FFFFFF"/>
          </a:solidFill>
          <a:ln w="15875">
            <a:solidFill>
              <a:srgbClr val="9A6212"/>
            </a:solidFill>
          </a:ln>
        </p:spPr>
      </p:sp>
      <p:sp>
        <p:nvSpPr>
          <p:cNvPr id="63" name="虚像 63"/>
          <p:cNvSpPr/>
          <p:nvPr/>
        </p:nvSpPr>
        <p:spPr>
          <a:xfrm>
            <a:off x="5980176" y="5617159"/>
            <a:ext cx="109728" cy="109728"/>
          </a:xfrm>
          <a:prstGeom prst="ellipse">
            <a:avLst/>
          </a:prstGeom>
          <a:solidFill>
            <a:srgbClr val="FFFFFF"/>
          </a:solidFill>
          <a:ln w="15875">
            <a:solidFill>
              <a:srgbClr val="9A6212"/>
            </a:solidFill>
          </a:ln>
        </p:spPr>
      </p:sp>
      <p:sp>
        <p:nvSpPr>
          <p:cNvPr id="64" name="虚像 64"/>
          <p:cNvSpPr/>
          <p:nvPr/>
        </p:nvSpPr>
        <p:spPr>
          <a:xfrm>
            <a:off x="5431536" y="5617159"/>
            <a:ext cx="109728" cy="109728"/>
          </a:xfrm>
          <a:prstGeom prst="ellipse">
            <a:avLst/>
          </a:prstGeom>
          <a:solidFill>
            <a:srgbClr val="FFFFFF"/>
          </a:solidFill>
          <a:ln w="15875">
            <a:solidFill>
              <a:srgbClr val="9A6212"/>
            </a:solidFill>
          </a:ln>
        </p:spPr>
      </p:sp>
      <p:sp>
        <p:nvSpPr>
          <p:cNvPr id="65" name="点 65"/>
          <p:cNvSpPr/>
          <p:nvPr/>
        </p:nvSpPr>
        <p:spPr>
          <a:xfrm>
            <a:off x="5975604" y="4756709"/>
            <a:ext cx="118872" cy="118872"/>
          </a:xfrm>
          <a:prstGeom prst="ellipse">
            <a:avLst/>
          </a:prstGeom>
          <a:solidFill>
            <a:srgbClr val="E3A33B"/>
          </a:solidFill>
          <a:ln>
            <a:noFill/>
          </a:ln>
        </p:spPr>
      </p:sp>
      <p:sp>
        <p:nvSpPr>
          <p:cNvPr id="66" name="点 66"/>
          <p:cNvSpPr/>
          <p:nvPr/>
        </p:nvSpPr>
        <p:spPr>
          <a:xfrm>
            <a:off x="6341364" y="4960803"/>
            <a:ext cx="118872" cy="118872"/>
          </a:xfrm>
          <a:prstGeom prst="ellipse">
            <a:avLst/>
          </a:prstGeom>
          <a:solidFill>
            <a:srgbClr val="1E2430"/>
          </a:solidFill>
          <a:ln>
            <a:noFill/>
          </a:ln>
        </p:spPr>
      </p:sp>
      <p:sp>
        <p:nvSpPr>
          <p:cNvPr id="67" name="テキスト 67"/>
          <p:cNvSpPr txBox="1"/>
          <p:nvPr/>
        </p:nvSpPr>
        <p:spPr>
          <a:xfrm>
            <a:off x="5760720" y="4871009"/>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音源</a:t>
            </a:r>
            <a:endParaRPr lang="ja-JP" altLang="en-US" sz="900" dirty="0"/>
          </a:p>
        </p:txBody>
      </p:sp>
      <p:sp>
        <p:nvSpPr>
          <p:cNvPr id="68" name="テキスト 68"/>
          <p:cNvSpPr txBox="1"/>
          <p:nvPr/>
        </p:nvSpPr>
        <p:spPr>
          <a:xfrm>
            <a:off x="6126480" y="5075103"/>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耳</a:t>
            </a:r>
            <a:endParaRPr lang="ja-JP" altLang="en-US" sz="900" dirty="0"/>
          </a:p>
        </p:txBody>
      </p:sp>
      <p:sp>
        <p:nvSpPr>
          <p:cNvPr id="69" name="テキスト 69"/>
          <p:cNvSpPr txBox="1"/>
          <p:nvPr/>
        </p:nvSpPr>
        <p:spPr>
          <a:xfrm>
            <a:off x="6309360" y="4080967"/>
            <a:ext cx="1097280" cy="201168"/>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900" b="1" dirty="0">
                <a:solidFill>
                  <a:srgbClr val="9A6212"/>
                </a:solidFill>
                <a:latin typeface="BIZ UDPゴシック"/>
                <a:ea typeface="BIZ UDPゴシック"/>
                <a:cs typeface="BIZ UDPゴシック"/>
              </a:rPr>
              <a:t>つないだ面</a:t>
            </a:r>
            <a:endParaRPr lang="ja-JP" altLang="en-US" sz="900" dirty="0"/>
          </a:p>
        </p:txBody>
      </p:sp>
      <p:sp>
        <p:nvSpPr>
          <p:cNvPr id="70" name="カード 70"/>
          <p:cNvSpPr/>
          <p:nvPr/>
        </p:nvSpPr>
        <p:spPr>
          <a:xfrm>
            <a:off x="8229600" y="3200400"/>
            <a:ext cx="3410712" cy="3090672"/>
          </a:xfrm>
          <a:prstGeom prst="roundRect">
            <a:avLst>
              <a:gd name="adj" fmla="val 4000"/>
            </a:avLst>
          </a:prstGeom>
          <a:solidFill>
            <a:srgbClr val="FBF1DF"/>
          </a:solidFill>
          <a:ln>
            <a:noFill/>
          </a:ln>
        </p:spPr>
      </p:sp>
      <p:sp>
        <p:nvSpPr>
          <p:cNvPr id="71" name="テキスト 71"/>
          <p:cNvSpPr txBox="1"/>
          <p:nvPr/>
        </p:nvSpPr>
        <p:spPr>
          <a:xfrm>
            <a:off x="8412480" y="3310128"/>
            <a:ext cx="310896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音の広がり（実測）</a:t>
            </a:r>
            <a:endParaRPr lang="ja-JP" altLang="en-US" sz="1300" dirty="0"/>
          </a:p>
        </p:txBody>
      </p:sp>
      <p:sp>
        <p:nvSpPr>
          <p:cNvPr id="72" name="テキスト 72"/>
          <p:cNvSpPr txBox="1"/>
          <p:nvPr/>
        </p:nvSpPr>
        <p:spPr>
          <a:xfrm>
            <a:off x="8412480" y="3611880"/>
            <a:ext cx="3108960" cy="4572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050" dirty="0">
                <a:solidFill>
                  <a:srgbClr val="5C6677"/>
                </a:solidFill>
                <a:latin typeface="BIZ UDPゴシック"/>
                <a:ea typeface="BIZ UDPゴシック"/>
                <a:cs typeface="BIZ UDPゴシック"/>
              </a:rPr>
              <a:t>初期反射の左右の似かた（700 Hz より上）。低いほど広く聞こえる</a:t>
            </a:r>
            <a:endParaRPr lang="ja-JP" altLang="en-US" sz="1050" dirty="0"/>
          </a:p>
        </p:txBody>
      </p:sp>
      <p:sp>
        <p:nvSpPr>
          <p:cNvPr id="73" name="棒 73"/>
          <p:cNvSpPr/>
          <p:nvPr/>
        </p:nvSpPr>
        <p:spPr>
          <a:xfrm>
            <a:off x="8823960" y="4526280"/>
            <a:ext cx="731520" cy="1234440"/>
          </a:xfrm>
          <a:prstGeom prst="rect">
            <a:avLst/>
          </a:prstGeom>
          <a:solidFill>
            <a:srgbClr val="C9CED6"/>
          </a:solidFill>
          <a:ln>
            <a:noFill/>
          </a:ln>
        </p:spPr>
      </p:sp>
      <p:sp>
        <p:nvSpPr>
          <p:cNvPr id="74" name="テキスト 74"/>
          <p:cNvSpPr txBox="1"/>
          <p:nvPr/>
        </p:nvSpPr>
        <p:spPr>
          <a:xfrm>
            <a:off x="8641080" y="4270248"/>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b="1" dirty="0">
                <a:solidFill>
                  <a:srgbClr val="1E2430"/>
                </a:solidFill>
                <a:latin typeface="BIZ UDPゴシック"/>
                <a:ea typeface="BIZ UDPゴシック"/>
                <a:cs typeface="BIZ UDPゴシック"/>
              </a:rPr>
              <a:t>0.201</a:t>
            </a:r>
            <a:endParaRPr lang="ja-JP" altLang="en-US" sz="1150" dirty="0"/>
          </a:p>
        </p:txBody>
      </p:sp>
      <p:sp>
        <p:nvSpPr>
          <p:cNvPr id="75" name="テキスト 75"/>
          <p:cNvSpPr txBox="1"/>
          <p:nvPr/>
        </p:nvSpPr>
        <p:spPr>
          <a:xfrm>
            <a:off x="8641080" y="5797296"/>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dirty="0">
                <a:solidFill>
                  <a:srgbClr val="1E2430"/>
                </a:solidFill>
                <a:latin typeface="BIZ UDPゴシック"/>
                <a:ea typeface="BIZ UDPゴシック"/>
                <a:cs typeface="BIZ UDPゴシック"/>
              </a:rPr>
              <a:t>点</a:t>
            </a:r>
            <a:endParaRPr lang="ja-JP" altLang="en-US" sz="1150" dirty="0"/>
          </a:p>
        </p:txBody>
      </p:sp>
      <p:sp>
        <p:nvSpPr>
          <p:cNvPr id="76" name="棒 76"/>
          <p:cNvSpPr/>
          <p:nvPr/>
        </p:nvSpPr>
        <p:spPr>
          <a:xfrm>
            <a:off x="10012680" y="4857921"/>
            <a:ext cx="731520" cy="902799"/>
          </a:xfrm>
          <a:prstGeom prst="rect">
            <a:avLst/>
          </a:prstGeom>
          <a:solidFill>
            <a:srgbClr val="E3A33B"/>
          </a:solidFill>
          <a:ln>
            <a:noFill/>
          </a:ln>
        </p:spPr>
      </p:sp>
      <p:sp>
        <p:nvSpPr>
          <p:cNvPr id="77" name="テキスト 77"/>
          <p:cNvSpPr txBox="1"/>
          <p:nvPr/>
        </p:nvSpPr>
        <p:spPr>
          <a:xfrm>
            <a:off x="9829800" y="4601889"/>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b="1" dirty="0">
                <a:solidFill>
                  <a:srgbClr val="1E2430"/>
                </a:solidFill>
                <a:latin typeface="BIZ UDPゴシック"/>
                <a:ea typeface="BIZ UDPゴシック"/>
                <a:cs typeface="BIZ UDPゴシック"/>
              </a:rPr>
              <a:t>0.147</a:t>
            </a:r>
            <a:endParaRPr lang="ja-JP" altLang="en-US" sz="1150" dirty="0"/>
          </a:p>
        </p:txBody>
      </p:sp>
      <p:sp>
        <p:nvSpPr>
          <p:cNvPr id="78" name="テキスト 78"/>
          <p:cNvSpPr txBox="1"/>
          <p:nvPr/>
        </p:nvSpPr>
        <p:spPr>
          <a:xfrm>
            <a:off x="9829800" y="5797296"/>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dirty="0">
                <a:solidFill>
                  <a:srgbClr val="1E2430"/>
                </a:solidFill>
                <a:latin typeface="BIZ UDPゴシック"/>
                <a:ea typeface="BIZ UDPゴシック"/>
                <a:cs typeface="BIZ UDPゴシック"/>
              </a:rPr>
              <a:t>面</a:t>
            </a:r>
            <a:endParaRPr lang="ja-JP" altLang="en-US" sz="1150" dirty="0"/>
          </a:p>
        </p:txBody>
      </p:sp>
      <p:cxnSp>
        <p:nvCxnSpPr>
          <p:cNvPr id="79" name="線 79"/>
          <p:cNvCxnSpPr/>
          <p:nvPr/>
        </p:nvCxnSpPr>
        <p:spPr>
          <a:xfrm>
            <a:off x="8595360" y="5760720"/>
            <a:ext cx="2834640" cy="0"/>
          </a:xfrm>
          <a:prstGeom prst="line">
            <a:avLst/>
          </a:prstGeom>
          <a:ln w="12700">
            <a:solidFill>
              <a:srgbClr val="8A94A6"/>
            </a:solidFill>
          </a:ln>
        </p:spPr>
      </p:cxnSp>
      <p:sp>
        <p:nvSpPr>
          <p:cNvPr id="80" name="注 80"/>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左の図は上から見た模式図（1 次と 2 次の虚像）。右は回帰テストの実測</a:t>
            </a:r>
            <a:endParaRPr lang="ja-JP" altLang="en-US" sz="950" dirty="0"/>
          </a:p>
        </p:txBody>
      </p:sp>
      <p:sp>
        <p:nvSpPr>
          <p:cNvPr id="81" name="ページ番号 8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11</a:t>
            </a:r>
            <a:endParaRPr lang="ja-JP" alt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部屋での残響感</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部屋に入ったら、その部屋の響きが伝わるように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部屋ごとに響きの長さや色が違えば、音だけで今どの部屋にいるかがわかる。ただ、部屋ごとに残響を手で置くと、形や材質を変えるたびに直すことになる。</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箱の形から部屋と戸口を自動で見つけ、壁の材質から帯域ごとの残響時間（RT60）を Sabine の式で出す。それを部屋ごとの FDN で鳴らす。</a:t>
            </a:r>
            <a:endParaRPr lang="ja-JP" altLang="en-US" sz="1300" dirty="0"/>
          </a:p>
        </p:txBody>
      </p:sp>
      <p:sp>
        <p:nvSpPr>
          <p:cNvPr id="11" name="カード 11"/>
          <p:cNvSpPr/>
          <p:nvPr/>
        </p:nvSpPr>
        <p:spPr>
          <a:xfrm>
            <a:off x="548640" y="3200400"/>
            <a:ext cx="11091672" cy="3090672"/>
          </a:xfrm>
          <a:prstGeom prst="roundRect">
            <a:avLst>
              <a:gd name="adj" fmla="val 4000"/>
            </a:avLst>
          </a:prstGeom>
          <a:solidFill>
            <a:srgbClr val="F0F2F5"/>
          </a:solidFill>
          <a:ln>
            <a:noFill/>
          </a:ln>
        </p:spPr>
      </p:sp>
      <p:sp>
        <p:nvSpPr>
          <p:cNvPr id="12" name="図形 12"/>
          <p:cNvSpPr/>
          <p:nvPr/>
        </p:nvSpPr>
        <p:spPr>
          <a:xfrm>
            <a:off x="822960" y="3401568"/>
            <a:ext cx="2395728" cy="2240280"/>
          </a:xfrm>
          <a:prstGeom prst="roundRect">
            <a:avLst>
              <a:gd name="adj" fmla="val 6000"/>
            </a:avLst>
          </a:prstGeom>
          <a:solidFill>
            <a:srgbClr val="FFFFFF"/>
          </a:solidFill>
          <a:ln>
            <a:noFill/>
          </a:ln>
        </p:spPr>
      </p:sp>
      <p:sp>
        <p:nvSpPr>
          <p:cNvPr id="13" name="テキスト 13"/>
          <p:cNvSpPr txBox="1"/>
          <p:nvPr/>
        </p:nvSpPr>
        <p:spPr>
          <a:xfrm>
            <a:off x="960120"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箱を置く</a:t>
            </a:r>
            <a:endParaRPr lang="ja-JP" altLang="en-US" sz="1300" dirty="0"/>
          </a:p>
        </p:txBody>
      </p:sp>
      <p:sp>
        <p:nvSpPr>
          <p:cNvPr id="14" name="箱 14"/>
          <p:cNvSpPr/>
          <p:nvPr/>
        </p:nvSpPr>
        <p:spPr>
          <a:xfrm>
            <a:off x="1143000" y="3840480"/>
            <a:ext cx="1737360" cy="109728"/>
          </a:xfrm>
          <a:prstGeom prst="rect">
            <a:avLst/>
          </a:prstGeom>
          <a:solidFill>
            <a:srgbClr val="8A94A6"/>
          </a:solidFill>
          <a:ln>
            <a:noFill/>
          </a:ln>
        </p:spPr>
      </p:sp>
      <p:sp>
        <p:nvSpPr>
          <p:cNvPr id="15" name="箱 15"/>
          <p:cNvSpPr/>
          <p:nvPr/>
        </p:nvSpPr>
        <p:spPr>
          <a:xfrm>
            <a:off x="1143000" y="4846320"/>
            <a:ext cx="1737360" cy="109728"/>
          </a:xfrm>
          <a:prstGeom prst="rect">
            <a:avLst/>
          </a:prstGeom>
          <a:solidFill>
            <a:srgbClr val="8A94A6"/>
          </a:solidFill>
          <a:ln>
            <a:noFill/>
          </a:ln>
        </p:spPr>
      </p:sp>
      <p:sp>
        <p:nvSpPr>
          <p:cNvPr id="16" name="箱 16"/>
          <p:cNvSpPr/>
          <p:nvPr/>
        </p:nvSpPr>
        <p:spPr>
          <a:xfrm>
            <a:off x="1143000" y="3840480"/>
            <a:ext cx="109728" cy="1115568"/>
          </a:xfrm>
          <a:prstGeom prst="rect">
            <a:avLst/>
          </a:prstGeom>
          <a:solidFill>
            <a:srgbClr val="8A94A6"/>
          </a:solidFill>
          <a:ln>
            <a:noFill/>
          </a:ln>
        </p:spPr>
      </p:sp>
      <p:sp>
        <p:nvSpPr>
          <p:cNvPr id="17" name="箱 17"/>
          <p:cNvSpPr/>
          <p:nvPr/>
        </p:nvSpPr>
        <p:spPr>
          <a:xfrm>
            <a:off x="2770632" y="3840480"/>
            <a:ext cx="109728" cy="1115568"/>
          </a:xfrm>
          <a:prstGeom prst="rect">
            <a:avLst/>
          </a:prstGeom>
          <a:solidFill>
            <a:srgbClr val="8A94A6"/>
          </a:solidFill>
          <a:ln>
            <a:noFill/>
          </a:ln>
        </p:spPr>
      </p:sp>
      <p:sp>
        <p:nvSpPr>
          <p:cNvPr id="18" name="箱 18"/>
          <p:cNvSpPr/>
          <p:nvPr/>
        </p:nvSpPr>
        <p:spPr>
          <a:xfrm>
            <a:off x="1965960" y="3840480"/>
            <a:ext cx="109728" cy="411480"/>
          </a:xfrm>
          <a:prstGeom prst="rect">
            <a:avLst/>
          </a:prstGeom>
          <a:solidFill>
            <a:srgbClr val="8A94A6"/>
          </a:solidFill>
          <a:ln>
            <a:noFill/>
          </a:ln>
        </p:spPr>
      </p:sp>
      <p:sp>
        <p:nvSpPr>
          <p:cNvPr id="19" name="箱 19"/>
          <p:cNvSpPr/>
          <p:nvPr/>
        </p:nvSpPr>
        <p:spPr>
          <a:xfrm>
            <a:off x="1965960" y="4526280"/>
            <a:ext cx="109728" cy="429768"/>
          </a:xfrm>
          <a:prstGeom prst="rect">
            <a:avLst/>
          </a:prstGeom>
          <a:solidFill>
            <a:srgbClr val="8A94A6"/>
          </a:solidFill>
          <a:ln>
            <a:noFill/>
          </a:ln>
        </p:spPr>
      </p:sp>
      <p:sp>
        <p:nvSpPr>
          <p:cNvPr id="20" name="テキスト 20"/>
          <p:cNvSpPr txBox="1"/>
          <p:nvPr/>
        </p:nvSpPr>
        <p:spPr>
          <a:xfrm>
            <a:off x="960120"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壁・床・天井・扉</a:t>
            </a:r>
            <a:endParaRPr lang="ja-JP" altLang="en-US" sz="1100" dirty="0"/>
          </a:p>
        </p:txBody>
      </p:sp>
      <p:sp>
        <p:nvSpPr>
          <p:cNvPr id="21" name="矢印 21"/>
          <p:cNvSpPr/>
          <p:nvPr/>
        </p:nvSpPr>
        <p:spPr>
          <a:xfrm>
            <a:off x="3282696" y="4343400"/>
            <a:ext cx="182880" cy="237744"/>
          </a:xfrm>
          <a:prstGeom prst="rightArrow">
            <a:avLst/>
          </a:prstGeom>
          <a:solidFill>
            <a:srgbClr val="E3A33B"/>
          </a:solidFill>
          <a:ln>
            <a:noFill/>
          </a:ln>
        </p:spPr>
      </p:sp>
      <p:sp>
        <p:nvSpPr>
          <p:cNvPr id="22" name="図形 22"/>
          <p:cNvSpPr/>
          <p:nvPr/>
        </p:nvSpPr>
        <p:spPr>
          <a:xfrm>
            <a:off x="3538728" y="3401568"/>
            <a:ext cx="2395728" cy="2240280"/>
          </a:xfrm>
          <a:prstGeom prst="roundRect">
            <a:avLst>
              <a:gd name="adj" fmla="val 6000"/>
            </a:avLst>
          </a:prstGeom>
          <a:solidFill>
            <a:srgbClr val="FFFFFF"/>
          </a:solidFill>
          <a:ln>
            <a:noFill/>
          </a:ln>
        </p:spPr>
      </p:sp>
      <p:sp>
        <p:nvSpPr>
          <p:cNvPr id="23" name="テキスト 23"/>
          <p:cNvSpPr txBox="1"/>
          <p:nvPr/>
        </p:nvSpPr>
        <p:spPr>
          <a:xfrm>
            <a:off x="3675888"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部屋を見つける</a:t>
            </a:r>
            <a:endParaRPr lang="ja-JP" altLang="en-US" sz="1300" dirty="0"/>
          </a:p>
        </p:txBody>
      </p:sp>
      <p:sp>
        <p:nvSpPr>
          <p:cNvPr id="24" name="図形 24"/>
          <p:cNvSpPr/>
          <p:nvPr/>
        </p:nvSpPr>
        <p:spPr>
          <a:xfrm>
            <a:off x="3858768" y="3840480"/>
            <a:ext cx="868680" cy="1115568"/>
          </a:xfrm>
          <a:prstGeom prst="rect">
            <a:avLst/>
          </a:prstGeom>
          <a:solidFill>
            <a:srgbClr val="F6E3BF"/>
          </a:solidFill>
          <a:ln w="19050">
            <a:solidFill>
              <a:srgbClr val="8A94A6"/>
            </a:solidFill>
          </a:ln>
        </p:spPr>
      </p:sp>
      <p:sp>
        <p:nvSpPr>
          <p:cNvPr id="25" name="図形 25"/>
          <p:cNvSpPr/>
          <p:nvPr/>
        </p:nvSpPr>
        <p:spPr>
          <a:xfrm>
            <a:off x="4727448" y="3840480"/>
            <a:ext cx="868680" cy="1115568"/>
          </a:xfrm>
          <a:prstGeom prst="rect">
            <a:avLst/>
          </a:prstGeom>
          <a:solidFill>
            <a:srgbClr val="DCE3EE"/>
          </a:solidFill>
          <a:ln w="19050">
            <a:solidFill>
              <a:srgbClr val="8A94A6"/>
            </a:solidFill>
          </a:ln>
        </p:spPr>
      </p:sp>
      <p:sp>
        <p:nvSpPr>
          <p:cNvPr id="26" name="開口 26"/>
          <p:cNvSpPr/>
          <p:nvPr/>
        </p:nvSpPr>
        <p:spPr>
          <a:xfrm>
            <a:off x="4700016" y="4251960"/>
            <a:ext cx="54864" cy="292608"/>
          </a:xfrm>
          <a:prstGeom prst="rect">
            <a:avLst/>
          </a:prstGeom>
          <a:solidFill>
            <a:srgbClr val="E3A33B"/>
          </a:solidFill>
          <a:ln>
            <a:noFill/>
          </a:ln>
        </p:spPr>
      </p:sp>
      <p:sp>
        <p:nvSpPr>
          <p:cNvPr id="27" name="テキスト 27"/>
          <p:cNvSpPr txBox="1"/>
          <p:nvPr/>
        </p:nvSpPr>
        <p:spPr>
          <a:xfrm>
            <a:off x="3858768" y="4251960"/>
            <a:ext cx="868680"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00" dirty="0">
                <a:solidFill>
                  <a:srgbClr val="1E2430"/>
                </a:solidFill>
                <a:latin typeface="BIZ UDPゴシック"/>
                <a:ea typeface="BIZ UDPゴシック"/>
                <a:cs typeface="BIZ UDPゴシック"/>
              </a:rPr>
              <a:t>部屋 A</a:t>
            </a:r>
            <a:endParaRPr lang="ja-JP" altLang="en-US" sz="1000" dirty="0"/>
          </a:p>
        </p:txBody>
      </p:sp>
      <p:sp>
        <p:nvSpPr>
          <p:cNvPr id="28" name="テキスト 28"/>
          <p:cNvSpPr txBox="1"/>
          <p:nvPr/>
        </p:nvSpPr>
        <p:spPr>
          <a:xfrm>
            <a:off x="4727448" y="4251960"/>
            <a:ext cx="868680"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00" dirty="0">
                <a:solidFill>
                  <a:srgbClr val="1E2430"/>
                </a:solidFill>
                <a:latin typeface="BIZ UDPゴシック"/>
                <a:ea typeface="BIZ UDPゴシック"/>
                <a:cs typeface="BIZ UDPゴシック"/>
              </a:rPr>
              <a:t>部屋 B</a:t>
            </a:r>
            <a:endParaRPr lang="ja-JP" altLang="en-US" sz="1000" dirty="0"/>
          </a:p>
        </p:txBody>
      </p:sp>
      <p:sp>
        <p:nvSpPr>
          <p:cNvPr id="29" name="テキスト 29"/>
          <p:cNvSpPr txBox="1"/>
          <p:nvPr/>
        </p:nvSpPr>
        <p:spPr>
          <a:xfrm>
            <a:off x="3675888"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0.25 m の格子で、狭い所で部屋を分ける</a:t>
            </a:r>
            <a:endParaRPr lang="ja-JP" altLang="en-US" sz="1100" dirty="0"/>
          </a:p>
        </p:txBody>
      </p:sp>
      <p:sp>
        <p:nvSpPr>
          <p:cNvPr id="30" name="矢印 30"/>
          <p:cNvSpPr/>
          <p:nvPr/>
        </p:nvSpPr>
        <p:spPr>
          <a:xfrm>
            <a:off x="5998464" y="4343400"/>
            <a:ext cx="182880" cy="237744"/>
          </a:xfrm>
          <a:prstGeom prst="rightArrow">
            <a:avLst/>
          </a:prstGeom>
          <a:solidFill>
            <a:srgbClr val="E3A33B"/>
          </a:solidFill>
          <a:ln>
            <a:noFill/>
          </a:ln>
        </p:spPr>
      </p:sp>
      <p:sp>
        <p:nvSpPr>
          <p:cNvPr id="31" name="図形 31"/>
          <p:cNvSpPr/>
          <p:nvPr/>
        </p:nvSpPr>
        <p:spPr>
          <a:xfrm>
            <a:off x="6254496" y="3401568"/>
            <a:ext cx="2395728" cy="2240280"/>
          </a:xfrm>
          <a:prstGeom prst="roundRect">
            <a:avLst>
              <a:gd name="adj" fmla="val 6000"/>
            </a:avLst>
          </a:prstGeom>
          <a:solidFill>
            <a:srgbClr val="FFFFFF"/>
          </a:solidFill>
          <a:ln>
            <a:noFill/>
          </a:ln>
        </p:spPr>
      </p:sp>
      <p:sp>
        <p:nvSpPr>
          <p:cNvPr id="32" name="テキスト 32"/>
          <p:cNvSpPr txBox="1"/>
          <p:nvPr/>
        </p:nvSpPr>
        <p:spPr>
          <a:xfrm>
            <a:off x="6391656"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RT60 を出す</a:t>
            </a:r>
            <a:endParaRPr lang="ja-JP" altLang="en-US" sz="1300" dirty="0"/>
          </a:p>
        </p:txBody>
      </p:sp>
      <p:sp>
        <p:nvSpPr>
          <p:cNvPr id="33" name="棒 33"/>
          <p:cNvSpPr/>
          <p:nvPr/>
        </p:nvSpPr>
        <p:spPr>
          <a:xfrm>
            <a:off x="6574536" y="3840480"/>
            <a:ext cx="219456" cy="1115568"/>
          </a:xfrm>
          <a:prstGeom prst="rect">
            <a:avLst/>
          </a:prstGeom>
          <a:solidFill>
            <a:srgbClr val="E3A33B"/>
          </a:solidFill>
          <a:ln>
            <a:noFill/>
          </a:ln>
        </p:spPr>
      </p:sp>
      <p:sp>
        <p:nvSpPr>
          <p:cNvPr id="34" name="棒 34"/>
          <p:cNvSpPr/>
          <p:nvPr/>
        </p:nvSpPr>
        <p:spPr>
          <a:xfrm>
            <a:off x="6867144" y="3896258"/>
            <a:ext cx="219456" cy="1059790"/>
          </a:xfrm>
          <a:prstGeom prst="rect">
            <a:avLst/>
          </a:prstGeom>
          <a:solidFill>
            <a:srgbClr val="E3A33B"/>
          </a:solidFill>
          <a:ln>
            <a:noFill/>
          </a:ln>
        </p:spPr>
      </p:sp>
      <p:sp>
        <p:nvSpPr>
          <p:cNvPr id="35" name="棒 35"/>
          <p:cNvSpPr/>
          <p:nvPr/>
        </p:nvSpPr>
        <p:spPr>
          <a:xfrm>
            <a:off x="7159752" y="4007815"/>
            <a:ext cx="219456" cy="948233"/>
          </a:xfrm>
          <a:prstGeom prst="rect">
            <a:avLst/>
          </a:prstGeom>
          <a:solidFill>
            <a:srgbClr val="E3A33B"/>
          </a:solidFill>
          <a:ln>
            <a:noFill/>
          </a:ln>
        </p:spPr>
      </p:sp>
      <p:sp>
        <p:nvSpPr>
          <p:cNvPr id="36" name="棒 36"/>
          <p:cNvSpPr/>
          <p:nvPr/>
        </p:nvSpPr>
        <p:spPr>
          <a:xfrm>
            <a:off x="7452360" y="4152839"/>
            <a:ext cx="219456" cy="803209"/>
          </a:xfrm>
          <a:prstGeom prst="rect">
            <a:avLst/>
          </a:prstGeom>
          <a:solidFill>
            <a:srgbClr val="F0C987"/>
          </a:solidFill>
          <a:ln>
            <a:noFill/>
          </a:ln>
        </p:spPr>
      </p:sp>
      <p:sp>
        <p:nvSpPr>
          <p:cNvPr id="37" name="棒 37"/>
          <p:cNvSpPr/>
          <p:nvPr/>
        </p:nvSpPr>
        <p:spPr>
          <a:xfrm>
            <a:off x="7744968" y="4309019"/>
            <a:ext cx="219456" cy="647029"/>
          </a:xfrm>
          <a:prstGeom prst="rect">
            <a:avLst/>
          </a:prstGeom>
          <a:solidFill>
            <a:srgbClr val="F0C987"/>
          </a:solidFill>
          <a:ln>
            <a:noFill/>
          </a:ln>
        </p:spPr>
      </p:sp>
      <p:sp>
        <p:nvSpPr>
          <p:cNvPr id="38" name="棒 38"/>
          <p:cNvSpPr/>
          <p:nvPr/>
        </p:nvSpPr>
        <p:spPr>
          <a:xfrm>
            <a:off x="8037576" y="4487509"/>
            <a:ext cx="219456" cy="468539"/>
          </a:xfrm>
          <a:prstGeom prst="rect">
            <a:avLst/>
          </a:prstGeom>
          <a:solidFill>
            <a:srgbClr val="F0C987"/>
          </a:solidFill>
          <a:ln>
            <a:noFill/>
          </a:ln>
        </p:spPr>
      </p:sp>
      <p:sp>
        <p:nvSpPr>
          <p:cNvPr id="39" name="テキスト 39"/>
          <p:cNvSpPr txBox="1"/>
          <p:nvPr/>
        </p:nvSpPr>
        <p:spPr>
          <a:xfrm>
            <a:off x="6483096" y="4974336"/>
            <a:ext cx="192024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低い音 ←　→ 高い音</a:t>
            </a:r>
            <a:endParaRPr lang="ja-JP" altLang="en-US" sz="900" dirty="0"/>
          </a:p>
        </p:txBody>
      </p:sp>
      <p:sp>
        <p:nvSpPr>
          <p:cNvPr id="40" name="テキスト 40"/>
          <p:cNvSpPr txBox="1"/>
          <p:nvPr/>
        </p:nvSpPr>
        <p:spPr>
          <a:xfrm>
            <a:off x="6391656"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6 帯域ごとに、形と材質から</a:t>
            </a:r>
            <a:endParaRPr lang="ja-JP" altLang="en-US" sz="1100" dirty="0"/>
          </a:p>
        </p:txBody>
      </p:sp>
      <p:sp>
        <p:nvSpPr>
          <p:cNvPr id="41" name="矢印 41"/>
          <p:cNvSpPr/>
          <p:nvPr/>
        </p:nvSpPr>
        <p:spPr>
          <a:xfrm>
            <a:off x="8714232" y="4343400"/>
            <a:ext cx="182880" cy="237744"/>
          </a:xfrm>
          <a:prstGeom prst="rightArrow">
            <a:avLst/>
          </a:prstGeom>
          <a:solidFill>
            <a:srgbClr val="E3A33B"/>
          </a:solidFill>
          <a:ln>
            <a:noFill/>
          </a:ln>
        </p:spPr>
      </p:sp>
      <p:sp>
        <p:nvSpPr>
          <p:cNvPr id="42" name="図形 42"/>
          <p:cNvSpPr/>
          <p:nvPr/>
        </p:nvSpPr>
        <p:spPr>
          <a:xfrm>
            <a:off x="8970264" y="3401568"/>
            <a:ext cx="2395728" cy="2240280"/>
          </a:xfrm>
          <a:prstGeom prst="roundRect">
            <a:avLst>
              <a:gd name="adj" fmla="val 6000"/>
            </a:avLst>
          </a:prstGeom>
          <a:solidFill>
            <a:srgbClr val="FFFFFF"/>
          </a:solidFill>
          <a:ln>
            <a:noFill/>
          </a:ln>
        </p:spPr>
      </p:sp>
      <p:sp>
        <p:nvSpPr>
          <p:cNvPr id="43" name="テキスト 43"/>
          <p:cNvSpPr txBox="1"/>
          <p:nvPr/>
        </p:nvSpPr>
        <p:spPr>
          <a:xfrm>
            <a:off x="9107424"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部屋ごとの FDN</a:t>
            </a:r>
            <a:endParaRPr lang="ja-JP" altLang="en-US" sz="1300" dirty="0"/>
          </a:p>
        </p:txBody>
      </p:sp>
      <p:sp>
        <p:nvSpPr>
          <p:cNvPr id="44" name="遅延線 44"/>
          <p:cNvSpPr/>
          <p:nvPr/>
        </p:nvSpPr>
        <p:spPr>
          <a:xfrm>
            <a:off x="9473184" y="3931920"/>
            <a:ext cx="1005840" cy="109728"/>
          </a:xfrm>
          <a:prstGeom prst="rect">
            <a:avLst/>
          </a:prstGeom>
          <a:solidFill>
            <a:srgbClr val="2F3A4E"/>
          </a:solidFill>
          <a:ln>
            <a:noFill/>
          </a:ln>
        </p:spPr>
      </p:sp>
      <p:sp>
        <p:nvSpPr>
          <p:cNvPr id="45" name="遅延線 45"/>
          <p:cNvSpPr/>
          <p:nvPr/>
        </p:nvSpPr>
        <p:spPr>
          <a:xfrm>
            <a:off x="9473184" y="4160520"/>
            <a:ext cx="868680" cy="109728"/>
          </a:xfrm>
          <a:prstGeom prst="rect">
            <a:avLst/>
          </a:prstGeom>
          <a:solidFill>
            <a:srgbClr val="2F3A4E"/>
          </a:solidFill>
          <a:ln>
            <a:noFill/>
          </a:ln>
        </p:spPr>
      </p:sp>
      <p:sp>
        <p:nvSpPr>
          <p:cNvPr id="46" name="遅延線 46"/>
          <p:cNvSpPr/>
          <p:nvPr/>
        </p:nvSpPr>
        <p:spPr>
          <a:xfrm>
            <a:off x="9473184" y="4389120"/>
            <a:ext cx="731520" cy="109728"/>
          </a:xfrm>
          <a:prstGeom prst="rect">
            <a:avLst/>
          </a:prstGeom>
          <a:solidFill>
            <a:srgbClr val="2F3A4E"/>
          </a:solidFill>
          <a:ln>
            <a:noFill/>
          </a:ln>
        </p:spPr>
      </p:sp>
      <p:sp>
        <p:nvSpPr>
          <p:cNvPr id="47" name="遅延線 47"/>
          <p:cNvSpPr/>
          <p:nvPr/>
        </p:nvSpPr>
        <p:spPr>
          <a:xfrm>
            <a:off x="9473184" y="4617720"/>
            <a:ext cx="594360" cy="109728"/>
          </a:xfrm>
          <a:prstGeom prst="rect">
            <a:avLst/>
          </a:prstGeom>
          <a:solidFill>
            <a:srgbClr val="2F3A4E"/>
          </a:solidFill>
          <a:ln>
            <a:noFill/>
          </a:ln>
        </p:spPr>
      </p:sp>
      <p:sp>
        <p:nvSpPr>
          <p:cNvPr id="48" name="折れ線 48"/>
          <p:cNvSpPr/>
          <p:nvPr/>
        </p:nvSpPr>
        <p:spPr>
          <a:xfrm>
            <a:off x="9290304" y="3986784"/>
            <a:ext cx="1600200" cy="950976"/>
          </a:xfrm>
          <a:custGeom>
            <a:avLst/>
            <a:gdLst/>
            <a:ahLst/>
            <a:cxnLst/>
            <a:rect l="0" t="0" r="r" b="b"/>
            <a:pathLst>
              <a:path w="1600200" h="950976" fill="none">
                <a:moveTo>
                  <a:pt x="1325880" y="310896"/>
                </a:moveTo>
                <a:lnTo>
                  <a:pt x="1600200" y="310896"/>
                </a:lnTo>
                <a:lnTo>
                  <a:pt x="1600200" y="950976"/>
                </a:lnTo>
                <a:lnTo>
                  <a:pt x="0" y="950976"/>
                </a:lnTo>
                <a:lnTo>
                  <a:pt x="0" y="0"/>
                </a:lnTo>
                <a:lnTo>
                  <a:pt x="137160" y="0"/>
                </a:lnTo>
              </a:path>
            </a:pathLst>
          </a:custGeom>
          <a:noFill/>
          <a:ln w="19050">
            <a:solidFill>
              <a:srgbClr val="E3A33B"/>
            </a:solidFill>
            <a:tailEnd type="triangle" w="med" len="med"/>
          </a:ln>
        </p:spPr>
      </p:sp>
      <p:sp>
        <p:nvSpPr>
          <p:cNvPr id="49" name="テキスト 49"/>
          <p:cNvSpPr txBox="1"/>
          <p:nvPr/>
        </p:nvSpPr>
        <p:spPr>
          <a:xfrm>
            <a:off x="9473184" y="5001768"/>
            <a:ext cx="146304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混ぜて戻す</a:t>
            </a:r>
            <a:endParaRPr lang="ja-JP" altLang="en-US" sz="900" dirty="0"/>
          </a:p>
        </p:txBody>
      </p:sp>
      <p:sp>
        <p:nvSpPr>
          <p:cNvPr id="50" name="テキスト 50"/>
          <p:cNvSpPr txBox="1"/>
          <p:nvPr/>
        </p:nvSpPr>
        <p:spPr>
          <a:xfrm>
            <a:off x="9107424"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16 本の遅延線で響きを作る</a:t>
            </a:r>
            <a:endParaRPr lang="ja-JP" altLang="en-US" sz="1100" dirty="0"/>
          </a:p>
        </p:txBody>
      </p:sp>
      <p:sp>
        <p:nvSpPr>
          <p:cNvPr id="51" name="テキスト 51"/>
          <p:cNvSpPr txBox="1"/>
          <p:nvPr/>
        </p:nvSpPr>
        <p:spPr>
          <a:xfrm>
            <a:off x="822960" y="5760720"/>
            <a:ext cx="10543032" cy="50292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b="1" dirty="0">
                <a:solidFill>
                  <a:srgbClr val="9A6212"/>
                </a:solidFill>
                <a:latin typeface="BIZ UDPゴシック"/>
                <a:ea typeface="BIZ UDPゴシック"/>
                <a:cs typeface="BIZ UDPゴシック"/>
              </a:rPr>
              <a:t>材質を変えると、響きが追う：</a:t>
            </a:r>
            <a:r>
              <a:rPr lang="ja-JP" altLang="en-US" sz="1200" dirty="0">
                <a:solidFill>
                  <a:srgbClr val="1E2430"/>
                </a:solidFill>
                <a:latin typeface="BIZ UDPゴシック"/>
                <a:ea typeface="BIZ UDPゴシック"/>
                <a:cs typeface="BIZ UDPゴシック"/>
              </a:rPr>
              <a:t>実行中に壁の吸音を上げると、1 kHz の RT60 が 2.38 → 0.34 s。木の部屋・石・洞窟・雪のプリセットも材質で作っている</a:t>
            </a:r>
            <a:endParaRPr lang="ja-JP" altLang="en-US" sz="1200" dirty="0"/>
          </a:p>
        </p:txBody>
      </p:sp>
      <p:sp>
        <p:nvSpPr>
          <p:cNvPr id="52" name="注 52"/>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図は模式図。数値は 2026-09-18 の回帰テストの実測</a:t>
            </a:r>
            <a:endParaRPr lang="ja-JP" altLang="en-US" sz="950" dirty="0"/>
          </a:p>
        </p:txBody>
      </p:sp>
      <p:sp>
        <p:nvSpPr>
          <p:cNvPr id="53" name="ページ番号 53"/>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12</a:t>
            </a:r>
            <a:endParaRPr lang="ja-JP" alt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隣の部屋でなっている音</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隣の部屋の響きはドアから、入ったら包まれるように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そのままの反響音・残響音にすると、隣の部屋で鳴っている音の方向がわかりにくくなる（制作中に判明）。</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ドアの地点にリスナープローブを置き、そこで聞こえる反射音・残響音を保存して、音源としてそのまま流す。今いる部屋ではその音に反射・残響を起こさせない。部屋に入ったら LEV 側に回す。</a:t>
            </a:r>
            <a:endParaRPr lang="ja-JP" altLang="en-US" sz="1300" dirty="0"/>
          </a:p>
        </p:txBody>
      </p:sp>
      <p:sp>
        <p:nvSpPr>
          <p:cNvPr id="11" name="カード 11"/>
          <p:cNvSpPr/>
          <p:nvPr/>
        </p:nvSpPr>
        <p:spPr>
          <a:xfrm>
            <a:off x="548640" y="3200400"/>
            <a:ext cx="3593592" cy="3090672"/>
          </a:xfrm>
          <a:prstGeom prst="roundRect">
            <a:avLst>
              <a:gd name="adj" fmla="val 4000"/>
            </a:avLst>
          </a:prstGeom>
          <a:solidFill>
            <a:srgbClr val="F0F2F5"/>
          </a:solidFill>
          <a:ln>
            <a:noFill/>
          </a:ln>
        </p:spPr>
      </p:sp>
      <p:sp>
        <p:nvSpPr>
          <p:cNvPr id="12" name="ラベル 12"/>
          <p:cNvSpPr/>
          <p:nvPr/>
        </p:nvSpPr>
        <p:spPr>
          <a:xfrm>
            <a:off x="731520" y="3319272"/>
            <a:ext cx="548640" cy="292608"/>
          </a:xfrm>
          <a:prstGeom prst="roundRect">
            <a:avLst>
              <a:gd name="adj" fmla="val 50000"/>
            </a:avLst>
          </a:prstGeom>
          <a:solidFill>
            <a:srgbClr val="C9CED6"/>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前</a:t>
            </a:r>
            <a:endParaRPr lang="ja-JP" altLang="en-US" sz="1200" dirty="0"/>
          </a:p>
        </p:txBody>
      </p:sp>
      <p:sp>
        <p:nvSpPr>
          <p:cNvPr id="13" name="テキスト 13"/>
          <p:cNvSpPr txBox="1"/>
          <p:nvPr/>
        </p:nvSpPr>
        <p:spPr>
          <a:xfrm>
            <a:off x="1371600" y="3328416"/>
            <a:ext cx="2404872" cy="31089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そのまま響かせる：方向がぼやける</a:t>
            </a:r>
            <a:endParaRPr lang="ja-JP" altLang="en-US" sz="1150" dirty="0"/>
          </a:p>
        </p:txBody>
      </p:sp>
      <p:sp>
        <p:nvSpPr>
          <p:cNvPr id="14" name="部屋 14"/>
          <p:cNvSpPr/>
          <p:nvPr/>
        </p:nvSpPr>
        <p:spPr>
          <a:xfrm>
            <a:off x="731520" y="4069080"/>
            <a:ext cx="1613916" cy="1874520"/>
          </a:xfrm>
          <a:prstGeom prst="rect">
            <a:avLst/>
          </a:prstGeom>
          <a:solidFill>
            <a:srgbClr val="FCF4E6"/>
          </a:solidFill>
          <a:ln w="25400">
            <a:solidFill>
              <a:srgbClr val="8A94A6"/>
            </a:solidFill>
          </a:ln>
        </p:spPr>
      </p:sp>
      <p:sp>
        <p:nvSpPr>
          <p:cNvPr id="15" name="部屋 15"/>
          <p:cNvSpPr/>
          <p:nvPr/>
        </p:nvSpPr>
        <p:spPr>
          <a:xfrm>
            <a:off x="2345436" y="4069080"/>
            <a:ext cx="1613916" cy="1874520"/>
          </a:xfrm>
          <a:prstGeom prst="rect">
            <a:avLst/>
          </a:prstGeom>
          <a:solidFill>
            <a:srgbClr val="FFFFFF"/>
          </a:solidFill>
          <a:ln w="25400">
            <a:solidFill>
              <a:srgbClr val="8A94A6"/>
            </a:solidFill>
          </a:ln>
        </p:spPr>
      </p:sp>
      <p:sp>
        <p:nvSpPr>
          <p:cNvPr id="16" name="開口 16"/>
          <p:cNvSpPr/>
          <p:nvPr/>
        </p:nvSpPr>
        <p:spPr>
          <a:xfrm>
            <a:off x="2318004" y="4781398"/>
            <a:ext cx="54864" cy="449885"/>
          </a:xfrm>
          <a:prstGeom prst="rect">
            <a:avLst/>
          </a:prstGeom>
          <a:solidFill>
            <a:srgbClr val="FFFFFF"/>
          </a:solidFill>
          <a:ln>
            <a:noFill/>
          </a:ln>
        </p:spPr>
      </p:sp>
      <p:sp>
        <p:nvSpPr>
          <p:cNvPr id="17" name="テキスト 17"/>
          <p:cNvSpPr txBox="1"/>
          <p:nvPr/>
        </p:nvSpPr>
        <p:spPr>
          <a:xfrm>
            <a:off x="731520"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響く部屋</a:t>
            </a:r>
            <a:endParaRPr lang="ja-JP" altLang="en-US" sz="900" dirty="0"/>
          </a:p>
        </p:txBody>
      </p:sp>
      <p:sp>
        <p:nvSpPr>
          <p:cNvPr id="18" name="テキスト 18"/>
          <p:cNvSpPr txBox="1"/>
          <p:nvPr/>
        </p:nvSpPr>
        <p:spPr>
          <a:xfrm>
            <a:off x="2345436"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今いる部屋</a:t>
            </a:r>
            <a:endParaRPr lang="ja-JP" altLang="en-US" sz="900" dirty="0"/>
          </a:p>
        </p:txBody>
      </p:sp>
      <p:sp>
        <p:nvSpPr>
          <p:cNvPr id="19" name="点 19"/>
          <p:cNvSpPr/>
          <p:nvPr/>
        </p:nvSpPr>
        <p:spPr>
          <a:xfrm>
            <a:off x="1236955" y="4572000"/>
            <a:ext cx="118872" cy="118872"/>
          </a:xfrm>
          <a:prstGeom prst="ellipse">
            <a:avLst/>
          </a:prstGeom>
          <a:solidFill>
            <a:srgbClr val="E3A33B"/>
          </a:solidFill>
          <a:ln>
            <a:noFill/>
          </a:ln>
        </p:spPr>
      </p:sp>
      <p:sp>
        <p:nvSpPr>
          <p:cNvPr id="20" name="テキスト 20"/>
          <p:cNvSpPr txBox="1"/>
          <p:nvPr/>
        </p:nvSpPr>
        <p:spPr>
          <a:xfrm>
            <a:off x="1022071" y="4695444"/>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音源</a:t>
            </a:r>
            <a:endParaRPr lang="ja-JP" altLang="en-US" sz="850" dirty="0"/>
          </a:p>
        </p:txBody>
      </p:sp>
      <p:sp>
        <p:nvSpPr>
          <p:cNvPr id="21" name="弧 21"/>
          <p:cNvSpPr/>
          <p:nvPr/>
        </p:nvSpPr>
        <p:spPr>
          <a:xfrm>
            <a:off x="2639187" y="4521708"/>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2" name="弧 22"/>
          <p:cNvSpPr/>
          <p:nvPr/>
        </p:nvSpPr>
        <p:spPr>
          <a:xfrm>
            <a:off x="3607537" y="4427982"/>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3" name="弧 23"/>
          <p:cNvSpPr/>
          <p:nvPr/>
        </p:nvSpPr>
        <p:spPr>
          <a:xfrm>
            <a:off x="3526841" y="5646420"/>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4" name="弧 24"/>
          <p:cNvSpPr/>
          <p:nvPr/>
        </p:nvSpPr>
        <p:spPr>
          <a:xfrm>
            <a:off x="2558491" y="5608930"/>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5" name="点 25"/>
          <p:cNvSpPr/>
          <p:nvPr/>
        </p:nvSpPr>
        <p:spPr>
          <a:xfrm>
            <a:off x="3254350" y="5171846"/>
            <a:ext cx="118872" cy="118872"/>
          </a:xfrm>
          <a:prstGeom prst="ellipse">
            <a:avLst/>
          </a:prstGeom>
          <a:solidFill>
            <a:srgbClr val="1E2430"/>
          </a:solidFill>
          <a:ln>
            <a:noFill/>
          </a:ln>
        </p:spPr>
      </p:sp>
      <p:sp>
        <p:nvSpPr>
          <p:cNvPr id="26" name="テキスト 26"/>
          <p:cNvSpPr txBox="1"/>
          <p:nvPr/>
        </p:nvSpPr>
        <p:spPr>
          <a:xfrm>
            <a:off x="2810866" y="5304434"/>
            <a:ext cx="10058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耳：どこから？</a:t>
            </a:r>
            <a:endParaRPr lang="ja-JP" altLang="en-US" sz="850" dirty="0"/>
          </a:p>
        </p:txBody>
      </p:sp>
      <p:sp>
        <p:nvSpPr>
          <p:cNvPr id="27" name="カード 27"/>
          <p:cNvSpPr/>
          <p:nvPr/>
        </p:nvSpPr>
        <p:spPr>
          <a:xfrm>
            <a:off x="4297680" y="3200400"/>
            <a:ext cx="3593592" cy="3090672"/>
          </a:xfrm>
          <a:prstGeom prst="roundRect">
            <a:avLst>
              <a:gd name="adj" fmla="val 4000"/>
            </a:avLst>
          </a:prstGeom>
          <a:solidFill>
            <a:srgbClr val="FBF1DF"/>
          </a:solidFill>
          <a:ln>
            <a:noFill/>
          </a:ln>
        </p:spPr>
      </p:sp>
      <p:sp>
        <p:nvSpPr>
          <p:cNvPr id="28" name="ラベル 28"/>
          <p:cNvSpPr/>
          <p:nvPr/>
        </p:nvSpPr>
        <p:spPr>
          <a:xfrm>
            <a:off x="4480560" y="3319272"/>
            <a:ext cx="548640" cy="292608"/>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今</a:t>
            </a:r>
            <a:endParaRPr lang="ja-JP" altLang="en-US" sz="1200" dirty="0"/>
          </a:p>
        </p:txBody>
      </p:sp>
      <p:sp>
        <p:nvSpPr>
          <p:cNvPr id="29" name="テキスト 29"/>
          <p:cNvSpPr txBox="1"/>
          <p:nvPr/>
        </p:nvSpPr>
        <p:spPr>
          <a:xfrm>
            <a:off x="5120640" y="3328416"/>
            <a:ext cx="2404872" cy="31089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隣にいる間：ドアから聞こえる</a:t>
            </a:r>
            <a:endParaRPr lang="ja-JP" altLang="en-US" sz="1150" dirty="0"/>
          </a:p>
        </p:txBody>
      </p:sp>
      <p:sp>
        <p:nvSpPr>
          <p:cNvPr id="30" name="部屋 30"/>
          <p:cNvSpPr/>
          <p:nvPr/>
        </p:nvSpPr>
        <p:spPr>
          <a:xfrm>
            <a:off x="4480560" y="4069080"/>
            <a:ext cx="1613916" cy="1874520"/>
          </a:xfrm>
          <a:prstGeom prst="rect">
            <a:avLst/>
          </a:prstGeom>
          <a:solidFill>
            <a:srgbClr val="FCF4E6"/>
          </a:solidFill>
          <a:ln w="25400">
            <a:solidFill>
              <a:srgbClr val="8A94A6"/>
            </a:solidFill>
          </a:ln>
        </p:spPr>
      </p:sp>
      <p:sp>
        <p:nvSpPr>
          <p:cNvPr id="31" name="部屋 31"/>
          <p:cNvSpPr/>
          <p:nvPr/>
        </p:nvSpPr>
        <p:spPr>
          <a:xfrm>
            <a:off x="6094476" y="4069080"/>
            <a:ext cx="1613916" cy="1874520"/>
          </a:xfrm>
          <a:prstGeom prst="rect">
            <a:avLst/>
          </a:prstGeom>
          <a:solidFill>
            <a:srgbClr val="FFFFFF"/>
          </a:solidFill>
          <a:ln w="25400">
            <a:solidFill>
              <a:srgbClr val="8A94A6"/>
            </a:solidFill>
          </a:ln>
        </p:spPr>
      </p:sp>
      <p:sp>
        <p:nvSpPr>
          <p:cNvPr id="32" name="開口 32"/>
          <p:cNvSpPr/>
          <p:nvPr/>
        </p:nvSpPr>
        <p:spPr>
          <a:xfrm>
            <a:off x="6067044" y="4781398"/>
            <a:ext cx="54864" cy="449885"/>
          </a:xfrm>
          <a:prstGeom prst="rect">
            <a:avLst/>
          </a:prstGeom>
          <a:solidFill>
            <a:srgbClr val="FFFFFF"/>
          </a:solidFill>
          <a:ln>
            <a:noFill/>
          </a:ln>
        </p:spPr>
      </p:sp>
      <p:sp>
        <p:nvSpPr>
          <p:cNvPr id="33" name="テキスト 33"/>
          <p:cNvSpPr txBox="1"/>
          <p:nvPr/>
        </p:nvSpPr>
        <p:spPr>
          <a:xfrm>
            <a:off x="4480560"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響く部屋</a:t>
            </a:r>
            <a:endParaRPr lang="ja-JP" altLang="en-US" sz="900" dirty="0"/>
          </a:p>
        </p:txBody>
      </p:sp>
      <p:sp>
        <p:nvSpPr>
          <p:cNvPr id="34" name="テキスト 34"/>
          <p:cNvSpPr txBox="1"/>
          <p:nvPr/>
        </p:nvSpPr>
        <p:spPr>
          <a:xfrm>
            <a:off x="6094476"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今いる部屋</a:t>
            </a:r>
            <a:endParaRPr lang="ja-JP" altLang="en-US" sz="900" dirty="0"/>
          </a:p>
        </p:txBody>
      </p:sp>
      <p:sp>
        <p:nvSpPr>
          <p:cNvPr id="35" name="点 35"/>
          <p:cNvSpPr/>
          <p:nvPr/>
        </p:nvSpPr>
        <p:spPr>
          <a:xfrm>
            <a:off x="4985995" y="4572000"/>
            <a:ext cx="118872" cy="118872"/>
          </a:xfrm>
          <a:prstGeom prst="ellipse">
            <a:avLst/>
          </a:prstGeom>
          <a:solidFill>
            <a:srgbClr val="E3A33B"/>
          </a:solidFill>
          <a:ln>
            <a:noFill/>
          </a:ln>
        </p:spPr>
      </p:sp>
      <p:sp>
        <p:nvSpPr>
          <p:cNvPr id="36" name="テキスト 36"/>
          <p:cNvSpPr txBox="1"/>
          <p:nvPr/>
        </p:nvSpPr>
        <p:spPr>
          <a:xfrm>
            <a:off x="4771111" y="4695444"/>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音源</a:t>
            </a:r>
            <a:endParaRPr lang="ja-JP" altLang="en-US" sz="850" dirty="0"/>
          </a:p>
        </p:txBody>
      </p:sp>
      <p:sp>
        <p:nvSpPr>
          <p:cNvPr id="37" name="プローブ 37"/>
          <p:cNvSpPr/>
          <p:nvPr/>
        </p:nvSpPr>
        <p:spPr>
          <a:xfrm>
            <a:off x="6003036" y="4914900"/>
            <a:ext cx="182880" cy="182880"/>
          </a:xfrm>
          <a:prstGeom prst="ellipse">
            <a:avLst/>
          </a:prstGeom>
          <a:solidFill>
            <a:srgbClr val="FFFFFF"/>
          </a:solidFill>
          <a:ln w="22225">
            <a:solidFill>
              <a:srgbClr val="9A6212"/>
            </a:solidFill>
          </a:ln>
        </p:spPr>
      </p:sp>
      <p:cxnSp>
        <p:nvCxnSpPr>
          <p:cNvPr id="38" name="線 38"/>
          <p:cNvCxnSpPr/>
          <p:nvPr/>
        </p:nvCxnSpPr>
        <p:spPr>
          <a:xfrm>
            <a:off x="6185916" y="5033772"/>
            <a:ext cx="884453" cy="301752"/>
          </a:xfrm>
          <a:prstGeom prst="line">
            <a:avLst/>
          </a:prstGeom>
          <a:ln w="22225">
            <a:solidFill>
              <a:srgbClr val="E3A33B"/>
            </a:solidFill>
            <a:tailEnd type="triangle" w="med" len="med"/>
          </a:ln>
        </p:spPr>
      </p:cxnSp>
      <p:sp>
        <p:nvSpPr>
          <p:cNvPr id="39" name="点 39"/>
          <p:cNvSpPr/>
          <p:nvPr/>
        </p:nvSpPr>
        <p:spPr>
          <a:xfrm>
            <a:off x="7084085" y="5321808"/>
            <a:ext cx="118872" cy="118872"/>
          </a:xfrm>
          <a:prstGeom prst="ellipse">
            <a:avLst/>
          </a:prstGeom>
          <a:solidFill>
            <a:srgbClr val="1E2430"/>
          </a:solidFill>
          <a:ln>
            <a:noFill/>
          </a:ln>
        </p:spPr>
      </p:sp>
      <p:sp>
        <p:nvSpPr>
          <p:cNvPr id="40" name="テキスト 40"/>
          <p:cNvSpPr txBox="1"/>
          <p:nvPr/>
        </p:nvSpPr>
        <p:spPr>
          <a:xfrm>
            <a:off x="6640601" y="5454396"/>
            <a:ext cx="10058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a:t>
            </a:r>
            <a:endParaRPr lang="ja-JP" altLang="en-US" sz="850" dirty="0"/>
          </a:p>
        </p:txBody>
      </p:sp>
      <p:sp>
        <p:nvSpPr>
          <p:cNvPr id="41" name="テキスト 41"/>
          <p:cNvSpPr txBox="1"/>
          <p:nvPr/>
        </p:nvSpPr>
        <p:spPr>
          <a:xfrm>
            <a:off x="5545836" y="5116068"/>
            <a:ext cx="109728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b="1" dirty="0">
                <a:solidFill>
                  <a:srgbClr val="9A6212"/>
                </a:solidFill>
                <a:latin typeface="BIZ UDPゴシック"/>
                <a:ea typeface="BIZ UDPゴシック"/>
                <a:cs typeface="BIZ UDPゴシック"/>
              </a:rPr>
              <a:t>プローブ</a:t>
            </a:r>
            <a:endParaRPr lang="ja-JP" altLang="en-US" sz="850" dirty="0"/>
          </a:p>
        </p:txBody>
      </p:sp>
      <p:sp>
        <p:nvSpPr>
          <p:cNvPr id="42" name="カード 42"/>
          <p:cNvSpPr/>
          <p:nvPr/>
        </p:nvSpPr>
        <p:spPr>
          <a:xfrm>
            <a:off x="8046720" y="3200400"/>
            <a:ext cx="3593592" cy="3090672"/>
          </a:xfrm>
          <a:prstGeom prst="roundRect">
            <a:avLst>
              <a:gd name="adj" fmla="val 4000"/>
            </a:avLst>
          </a:prstGeom>
          <a:solidFill>
            <a:srgbClr val="FBF1DF"/>
          </a:solidFill>
          <a:ln>
            <a:noFill/>
          </a:ln>
        </p:spPr>
      </p:sp>
      <p:sp>
        <p:nvSpPr>
          <p:cNvPr id="43" name="ラベル 43"/>
          <p:cNvSpPr/>
          <p:nvPr/>
        </p:nvSpPr>
        <p:spPr>
          <a:xfrm>
            <a:off x="8229600" y="3319272"/>
            <a:ext cx="868680" cy="292608"/>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入ったら</a:t>
            </a:r>
            <a:endParaRPr lang="ja-JP" altLang="en-US" sz="1200" dirty="0"/>
          </a:p>
        </p:txBody>
      </p:sp>
      <p:sp>
        <p:nvSpPr>
          <p:cNvPr id="44" name="テキスト 44"/>
          <p:cNvSpPr txBox="1"/>
          <p:nvPr/>
        </p:nvSpPr>
        <p:spPr>
          <a:xfrm>
            <a:off x="9189720" y="3328416"/>
            <a:ext cx="2404872" cy="31089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その部屋の響きに包まれる（LEV）</a:t>
            </a:r>
            <a:endParaRPr lang="ja-JP" altLang="en-US" sz="1150" dirty="0"/>
          </a:p>
        </p:txBody>
      </p:sp>
      <p:sp>
        <p:nvSpPr>
          <p:cNvPr id="45" name="部屋 45"/>
          <p:cNvSpPr/>
          <p:nvPr/>
        </p:nvSpPr>
        <p:spPr>
          <a:xfrm>
            <a:off x="8229600" y="4069080"/>
            <a:ext cx="1613916" cy="1874520"/>
          </a:xfrm>
          <a:prstGeom prst="rect">
            <a:avLst/>
          </a:prstGeom>
          <a:solidFill>
            <a:srgbClr val="F6E3BF"/>
          </a:solidFill>
          <a:ln w="25400">
            <a:solidFill>
              <a:srgbClr val="8A94A6"/>
            </a:solidFill>
          </a:ln>
        </p:spPr>
      </p:sp>
      <p:sp>
        <p:nvSpPr>
          <p:cNvPr id="46" name="部屋 46"/>
          <p:cNvSpPr/>
          <p:nvPr/>
        </p:nvSpPr>
        <p:spPr>
          <a:xfrm>
            <a:off x="9843516" y="4069080"/>
            <a:ext cx="1613916" cy="1874520"/>
          </a:xfrm>
          <a:prstGeom prst="rect">
            <a:avLst/>
          </a:prstGeom>
          <a:solidFill>
            <a:srgbClr val="FFFFFF"/>
          </a:solidFill>
          <a:ln w="25400">
            <a:solidFill>
              <a:srgbClr val="8A94A6"/>
            </a:solidFill>
          </a:ln>
        </p:spPr>
      </p:sp>
      <p:sp>
        <p:nvSpPr>
          <p:cNvPr id="47" name="開口 47"/>
          <p:cNvSpPr/>
          <p:nvPr/>
        </p:nvSpPr>
        <p:spPr>
          <a:xfrm>
            <a:off x="9816084" y="4781398"/>
            <a:ext cx="54864" cy="449885"/>
          </a:xfrm>
          <a:prstGeom prst="rect">
            <a:avLst/>
          </a:prstGeom>
          <a:solidFill>
            <a:srgbClr val="FFFFFF"/>
          </a:solidFill>
          <a:ln>
            <a:noFill/>
          </a:ln>
        </p:spPr>
      </p:sp>
      <p:sp>
        <p:nvSpPr>
          <p:cNvPr id="48" name="テキスト 48"/>
          <p:cNvSpPr txBox="1"/>
          <p:nvPr/>
        </p:nvSpPr>
        <p:spPr>
          <a:xfrm>
            <a:off x="8229600"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響く部屋（今いる）</a:t>
            </a:r>
            <a:endParaRPr lang="ja-JP" altLang="en-US" sz="900" dirty="0"/>
          </a:p>
        </p:txBody>
      </p:sp>
      <p:sp>
        <p:nvSpPr>
          <p:cNvPr id="49" name="テキスト 49"/>
          <p:cNvSpPr txBox="1"/>
          <p:nvPr/>
        </p:nvSpPr>
        <p:spPr>
          <a:xfrm>
            <a:off x="9843516"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隣の部屋</a:t>
            </a:r>
            <a:endParaRPr lang="ja-JP" altLang="en-US" sz="900" dirty="0"/>
          </a:p>
        </p:txBody>
      </p:sp>
      <p:sp>
        <p:nvSpPr>
          <p:cNvPr id="50" name="点 50"/>
          <p:cNvSpPr/>
          <p:nvPr/>
        </p:nvSpPr>
        <p:spPr>
          <a:xfrm>
            <a:off x="8735035" y="4572000"/>
            <a:ext cx="118872" cy="118872"/>
          </a:xfrm>
          <a:prstGeom prst="ellipse">
            <a:avLst/>
          </a:prstGeom>
          <a:solidFill>
            <a:srgbClr val="E3A33B"/>
          </a:solidFill>
          <a:ln>
            <a:noFill/>
          </a:ln>
        </p:spPr>
      </p:sp>
      <p:sp>
        <p:nvSpPr>
          <p:cNvPr id="51" name="テキスト 51"/>
          <p:cNvSpPr txBox="1"/>
          <p:nvPr/>
        </p:nvSpPr>
        <p:spPr>
          <a:xfrm>
            <a:off x="8520151" y="4695444"/>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音源</a:t>
            </a:r>
            <a:endParaRPr lang="ja-JP" altLang="en-US" sz="850" dirty="0"/>
          </a:p>
        </p:txBody>
      </p:sp>
      <p:sp>
        <p:nvSpPr>
          <p:cNvPr id="52" name="弧 52"/>
          <p:cNvSpPr/>
          <p:nvPr/>
        </p:nvSpPr>
        <p:spPr>
          <a:xfrm>
            <a:off x="9114053" y="5066690"/>
            <a:ext cx="329184" cy="329184"/>
          </a:xfrm>
          <a:custGeom>
            <a:avLst/>
            <a:gdLst/>
            <a:ahLst/>
            <a:cxnLst/>
            <a:rect l="0" t="0" r="r" b="b"/>
            <a:pathLst>
              <a:path w="329184" h="329184" fill="none">
                <a:moveTo>
                  <a:pt x="329184" y="164592"/>
                </a:moveTo>
                <a:lnTo>
                  <a:pt x="321128" y="113730"/>
                </a:lnTo>
                <a:lnTo>
                  <a:pt x="297750" y="67847"/>
                </a:lnTo>
                <a:lnTo>
                  <a:pt x="261337" y="31434"/>
                </a:lnTo>
                <a:lnTo>
                  <a:pt x="215454" y="8056"/>
                </a:lnTo>
                <a:lnTo>
                  <a:pt x="164592" y="0"/>
                </a:lnTo>
                <a:lnTo>
                  <a:pt x="113730" y="8056"/>
                </a:lnTo>
                <a:lnTo>
                  <a:pt x="67847" y="31434"/>
                </a:lnTo>
                <a:lnTo>
                  <a:pt x="31434" y="67847"/>
                </a:lnTo>
                <a:lnTo>
                  <a:pt x="8056" y="113730"/>
                </a:lnTo>
                <a:lnTo>
                  <a:pt x="0" y="164592"/>
                </a:lnTo>
                <a:lnTo>
                  <a:pt x="8056" y="215454"/>
                </a:lnTo>
                <a:lnTo>
                  <a:pt x="31434" y="261337"/>
                </a:lnTo>
                <a:lnTo>
                  <a:pt x="67847" y="297750"/>
                </a:lnTo>
                <a:lnTo>
                  <a:pt x="113730" y="321128"/>
                </a:lnTo>
                <a:lnTo>
                  <a:pt x="164592" y="329184"/>
                </a:lnTo>
                <a:lnTo>
                  <a:pt x="215454" y="321128"/>
                </a:lnTo>
                <a:lnTo>
                  <a:pt x="261337" y="297750"/>
                </a:lnTo>
                <a:lnTo>
                  <a:pt x="297750" y="261337"/>
                </a:lnTo>
                <a:lnTo>
                  <a:pt x="321128" y="215454"/>
                </a:lnTo>
                <a:lnTo>
                  <a:pt x="329184" y="164592"/>
                </a:lnTo>
              </a:path>
            </a:pathLst>
          </a:custGeom>
          <a:noFill/>
          <a:ln w="12700">
            <a:solidFill>
              <a:srgbClr val="E3A33B"/>
            </a:solidFill>
          </a:ln>
        </p:spPr>
      </p:sp>
      <p:sp>
        <p:nvSpPr>
          <p:cNvPr id="53" name="弧 53"/>
          <p:cNvSpPr/>
          <p:nvPr/>
        </p:nvSpPr>
        <p:spPr>
          <a:xfrm>
            <a:off x="9004325" y="4956962"/>
            <a:ext cx="548640" cy="548640"/>
          </a:xfrm>
          <a:custGeom>
            <a:avLst/>
            <a:gdLst/>
            <a:ahLst/>
            <a:cxnLst/>
            <a:rect l="0" t="0" r="r" b="b"/>
            <a:pathLst>
              <a:path w="548640" h="548640" fill="none">
                <a:moveTo>
                  <a:pt x="548640" y="274320"/>
                </a:moveTo>
                <a:lnTo>
                  <a:pt x="535214" y="189550"/>
                </a:lnTo>
                <a:lnTo>
                  <a:pt x="496250" y="113079"/>
                </a:lnTo>
                <a:lnTo>
                  <a:pt x="435561" y="52390"/>
                </a:lnTo>
                <a:lnTo>
                  <a:pt x="359090" y="13426"/>
                </a:lnTo>
                <a:lnTo>
                  <a:pt x="274320" y="0"/>
                </a:lnTo>
                <a:lnTo>
                  <a:pt x="189550" y="13426"/>
                </a:lnTo>
                <a:lnTo>
                  <a:pt x="113079" y="52390"/>
                </a:lnTo>
                <a:lnTo>
                  <a:pt x="52390" y="113079"/>
                </a:lnTo>
                <a:lnTo>
                  <a:pt x="13426" y="189550"/>
                </a:lnTo>
                <a:lnTo>
                  <a:pt x="0" y="274320"/>
                </a:lnTo>
                <a:lnTo>
                  <a:pt x="13426" y="359090"/>
                </a:lnTo>
                <a:lnTo>
                  <a:pt x="52390" y="435561"/>
                </a:lnTo>
                <a:lnTo>
                  <a:pt x="113079" y="496250"/>
                </a:lnTo>
                <a:lnTo>
                  <a:pt x="189550" y="535214"/>
                </a:lnTo>
                <a:lnTo>
                  <a:pt x="274320" y="548640"/>
                </a:lnTo>
                <a:lnTo>
                  <a:pt x="359090" y="535214"/>
                </a:lnTo>
                <a:lnTo>
                  <a:pt x="435561" y="496250"/>
                </a:lnTo>
                <a:lnTo>
                  <a:pt x="496250" y="435561"/>
                </a:lnTo>
                <a:lnTo>
                  <a:pt x="535214" y="359090"/>
                </a:lnTo>
                <a:lnTo>
                  <a:pt x="548640" y="274320"/>
                </a:lnTo>
              </a:path>
            </a:pathLst>
          </a:custGeom>
          <a:noFill/>
          <a:ln w="12700">
            <a:solidFill>
              <a:srgbClr val="E3A33B"/>
            </a:solidFill>
          </a:ln>
        </p:spPr>
      </p:sp>
      <p:sp>
        <p:nvSpPr>
          <p:cNvPr id="54" name="点 54"/>
          <p:cNvSpPr/>
          <p:nvPr/>
        </p:nvSpPr>
        <p:spPr>
          <a:xfrm>
            <a:off x="9219209" y="5171846"/>
            <a:ext cx="118872" cy="118872"/>
          </a:xfrm>
          <a:prstGeom prst="ellipse">
            <a:avLst/>
          </a:prstGeom>
          <a:solidFill>
            <a:srgbClr val="1E2430"/>
          </a:solidFill>
          <a:ln>
            <a:noFill/>
          </a:ln>
        </p:spPr>
      </p:sp>
      <p:sp>
        <p:nvSpPr>
          <p:cNvPr id="55" name="テキスト 55"/>
          <p:cNvSpPr txBox="1"/>
          <p:nvPr/>
        </p:nvSpPr>
        <p:spPr>
          <a:xfrm>
            <a:off x="8775725" y="5542178"/>
            <a:ext cx="10058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耳：包まれる</a:t>
            </a:r>
            <a:endParaRPr lang="ja-JP" altLang="en-US" sz="850" dirty="0"/>
          </a:p>
        </p:txBody>
      </p:sp>
      <p:sp>
        <p:nvSpPr>
          <p:cNvPr id="56" name="注 56"/>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図は上から見た模式図</a:t>
            </a:r>
            <a:endParaRPr lang="ja-JP" altLang="en-US" sz="950" dirty="0"/>
          </a:p>
        </p:txBody>
      </p:sp>
      <p:sp>
        <p:nvSpPr>
          <p:cNvPr id="57" name="ページ番号 57"/>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13</a:t>
            </a:r>
            <a:endParaRPr lang="ja-JP" alt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作る中で見つけた問題</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問題点と改善方法（抜粋）</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聞こえた違和感は、回帰テストで再現してから直した。</a:t>
            </a:r>
            <a:endParaRPr lang="ja-JP" altLang="en-US" sz="1450" dirty="0"/>
          </a:p>
        </p:txBody>
      </p:sp>
      <p:sp>
        <p:nvSpPr>
          <p:cNvPr id="5" name="カード 5"/>
          <p:cNvSpPr/>
          <p:nvPr/>
        </p:nvSpPr>
        <p:spPr>
          <a:xfrm>
            <a:off x="548640" y="1965960"/>
            <a:ext cx="3593592" cy="4297680"/>
          </a:xfrm>
          <a:prstGeom prst="roundRect">
            <a:avLst>
              <a:gd name="adj" fmla="val 4000"/>
            </a:avLst>
          </a:prstGeom>
          <a:solidFill>
            <a:srgbClr val="F0F2F5"/>
          </a:solidFill>
          <a:ln>
            <a:noFill/>
          </a:ln>
        </p:spPr>
      </p:sp>
      <p:sp>
        <p:nvSpPr>
          <p:cNvPr id="6" name="図形 6"/>
          <p:cNvSpPr/>
          <p:nvPr/>
        </p:nvSpPr>
        <p:spPr>
          <a:xfrm>
            <a:off x="77724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1</a:t>
            </a:r>
            <a:endParaRPr lang="ja-JP" altLang="en-US" sz="1300" dirty="0"/>
          </a:p>
        </p:txBody>
      </p:sp>
      <p:sp>
        <p:nvSpPr>
          <p:cNvPr id="7" name="テキスト 7"/>
          <p:cNvSpPr txBox="1"/>
          <p:nvPr/>
        </p:nvSpPr>
        <p:spPr>
          <a:xfrm>
            <a:off x="123444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初期反射の作り直し</a:t>
            </a:r>
            <a:endParaRPr lang="ja-JP" altLang="en-US" sz="1350" dirty="0"/>
          </a:p>
        </p:txBody>
      </p:sp>
      <p:sp>
        <p:nvSpPr>
          <p:cNvPr id="8" name="鏡に映した部屋 8"/>
          <p:cNvSpPr/>
          <p:nvPr/>
        </p:nvSpPr>
        <p:spPr>
          <a:xfrm>
            <a:off x="1591056" y="2894076"/>
            <a:ext cx="502920" cy="338328"/>
          </a:xfrm>
          <a:prstGeom prst="rect">
            <a:avLst/>
          </a:prstGeom>
          <a:noFill/>
          <a:ln w="9525">
            <a:solidFill>
              <a:srgbClr val="C9CED6"/>
            </a:solidFill>
            <a:prstDash val="dash"/>
          </a:ln>
        </p:spPr>
      </p:sp>
      <p:sp>
        <p:nvSpPr>
          <p:cNvPr id="9" name="鏡に映した部屋 9"/>
          <p:cNvSpPr/>
          <p:nvPr/>
        </p:nvSpPr>
        <p:spPr>
          <a:xfrm>
            <a:off x="1591056" y="3232404"/>
            <a:ext cx="502920" cy="338328"/>
          </a:xfrm>
          <a:prstGeom prst="rect">
            <a:avLst/>
          </a:prstGeom>
          <a:noFill/>
          <a:ln w="9525">
            <a:solidFill>
              <a:srgbClr val="C9CED6"/>
            </a:solidFill>
            <a:prstDash val="dash"/>
          </a:ln>
        </p:spPr>
      </p:sp>
      <p:sp>
        <p:nvSpPr>
          <p:cNvPr id="10" name="鏡に映した部屋 10"/>
          <p:cNvSpPr/>
          <p:nvPr/>
        </p:nvSpPr>
        <p:spPr>
          <a:xfrm>
            <a:off x="1591056" y="3570732"/>
            <a:ext cx="502920" cy="338328"/>
          </a:xfrm>
          <a:prstGeom prst="rect">
            <a:avLst/>
          </a:prstGeom>
          <a:noFill/>
          <a:ln w="9525">
            <a:solidFill>
              <a:srgbClr val="C9CED6"/>
            </a:solidFill>
            <a:prstDash val="dash"/>
          </a:ln>
        </p:spPr>
      </p:sp>
      <p:sp>
        <p:nvSpPr>
          <p:cNvPr id="11" name="鏡に映した部屋 11"/>
          <p:cNvSpPr/>
          <p:nvPr/>
        </p:nvSpPr>
        <p:spPr>
          <a:xfrm>
            <a:off x="2093976" y="2894076"/>
            <a:ext cx="502920" cy="338328"/>
          </a:xfrm>
          <a:prstGeom prst="rect">
            <a:avLst/>
          </a:prstGeom>
          <a:noFill/>
          <a:ln w="9525">
            <a:solidFill>
              <a:srgbClr val="C9CED6"/>
            </a:solidFill>
            <a:prstDash val="dash"/>
          </a:ln>
        </p:spPr>
      </p:sp>
      <p:sp>
        <p:nvSpPr>
          <p:cNvPr id="12" name="鏡に映した部屋 12"/>
          <p:cNvSpPr/>
          <p:nvPr/>
        </p:nvSpPr>
        <p:spPr>
          <a:xfrm>
            <a:off x="2093976" y="3570732"/>
            <a:ext cx="502920" cy="338328"/>
          </a:xfrm>
          <a:prstGeom prst="rect">
            <a:avLst/>
          </a:prstGeom>
          <a:noFill/>
          <a:ln w="9525">
            <a:solidFill>
              <a:srgbClr val="C9CED6"/>
            </a:solidFill>
            <a:prstDash val="dash"/>
          </a:ln>
        </p:spPr>
      </p:sp>
      <p:sp>
        <p:nvSpPr>
          <p:cNvPr id="13" name="鏡に映した部屋 13"/>
          <p:cNvSpPr/>
          <p:nvPr/>
        </p:nvSpPr>
        <p:spPr>
          <a:xfrm>
            <a:off x="2596896" y="2894076"/>
            <a:ext cx="502920" cy="338328"/>
          </a:xfrm>
          <a:prstGeom prst="rect">
            <a:avLst/>
          </a:prstGeom>
          <a:noFill/>
          <a:ln w="9525">
            <a:solidFill>
              <a:srgbClr val="C9CED6"/>
            </a:solidFill>
            <a:prstDash val="dash"/>
          </a:ln>
        </p:spPr>
      </p:sp>
      <p:sp>
        <p:nvSpPr>
          <p:cNvPr id="14" name="鏡に映した部屋 14"/>
          <p:cNvSpPr/>
          <p:nvPr/>
        </p:nvSpPr>
        <p:spPr>
          <a:xfrm>
            <a:off x="2596896" y="3232404"/>
            <a:ext cx="502920" cy="338328"/>
          </a:xfrm>
          <a:prstGeom prst="rect">
            <a:avLst/>
          </a:prstGeom>
          <a:noFill/>
          <a:ln w="9525">
            <a:solidFill>
              <a:srgbClr val="C9CED6"/>
            </a:solidFill>
            <a:prstDash val="dash"/>
          </a:ln>
        </p:spPr>
      </p:sp>
      <p:sp>
        <p:nvSpPr>
          <p:cNvPr id="15" name="鏡に映した部屋 15"/>
          <p:cNvSpPr/>
          <p:nvPr/>
        </p:nvSpPr>
        <p:spPr>
          <a:xfrm>
            <a:off x="2596896" y="3570732"/>
            <a:ext cx="502920" cy="338328"/>
          </a:xfrm>
          <a:prstGeom prst="rect">
            <a:avLst/>
          </a:prstGeom>
          <a:noFill/>
          <a:ln w="9525">
            <a:solidFill>
              <a:srgbClr val="C9CED6"/>
            </a:solidFill>
            <a:prstDash val="dash"/>
          </a:ln>
        </p:spPr>
      </p:sp>
      <p:sp>
        <p:nvSpPr>
          <p:cNvPr id="16" name="虚像の面 16"/>
          <p:cNvSpPr/>
          <p:nvPr/>
        </p:nvSpPr>
        <p:spPr>
          <a:xfrm>
            <a:off x="1943100" y="3113989"/>
            <a:ext cx="1005840" cy="676656"/>
          </a:xfrm>
          <a:custGeom>
            <a:avLst/>
            <a:gdLst/>
            <a:ahLst/>
            <a:cxnLst/>
            <a:rect l="0" t="0" r="r" b="b"/>
            <a:pathLst>
              <a:path w="1005840" h="676656">
                <a:moveTo>
                  <a:pt x="0" y="236830"/>
                </a:moveTo>
                <a:lnTo>
                  <a:pt x="0" y="0"/>
                </a:lnTo>
                <a:lnTo>
                  <a:pt x="301752" y="0"/>
                </a:lnTo>
                <a:lnTo>
                  <a:pt x="1005840" y="0"/>
                </a:lnTo>
                <a:lnTo>
                  <a:pt x="1005840" y="236830"/>
                </a:lnTo>
                <a:lnTo>
                  <a:pt x="1005840" y="676656"/>
                </a:lnTo>
                <a:lnTo>
                  <a:pt x="301752" y="676656"/>
                </a:lnTo>
                <a:lnTo>
                  <a:pt x="0" y="676656"/>
                </a:lnTo>
                <a:close/>
              </a:path>
            </a:pathLst>
          </a:custGeom>
          <a:solidFill>
            <a:srgbClr val="E3A33B">
              <a:alpha val="28000"/>
            </a:srgbClr>
          </a:solidFill>
          <a:ln w="31750">
            <a:solidFill>
              <a:srgbClr val="E3A33B"/>
            </a:solidFill>
          </a:ln>
        </p:spPr>
      </p:sp>
      <p:sp>
        <p:nvSpPr>
          <p:cNvPr id="17" name="部屋 17"/>
          <p:cNvSpPr/>
          <p:nvPr/>
        </p:nvSpPr>
        <p:spPr>
          <a:xfrm>
            <a:off x="2093976" y="3232404"/>
            <a:ext cx="502920" cy="338328"/>
          </a:xfrm>
          <a:prstGeom prst="rect">
            <a:avLst/>
          </a:prstGeom>
          <a:solidFill>
            <a:srgbClr val="FFFFFF"/>
          </a:solidFill>
          <a:ln w="25400">
            <a:solidFill>
              <a:srgbClr val="8A94A6"/>
            </a:solidFill>
          </a:ln>
        </p:spPr>
      </p:sp>
      <p:sp>
        <p:nvSpPr>
          <p:cNvPr id="18" name="虚像 18"/>
          <p:cNvSpPr/>
          <p:nvPr/>
        </p:nvSpPr>
        <p:spPr>
          <a:xfrm>
            <a:off x="1901952" y="3309671"/>
            <a:ext cx="82296" cy="82296"/>
          </a:xfrm>
          <a:prstGeom prst="ellipse">
            <a:avLst/>
          </a:prstGeom>
          <a:solidFill>
            <a:srgbClr val="FFFFFF"/>
          </a:solidFill>
          <a:ln w="15875">
            <a:solidFill>
              <a:srgbClr val="9A6212"/>
            </a:solidFill>
          </a:ln>
        </p:spPr>
      </p:sp>
      <p:sp>
        <p:nvSpPr>
          <p:cNvPr id="19" name="虚像 19"/>
          <p:cNvSpPr/>
          <p:nvPr/>
        </p:nvSpPr>
        <p:spPr>
          <a:xfrm>
            <a:off x="1901952" y="3072841"/>
            <a:ext cx="82296" cy="82296"/>
          </a:xfrm>
          <a:prstGeom prst="ellipse">
            <a:avLst/>
          </a:prstGeom>
          <a:solidFill>
            <a:srgbClr val="FFFFFF"/>
          </a:solidFill>
          <a:ln w="15875">
            <a:solidFill>
              <a:srgbClr val="9A6212"/>
            </a:solidFill>
          </a:ln>
        </p:spPr>
      </p:sp>
      <p:sp>
        <p:nvSpPr>
          <p:cNvPr id="20" name="虚像 20"/>
          <p:cNvSpPr/>
          <p:nvPr/>
        </p:nvSpPr>
        <p:spPr>
          <a:xfrm>
            <a:off x="2203704" y="3072841"/>
            <a:ext cx="82296" cy="82296"/>
          </a:xfrm>
          <a:prstGeom prst="ellipse">
            <a:avLst/>
          </a:prstGeom>
          <a:solidFill>
            <a:srgbClr val="FFFFFF"/>
          </a:solidFill>
          <a:ln w="15875">
            <a:solidFill>
              <a:srgbClr val="9A6212"/>
            </a:solidFill>
          </a:ln>
        </p:spPr>
      </p:sp>
      <p:sp>
        <p:nvSpPr>
          <p:cNvPr id="21" name="虚像 21"/>
          <p:cNvSpPr/>
          <p:nvPr/>
        </p:nvSpPr>
        <p:spPr>
          <a:xfrm>
            <a:off x="2907792" y="3072841"/>
            <a:ext cx="82296" cy="82296"/>
          </a:xfrm>
          <a:prstGeom prst="ellipse">
            <a:avLst/>
          </a:prstGeom>
          <a:solidFill>
            <a:srgbClr val="FFFFFF"/>
          </a:solidFill>
          <a:ln w="15875">
            <a:solidFill>
              <a:srgbClr val="9A6212"/>
            </a:solidFill>
          </a:ln>
        </p:spPr>
      </p:sp>
      <p:sp>
        <p:nvSpPr>
          <p:cNvPr id="22" name="虚像 22"/>
          <p:cNvSpPr/>
          <p:nvPr/>
        </p:nvSpPr>
        <p:spPr>
          <a:xfrm>
            <a:off x="2907792" y="3309671"/>
            <a:ext cx="82296" cy="82296"/>
          </a:xfrm>
          <a:prstGeom prst="ellipse">
            <a:avLst/>
          </a:prstGeom>
          <a:solidFill>
            <a:srgbClr val="FFFFFF"/>
          </a:solidFill>
          <a:ln w="15875">
            <a:solidFill>
              <a:srgbClr val="9A6212"/>
            </a:solidFill>
          </a:ln>
        </p:spPr>
      </p:sp>
      <p:sp>
        <p:nvSpPr>
          <p:cNvPr id="23" name="虚像 23"/>
          <p:cNvSpPr/>
          <p:nvPr/>
        </p:nvSpPr>
        <p:spPr>
          <a:xfrm>
            <a:off x="2907792" y="3749497"/>
            <a:ext cx="82296" cy="82296"/>
          </a:xfrm>
          <a:prstGeom prst="ellipse">
            <a:avLst/>
          </a:prstGeom>
          <a:solidFill>
            <a:srgbClr val="FFFFFF"/>
          </a:solidFill>
          <a:ln w="15875">
            <a:solidFill>
              <a:srgbClr val="9A6212"/>
            </a:solidFill>
          </a:ln>
        </p:spPr>
      </p:sp>
      <p:sp>
        <p:nvSpPr>
          <p:cNvPr id="24" name="虚像 24"/>
          <p:cNvSpPr/>
          <p:nvPr/>
        </p:nvSpPr>
        <p:spPr>
          <a:xfrm>
            <a:off x="2203704" y="3749497"/>
            <a:ext cx="82296" cy="82296"/>
          </a:xfrm>
          <a:prstGeom prst="ellipse">
            <a:avLst/>
          </a:prstGeom>
          <a:solidFill>
            <a:srgbClr val="FFFFFF"/>
          </a:solidFill>
          <a:ln w="15875">
            <a:solidFill>
              <a:srgbClr val="9A6212"/>
            </a:solidFill>
          </a:ln>
        </p:spPr>
      </p:sp>
      <p:sp>
        <p:nvSpPr>
          <p:cNvPr id="25" name="虚像 25"/>
          <p:cNvSpPr/>
          <p:nvPr/>
        </p:nvSpPr>
        <p:spPr>
          <a:xfrm>
            <a:off x="1901952" y="3749497"/>
            <a:ext cx="82296" cy="82296"/>
          </a:xfrm>
          <a:prstGeom prst="ellipse">
            <a:avLst/>
          </a:prstGeom>
          <a:solidFill>
            <a:srgbClr val="FFFFFF"/>
          </a:solidFill>
          <a:ln w="15875">
            <a:solidFill>
              <a:srgbClr val="9A6212"/>
            </a:solidFill>
          </a:ln>
        </p:spPr>
      </p:sp>
      <p:sp>
        <p:nvSpPr>
          <p:cNvPr id="26" name="点 26"/>
          <p:cNvSpPr/>
          <p:nvPr/>
        </p:nvSpPr>
        <p:spPr>
          <a:xfrm>
            <a:off x="2199132" y="3305099"/>
            <a:ext cx="91440" cy="91440"/>
          </a:xfrm>
          <a:prstGeom prst="ellipse">
            <a:avLst/>
          </a:prstGeom>
          <a:solidFill>
            <a:srgbClr val="E3A33B"/>
          </a:solidFill>
          <a:ln>
            <a:noFill/>
          </a:ln>
        </p:spPr>
      </p:sp>
      <p:sp>
        <p:nvSpPr>
          <p:cNvPr id="27" name="点 27"/>
          <p:cNvSpPr/>
          <p:nvPr/>
        </p:nvSpPr>
        <p:spPr>
          <a:xfrm>
            <a:off x="2400300" y="3409980"/>
            <a:ext cx="91440" cy="91440"/>
          </a:xfrm>
          <a:prstGeom prst="ellipse">
            <a:avLst/>
          </a:prstGeom>
          <a:solidFill>
            <a:srgbClr val="1E2430"/>
          </a:solidFill>
          <a:ln>
            <a:noFill/>
          </a:ln>
        </p:spPr>
      </p:sp>
      <p:sp>
        <p:nvSpPr>
          <p:cNvPr id="28" name="テキスト 28"/>
          <p:cNvSpPr txBox="1"/>
          <p:nvPr/>
        </p:nvSpPr>
        <p:spPr>
          <a:xfrm>
            <a:off x="77724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29" name="テキスト 29"/>
          <p:cNvSpPr txBox="1"/>
          <p:nvPr/>
        </p:nvSpPr>
        <p:spPr>
          <a:xfrm>
            <a:off x="77724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「何で反射を受けるか」から考え、壁で受ける形などを試して、狙い（虚像をつないだ面）から外れ続けた</a:t>
            </a:r>
            <a:endParaRPr lang="ja-JP" altLang="en-US" sz="1200" dirty="0"/>
          </a:p>
        </p:txBody>
      </p:sp>
      <p:sp>
        <p:nvSpPr>
          <p:cNvPr id="30" name="図形 30"/>
          <p:cNvSpPr/>
          <p:nvPr/>
        </p:nvSpPr>
        <p:spPr>
          <a:xfrm>
            <a:off x="731520" y="5212080"/>
            <a:ext cx="3227832" cy="914400"/>
          </a:xfrm>
          <a:prstGeom prst="roundRect">
            <a:avLst>
              <a:gd name="adj" fmla="val 8000"/>
            </a:avLst>
          </a:prstGeom>
          <a:solidFill>
            <a:srgbClr val="FBF1DF"/>
          </a:solidFill>
          <a:ln>
            <a:noFill/>
          </a:ln>
        </p:spPr>
      </p:sp>
      <p:sp>
        <p:nvSpPr>
          <p:cNvPr id="31" name="テキスト 31"/>
          <p:cNvSpPr txBox="1"/>
          <p:nvPr/>
        </p:nvSpPr>
        <p:spPr>
          <a:xfrm>
            <a:off x="91440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直し方</a:t>
            </a:r>
            <a:endParaRPr lang="ja-JP" altLang="en-US" sz="1100" dirty="0"/>
          </a:p>
        </p:txBody>
      </p:sp>
      <p:sp>
        <p:nvSpPr>
          <p:cNvPr id="32" name="テキスト 32"/>
          <p:cNvSpPr txBox="1"/>
          <p:nvPr/>
        </p:nvSpPr>
        <p:spPr>
          <a:xfrm>
            <a:off x="91440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聞こえ方の狙い（幅・奥行き・滑らかさ）から逆に組み、虚像をつないだ面音源に</a:t>
            </a:r>
            <a:endParaRPr lang="ja-JP" altLang="en-US" sz="1200" dirty="0"/>
          </a:p>
        </p:txBody>
      </p:sp>
      <p:sp>
        <p:nvSpPr>
          <p:cNvPr id="33" name="カード 33"/>
          <p:cNvSpPr/>
          <p:nvPr/>
        </p:nvSpPr>
        <p:spPr>
          <a:xfrm>
            <a:off x="4297680" y="1965960"/>
            <a:ext cx="3593592" cy="4297680"/>
          </a:xfrm>
          <a:prstGeom prst="roundRect">
            <a:avLst>
              <a:gd name="adj" fmla="val 4000"/>
            </a:avLst>
          </a:prstGeom>
          <a:solidFill>
            <a:srgbClr val="F0F2F5"/>
          </a:solidFill>
          <a:ln>
            <a:noFill/>
          </a:ln>
        </p:spPr>
      </p:sp>
      <p:sp>
        <p:nvSpPr>
          <p:cNvPr id="34" name="図形 34"/>
          <p:cNvSpPr/>
          <p:nvPr/>
        </p:nvSpPr>
        <p:spPr>
          <a:xfrm>
            <a:off x="452628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2</a:t>
            </a:r>
            <a:endParaRPr lang="ja-JP" altLang="en-US" sz="1300" dirty="0"/>
          </a:p>
        </p:txBody>
      </p:sp>
      <p:sp>
        <p:nvSpPr>
          <p:cNvPr id="35" name="テキスト 35"/>
          <p:cNvSpPr txBox="1"/>
          <p:nvPr/>
        </p:nvSpPr>
        <p:spPr>
          <a:xfrm>
            <a:off x="498348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閉じた扉の向こうの響きが、壁を抜けて聞こえていた</a:t>
            </a:r>
            <a:endParaRPr lang="ja-JP" altLang="en-US" sz="1350" dirty="0"/>
          </a:p>
        </p:txBody>
      </p:sp>
      <p:sp>
        <p:nvSpPr>
          <p:cNvPr id="36" name="部屋 36"/>
          <p:cNvSpPr/>
          <p:nvPr/>
        </p:nvSpPr>
        <p:spPr>
          <a:xfrm>
            <a:off x="4526280" y="2852928"/>
            <a:ext cx="1568196" cy="1097280"/>
          </a:xfrm>
          <a:prstGeom prst="rect">
            <a:avLst/>
          </a:prstGeom>
          <a:solidFill>
            <a:srgbClr val="FCF4E6"/>
          </a:solidFill>
          <a:ln w="25400">
            <a:solidFill>
              <a:srgbClr val="8A94A6"/>
            </a:solidFill>
          </a:ln>
        </p:spPr>
      </p:sp>
      <p:sp>
        <p:nvSpPr>
          <p:cNvPr id="37" name="部屋 37"/>
          <p:cNvSpPr/>
          <p:nvPr/>
        </p:nvSpPr>
        <p:spPr>
          <a:xfrm>
            <a:off x="6094476" y="2852928"/>
            <a:ext cx="1568196" cy="1097280"/>
          </a:xfrm>
          <a:prstGeom prst="rect">
            <a:avLst/>
          </a:prstGeom>
          <a:solidFill>
            <a:srgbClr val="FFFFFF"/>
          </a:solidFill>
          <a:ln w="25400">
            <a:solidFill>
              <a:srgbClr val="8A94A6"/>
            </a:solidFill>
          </a:ln>
        </p:spPr>
      </p:sp>
      <p:cxnSp>
        <p:nvCxnSpPr>
          <p:cNvPr id="38" name="線 38"/>
          <p:cNvCxnSpPr/>
          <p:nvPr/>
        </p:nvCxnSpPr>
        <p:spPr>
          <a:xfrm>
            <a:off x="6094476" y="3269894"/>
            <a:ext cx="0" cy="263347"/>
          </a:xfrm>
          <a:prstGeom prst="line">
            <a:avLst/>
          </a:prstGeom>
          <a:ln w="44450">
            <a:solidFill>
              <a:srgbClr val="9A6212"/>
            </a:solidFill>
          </a:ln>
        </p:spPr>
      </p:cxnSp>
      <p:sp>
        <p:nvSpPr>
          <p:cNvPr id="39" name="点 39"/>
          <p:cNvSpPr/>
          <p:nvPr/>
        </p:nvSpPr>
        <p:spPr>
          <a:xfrm>
            <a:off x="5177104" y="3456432"/>
            <a:ext cx="109728" cy="109728"/>
          </a:xfrm>
          <a:prstGeom prst="ellipse">
            <a:avLst/>
          </a:prstGeom>
          <a:solidFill>
            <a:srgbClr val="E3A33B"/>
          </a:solidFill>
          <a:ln>
            <a:noFill/>
          </a:ln>
        </p:spPr>
      </p:sp>
      <p:sp>
        <p:nvSpPr>
          <p:cNvPr id="40" name="弧 40"/>
          <p:cNvSpPr/>
          <p:nvPr/>
        </p:nvSpPr>
        <p:spPr>
          <a:xfrm>
            <a:off x="5085664" y="3364992"/>
            <a:ext cx="292608" cy="292608"/>
          </a:xfrm>
          <a:custGeom>
            <a:avLst/>
            <a:gdLst/>
            <a:ahLst/>
            <a:cxnLst/>
            <a:rect l="0" t="0" r="r" b="b"/>
            <a:pathLst>
              <a:path w="292608" h="292608" fill="none">
                <a:moveTo>
                  <a:pt x="292608" y="146304"/>
                </a:moveTo>
                <a:lnTo>
                  <a:pt x="285447" y="101094"/>
                </a:lnTo>
                <a:lnTo>
                  <a:pt x="264666" y="60309"/>
                </a:lnTo>
                <a:lnTo>
                  <a:pt x="232299" y="27942"/>
                </a:lnTo>
                <a:lnTo>
                  <a:pt x="191514" y="7161"/>
                </a:lnTo>
                <a:lnTo>
                  <a:pt x="146304" y="0"/>
                </a:lnTo>
                <a:lnTo>
                  <a:pt x="101094" y="7161"/>
                </a:lnTo>
                <a:lnTo>
                  <a:pt x="60309" y="27942"/>
                </a:lnTo>
                <a:lnTo>
                  <a:pt x="27942" y="60309"/>
                </a:lnTo>
                <a:lnTo>
                  <a:pt x="7161" y="101094"/>
                </a:lnTo>
                <a:lnTo>
                  <a:pt x="0" y="146304"/>
                </a:lnTo>
                <a:lnTo>
                  <a:pt x="7161" y="191514"/>
                </a:lnTo>
                <a:lnTo>
                  <a:pt x="27942" y="232299"/>
                </a:lnTo>
                <a:lnTo>
                  <a:pt x="60309" y="264666"/>
                </a:lnTo>
                <a:lnTo>
                  <a:pt x="101094" y="285447"/>
                </a:lnTo>
                <a:lnTo>
                  <a:pt x="146304" y="292608"/>
                </a:lnTo>
                <a:lnTo>
                  <a:pt x="191514" y="285447"/>
                </a:lnTo>
                <a:lnTo>
                  <a:pt x="232299" y="264666"/>
                </a:lnTo>
                <a:lnTo>
                  <a:pt x="264666" y="232299"/>
                </a:lnTo>
                <a:lnTo>
                  <a:pt x="285447" y="191514"/>
                </a:lnTo>
                <a:lnTo>
                  <a:pt x="292608" y="146304"/>
                </a:lnTo>
              </a:path>
            </a:pathLst>
          </a:custGeom>
          <a:noFill/>
          <a:ln w="12700">
            <a:solidFill>
              <a:srgbClr val="E3A33B"/>
            </a:solidFill>
          </a:ln>
        </p:spPr>
      </p:sp>
      <p:sp>
        <p:nvSpPr>
          <p:cNvPr id="41" name="弧 41"/>
          <p:cNvSpPr/>
          <p:nvPr/>
        </p:nvSpPr>
        <p:spPr>
          <a:xfrm>
            <a:off x="4975936" y="3255264"/>
            <a:ext cx="512064" cy="512064"/>
          </a:xfrm>
          <a:custGeom>
            <a:avLst/>
            <a:gdLst/>
            <a:ahLst/>
            <a:cxnLst/>
            <a:rect l="0" t="0" r="r" b="b"/>
            <a:pathLst>
              <a:path w="512064" h="512064" fill="none">
                <a:moveTo>
                  <a:pt x="512064" y="256032"/>
                </a:moveTo>
                <a:lnTo>
                  <a:pt x="499533" y="176914"/>
                </a:lnTo>
                <a:lnTo>
                  <a:pt x="463166" y="105540"/>
                </a:lnTo>
                <a:lnTo>
                  <a:pt x="406524" y="48898"/>
                </a:lnTo>
                <a:lnTo>
                  <a:pt x="335150" y="12531"/>
                </a:lnTo>
                <a:lnTo>
                  <a:pt x="256032" y="0"/>
                </a:lnTo>
                <a:lnTo>
                  <a:pt x="176914" y="12531"/>
                </a:lnTo>
                <a:lnTo>
                  <a:pt x="105540" y="48898"/>
                </a:lnTo>
                <a:lnTo>
                  <a:pt x="48898" y="105540"/>
                </a:lnTo>
                <a:lnTo>
                  <a:pt x="12531" y="176914"/>
                </a:lnTo>
                <a:lnTo>
                  <a:pt x="0" y="256032"/>
                </a:lnTo>
                <a:lnTo>
                  <a:pt x="12531" y="335150"/>
                </a:lnTo>
                <a:lnTo>
                  <a:pt x="48898" y="406524"/>
                </a:lnTo>
                <a:lnTo>
                  <a:pt x="105540" y="463166"/>
                </a:lnTo>
                <a:lnTo>
                  <a:pt x="176914" y="499533"/>
                </a:lnTo>
                <a:lnTo>
                  <a:pt x="256032" y="512064"/>
                </a:lnTo>
                <a:lnTo>
                  <a:pt x="335150" y="499533"/>
                </a:lnTo>
                <a:lnTo>
                  <a:pt x="406524" y="463166"/>
                </a:lnTo>
                <a:lnTo>
                  <a:pt x="463166" y="406524"/>
                </a:lnTo>
                <a:lnTo>
                  <a:pt x="499533" y="335150"/>
                </a:lnTo>
                <a:lnTo>
                  <a:pt x="512064" y="256032"/>
                </a:lnTo>
              </a:path>
            </a:pathLst>
          </a:custGeom>
          <a:noFill/>
          <a:ln w="12700">
            <a:solidFill>
              <a:srgbClr val="E3A33B"/>
            </a:solidFill>
          </a:ln>
        </p:spPr>
      </p:sp>
      <p:cxnSp>
        <p:nvCxnSpPr>
          <p:cNvPr id="42" name="線 42"/>
          <p:cNvCxnSpPr/>
          <p:nvPr/>
        </p:nvCxnSpPr>
        <p:spPr>
          <a:xfrm>
            <a:off x="5388788" y="3072384"/>
            <a:ext cx="1568196" cy="0"/>
          </a:xfrm>
          <a:prstGeom prst="line">
            <a:avLst/>
          </a:prstGeom>
          <a:ln w="19050">
            <a:solidFill>
              <a:srgbClr val="C9CED6"/>
            </a:solidFill>
            <a:prstDash val="dash"/>
            <a:tailEnd type="triangle" w="med" len="med"/>
          </a:ln>
        </p:spPr>
      </p:cxnSp>
      <p:sp>
        <p:nvSpPr>
          <p:cNvPr id="43" name="テキスト 43"/>
          <p:cNvSpPr txBox="1"/>
          <p:nvPr/>
        </p:nvSpPr>
        <p:spPr>
          <a:xfrm>
            <a:off x="5911596" y="2834640"/>
            <a:ext cx="36576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200" b="1" dirty="0">
                <a:solidFill>
                  <a:srgbClr val="5C6677"/>
                </a:solidFill>
                <a:latin typeface="BIZ UDPゴシック"/>
                <a:ea typeface="BIZ UDPゴシック"/>
                <a:cs typeface="BIZ UDPゴシック"/>
              </a:rPr>
              <a:t>×</a:t>
            </a:r>
            <a:endParaRPr lang="ja-JP" altLang="en-US" sz="1200" dirty="0"/>
          </a:p>
        </p:txBody>
      </p:sp>
      <p:sp>
        <p:nvSpPr>
          <p:cNvPr id="44" name="点 44"/>
          <p:cNvSpPr/>
          <p:nvPr/>
        </p:nvSpPr>
        <p:spPr>
          <a:xfrm>
            <a:off x="6902120" y="3478378"/>
            <a:ext cx="109728" cy="109728"/>
          </a:xfrm>
          <a:prstGeom prst="ellipse">
            <a:avLst/>
          </a:prstGeom>
          <a:solidFill>
            <a:srgbClr val="1E2430"/>
          </a:solidFill>
          <a:ln>
            <a:noFill/>
          </a:ln>
        </p:spPr>
      </p:sp>
      <p:sp>
        <p:nvSpPr>
          <p:cNvPr id="45" name="テキスト 45"/>
          <p:cNvSpPr txBox="1"/>
          <p:nvPr/>
        </p:nvSpPr>
        <p:spPr>
          <a:xfrm>
            <a:off x="6682664" y="3606394"/>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a:t>
            </a:r>
            <a:endParaRPr lang="ja-JP" altLang="en-US" sz="850" dirty="0"/>
          </a:p>
        </p:txBody>
      </p:sp>
      <p:sp>
        <p:nvSpPr>
          <p:cNvPr id="46" name="テキスト 46"/>
          <p:cNvSpPr txBox="1"/>
          <p:nvPr/>
        </p:nvSpPr>
        <p:spPr>
          <a:xfrm>
            <a:off x="4526280" y="2880360"/>
            <a:ext cx="1568196"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5C6677"/>
                </a:solidFill>
                <a:latin typeface="BIZ UDPゴシック"/>
                <a:ea typeface="BIZ UDPゴシック"/>
                <a:cs typeface="BIZ UDPゴシック"/>
              </a:rPr>
              <a:t>隣の部屋</a:t>
            </a:r>
            <a:endParaRPr lang="ja-JP" altLang="en-US" sz="850" dirty="0"/>
          </a:p>
        </p:txBody>
      </p:sp>
      <p:sp>
        <p:nvSpPr>
          <p:cNvPr id="47" name="テキスト 47"/>
          <p:cNvSpPr txBox="1"/>
          <p:nvPr/>
        </p:nvSpPr>
        <p:spPr>
          <a:xfrm>
            <a:off x="6094476" y="2880360"/>
            <a:ext cx="1568196"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5C6677"/>
                </a:solidFill>
                <a:latin typeface="BIZ UDPゴシック"/>
                <a:ea typeface="BIZ UDPゴシック"/>
                <a:cs typeface="BIZ UDPゴシック"/>
              </a:rPr>
              <a:t>今いる部屋</a:t>
            </a:r>
            <a:endParaRPr lang="ja-JP" altLang="en-US" sz="850" dirty="0"/>
          </a:p>
        </p:txBody>
      </p:sp>
      <p:sp>
        <p:nvSpPr>
          <p:cNvPr id="48" name="テキスト 48"/>
          <p:cNvSpPr txBox="1"/>
          <p:nvPr/>
        </p:nvSpPr>
        <p:spPr>
          <a:xfrm>
            <a:off x="5545836" y="3551530"/>
            <a:ext cx="109728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b="1" dirty="0">
                <a:solidFill>
                  <a:srgbClr val="9A6212"/>
                </a:solidFill>
                <a:latin typeface="BIZ UDPゴシック"/>
                <a:ea typeface="BIZ UDPゴシック"/>
                <a:cs typeface="BIZ UDPゴシック"/>
              </a:rPr>
              <a:t>閉じた扉</a:t>
            </a:r>
            <a:endParaRPr lang="ja-JP" altLang="en-US" sz="850" dirty="0"/>
          </a:p>
        </p:txBody>
      </p:sp>
      <p:sp>
        <p:nvSpPr>
          <p:cNvPr id="49" name="テキスト 49"/>
          <p:cNvSpPr txBox="1"/>
          <p:nvPr/>
        </p:nvSpPr>
        <p:spPr>
          <a:xfrm>
            <a:off x="452628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50" name="テキスト 50"/>
          <p:cNvSpPr txBox="1"/>
          <p:nvPr/>
        </p:nvSpPr>
        <p:spPr>
          <a:xfrm>
            <a:off x="452628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レイが壁を透過して隣の部屋の反射・残響まで拾い、閉じた扉で直接音の 8 倍の響きが届いていた</a:t>
            </a:r>
            <a:endParaRPr lang="ja-JP" altLang="en-US" sz="1200" dirty="0"/>
          </a:p>
        </p:txBody>
      </p:sp>
      <p:sp>
        <p:nvSpPr>
          <p:cNvPr id="51" name="図形 51"/>
          <p:cNvSpPr/>
          <p:nvPr/>
        </p:nvSpPr>
        <p:spPr>
          <a:xfrm>
            <a:off x="4480560" y="5212080"/>
            <a:ext cx="3227832" cy="914400"/>
          </a:xfrm>
          <a:prstGeom prst="roundRect">
            <a:avLst>
              <a:gd name="adj" fmla="val 8000"/>
            </a:avLst>
          </a:prstGeom>
          <a:solidFill>
            <a:srgbClr val="FBF1DF"/>
          </a:solidFill>
          <a:ln>
            <a:noFill/>
          </a:ln>
        </p:spPr>
      </p:sp>
      <p:sp>
        <p:nvSpPr>
          <p:cNvPr id="52" name="テキスト 52"/>
          <p:cNvSpPr txBox="1"/>
          <p:nvPr/>
        </p:nvSpPr>
        <p:spPr>
          <a:xfrm>
            <a:off x="466344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直し方</a:t>
            </a:r>
            <a:endParaRPr lang="ja-JP" altLang="en-US" sz="1100" dirty="0"/>
          </a:p>
        </p:txBody>
      </p:sp>
      <p:sp>
        <p:nvSpPr>
          <p:cNvPr id="53" name="テキスト 53"/>
          <p:cNvSpPr txBox="1"/>
          <p:nvPr/>
        </p:nvSpPr>
        <p:spPr>
          <a:xfrm>
            <a:off x="466344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反射と残響は壁を抜けない。壁越しの響きは前の 0.1% に</a:t>
            </a:r>
            <a:endParaRPr lang="ja-JP" altLang="en-US" sz="1200" dirty="0"/>
          </a:p>
        </p:txBody>
      </p:sp>
      <p:sp>
        <p:nvSpPr>
          <p:cNvPr id="54" name="カード 54"/>
          <p:cNvSpPr/>
          <p:nvPr/>
        </p:nvSpPr>
        <p:spPr>
          <a:xfrm>
            <a:off x="8046720" y="1965960"/>
            <a:ext cx="3593592" cy="4297680"/>
          </a:xfrm>
          <a:prstGeom prst="roundRect">
            <a:avLst>
              <a:gd name="adj" fmla="val 4000"/>
            </a:avLst>
          </a:prstGeom>
          <a:solidFill>
            <a:srgbClr val="F0F2F5"/>
          </a:solidFill>
          <a:ln>
            <a:noFill/>
          </a:ln>
        </p:spPr>
      </p:sp>
      <p:sp>
        <p:nvSpPr>
          <p:cNvPr id="55" name="図形 55"/>
          <p:cNvSpPr/>
          <p:nvPr/>
        </p:nvSpPr>
        <p:spPr>
          <a:xfrm>
            <a:off x="827532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3</a:t>
            </a:r>
            <a:endParaRPr lang="ja-JP" altLang="en-US" sz="1300" dirty="0"/>
          </a:p>
        </p:txBody>
      </p:sp>
      <p:sp>
        <p:nvSpPr>
          <p:cNvPr id="56" name="テキスト 56"/>
          <p:cNvSpPr txBox="1"/>
          <p:nvPr/>
        </p:nvSpPr>
        <p:spPr>
          <a:xfrm>
            <a:off x="873252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残響が、最初の反射より先に鳴っていた</a:t>
            </a:r>
            <a:endParaRPr lang="ja-JP" altLang="en-US" sz="1350" dirty="0"/>
          </a:p>
        </p:txBody>
      </p:sp>
      <p:sp>
        <p:nvSpPr>
          <p:cNvPr id="57" name="テキスト 57"/>
          <p:cNvSpPr txBox="1"/>
          <p:nvPr/>
        </p:nvSpPr>
        <p:spPr>
          <a:xfrm>
            <a:off x="8275320" y="3035808"/>
            <a:ext cx="36576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00" b="1" dirty="0">
                <a:solidFill>
                  <a:srgbClr val="1E2430"/>
                </a:solidFill>
                <a:latin typeface="BIZ UDPゴシック"/>
                <a:ea typeface="BIZ UDPゴシック"/>
                <a:cs typeface="BIZ UDPゴシック"/>
              </a:rPr>
              <a:t>前</a:t>
            </a:r>
            <a:endParaRPr lang="ja-JP" altLang="en-US" sz="1000" dirty="0"/>
          </a:p>
        </p:txBody>
      </p:sp>
      <p:sp>
        <p:nvSpPr>
          <p:cNvPr id="58" name="残響 58"/>
          <p:cNvSpPr/>
          <p:nvPr/>
        </p:nvSpPr>
        <p:spPr>
          <a:xfrm>
            <a:off x="9276222" y="3127248"/>
            <a:ext cx="2089770" cy="182880"/>
          </a:xfrm>
          <a:prstGeom prst="rect">
            <a:avLst/>
          </a:prstGeom>
          <a:solidFill>
            <a:srgbClr val="2F3A4E">
              <a:alpha val="40000"/>
            </a:srgbClr>
          </a:solidFill>
          <a:ln>
            <a:noFill/>
          </a:ln>
        </p:spPr>
      </p:sp>
      <p:cxnSp>
        <p:nvCxnSpPr>
          <p:cNvPr id="59" name="線 59"/>
          <p:cNvCxnSpPr/>
          <p:nvPr/>
        </p:nvCxnSpPr>
        <p:spPr>
          <a:xfrm>
            <a:off x="8686800" y="3310128"/>
            <a:ext cx="2679192" cy="0"/>
          </a:xfrm>
          <a:prstGeom prst="line">
            <a:avLst/>
          </a:prstGeom>
          <a:ln w="12700">
            <a:solidFill>
              <a:srgbClr val="8A94A6"/>
            </a:solidFill>
          </a:ln>
        </p:spPr>
      </p:cxnSp>
      <p:sp>
        <p:nvSpPr>
          <p:cNvPr id="60" name="到達 60"/>
          <p:cNvSpPr/>
          <p:nvPr/>
        </p:nvSpPr>
        <p:spPr>
          <a:xfrm>
            <a:off x="8833836" y="2980944"/>
            <a:ext cx="27432" cy="329184"/>
          </a:xfrm>
          <a:prstGeom prst="rect">
            <a:avLst/>
          </a:prstGeom>
          <a:solidFill>
            <a:srgbClr val="1E2430"/>
          </a:solidFill>
          <a:ln>
            <a:noFill/>
          </a:ln>
        </p:spPr>
      </p:sp>
      <p:sp>
        <p:nvSpPr>
          <p:cNvPr id="61" name="テキスト 61"/>
          <p:cNvSpPr txBox="1"/>
          <p:nvPr/>
        </p:nvSpPr>
        <p:spPr>
          <a:xfrm>
            <a:off x="8573232" y="2788920"/>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直接</a:t>
            </a:r>
            <a:endParaRPr lang="ja-JP" altLang="en-US" sz="800" dirty="0"/>
          </a:p>
        </p:txBody>
      </p:sp>
      <p:sp>
        <p:nvSpPr>
          <p:cNvPr id="62" name="到達 62"/>
          <p:cNvSpPr/>
          <p:nvPr/>
        </p:nvSpPr>
        <p:spPr>
          <a:xfrm>
            <a:off x="9878720" y="3035808"/>
            <a:ext cx="27432" cy="274320"/>
          </a:xfrm>
          <a:prstGeom prst="rect">
            <a:avLst/>
          </a:prstGeom>
          <a:solidFill>
            <a:srgbClr val="E3A33B"/>
          </a:solidFill>
          <a:ln>
            <a:noFill/>
          </a:ln>
        </p:spPr>
      </p:sp>
      <p:sp>
        <p:nvSpPr>
          <p:cNvPr id="63" name="テキスト 63"/>
          <p:cNvSpPr txBox="1"/>
          <p:nvPr/>
        </p:nvSpPr>
        <p:spPr>
          <a:xfrm>
            <a:off x="9618116" y="2843784"/>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反射</a:t>
            </a:r>
            <a:endParaRPr lang="ja-JP" altLang="en-US" sz="800" dirty="0"/>
          </a:p>
        </p:txBody>
      </p:sp>
      <p:sp>
        <p:nvSpPr>
          <p:cNvPr id="64" name="テキスト 64"/>
          <p:cNvSpPr txBox="1"/>
          <p:nvPr/>
        </p:nvSpPr>
        <p:spPr>
          <a:xfrm>
            <a:off x="10615818" y="3127248"/>
            <a:ext cx="750174" cy="18288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800" b="1" dirty="0">
                <a:solidFill>
                  <a:srgbClr val="FFFFFF"/>
                </a:solidFill>
                <a:latin typeface="BIZ UDPゴシック"/>
                <a:ea typeface="BIZ UDPゴシック"/>
                <a:cs typeface="BIZ UDPゴシック"/>
              </a:rPr>
              <a:t>残響</a:t>
            </a:r>
            <a:endParaRPr lang="ja-JP" altLang="en-US" sz="800" dirty="0"/>
          </a:p>
        </p:txBody>
      </p:sp>
      <p:sp>
        <p:nvSpPr>
          <p:cNvPr id="65" name="テキスト 65"/>
          <p:cNvSpPr txBox="1"/>
          <p:nvPr/>
        </p:nvSpPr>
        <p:spPr>
          <a:xfrm>
            <a:off x="8275320" y="3630168"/>
            <a:ext cx="36576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00" b="1" dirty="0">
                <a:solidFill>
                  <a:srgbClr val="1E2430"/>
                </a:solidFill>
                <a:latin typeface="BIZ UDPゴシック"/>
                <a:ea typeface="BIZ UDPゴシック"/>
                <a:cs typeface="BIZ UDPゴシック"/>
              </a:rPr>
              <a:t>今</a:t>
            </a:r>
            <a:endParaRPr lang="ja-JP" altLang="en-US" sz="1000" dirty="0"/>
          </a:p>
        </p:txBody>
      </p:sp>
      <p:sp>
        <p:nvSpPr>
          <p:cNvPr id="66" name="残響 66"/>
          <p:cNvSpPr/>
          <p:nvPr/>
        </p:nvSpPr>
        <p:spPr>
          <a:xfrm>
            <a:off x="9490558" y="3721608"/>
            <a:ext cx="1875434" cy="182880"/>
          </a:xfrm>
          <a:prstGeom prst="rect">
            <a:avLst/>
          </a:prstGeom>
          <a:solidFill>
            <a:srgbClr val="2F3A4E">
              <a:alpha val="40000"/>
            </a:srgbClr>
          </a:solidFill>
          <a:ln>
            <a:noFill/>
          </a:ln>
        </p:spPr>
      </p:sp>
      <p:cxnSp>
        <p:nvCxnSpPr>
          <p:cNvPr id="67" name="線 67"/>
          <p:cNvCxnSpPr/>
          <p:nvPr/>
        </p:nvCxnSpPr>
        <p:spPr>
          <a:xfrm>
            <a:off x="8686800" y="3904488"/>
            <a:ext cx="2679192" cy="0"/>
          </a:xfrm>
          <a:prstGeom prst="line">
            <a:avLst/>
          </a:prstGeom>
          <a:ln w="12700">
            <a:solidFill>
              <a:srgbClr val="8A94A6"/>
            </a:solidFill>
          </a:ln>
        </p:spPr>
      </p:cxnSp>
      <p:sp>
        <p:nvSpPr>
          <p:cNvPr id="68" name="到達 68"/>
          <p:cNvSpPr/>
          <p:nvPr/>
        </p:nvSpPr>
        <p:spPr>
          <a:xfrm>
            <a:off x="8833836" y="3575304"/>
            <a:ext cx="27432" cy="329184"/>
          </a:xfrm>
          <a:prstGeom prst="rect">
            <a:avLst/>
          </a:prstGeom>
          <a:solidFill>
            <a:srgbClr val="1E2430"/>
          </a:solidFill>
          <a:ln>
            <a:noFill/>
          </a:ln>
        </p:spPr>
      </p:sp>
      <p:sp>
        <p:nvSpPr>
          <p:cNvPr id="69" name="テキスト 69"/>
          <p:cNvSpPr txBox="1"/>
          <p:nvPr/>
        </p:nvSpPr>
        <p:spPr>
          <a:xfrm>
            <a:off x="8573232" y="3383280"/>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直接</a:t>
            </a:r>
            <a:endParaRPr lang="ja-JP" altLang="en-US" sz="800" dirty="0"/>
          </a:p>
        </p:txBody>
      </p:sp>
      <p:sp>
        <p:nvSpPr>
          <p:cNvPr id="70" name="到達 70"/>
          <p:cNvSpPr/>
          <p:nvPr/>
        </p:nvSpPr>
        <p:spPr>
          <a:xfrm>
            <a:off x="9476842" y="3630168"/>
            <a:ext cx="27432" cy="274320"/>
          </a:xfrm>
          <a:prstGeom prst="rect">
            <a:avLst/>
          </a:prstGeom>
          <a:solidFill>
            <a:srgbClr val="E3A33B"/>
          </a:solidFill>
          <a:ln>
            <a:noFill/>
          </a:ln>
        </p:spPr>
      </p:sp>
      <p:sp>
        <p:nvSpPr>
          <p:cNvPr id="71" name="テキスト 71"/>
          <p:cNvSpPr txBox="1"/>
          <p:nvPr/>
        </p:nvSpPr>
        <p:spPr>
          <a:xfrm>
            <a:off x="9216238" y="3438144"/>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反射</a:t>
            </a:r>
            <a:endParaRPr lang="ja-JP" altLang="en-US" sz="800" dirty="0"/>
          </a:p>
        </p:txBody>
      </p:sp>
      <p:sp>
        <p:nvSpPr>
          <p:cNvPr id="72" name="テキスト 72"/>
          <p:cNvSpPr txBox="1"/>
          <p:nvPr/>
        </p:nvSpPr>
        <p:spPr>
          <a:xfrm>
            <a:off x="10615818" y="3721608"/>
            <a:ext cx="750174" cy="18288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800" b="1" dirty="0">
                <a:solidFill>
                  <a:srgbClr val="FFFFFF"/>
                </a:solidFill>
                <a:latin typeface="BIZ UDPゴシック"/>
                <a:ea typeface="BIZ UDPゴシック"/>
                <a:cs typeface="BIZ UDPゴシック"/>
              </a:rPr>
              <a:t>残響</a:t>
            </a:r>
            <a:endParaRPr lang="ja-JP" altLang="en-US" sz="800" dirty="0"/>
          </a:p>
        </p:txBody>
      </p:sp>
      <p:sp>
        <p:nvSpPr>
          <p:cNvPr id="73" name="テキスト 73"/>
          <p:cNvSpPr txBox="1"/>
          <p:nvPr/>
        </p:nvSpPr>
        <p:spPr>
          <a:xfrm>
            <a:off x="8686800" y="3977640"/>
            <a:ext cx="2679192" cy="18288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800" dirty="0">
                <a:solidFill>
                  <a:srgbClr val="5C6677"/>
                </a:solidFill>
                <a:latin typeface="BIZ UDPゴシック"/>
                <a:ea typeface="BIZ UDPゴシック"/>
                <a:cs typeface="BIZ UDPゴシック"/>
              </a:rPr>
              <a:t>時間 →</a:t>
            </a:r>
            <a:endParaRPr lang="ja-JP" altLang="en-US" sz="800" dirty="0"/>
          </a:p>
        </p:txBody>
      </p:sp>
      <p:sp>
        <p:nvSpPr>
          <p:cNvPr id="74" name="テキスト 74"/>
          <p:cNvSpPr txBox="1"/>
          <p:nvPr/>
        </p:nvSpPr>
        <p:spPr>
          <a:xfrm>
            <a:off x="827532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75" name="テキスト 75"/>
          <p:cNvSpPr txBox="1"/>
          <p:nvPr/>
        </p:nvSpPr>
        <p:spPr>
          <a:xfrm>
            <a:off x="827532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残響の始まりを部屋の体積から決めていて、広い部屋で順番が逆転した（14 m の部屋で 9.3 ms 先）</a:t>
            </a:r>
            <a:endParaRPr lang="ja-JP" altLang="en-US" sz="1200" dirty="0"/>
          </a:p>
        </p:txBody>
      </p:sp>
      <p:sp>
        <p:nvSpPr>
          <p:cNvPr id="76" name="図形 76"/>
          <p:cNvSpPr/>
          <p:nvPr/>
        </p:nvSpPr>
        <p:spPr>
          <a:xfrm>
            <a:off x="8229600" y="5212080"/>
            <a:ext cx="3227832" cy="914400"/>
          </a:xfrm>
          <a:prstGeom prst="roundRect">
            <a:avLst>
              <a:gd name="adj" fmla="val 8000"/>
            </a:avLst>
          </a:prstGeom>
          <a:solidFill>
            <a:srgbClr val="FBF1DF"/>
          </a:solidFill>
          <a:ln>
            <a:noFill/>
          </a:ln>
        </p:spPr>
      </p:sp>
      <p:sp>
        <p:nvSpPr>
          <p:cNvPr id="77" name="テキスト 77"/>
          <p:cNvSpPr txBox="1"/>
          <p:nvPr/>
        </p:nvSpPr>
        <p:spPr>
          <a:xfrm>
            <a:off x="841248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直し方</a:t>
            </a:r>
            <a:endParaRPr lang="ja-JP" altLang="en-US" sz="1100" dirty="0"/>
          </a:p>
        </p:txBody>
      </p:sp>
      <p:sp>
        <p:nvSpPr>
          <p:cNvPr id="78" name="テキスト 78"/>
          <p:cNvSpPr txBox="1"/>
          <p:nvPr/>
        </p:nvSpPr>
        <p:spPr>
          <a:xfrm>
            <a:off x="841248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残響は最初の反射が届いてから始める（今のコアで毎回検査）</a:t>
            </a:r>
            <a:endParaRPr lang="ja-JP" altLang="en-US" sz="1200" dirty="0"/>
          </a:p>
        </p:txBody>
      </p:sp>
      <p:sp>
        <p:nvSpPr>
          <p:cNvPr id="79" name="注 79"/>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数値は回帰テストの実測（8 倍・9.3 ms は直す前の測定）。図は上から見た模式図</a:t>
            </a:r>
            <a:endParaRPr lang="ja-JP" altLang="en-US" sz="950" dirty="0"/>
          </a:p>
        </p:txBody>
      </p:sp>
      <p:sp>
        <p:nvSpPr>
          <p:cNvPr id="80" name="ページ番号 80"/>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14</a:t>
            </a:r>
            <a:endParaRPr lang="ja-JP" altLang="en-US" sz="1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139D93495F2624C917EEF16A9DA3E1A" ma:contentTypeVersion="14" ma:contentTypeDescription="新しいドキュメントを作成します。" ma:contentTypeScope="" ma:versionID="712b043f39acaa843b47ce0ff47cdb14">
  <xsd:schema xmlns:xsd="http://www.w3.org/2001/XMLSchema" xmlns:xs="http://www.w3.org/2001/XMLSchema" xmlns:p="http://schemas.microsoft.com/office/2006/metadata/properties" xmlns:ns3="fa551098-4004-44fe-a016-5407d130625c" xmlns:ns4="e4463ffd-d7ab-4e4f-a3b1-de7144f98700" targetNamespace="http://schemas.microsoft.com/office/2006/metadata/properties" ma:root="true" ma:fieldsID="55eca7160f1be1aed6532e21a6912db8" ns3:_="" ns4:_="">
    <xsd:import namespace="fa551098-4004-44fe-a016-5407d130625c"/>
    <xsd:import namespace="e4463ffd-d7ab-4e4f-a3b1-de7144f9870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_activity" minOccurs="0"/>
                <xsd:element ref="ns4:SharedWithUsers" minOccurs="0"/>
                <xsd:element ref="ns4:SharedWithDetails" minOccurs="0"/>
                <xsd:element ref="ns4:SharingHintHash"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551098-4004-44fe-a016-5407d130625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463ffd-d7ab-4e4f-a3b1-de7144f98700"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SharingHintHash" ma:index="20"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a551098-4004-44fe-a016-5407d130625c" xsi:nil="true"/>
  </documentManagement>
</p:properties>
</file>

<file path=customXml/itemProps1.xml><?xml version="1.0" encoding="utf-8"?>
<ds:datastoreItem xmlns:ds="http://schemas.openxmlformats.org/officeDocument/2006/customXml" ds:itemID="{97E42505-7A29-44B9-875B-02E46D6E4B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551098-4004-44fe-a016-5407d130625c"/>
    <ds:schemaRef ds:uri="e4463ffd-d7ab-4e4f-a3b1-de7144f987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B041D7-CB89-4ED4-BE62-442EEFCDC849}">
  <ds:schemaRefs>
    <ds:schemaRef ds:uri="http://schemas.microsoft.com/sharepoint/v3/contenttype/forms"/>
  </ds:schemaRefs>
</ds:datastoreItem>
</file>

<file path=customXml/itemProps3.xml><?xml version="1.0" encoding="utf-8"?>
<ds:datastoreItem xmlns:ds="http://schemas.openxmlformats.org/officeDocument/2006/customXml" ds:itemID="{6D1CE89B-2CA6-4D15-B5CD-0C4761464D49}">
  <ds:schemaRefs>
    <ds:schemaRef ds:uri="http://schemas.microsoft.com/office/2006/documentManagement/types"/>
    <ds:schemaRef ds:uri="http://purl.org/dc/terms/"/>
    <ds:schemaRef ds:uri="http://schemas.microsoft.com/office/infopath/2007/PartnerControls"/>
    <ds:schemaRef ds:uri="http://schemas.microsoft.com/office/2006/metadata/properties"/>
    <ds:schemaRef ds:uri="http://www.w3.org/XML/1998/namespace"/>
    <ds:schemaRef ds:uri="fa551098-4004-44fe-a016-5407d130625c"/>
    <ds:schemaRef ds:uri="http://schemas.openxmlformats.org/package/2006/metadata/core-properties"/>
    <ds:schemaRef ds:uri="e4463ffd-d7ab-4e4f-a3b1-de7144f98700"/>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147</TotalTime>
  <Words>755</Words>
  <Application>Microsoft Office PowerPoint</Application>
  <PresentationFormat>ワイド画面</PresentationFormat>
  <Paragraphs>127</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BIZ UDPゴシック</vt:lpstr>
      <vt:lpstr>游ゴシック</vt:lpstr>
      <vt:lpstr>游ゴシック Light</vt:lpstr>
      <vt:lpstr>Arial</vt:lpstr>
      <vt:lpstr>Office テーマ</vt:lpstr>
      <vt:lpstr>就職作品資料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ドアの開けた感の伝え方</vt:lpstr>
      <vt:lpstr>ドアが開いたことが伝わるように</vt:lpstr>
      <vt:lpstr>音がドアの裏側にあるのが伝わるように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OHAT13B60714 竹内寛登</dc:creator>
  <cp:lastModifiedBy>OHAT13B60714 竹内寛登</cp:lastModifiedBy>
  <cp:revision>2</cp:revision>
  <dcterms:created xsi:type="dcterms:W3CDTF">2026-09-18T05:41:46Z</dcterms:created>
  <dcterms:modified xsi:type="dcterms:W3CDTF">2026-09-18T08:09:14Z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0x0101006139D93495F2624C917EEF16A9DA3E1A</vt:lpwstr>
  </property>
</Properties>
</file>