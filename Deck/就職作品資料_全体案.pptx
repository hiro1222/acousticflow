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77" r:id="rId5"/>
    <p:sldId id="288" r:id="rId19"/>
    <p:sldId id="289" r:id="rId20"/>
    <p:sldId id="290" r:id="rId21"/>
    <p:sldId id="281" r:id="rId6"/>
    <p:sldId id="283" r:id="rId7"/>
    <p:sldId id="285" r:id="rId8"/>
    <p:sldId id="291" r:id="rId22"/>
    <p:sldId id="292" r:id="rId23"/>
    <p:sldId id="287" r:id="rId9"/>
    <p:sldId id="293" r:id="rId24"/>
    <p:sldId id="294" r:id="rId25"/>
    <p:sldId id="286" r:id="rId10"/>
    <p:sldId id="295" r:id="rId26"/>
    <p:sldId id="296" r:id="rId27"/>
    <p:sldId id="297" r:id="rId28"/>
    <p:sldId id="263" r:id="rId11"/>
    <p:sldId id="270" r:id="rId12"/>
    <p:sldId id="272" r:id="rId13"/>
    <p:sldId id="298" r:id="rId29"/>
    <p:sldId id="299" r:id="rId30"/>
    <p:sldId id="300" r:id="rId31"/>
    <p:sldId id="301" r:id="rId32"/>
    <p:sldId id="302" r:id="rId33"/>
    <p:sldId id="303" r:id="rId34"/>
    <p:sldId id="304" r:id="rId35"/>
    <p:sldId id="305" r:id="rId36"/>
    <p:sldId id="306" r:id="rId37"/>
    <p:sldId id="307" r:id="rId38"/>
    <p:sldId id="308" r:id="rId39"/>
    <p:sldId id="309" r:id="rId40"/>
    <p:sldId id="310" r:id="rId4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6ACFE8-6AD6-4725-99DB-1E5CBC20DF13}" v="1" dt="2026-09-18T07:30:40.4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56" d="100"/>
          <a:sy n="156" d="100"/>
        </p:scale>
        <p:origin x="42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4A3C4E-8514-8B83-FE2A-285A012FEC5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7BB4E6E5-5D29-FC97-B0D8-65C087F3C5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E3E8099-FAC6-747A-D4F4-C5D98AC9B7C3}"/>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5" name="フッター プレースホルダー 4">
            <a:extLst>
              <a:ext uri="{FF2B5EF4-FFF2-40B4-BE49-F238E27FC236}">
                <a16:creationId xmlns:a16="http://schemas.microsoft.com/office/drawing/2014/main" id="{E3CF228D-9DF8-77C4-8FAD-B8A2FAD3446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B43E47A-C368-58CF-EC75-65ECEFFDCE57}"/>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2916011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673D49-A275-870A-2280-4BE155512F2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12E6ECC-378D-3FC7-1318-86F2BFE485F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7101848-5A1C-B5BF-E1D6-869489184DF4}"/>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5" name="フッター プレースホルダー 4">
            <a:extLst>
              <a:ext uri="{FF2B5EF4-FFF2-40B4-BE49-F238E27FC236}">
                <a16:creationId xmlns:a16="http://schemas.microsoft.com/office/drawing/2014/main" id="{6A558946-5E32-ACE4-4D3D-8C5578D71D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CEA2615-1972-AFA4-90B4-F236DC6423FE}"/>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2502531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544C78-41E0-EDC0-5F61-FF9329BFA54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F5BAF89-C37F-D418-E319-325F4BFC7B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75EEB06-4C91-47F8-EB6D-8EEFBB6CEC1C}"/>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5" name="フッター プレースホルダー 4">
            <a:extLst>
              <a:ext uri="{FF2B5EF4-FFF2-40B4-BE49-F238E27FC236}">
                <a16:creationId xmlns:a16="http://schemas.microsoft.com/office/drawing/2014/main" id="{865D894D-8DCA-A853-8ACC-67D8BE4F40D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F189333-C615-560C-08B0-1860C9544F2E}"/>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2653957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3B1F7C-5BC9-0D03-C7ED-53375408454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32D0388-AD30-0476-3C05-4523E7CCFC3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3903D71-8BCD-CA04-C544-99FA04FFDF6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83A6EB03-B126-EB4C-89BD-5EDD6206541E}"/>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6" name="フッター プレースホルダー 5">
            <a:extLst>
              <a:ext uri="{FF2B5EF4-FFF2-40B4-BE49-F238E27FC236}">
                <a16:creationId xmlns:a16="http://schemas.microsoft.com/office/drawing/2014/main" id="{BD84C633-FB12-2B0E-36DE-6DEC19FAA6D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9BCA8FA-CC12-C6B5-F9E0-77FB7D146226}"/>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2988403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CD847D-0366-FAFD-20B6-BCB76D42E9C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F3258C6-BC24-5E5F-7AB6-7C7B557AFC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1AF5A97-9C99-7076-8AB0-F4859639553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4BDCDBC-3A2C-29AA-DA0E-5D9CACA783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2B02B2C-A244-F27A-F4D4-A82DAD8E6A0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DA2B241-384A-A6D6-A7B6-A9EB01CD67D0}"/>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8" name="フッター プレースホルダー 7">
            <a:extLst>
              <a:ext uri="{FF2B5EF4-FFF2-40B4-BE49-F238E27FC236}">
                <a16:creationId xmlns:a16="http://schemas.microsoft.com/office/drawing/2014/main" id="{693518D2-4033-1046-59FD-4B8BDFB57BC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7D896ED-DBAC-7356-794C-C2563C3C558D}"/>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3429262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D40D97-250A-F6AF-7107-82CC22703E6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3897A72-885D-43D8-5F29-987730DD58F4}"/>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4" name="フッター プレースホルダー 3">
            <a:extLst>
              <a:ext uri="{FF2B5EF4-FFF2-40B4-BE49-F238E27FC236}">
                <a16:creationId xmlns:a16="http://schemas.microsoft.com/office/drawing/2014/main" id="{5288A01D-0F33-AC42-2C7A-A4FBCB264A9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73B317C4-30E9-8000-CA0B-417FF6047D34}"/>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2316747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A8161FC-2683-B082-D1AA-DF15DA7DEC1F}"/>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3" name="フッター プレースホルダー 2">
            <a:extLst>
              <a:ext uri="{FF2B5EF4-FFF2-40B4-BE49-F238E27FC236}">
                <a16:creationId xmlns:a16="http://schemas.microsoft.com/office/drawing/2014/main" id="{692F8E52-BA0A-2DCE-8595-BCF5ED22E62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0DE87E-52EB-3072-20E7-B71EDC1D28F9}"/>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2186376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41E990-569E-7C34-631B-E74777196C6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781E26E-634C-BA68-1542-D72F21B056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2C09022-BD68-977E-32AD-28AB5BF241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F99B59C-4C15-2F0E-9589-0D25653DD9A9}"/>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6" name="フッター プレースホルダー 5">
            <a:extLst>
              <a:ext uri="{FF2B5EF4-FFF2-40B4-BE49-F238E27FC236}">
                <a16:creationId xmlns:a16="http://schemas.microsoft.com/office/drawing/2014/main" id="{57A8DB41-75FF-9056-090C-AF72D5BA946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569E810-C42A-7B20-B313-B5A1519A352B}"/>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1774897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A1B674-10E8-BF62-682E-62E6BF0E7B6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DF79050-13CF-4D18-6339-D3941F7553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50F4891-72AF-F1D9-27C9-0D91778B63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29BDCEC-9BC6-64CE-3B18-DE4C16A77279}"/>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6" name="フッター プレースホルダー 5">
            <a:extLst>
              <a:ext uri="{FF2B5EF4-FFF2-40B4-BE49-F238E27FC236}">
                <a16:creationId xmlns:a16="http://schemas.microsoft.com/office/drawing/2014/main" id="{E204B2C2-3F51-3980-5BEA-413AF34F71B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5C86812-6860-EB54-CABE-293D51998637}"/>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67535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210067-7390-8361-643D-9CE68DFA70B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C9466DC-F3C0-FE93-87E6-5D649BFCC48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DBA193E-A29E-562D-6992-188B60611EC1}"/>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5" name="フッター プレースホルダー 4">
            <a:extLst>
              <a:ext uri="{FF2B5EF4-FFF2-40B4-BE49-F238E27FC236}">
                <a16:creationId xmlns:a16="http://schemas.microsoft.com/office/drawing/2014/main" id="{09E2863E-9363-28E8-DB96-D0DCC39B04D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3B6499-12E3-CDE4-77FB-B44A5D4B7824}"/>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3849523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289E0D6-E2FA-7E83-A7CC-EBAF7EFF5CF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CA491F3-3267-80EA-B5B0-FB0E2B67E5E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CCDD8D1-FE86-9118-9D7C-AF1CF8DD35CA}"/>
              </a:ext>
            </a:extLst>
          </p:cNvPr>
          <p:cNvSpPr>
            <a:spLocks noGrp="1"/>
          </p:cNvSpPr>
          <p:nvPr>
            <p:ph type="dt" sz="half" idx="10"/>
          </p:nvPr>
        </p:nvSpPr>
        <p:spPr/>
        <p:txBody>
          <a:bodyPr/>
          <a:lstStyle/>
          <a:p>
            <a:fld id="{B0C9BC3C-C340-4B51-95ED-243F9F16900A}" type="datetimeFigureOut">
              <a:rPr kumimoji="1" lang="ja-JP" altLang="en-US" smtClean="0"/>
              <a:t>2026/9/18</a:t>
            </a:fld>
            <a:endParaRPr kumimoji="1" lang="ja-JP" altLang="en-US"/>
          </a:p>
        </p:txBody>
      </p:sp>
      <p:sp>
        <p:nvSpPr>
          <p:cNvPr id="5" name="フッター プレースホルダー 4">
            <a:extLst>
              <a:ext uri="{FF2B5EF4-FFF2-40B4-BE49-F238E27FC236}">
                <a16:creationId xmlns:a16="http://schemas.microsoft.com/office/drawing/2014/main" id="{3B15A288-4716-1884-4394-A3A5B712185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B9C6286-2694-A796-1940-D59A1ABE6F54}"/>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1065704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D1FBD23-492B-2985-6729-33FF947838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2EE682E-232A-1757-E4CF-8A1043C9DE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0668D80-FD2E-CC38-685D-49B13065B5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C9BC3C-C340-4B51-95ED-243F9F16900A}" type="datetimeFigureOut">
              <a:rPr kumimoji="1" lang="ja-JP" altLang="en-US" smtClean="0"/>
              <a:t>2026/9/18</a:t>
            </a:fld>
            <a:endParaRPr kumimoji="1" lang="ja-JP" altLang="en-US"/>
          </a:p>
        </p:txBody>
      </p:sp>
      <p:sp>
        <p:nvSpPr>
          <p:cNvPr id="5" name="フッター プレースホルダー 4">
            <a:extLst>
              <a:ext uri="{FF2B5EF4-FFF2-40B4-BE49-F238E27FC236}">
                <a16:creationId xmlns:a16="http://schemas.microsoft.com/office/drawing/2014/main" id="{83504E48-68AE-B0F0-F2C3-8287254E1A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0101281-24CC-108D-038D-DE019E05F2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584646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CA7F9B-7597-C11D-F482-EE320D33182C}"/>
              </a:ext>
            </a:extLst>
          </p:cNvPr>
          <p:cNvSpPr>
            <a:spLocks noGrp="1"/>
          </p:cNvSpPr>
          <p:nvPr>
            <p:ph type="ctrTitle"/>
          </p:nvPr>
        </p:nvSpPr>
        <p:spPr/>
        <p:txBody>
          <a:bodyPr/>
          <a:lstStyle/>
          <a:p>
            <a:r>
              <a:rPr kumimoji="1" lang="ja-JP" altLang="en-US" b="1" dirty="0"/>
              <a:t>就職作品資料</a:t>
            </a:r>
          </a:p>
        </p:txBody>
      </p:sp>
    </p:spTree>
    <p:extLst>
      <p:ext uri="{BB962C8B-B14F-4D97-AF65-F5344CB8AC3E}">
        <p14:creationId xmlns:p14="http://schemas.microsoft.com/office/powerpoint/2010/main" val="2083859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94647E5-0D8F-DB09-EEDA-D7EE42961DB3}"/>
              </a:ext>
            </a:extLst>
          </p:cNvPr>
          <p:cNvSpPr txBox="1"/>
          <p:nvPr/>
        </p:nvSpPr>
        <p:spPr>
          <a:xfrm>
            <a:off x="219456" y="173736"/>
            <a:ext cx="6565392" cy="369332"/>
          </a:xfrm>
          <a:prstGeom prst="rect">
            <a:avLst/>
          </a:prstGeom>
          <a:noFill/>
        </p:spPr>
        <p:txBody>
          <a:bodyPr wrap="square" rtlCol="0">
            <a:spAutoFit/>
          </a:bodyPr>
          <a:lstStyle/>
          <a:p>
            <a:r>
              <a:rPr lang="ja-JP" altLang="en-US" dirty="0"/>
              <a:t>設計</a:t>
            </a:r>
            <a:r>
              <a:rPr kumimoji="1" lang="ja-JP" altLang="en-US" dirty="0"/>
              <a:t>コンセプト</a:t>
            </a:r>
          </a:p>
        </p:txBody>
      </p:sp>
      <p:sp>
        <p:nvSpPr>
          <p:cNvPr id="3" name="テキスト ボックス 2">
            <a:extLst>
              <a:ext uri="{FF2B5EF4-FFF2-40B4-BE49-F238E27FC236}">
                <a16:creationId xmlns:a16="http://schemas.microsoft.com/office/drawing/2014/main" id="{D3285EF2-C0EB-FD0C-8ED8-20A5B2FDC672}"/>
              </a:ext>
            </a:extLst>
          </p:cNvPr>
          <p:cNvSpPr txBox="1"/>
          <p:nvPr/>
        </p:nvSpPr>
        <p:spPr>
          <a:xfrm>
            <a:off x="1674876" y="3044279"/>
            <a:ext cx="8842248" cy="769441"/>
          </a:xfrm>
          <a:prstGeom prst="rect">
            <a:avLst/>
          </a:prstGeom>
          <a:noFill/>
        </p:spPr>
        <p:txBody>
          <a:bodyPr wrap="square" rtlCol="0">
            <a:spAutoFit/>
          </a:bodyPr>
          <a:lstStyle/>
          <a:p>
            <a:r>
              <a:rPr kumimoji="1" lang="ja-JP" altLang="en-US" sz="4400" b="1" dirty="0"/>
              <a:t>プレイヤーの行動が伝わる体験</a:t>
            </a:r>
          </a:p>
        </p:txBody>
      </p:sp>
      <p:sp>
        <p:nvSpPr>
          <p:cNvPr id="4" name="ページ番号 4"/>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5</a:t>
            </a:r>
            <a:endParaRPr lang="ja-JP" altLang="en-US" sz="1000" dirty="0"/>
          </a:p>
        </p:txBody>
      </p:sp>
    </p:spTree>
    <p:extLst>
      <p:ext uri="{BB962C8B-B14F-4D97-AF65-F5344CB8AC3E}">
        <p14:creationId xmlns:p14="http://schemas.microsoft.com/office/powerpoint/2010/main" val="1300184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13D9C-F56F-4A03-22DF-55014ABD1692}"/>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3612AC6-7BD7-BB4F-3A8A-C4E079A9B68D}"/>
              </a:ext>
            </a:extLst>
          </p:cNvPr>
          <p:cNvSpPr txBox="1"/>
          <p:nvPr/>
        </p:nvSpPr>
        <p:spPr>
          <a:xfrm>
            <a:off x="219456" y="173736"/>
            <a:ext cx="6565392" cy="369332"/>
          </a:xfrm>
          <a:prstGeom prst="rect">
            <a:avLst/>
          </a:prstGeom>
          <a:noFill/>
        </p:spPr>
        <p:txBody>
          <a:bodyPr wrap="square" rtlCol="0">
            <a:spAutoFit/>
          </a:bodyPr>
          <a:lstStyle/>
          <a:p>
            <a:r>
              <a:rPr kumimoji="1" lang="ja-JP" altLang="en-US" dirty="0"/>
              <a:t>なぜこのコンセプト？</a:t>
            </a:r>
          </a:p>
        </p:txBody>
      </p:sp>
      <p:sp>
        <p:nvSpPr>
          <p:cNvPr id="3" name="テキスト ボックス 2">
            <a:extLst>
              <a:ext uri="{FF2B5EF4-FFF2-40B4-BE49-F238E27FC236}">
                <a16:creationId xmlns:a16="http://schemas.microsoft.com/office/drawing/2014/main" id="{0AC52C87-986E-46EA-044D-998CFCA1C44B}"/>
              </a:ext>
            </a:extLst>
          </p:cNvPr>
          <p:cNvSpPr txBox="1"/>
          <p:nvPr/>
        </p:nvSpPr>
        <p:spPr>
          <a:xfrm>
            <a:off x="219455" y="730663"/>
            <a:ext cx="11796619" cy="1077218"/>
          </a:xfrm>
          <a:prstGeom prst="rect">
            <a:avLst/>
          </a:prstGeom>
          <a:noFill/>
        </p:spPr>
        <p:txBody>
          <a:bodyPr wrap="square" rtlCol="0">
            <a:spAutoFit/>
          </a:bodyPr>
          <a:lstStyle/>
          <a:p>
            <a:r>
              <a:rPr kumimoji="1" lang="ja-JP" altLang="en-US" sz="3200" b="1" dirty="0"/>
              <a:t>昔から音が好き！</a:t>
            </a:r>
            <a:endParaRPr kumimoji="1" lang="en-US" altLang="ja-JP" sz="3200" b="1" dirty="0"/>
          </a:p>
          <a:p>
            <a:r>
              <a:rPr lang="ja-JP" altLang="en-US" sz="3200" b="1" dirty="0"/>
              <a:t>自分の好きな音の体験をゲームでも味わえるように</a:t>
            </a:r>
            <a:endParaRPr kumimoji="1" lang="ja-JP" altLang="en-US" sz="3200" b="1" dirty="0"/>
          </a:p>
        </p:txBody>
      </p:sp>
      <p:sp>
        <p:nvSpPr>
          <p:cNvPr id="4" name="ページ番号 4"/>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6</a:t>
            </a:r>
            <a:endParaRPr lang="ja-JP" altLang="en-US" sz="1000" dirty="0"/>
          </a:p>
        </p:txBody>
      </p:sp>
    </p:spTree>
    <p:extLst>
      <p:ext uri="{BB962C8B-B14F-4D97-AF65-F5344CB8AC3E}">
        <p14:creationId xmlns:p14="http://schemas.microsoft.com/office/powerpoint/2010/main" val="3907717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4B090-A28E-D59E-0C7A-D02BE15150E7}"/>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DEDA9BE-17CD-C96F-2875-D5CF4EB2D7CD}"/>
              </a:ext>
            </a:extLst>
          </p:cNvPr>
          <p:cNvSpPr txBox="1"/>
          <p:nvPr/>
        </p:nvSpPr>
        <p:spPr>
          <a:xfrm>
            <a:off x="219456" y="173736"/>
            <a:ext cx="6565392" cy="369332"/>
          </a:xfrm>
          <a:prstGeom prst="rect">
            <a:avLst/>
          </a:prstGeom>
          <a:noFill/>
        </p:spPr>
        <p:txBody>
          <a:bodyPr wrap="square" rtlCol="0">
            <a:spAutoFit/>
          </a:bodyPr>
          <a:lstStyle/>
          <a:p>
            <a:r>
              <a:rPr kumimoji="1" lang="ja-JP" altLang="en-US" dirty="0"/>
              <a:t>コンセプト実現のために</a:t>
            </a:r>
          </a:p>
        </p:txBody>
      </p:sp>
      <p:sp>
        <p:nvSpPr>
          <p:cNvPr id="3" name="テキスト ボックス 2">
            <a:extLst>
              <a:ext uri="{FF2B5EF4-FFF2-40B4-BE49-F238E27FC236}">
                <a16:creationId xmlns:a16="http://schemas.microsoft.com/office/drawing/2014/main" id="{8B734A69-5DDF-C0BC-61D1-8BFC3897CFE5}"/>
              </a:ext>
            </a:extLst>
          </p:cNvPr>
          <p:cNvSpPr txBox="1"/>
          <p:nvPr/>
        </p:nvSpPr>
        <p:spPr>
          <a:xfrm>
            <a:off x="219455" y="730663"/>
            <a:ext cx="11796619" cy="584775"/>
          </a:xfrm>
          <a:prstGeom prst="rect">
            <a:avLst/>
          </a:prstGeom>
          <a:noFill/>
        </p:spPr>
        <p:txBody>
          <a:bodyPr wrap="square" rtlCol="0">
            <a:spAutoFit/>
          </a:bodyPr>
          <a:lstStyle/>
          <a:p>
            <a:r>
              <a:rPr lang="ja-JP" altLang="en-US" sz="3200" b="1" dirty="0"/>
              <a:t>ゲームだからこそリアルよりも伝わる音を目指す</a:t>
            </a:r>
            <a:endParaRPr kumimoji="1" lang="ja-JP" altLang="en-US" sz="3200" b="1" dirty="0"/>
          </a:p>
        </p:txBody>
      </p:sp>
      <p:sp>
        <p:nvSpPr>
          <p:cNvPr id="4" name="ページ番号 4"/>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7</a:t>
            </a:r>
            <a:endParaRPr lang="ja-JP" altLang="en-US" sz="1000" dirty="0"/>
          </a:p>
        </p:txBody>
      </p:sp>
    </p:spTree>
    <p:extLst>
      <p:ext uri="{BB962C8B-B14F-4D97-AF65-F5344CB8AC3E}">
        <p14:creationId xmlns:p14="http://schemas.microsoft.com/office/powerpoint/2010/main" val="3221603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841C043-24AC-2245-80C8-E6EAAA90AA76}"/>
              </a:ext>
            </a:extLst>
          </p:cNvPr>
          <p:cNvSpPr txBox="1"/>
          <p:nvPr/>
        </p:nvSpPr>
        <p:spPr>
          <a:xfrm>
            <a:off x="484316" y="386996"/>
            <a:ext cx="2449129" cy="769441"/>
          </a:xfrm>
          <a:prstGeom prst="rect">
            <a:avLst/>
          </a:prstGeom>
          <a:noFill/>
        </p:spPr>
        <p:txBody>
          <a:bodyPr wrap="square" rtlCol="0">
            <a:spAutoFit/>
          </a:bodyPr>
          <a:lstStyle/>
          <a:p>
            <a:r>
              <a:rPr kumimoji="1" lang="ja-JP" altLang="en-US" sz="4400" b="1"/>
              <a:t>実装内容</a:t>
            </a:r>
            <a:endParaRPr kumimoji="1" lang="ja-JP" altLang="en-US" sz="4400" b="1" dirty="0"/>
          </a:p>
        </p:txBody>
      </p:sp>
      <p:sp>
        <p:nvSpPr>
          <p:cNvPr id="3" name="テキスト ボックス 2">
            <a:extLst>
              <a:ext uri="{FF2B5EF4-FFF2-40B4-BE49-F238E27FC236}">
                <a16:creationId xmlns:a16="http://schemas.microsoft.com/office/drawing/2014/main" id="{2FB329FC-9292-55BD-7E94-202F9816F74D}"/>
              </a:ext>
            </a:extLst>
          </p:cNvPr>
          <p:cNvSpPr txBox="1"/>
          <p:nvPr/>
        </p:nvSpPr>
        <p:spPr>
          <a:xfrm>
            <a:off x="877578" y="1822663"/>
            <a:ext cx="6560359" cy="3970318"/>
          </a:xfrm>
          <a:prstGeom prst="rect">
            <a:avLst/>
          </a:prstGeom>
          <a:noFill/>
        </p:spPr>
        <p:txBody>
          <a:bodyPr wrap="square" rtlCol="0">
            <a:spAutoFit/>
          </a:bodyPr>
          <a:lstStyle/>
          <a:p>
            <a:pPr>
              <a:tabLst>
                <a:tab pos="5074920" algn="l"/>
              </a:tabLst>
            </a:pPr>
            <a:r>
              <a:rPr lang="ja-JP" altLang="en-US" sz="2800" b="1" dirty="0"/>
              <a:t>・実装物と全体ルール</a:t>
            </a:r>
            <a:r>
              <a:rPr lang="ja-JP" altLang="en-US" sz="2800" b="1" dirty="0"/>
              <a:t>	11～15</a:t>
            </a:r>
            <a:endParaRPr lang="ja-JP" altLang="en-US" sz="2800" b="1" dirty="0"/>
          </a:p>
          <a:p>
            <a:endParaRPr lang="en-US" altLang="ja-JP" sz="2800" b="1" dirty="0"/>
          </a:p>
          <a:p>
            <a:pPr>
              <a:tabLst>
                <a:tab pos="5074920" algn="l"/>
              </a:tabLst>
            </a:pPr>
            <a:r>
              <a:rPr lang="ja-JP" altLang="en-US" sz="2800" b="1" dirty="0"/>
              <a:t>・ドアの開き具合での演出</a:t>
            </a:r>
            <a:r>
              <a:rPr lang="ja-JP" altLang="en-US" sz="2800" b="1" dirty="0"/>
              <a:t>	16～20</a:t>
            </a:r>
            <a:endParaRPr lang="ja-JP" altLang="en-US" sz="2800" b="1" dirty="0"/>
          </a:p>
          <a:p>
            <a:endParaRPr lang="en-US" altLang="ja-JP" sz="2800" b="1" dirty="0"/>
          </a:p>
          <a:p>
            <a:pPr>
              <a:tabLst>
                <a:tab pos="5074920" algn="l"/>
              </a:tabLst>
            </a:pPr>
            <a:r>
              <a:rPr lang="ja-JP" altLang="en-US" sz="2800" b="1" dirty="0"/>
              <a:t>・音の空間印象</a:t>
            </a:r>
            <a:r>
              <a:rPr lang="ja-JP" altLang="en-US" sz="2800" b="1" dirty="0"/>
              <a:t>	21～24</a:t>
            </a:r>
            <a:endParaRPr lang="ja-JP" altLang="en-US" sz="2800" b="1" dirty="0"/>
          </a:p>
          <a:p>
            <a:endParaRPr lang="en-US" altLang="ja-JP" sz="2800" b="1" dirty="0"/>
          </a:p>
          <a:p>
            <a:pPr>
              <a:tabLst>
                <a:tab pos="5074920" algn="l"/>
              </a:tabLst>
            </a:pPr>
            <a:r>
              <a:rPr lang="ja-JP" altLang="en-US" sz="2800" b="1" dirty="0"/>
              <a:t>・部屋での残響感</a:t>
            </a:r>
            <a:r>
              <a:rPr lang="ja-JP" altLang="en-US" sz="2800" b="1" dirty="0"/>
              <a:t>	25～28</a:t>
            </a:r>
            <a:endParaRPr lang="ja-JP" altLang="en-US" sz="2800" b="1" dirty="0"/>
          </a:p>
          <a:p>
            <a:endParaRPr lang="en-US" altLang="ja-JP" sz="2800" b="1" dirty="0"/>
          </a:p>
          <a:p>
            <a:pPr>
              <a:tabLst>
                <a:tab pos="5074920" algn="l"/>
              </a:tabLst>
            </a:pPr>
            <a:r>
              <a:rPr lang="ja-JP" altLang="en-US" sz="2800" b="1" dirty="0"/>
              <a:t>・隣の部屋でなっている音</a:t>
            </a:r>
            <a:r>
              <a:rPr lang="ja-JP" altLang="en-US" sz="2800" b="1" dirty="0"/>
              <a:t>	29～31</a:t>
            </a:r>
            <a:endParaRPr lang="ja-JP" altLang="en-US" sz="2800" b="1" dirty="0"/>
          </a:p>
        </p:txBody>
      </p:sp>
      <p:sp>
        <p:nvSpPr>
          <p:cNvPr id="4" name="ページ番号 4"/>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10</a:t>
            </a:r>
            <a:endParaRPr lang="ja-JP" altLang="en-US" sz="1000" dirty="0"/>
          </a:p>
        </p:txBody>
      </p:sp>
    </p:spTree>
    <p:extLst>
      <p:ext uri="{BB962C8B-B14F-4D97-AF65-F5344CB8AC3E}">
        <p14:creationId xmlns:p14="http://schemas.microsoft.com/office/powerpoint/2010/main" val="648258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EF5108F-6C79-C345-69F5-9CB75BF25331}"/>
              </a:ext>
            </a:extLst>
          </p:cNvPr>
          <p:cNvSpPr txBox="1"/>
          <p:nvPr/>
        </p:nvSpPr>
        <p:spPr>
          <a:xfrm>
            <a:off x="466344" y="466344"/>
            <a:ext cx="11594592" cy="1477328"/>
          </a:xfrm>
          <a:prstGeom prst="rect">
            <a:avLst/>
          </a:prstGeom>
          <a:noFill/>
        </p:spPr>
        <p:txBody>
          <a:bodyPr wrap="square" rtlCol="0">
            <a:spAutoFit/>
          </a:bodyPr>
          <a:lstStyle/>
          <a:p>
            <a:r>
              <a:rPr kumimoji="1" lang="ja-JP" altLang="en-US" sz="3600" b="1" dirty="0"/>
              <a:t>システムとしてのアプローチと理由</a:t>
            </a:r>
            <a:endParaRPr kumimoji="1" lang="en-US" altLang="ja-JP" sz="3600" b="1" dirty="0"/>
          </a:p>
          <a:p>
            <a:r>
              <a:rPr kumimoji="1" lang="ja-JP" altLang="en-US" dirty="0"/>
              <a:t>システム全体としての決め事</a:t>
            </a:r>
            <a:endParaRPr kumimoji="1" lang="en-US" altLang="ja-JP" dirty="0"/>
          </a:p>
          <a:p>
            <a:endParaRPr lang="en-US" altLang="ja-JP" dirty="0"/>
          </a:p>
          <a:p>
            <a:endParaRPr kumimoji="1" lang="ja-JP" altLang="en-US" dirty="0"/>
          </a:p>
        </p:txBody>
      </p:sp>
      <p:sp>
        <p:nvSpPr>
          <p:cNvPr id="4" name="カード 6">
            <a:extLst>
              <a:ext uri="{FF2B5EF4-FFF2-40B4-BE49-F238E27FC236}">
                <a16:creationId xmlns:a16="http://schemas.microsoft.com/office/drawing/2014/main" id="{E63C17A6-4423-CBD4-1FCB-D783DDEDEAE9}"/>
              </a:ext>
            </a:extLst>
          </p:cNvPr>
          <p:cNvSpPr/>
          <p:nvPr/>
        </p:nvSpPr>
        <p:spPr>
          <a:xfrm>
            <a:off x="548640" y="2971800"/>
            <a:ext cx="3544824" cy="3337560"/>
          </a:xfrm>
          <a:prstGeom prst="roundRect">
            <a:avLst>
              <a:gd name="adj" fmla="val 5000"/>
            </a:avLst>
          </a:prstGeom>
          <a:solidFill>
            <a:srgbClr val="F0F2F5"/>
          </a:solidFill>
          <a:ln>
            <a:noFill/>
          </a:ln>
        </p:spPr>
        <p:txBody>
          <a:bodyPr/>
          <a:lstStyle/>
          <a:p>
            <a:endParaRPr lang="ja-JP" altLang="en-US"/>
          </a:p>
        </p:txBody>
      </p:sp>
      <p:sp>
        <p:nvSpPr>
          <p:cNvPr id="5" name="ラベル 7">
            <a:extLst>
              <a:ext uri="{FF2B5EF4-FFF2-40B4-BE49-F238E27FC236}">
                <a16:creationId xmlns:a16="http://schemas.microsoft.com/office/drawing/2014/main" id="{2629A221-001D-31F0-39EF-29DE0A1662AA}"/>
              </a:ext>
            </a:extLst>
          </p:cNvPr>
          <p:cNvSpPr/>
          <p:nvPr/>
        </p:nvSpPr>
        <p:spPr>
          <a:xfrm>
            <a:off x="765048" y="4285889"/>
            <a:ext cx="1097280" cy="420624"/>
          </a:xfrm>
          <a:prstGeom prst="roundRect">
            <a:avLst>
              <a:gd name="adj" fmla="val 50000"/>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500" b="1" dirty="0">
                <a:solidFill>
                  <a:srgbClr val="1E2430"/>
                </a:solidFill>
                <a:latin typeface="BIZ UDPゴシック"/>
                <a:ea typeface="BIZ UDPゴシック"/>
                <a:cs typeface="BIZ UDPゴシック"/>
              </a:rPr>
              <a:t>連続性</a:t>
            </a:r>
            <a:endParaRPr lang="ja-JP" altLang="en-US" sz="1500" dirty="0"/>
          </a:p>
        </p:txBody>
      </p:sp>
      <p:sp>
        <p:nvSpPr>
          <p:cNvPr id="6" name="テキスト 8">
            <a:extLst>
              <a:ext uri="{FF2B5EF4-FFF2-40B4-BE49-F238E27FC236}">
                <a16:creationId xmlns:a16="http://schemas.microsoft.com/office/drawing/2014/main" id="{3A63ABDB-9596-6AF8-6AEF-B46F0DFF3F90}"/>
              </a:ext>
            </a:extLst>
          </p:cNvPr>
          <p:cNvSpPr txBox="1"/>
          <p:nvPr/>
        </p:nvSpPr>
        <p:spPr>
          <a:xfrm>
            <a:off x="838200" y="4814316"/>
            <a:ext cx="2996184" cy="1600200"/>
          </a:xfrm>
          <a:prstGeom prst="rect">
            <a:avLst/>
          </a:prstGeom>
          <a:noFill/>
        </p:spPr>
        <p:txBody>
          <a:bodyPr wrap="square" lIns="0" tIns="0" rIns="0" bIns="0" rtlCol="0" anchor="t">
            <a:noAutofit/>
          </a:bodyPr>
          <a:lstStyle/>
          <a:p>
            <a:pPr marL="0" indent="0" algn="l">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プレイヤーが高速で動いたりテレポートをしない限り音が急に切り替わると強い違和感を感じやすい。基本滑らかに変化して行くことを大事にする。</a:t>
            </a:r>
            <a:endParaRPr lang="ja-JP" altLang="en-US" sz="1450" dirty="0"/>
          </a:p>
        </p:txBody>
      </p:sp>
      <p:sp>
        <p:nvSpPr>
          <p:cNvPr id="7" name="カード 9">
            <a:extLst>
              <a:ext uri="{FF2B5EF4-FFF2-40B4-BE49-F238E27FC236}">
                <a16:creationId xmlns:a16="http://schemas.microsoft.com/office/drawing/2014/main" id="{1BF29227-25EF-DC3B-DAEB-2B071D051804}"/>
              </a:ext>
            </a:extLst>
          </p:cNvPr>
          <p:cNvSpPr/>
          <p:nvPr/>
        </p:nvSpPr>
        <p:spPr>
          <a:xfrm>
            <a:off x="4322064" y="2971800"/>
            <a:ext cx="3544824" cy="3337560"/>
          </a:xfrm>
          <a:prstGeom prst="roundRect">
            <a:avLst>
              <a:gd name="adj" fmla="val 5000"/>
            </a:avLst>
          </a:prstGeom>
          <a:solidFill>
            <a:srgbClr val="F0F2F5"/>
          </a:solidFill>
          <a:ln>
            <a:noFill/>
          </a:ln>
        </p:spPr>
        <p:txBody>
          <a:bodyPr/>
          <a:lstStyle/>
          <a:p>
            <a:endParaRPr lang="ja-JP" altLang="en-US"/>
          </a:p>
        </p:txBody>
      </p:sp>
      <p:sp>
        <p:nvSpPr>
          <p:cNvPr id="8" name="ラベル 10">
            <a:extLst>
              <a:ext uri="{FF2B5EF4-FFF2-40B4-BE49-F238E27FC236}">
                <a16:creationId xmlns:a16="http://schemas.microsoft.com/office/drawing/2014/main" id="{26D5FBB5-477A-B087-75EC-482B19496F2F}"/>
              </a:ext>
            </a:extLst>
          </p:cNvPr>
          <p:cNvSpPr/>
          <p:nvPr/>
        </p:nvSpPr>
        <p:spPr>
          <a:xfrm>
            <a:off x="4596384" y="4285889"/>
            <a:ext cx="1097280" cy="420624"/>
          </a:xfrm>
          <a:prstGeom prst="roundRect">
            <a:avLst>
              <a:gd name="adj" fmla="val 50000"/>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500" b="1" dirty="0">
                <a:solidFill>
                  <a:srgbClr val="1E2430"/>
                </a:solidFill>
                <a:latin typeface="BIZ UDPゴシック"/>
                <a:ea typeface="BIZ UDPゴシック"/>
                <a:cs typeface="BIZ UDPゴシック"/>
              </a:rPr>
              <a:t>即時性</a:t>
            </a:r>
            <a:endParaRPr lang="ja-JP" altLang="en-US" sz="1500" dirty="0"/>
          </a:p>
        </p:txBody>
      </p:sp>
      <p:sp>
        <p:nvSpPr>
          <p:cNvPr id="9" name="テキスト 11">
            <a:extLst>
              <a:ext uri="{FF2B5EF4-FFF2-40B4-BE49-F238E27FC236}">
                <a16:creationId xmlns:a16="http://schemas.microsoft.com/office/drawing/2014/main" id="{D3041117-9EE9-9C89-CE84-23993AF1EEC7}"/>
              </a:ext>
            </a:extLst>
          </p:cNvPr>
          <p:cNvSpPr txBox="1"/>
          <p:nvPr/>
        </p:nvSpPr>
        <p:spPr>
          <a:xfrm>
            <a:off x="4596384" y="4814316"/>
            <a:ext cx="2996184" cy="1600200"/>
          </a:xfrm>
          <a:prstGeom prst="rect">
            <a:avLst/>
          </a:prstGeom>
          <a:noFill/>
        </p:spPr>
        <p:txBody>
          <a:bodyPr wrap="square" lIns="0" tIns="0" rIns="0" bIns="0" rtlCol="0" anchor="t">
            <a:noAutofit/>
          </a:bodyPr>
          <a:lstStyle/>
          <a:p>
            <a:pPr marL="0" indent="0" algn="l">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ドアを開けたり部屋を移動した際に音が変わるまでに何秒もかけてると体験としての新鮮さがない、リアルタイムで音が変化してラグや飛びが無いように心がける。</a:t>
            </a:r>
            <a:endParaRPr lang="ja-JP" altLang="en-US" sz="1450" dirty="0"/>
          </a:p>
        </p:txBody>
      </p:sp>
      <p:sp>
        <p:nvSpPr>
          <p:cNvPr id="10" name="カード 12">
            <a:extLst>
              <a:ext uri="{FF2B5EF4-FFF2-40B4-BE49-F238E27FC236}">
                <a16:creationId xmlns:a16="http://schemas.microsoft.com/office/drawing/2014/main" id="{0801A3C9-29A0-412A-DEFE-0AFEBF7E1D12}"/>
              </a:ext>
            </a:extLst>
          </p:cNvPr>
          <p:cNvSpPr/>
          <p:nvPr/>
        </p:nvSpPr>
        <p:spPr>
          <a:xfrm>
            <a:off x="8095488" y="2971800"/>
            <a:ext cx="3544824" cy="3337560"/>
          </a:xfrm>
          <a:prstGeom prst="roundRect">
            <a:avLst>
              <a:gd name="adj" fmla="val 5000"/>
            </a:avLst>
          </a:prstGeom>
          <a:solidFill>
            <a:srgbClr val="F0F2F5"/>
          </a:solidFill>
          <a:ln>
            <a:noFill/>
          </a:ln>
        </p:spPr>
        <p:txBody>
          <a:bodyPr/>
          <a:lstStyle/>
          <a:p>
            <a:endParaRPr lang="ja-JP" altLang="en-US"/>
          </a:p>
        </p:txBody>
      </p:sp>
      <p:sp>
        <p:nvSpPr>
          <p:cNvPr id="11" name="ラベル 13">
            <a:extLst>
              <a:ext uri="{FF2B5EF4-FFF2-40B4-BE49-F238E27FC236}">
                <a16:creationId xmlns:a16="http://schemas.microsoft.com/office/drawing/2014/main" id="{8B08268E-5F27-576A-0145-088E5A0D3A1E}"/>
              </a:ext>
            </a:extLst>
          </p:cNvPr>
          <p:cNvSpPr/>
          <p:nvPr/>
        </p:nvSpPr>
        <p:spPr>
          <a:xfrm>
            <a:off x="8357616" y="4285889"/>
            <a:ext cx="1097280" cy="420624"/>
          </a:xfrm>
          <a:prstGeom prst="roundRect">
            <a:avLst>
              <a:gd name="adj" fmla="val 50000"/>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500" b="1" dirty="0">
                <a:solidFill>
                  <a:srgbClr val="1E2430"/>
                </a:solidFill>
                <a:latin typeface="BIZ UDPゴシック"/>
                <a:ea typeface="BIZ UDPゴシック"/>
                <a:cs typeface="BIZ UDPゴシック"/>
              </a:rPr>
              <a:t>方向性</a:t>
            </a:r>
            <a:endParaRPr lang="ja-JP" altLang="en-US" sz="1500" dirty="0"/>
          </a:p>
        </p:txBody>
      </p:sp>
      <p:sp>
        <p:nvSpPr>
          <p:cNvPr id="12" name="テキスト 14">
            <a:extLst>
              <a:ext uri="{FF2B5EF4-FFF2-40B4-BE49-F238E27FC236}">
                <a16:creationId xmlns:a16="http://schemas.microsoft.com/office/drawing/2014/main" id="{64FF3AA6-F967-062C-5389-F6AA12662DD1}"/>
              </a:ext>
            </a:extLst>
          </p:cNvPr>
          <p:cNvSpPr txBox="1"/>
          <p:nvPr/>
        </p:nvSpPr>
        <p:spPr>
          <a:xfrm>
            <a:off x="8357616" y="4814316"/>
            <a:ext cx="2996184" cy="1600200"/>
          </a:xfrm>
          <a:prstGeom prst="rect">
            <a:avLst/>
          </a:prstGeom>
          <a:noFill/>
        </p:spPr>
        <p:txBody>
          <a:bodyPr wrap="square" lIns="0" tIns="0" rIns="0" bIns="0" rtlCol="0" anchor="t">
            <a:noAutofit/>
          </a:bodyPr>
          <a:lstStyle/>
          <a:p>
            <a:pPr marL="0" indent="0" algn="l">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隣の部屋への扉やそもそもの音源の位置と言ったどの方向から聞こえるかは場所を考えられるための重要な情報になる、聞いて伝わる、のためにどの方向からかをわかりやすくする</a:t>
            </a:r>
            <a:endParaRPr lang="ja-JP" altLang="en-US" sz="1450" dirty="0"/>
          </a:p>
        </p:txBody>
      </p:sp>
      <p:sp>
        <p:nvSpPr>
          <p:cNvPr id="13" name="Rounded Rectangle 7">
            <a:extLst>
              <a:ext uri="{FF2B5EF4-FFF2-40B4-BE49-F238E27FC236}">
                <a16:creationId xmlns:a16="http://schemas.microsoft.com/office/drawing/2014/main" id="{B8F840D1-89C6-AE09-3C6C-FFFB139ABADC}"/>
              </a:ext>
            </a:extLst>
          </p:cNvPr>
          <p:cNvSpPr/>
          <p:nvPr/>
        </p:nvSpPr>
        <p:spPr>
          <a:xfrm>
            <a:off x="765048" y="3026664"/>
            <a:ext cx="3054096"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4" name="Connector 8">
            <a:extLst>
              <a:ext uri="{FF2B5EF4-FFF2-40B4-BE49-F238E27FC236}">
                <a16:creationId xmlns:a16="http://schemas.microsoft.com/office/drawing/2014/main" id="{8569A57E-444B-19BE-0ED0-6EDB8B968F04}"/>
              </a:ext>
            </a:extLst>
          </p:cNvPr>
          <p:cNvCxnSpPr/>
          <p:nvPr/>
        </p:nvCxnSpPr>
        <p:spPr>
          <a:xfrm>
            <a:off x="765048" y="4014215"/>
            <a:ext cx="3054096" cy="0"/>
          </a:xfrm>
          <a:prstGeom prst="line">
            <a:avLst/>
          </a:prstGeom>
          <a:ln w="12700">
            <a:solidFill>
              <a:srgbClr val="C9CFD8"/>
            </a:solidFill>
          </a:ln>
        </p:spPr>
        <p:style>
          <a:lnRef idx="2">
            <a:schemeClr val="accent1"/>
          </a:lnRef>
          <a:fillRef idx="0">
            <a:schemeClr val="accent1"/>
          </a:fillRef>
          <a:effectRef idx="1">
            <a:schemeClr val="accent1"/>
          </a:effectRef>
          <a:fontRef idx="minor">
            <a:schemeClr val="tx1"/>
          </a:fontRef>
        </p:style>
      </p:cxnSp>
      <p:sp>
        <p:nvSpPr>
          <p:cNvPr id="15" name="Freeform 9">
            <a:extLst>
              <a:ext uri="{FF2B5EF4-FFF2-40B4-BE49-F238E27FC236}">
                <a16:creationId xmlns:a16="http://schemas.microsoft.com/office/drawing/2014/main" id="{470F56E9-798C-CCF4-8D15-D39D2FD3E9BF}"/>
              </a:ext>
            </a:extLst>
          </p:cNvPr>
          <p:cNvSpPr/>
          <p:nvPr/>
        </p:nvSpPr>
        <p:spPr>
          <a:xfrm>
            <a:off x="838200" y="3154680"/>
            <a:ext cx="2907791" cy="859535"/>
          </a:xfrm>
          <a:custGeom>
            <a:avLst/>
            <a:gdLst/>
            <a:ahLst/>
            <a:cxnLst/>
            <a:rect l="l" t="t" r="r" b="b"/>
            <a:pathLst>
              <a:path w="2907791" h="859535">
                <a:moveTo>
                  <a:pt x="0" y="859535"/>
                </a:moveTo>
                <a:lnTo>
                  <a:pt x="121158" y="855183"/>
                </a:lnTo>
                <a:lnTo>
                  <a:pt x="242315" y="842623"/>
                </a:lnTo>
                <a:lnTo>
                  <a:pt x="363474" y="822602"/>
                </a:lnTo>
                <a:lnTo>
                  <a:pt x="484631" y="795866"/>
                </a:lnTo>
                <a:lnTo>
                  <a:pt x="605790" y="763161"/>
                </a:lnTo>
                <a:lnTo>
                  <a:pt x="726948" y="725233"/>
                </a:lnTo>
                <a:lnTo>
                  <a:pt x="848106" y="682828"/>
                </a:lnTo>
                <a:lnTo>
                  <a:pt x="969263" y="636693"/>
                </a:lnTo>
                <a:lnTo>
                  <a:pt x="1090421" y="587573"/>
                </a:lnTo>
                <a:lnTo>
                  <a:pt x="1211580" y="536215"/>
                </a:lnTo>
                <a:lnTo>
                  <a:pt x="1332737" y="483364"/>
                </a:lnTo>
                <a:lnTo>
                  <a:pt x="1453896" y="429768"/>
                </a:lnTo>
                <a:lnTo>
                  <a:pt x="1575053" y="376171"/>
                </a:lnTo>
                <a:lnTo>
                  <a:pt x="1696212" y="323320"/>
                </a:lnTo>
                <a:lnTo>
                  <a:pt x="1817370" y="271962"/>
                </a:lnTo>
                <a:lnTo>
                  <a:pt x="1938527" y="222842"/>
                </a:lnTo>
                <a:lnTo>
                  <a:pt x="2059686" y="176707"/>
                </a:lnTo>
                <a:lnTo>
                  <a:pt x="2180844" y="134302"/>
                </a:lnTo>
                <a:lnTo>
                  <a:pt x="2302001" y="96374"/>
                </a:lnTo>
                <a:lnTo>
                  <a:pt x="2423160" y="63669"/>
                </a:lnTo>
                <a:lnTo>
                  <a:pt x="2544317" y="36933"/>
                </a:lnTo>
                <a:lnTo>
                  <a:pt x="2665475" y="16912"/>
                </a:lnTo>
                <a:lnTo>
                  <a:pt x="2786634" y="4352"/>
                </a:lnTo>
                <a:lnTo>
                  <a:pt x="2907791" y="0"/>
                </a:lnTo>
              </a:path>
            </a:pathLst>
          </a:custGeom>
          <a:noFill/>
          <a:ln w="28575">
            <a:solidFill>
              <a:srgbClr val="E3A3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reeform 10">
            <a:extLst>
              <a:ext uri="{FF2B5EF4-FFF2-40B4-BE49-F238E27FC236}">
                <a16:creationId xmlns:a16="http://schemas.microsoft.com/office/drawing/2014/main" id="{E5C172BA-C7BA-3791-E750-F5785FAE8489}"/>
              </a:ext>
            </a:extLst>
          </p:cNvPr>
          <p:cNvSpPr/>
          <p:nvPr/>
        </p:nvSpPr>
        <p:spPr>
          <a:xfrm>
            <a:off x="838200" y="3154680"/>
            <a:ext cx="2907791" cy="859535"/>
          </a:xfrm>
          <a:custGeom>
            <a:avLst/>
            <a:gdLst/>
            <a:ahLst/>
            <a:cxnLst/>
            <a:rect l="l" t="t" r="r" b="b"/>
            <a:pathLst>
              <a:path w="2907791" h="859535">
                <a:moveTo>
                  <a:pt x="0" y="859535"/>
                </a:moveTo>
                <a:lnTo>
                  <a:pt x="726948" y="859535"/>
                </a:lnTo>
                <a:lnTo>
                  <a:pt x="726948" y="644652"/>
                </a:lnTo>
                <a:lnTo>
                  <a:pt x="726948" y="644652"/>
                </a:lnTo>
                <a:lnTo>
                  <a:pt x="1453896" y="644652"/>
                </a:lnTo>
                <a:lnTo>
                  <a:pt x="1453896" y="429768"/>
                </a:lnTo>
                <a:lnTo>
                  <a:pt x="1453896" y="429768"/>
                </a:lnTo>
                <a:lnTo>
                  <a:pt x="2180844" y="429768"/>
                </a:lnTo>
                <a:lnTo>
                  <a:pt x="2180844" y="214884"/>
                </a:lnTo>
                <a:lnTo>
                  <a:pt x="2180844" y="214884"/>
                </a:lnTo>
                <a:lnTo>
                  <a:pt x="2907791" y="214884"/>
                </a:lnTo>
                <a:lnTo>
                  <a:pt x="2907791" y="0"/>
                </a:lnTo>
              </a:path>
            </a:pathLst>
          </a:custGeom>
          <a:noFill/>
          <a:ln w="15875">
            <a:solidFill>
              <a:srgbClr val="9AA3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4">
            <a:extLst>
              <a:ext uri="{FF2B5EF4-FFF2-40B4-BE49-F238E27FC236}">
                <a16:creationId xmlns:a16="http://schemas.microsoft.com/office/drawing/2014/main" id="{E49BFD00-784F-E4B2-1A88-7D592749E85A}"/>
              </a:ext>
            </a:extLst>
          </p:cNvPr>
          <p:cNvSpPr/>
          <p:nvPr/>
        </p:nvSpPr>
        <p:spPr>
          <a:xfrm>
            <a:off x="4553712" y="3072384"/>
            <a:ext cx="3054096"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5">
            <a:extLst>
              <a:ext uri="{FF2B5EF4-FFF2-40B4-BE49-F238E27FC236}">
                <a16:creationId xmlns:a16="http://schemas.microsoft.com/office/drawing/2014/main" id="{BC66F38A-7146-C121-D1EC-8B15BDB998F9}"/>
              </a:ext>
            </a:extLst>
          </p:cNvPr>
          <p:cNvSpPr txBox="1"/>
          <p:nvPr/>
        </p:nvSpPr>
        <p:spPr>
          <a:xfrm>
            <a:off x="4553712" y="3218688"/>
            <a:ext cx="411480" cy="237744"/>
          </a:xfrm>
          <a:prstGeom prst="rect">
            <a:avLst/>
          </a:prstGeom>
          <a:noFill/>
        </p:spPr>
        <p:txBody>
          <a:bodyPr wrap="square" lIns="0" tIns="0" rIns="0" bIns="0" anchor="ctr">
            <a:spAutoFit/>
          </a:bodyPr>
          <a:lstStyle/>
          <a:p>
            <a:pPr algn="l">
              <a:spcAft>
                <a:spcPts val="0"/>
              </a:spcAft>
              <a:buNone/>
            </a:pPr>
            <a:r>
              <a:rPr sz="1050" b="1">
                <a:solidFill>
                  <a:srgbClr val="1E2430"/>
                </a:solidFill>
                <a:latin typeface="BIZ UDPゴシック"/>
                <a:ea typeface="BIZ UDPゴシック"/>
                <a:cs typeface="BIZ UDPゴシック"/>
              </a:rPr>
              <a:t>操作</a:t>
            </a:r>
          </a:p>
        </p:txBody>
      </p:sp>
      <p:sp>
        <p:nvSpPr>
          <p:cNvPr id="19" name="Right Arrow 16">
            <a:extLst>
              <a:ext uri="{FF2B5EF4-FFF2-40B4-BE49-F238E27FC236}">
                <a16:creationId xmlns:a16="http://schemas.microsoft.com/office/drawing/2014/main" id="{BB7155B4-6034-788E-E642-409B46D000BC}"/>
              </a:ext>
            </a:extLst>
          </p:cNvPr>
          <p:cNvSpPr/>
          <p:nvPr/>
        </p:nvSpPr>
        <p:spPr>
          <a:xfrm>
            <a:off x="4992623" y="3282696"/>
            <a:ext cx="320040" cy="118872"/>
          </a:xfrm>
          <a:prstGeom prst="rightArrow">
            <a:avLst/>
          </a:prstGeom>
          <a:solidFill>
            <a:srgbClr val="E3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7">
            <a:extLst>
              <a:ext uri="{FF2B5EF4-FFF2-40B4-BE49-F238E27FC236}">
                <a16:creationId xmlns:a16="http://schemas.microsoft.com/office/drawing/2014/main" id="{127D9511-C6F7-A776-AE3E-A0179AA9BDED}"/>
              </a:ext>
            </a:extLst>
          </p:cNvPr>
          <p:cNvSpPr txBox="1"/>
          <p:nvPr/>
        </p:nvSpPr>
        <p:spPr>
          <a:xfrm>
            <a:off x="5367527" y="3218688"/>
            <a:ext cx="320040" cy="237744"/>
          </a:xfrm>
          <a:prstGeom prst="rect">
            <a:avLst/>
          </a:prstGeom>
          <a:noFill/>
        </p:spPr>
        <p:txBody>
          <a:bodyPr wrap="square" lIns="0" tIns="0" rIns="0" bIns="0" anchor="ctr">
            <a:spAutoFit/>
          </a:bodyPr>
          <a:lstStyle/>
          <a:p>
            <a:pPr algn="l">
              <a:spcAft>
                <a:spcPts val="0"/>
              </a:spcAft>
              <a:buNone/>
            </a:pPr>
            <a:r>
              <a:rPr sz="1050" b="1">
                <a:solidFill>
                  <a:srgbClr val="1E2430"/>
                </a:solidFill>
                <a:latin typeface="BIZ UDPゴシック"/>
                <a:ea typeface="BIZ UDPゴシック"/>
                <a:cs typeface="BIZ UDPゴシック"/>
              </a:rPr>
              <a:t>音</a:t>
            </a:r>
          </a:p>
        </p:txBody>
      </p:sp>
      <p:sp>
        <p:nvSpPr>
          <p:cNvPr id="21" name="TextBox 18">
            <a:extLst>
              <a:ext uri="{FF2B5EF4-FFF2-40B4-BE49-F238E27FC236}">
                <a16:creationId xmlns:a16="http://schemas.microsoft.com/office/drawing/2014/main" id="{5DF17413-BEFE-3956-3783-993FB6E5A1AF}"/>
              </a:ext>
            </a:extLst>
          </p:cNvPr>
          <p:cNvSpPr txBox="1"/>
          <p:nvPr/>
        </p:nvSpPr>
        <p:spPr>
          <a:xfrm>
            <a:off x="5714999" y="3218688"/>
            <a:ext cx="1005840" cy="237744"/>
          </a:xfrm>
          <a:prstGeom prst="rect">
            <a:avLst/>
          </a:prstGeom>
          <a:noFill/>
        </p:spPr>
        <p:txBody>
          <a:bodyPr wrap="square" lIns="0" tIns="0" rIns="0" bIns="0" anchor="ctr">
            <a:spAutoFit/>
          </a:bodyPr>
          <a:lstStyle/>
          <a:p>
            <a:pPr algn="l">
              <a:spcAft>
                <a:spcPts val="0"/>
              </a:spcAft>
              <a:buNone/>
            </a:pPr>
            <a:r>
              <a:rPr sz="1050" b="1">
                <a:solidFill>
                  <a:srgbClr val="E3A33B"/>
                </a:solidFill>
                <a:latin typeface="BIZ UDPゴシック"/>
                <a:ea typeface="BIZ UDPゴシック"/>
                <a:cs typeface="BIZ UDPゴシック"/>
              </a:rPr>
              <a:t>○　すぐ</a:t>
            </a:r>
          </a:p>
        </p:txBody>
      </p:sp>
      <p:sp>
        <p:nvSpPr>
          <p:cNvPr id="22" name="TextBox 19">
            <a:extLst>
              <a:ext uri="{FF2B5EF4-FFF2-40B4-BE49-F238E27FC236}">
                <a16:creationId xmlns:a16="http://schemas.microsoft.com/office/drawing/2014/main" id="{47924666-D837-53B6-6378-578D56176519}"/>
              </a:ext>
            </a:extLst>
          </p:cNvPr>
          <p:cNvSpPr txBox="1"/>
          <p:nvPr/>
        </p:nvSpPr>
        <p:spPr>
          <a:xfrm>
            <a:off x="4553712" y="3721608"/>
            <a:ext cx="411480" cy="237744"/>
          </a:xfrm>
          <a:prstGeom prst="rect">
            <a:avLst/>
          </a:prstGeom>
          <a:noFill/>
        </p:spPr>
        <p:txBody>
          <a:bodyPr wrap="square" lIns="0" tIns="0" rIns="0" bIns="0" anchor="ctr">
            <a:spAutoFit/>
          </a:bodyPr>
          <a:lstStyle/>
          <a:p>
            <a:pPr algn="l">
              <a:spcAft>
                <a:spcPts val="0"/>
              </a:spcAft>
              <a:buNone/>
            </a:pPr>
            <a:r>
              <a:rPr sz="1050" b="1">
                <a:solidFill>
                  <a:srgbClr val="1E2430"/>
                </a:solidFill>
                <a:latin typeface="BIZ UDPゴシック"/>
                <a:ea typeface="BIZ UDPゴシック"/>
                <a:cs typeface="BIZ UDPゴシック"/>
              </a:rPr>
              <a:t>操作</a:t>
            </a:r>
          </a:p>
        </p:txBody>
      </p:sp>
      <p:sp>
        <p:nvSpPr>
          <p:cNvPr id="23" name="Right Arrow 20">
            <a:extLst>
              <a:ext uri="{FF2B5EF4-FFF2-40B4-BE49-F238E27FC236}">
                <a16:creationId xmlns:a16="http://schemas.microsoft.com/office/drawing/2014/main" id="{06FD9C8C-0096-B039-D44A-AC8CFDB7ED37}"/>
              </a:ext>
            </a:extLst>
          </p:cNvPr>
          <p:cNvSpPr/>
          <p:nvPr/>
        </p:nvSpPr>
        <p:spPr>
          <a:xfrm>
            <a:off x="4992623" y="3785616"/>
            <a:ext cx="1234440" cy="118872"/>
          </a:xfrm>
          <a:prstGeom prst="rightArrow">
            <a:avLst/>
          </a:prstGeom>
          <a:solidFill>
            <a:srgbClr val="9AA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1">
            <a:extLst>
              <a:ext uri="{FF2B5EF4-FFF2-40B4-BE49-F238E27FC236}">
                <a16:creationId xmlns:a16="http://schemas.microsoft.com/office/drawing/2014/main" id="{2A1B8664-DE29-41AF-02B6-745092DD0583}"/>
              </a:ext>
            </a:extLst>
          </p:cNvPr>
          <p:cNvSpPr txBox="1"/>
          <p:nvPr/>
        </p:nvSpPr>
        <p:spPr>
          <a:xfrm>
            <a:off x="6281928" y="3721608"/>
            <a:ext cx="320040" cy="237744"/>
          </a:xfrm>
          <a:prstGeom prst="rect">
            <a:avLst/>
          </a:prstGeom>
          <a:noFill/>
        </p:spPr>
        <p:txBody>
          <a:bodyPr wrap="square" lIns="0" tIns="0" rIns="0" bIns="0" anchor="ctr">
            <a:spAutoFit/>
          </a:bodyPr>
          <a:lstStyle/>
          <a:p>
            <a:pPr algn="l">
              <a:spcAft>
                <a:spcPts val="0"/>
              </a:spcAft>
              <a:buNone/>
            </a:pPr>
            <a:r>
              <a:rPr sz="1050" b="1">
                <a:solidFill>
                  <a:srgbClr val="1E2430"/>
                </a:solidFill>
                <a:latin typeface="BIZ UDPゴシック"/>
                <a:ea typeface="BIZ UDPゴシック"/>
                <a:cs typeface="BIZ UDPゴシック"/>
              </a:rPr>
              <a:t>音</a:t>
            </a:r>
          </a:p>
        </p:txBody>
      </p:sp>
      <p:sp>
        <p:nvSpPr>
          <p:cNvPr id="25" name="TextBox 22">
            <a:extLst>
              <a:ext uri="{FF2B5EF4-FFF2-40B4-BE49-F238E27FC236}">
                <a16:creationId xmlns:a16="http://schemas.microsoft.com/office/drawing/2014/main" id="{0A4DFEE8-5D57-5B72-EFE2-96876517F39C}"/>
              </a:ext>
            </a:extLst>
          </p:cNvPr>
          <p:cNvSpPr txBox="1"/>
          <p:nvPr/>
        </p:nvSpPr>
        <p:spPr>
          <a:xfrm>
            <a:off x="6629400" y="3721608"/>
            <a:ext cx="1005840" cy="237744"/>
          </a:xfrm>
          <a:prstGeom prst="rect">
            <a:avLst/>
          </a:prstGeom>
          <a:noFill/>
        </p:spPr>
        <p:txBody>
          <a:bodyPr wrap="square" lIns="0" tIns="0" rIns="0" bIns="0" anchor="ctr">
            <a:spAutoFit/>
          </a:bodyPr>
          <a:lstStyle/>
          <a:p>
            <a:pPr algn="l">
              <a:spcAft>
                <a:spcPts val="0"/>
              </a:spcAft>
              <a:buNone/>
            </a:pPr>
            <a:r>
              <a:rPr sz="1050" b="1">
                <a:solidFill>
                  <a:srgbClr val="9AA3B0"/>
                </a:solidFill>
                <a:latin typeface="BIZ UDPゴシック"/>
                <a:ea typeface="BIZ UDPゴシック"/>
                <a:cs typeface="BIZ UDPゴシック"/>
              </a:rPr>
              <a:t>×　ラグ</a:t>
            </a:r>
          </a:p>
        </p:txBody>
      </p:sp>
      <p:sp>
        <p:nvSpPr>
          <p:cNvPr id="26" name="Rounded Rectangle 26">
            <a:extLst>
              <a:ext uri="{FF2B5EF4-FFF2-40B4-BE49-F238E27FC236}">
                <a16:creationId xmlns:a16="http://schemas.microsoft.com/office/drawing/2014/main" id="{AF836CD0-E411-9E1E-53C0-11F4B6D6D162}"/>
              </a:ext>
            </a:extLst>
          </p:cNvPr>
          <p:cNvSpPr/>
          <p:nvPr/>
        </p:nvSpPr>
        <p:spPr>
          <a:xfrm>
            <a:off x="8302751" y="3072384"/>
            <a:ext cx="3054096"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ounded Rectangle 27">
            <a:extLst>
              <a:ext uri="{FF2B5EF4-FFF2-40B4-BE49-F238E27FC236}">
                <a16:creationId xmlns:a16="http://schemas.microsoft.com/office/drawing/2014/main" id="{A731478D-F5BB-DB4A-CBBD-3CCFF5B956AB}"/>
              </a:ext>
            </a:extLst>
          </p:cNvPr>
          <p:cNvSpPr/>
          <p:nvPr/>
        </p:nvSpPr>
        <p:spPr>
          <a:xfrm>
            <a:off x="8714231" y="3163824"/>
            <a:ext cx="2231136" cy="914400"/>
          </a:xfrm>
          <a:prstGeom prst="roundRect">
            <a:avLst>
              <a:gd name="adj" fmla="val 3000"/>
            </a:avLst>
          </a:prstGeom>
          <a:noFill/>
          <a:ln w="15875">
            <a:solidFill>
              <a:srgbClr val="C9CF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8">
            <a:extLst>
              <a:ext uri="{FF2B5EF4-FFF2-40B4-BE49-F238E27FC236}">
                <a16:creationId xmlns:a16="http://schemas.microsoft.com/office/drawing/2014/main" id="{6F134554-286D-131B-4CBD-45D60F81A530}"/>
              </a:ext>
            </a:extLst>
          </p:cNvPr>
          <p:cNvSpPr/>
          <p:nvPr/>
        </p:nvSpPr>
        <p:spPr>
          <a:xfrm>
            <a:off x="8668511" y="3419856"/>
            <a:ext cx="109728" cy="402336"/>
          </a:xfrm>
          <a:prstGeom prst="rect">
            <a:avLst/>
          </a:prstGeom>
          <a:solidFill>
            <a:srgbClr val="E3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9">
            <a:extLst>
              <a:ext uri="{FF2B5EF4-FFF2-40B4-BE49-F238E27FC236}">
                <a16:creationId xmlns:a16="http://schemas.microsoft.com/office/drawing/2014/main" id="{021054F0-B80C-9830-301F-FE123E14AB67}"/>
              </a:ext>
            </a:extLst>
          </p:cNvPr>
          <p:cNvSpPr txBox="1"/>
          <p:nvPr/>
        </p:nvSpPr>
        <p:spPr>
          <a:xfrm>
            <a:off x="8302751" y="3483864"/>
            <a:ext cx="347472" cy="274320"/>
          </a:xfrm>
          <a:prstGeom prst="rect">
            <a:avLst/>
          </a:prstGeom>
          <a:noFill/>
        </p:spPr>
        <p:txBody>
          <a:bodyPr wrap="square" lIns="0" tIns="0" rIns="0" bIns="0" anchor="t">
            <a:spAutoFit/>
          </a:bodyPr>
          <a:lstStyle/>
          <a:p>
            <a:pPr algn="l">
              <a:spcAft>
                <a:spcPts val="0"/>
              </a:spcAft>
              <a:buNone/>
            </a:pPr>
            <a:r>
              <a:rPr sz="1000" b="1">
                <a:solidFill>
                  <a:srgbClr val="9A6212"/>
                </a:solidFill>
                <a:latin typeface="BIZ UDPゴシック"/>
                <a:ea typeface="BIZ UDPゴシック"/>
                <a:cs typeface="BIZ UDPゴシック"/>
              </a:rPr>
              <a:t>扉</a:t>
            </a:r>
          </a:p>
        </p:txBody>
      </p:sp>
      <p:sp>
        <p:nvSpPr>
          <p:cNvPr id="30" name="Right Arrow 30">
            <a:extLst>
              <a:ext uri="{FF2B5EF4-FFF2-40B4-BE49-F238E27FC236}">
                <a16:creationId xmlns:a16="http://schemas.microsoft.com/office/drawing/2014/main" id="{79148AF1-3721-7128-D958-B08C164D6504}"/>
              </a:ext>
            </a:extLst>
          </p:cNvPr>
          <p:cNvSpPr/>
          <p:nvPr/>
        </p:nvSpPr>
        <p:spPr>
          <a:xfrm>
            <a:off x="8869679" y="3557016"/>
            <a:ext cx="868680" cy="128016"/>
          </a:xfrm>
          <a:prstGeom prst="rightArrow">
            <a:avLst/>
          </a:prstGeom>
          <a:solidFill>
            <a:srgbClr val="E3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1">
            <a:extLst>
              <a:ext uri="{FF2B5EF4-FFF2-40B4-BE49-F238E27FC236}">
                <a16:creationId xmlns:a16="http://schemas.microsoft.com/office/drawing/2014/main" id="{61E5CCC1-02F2-F3B0-CFD6-DB49A8E36381}"/>
              </a:ext>
            </a:extLst>
          </p:cNvPr>
          <p:cNvSpPr/>
          <p:nvPr/>
        </p:nvSpPr>
        <p:spPr>
          <a:xfrm>
            <a:off x="9838943" y="3502152"/>
            <a:ext cx="237744" cy="237744"/>
          </a:xfrm>
          <a:prstGeom prst="ellipse">
            <a:avLst/>
          </a:prstGeom>
          <a:solidFill>
            <a:srgbClr val="1E24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spcAft>
                <a:spcPts val="0"/>
              </a:spcAft>
              <a:buNone/>
            </a:pPr>
            <a:endParaRPr/>
          </a:p>
        </p:txBody>
      </p:sp>
      <p:sp>
        <p:nvSpPr>
          <p:cNvPr id="32" name="TextBox 32">
            <a:extLst>
              <a:ext uri="{FF2B5EF4-FFF2-40B4-BE49-F238E27FC236}">
                <a16:creationId xmlns:a16="http://schemas.microsoft.com/office/drawing/2014/main" id="{B9DD349B-7826-EF74-0D98-F0CD63FD78EA}"/>
              </a:ext>
            </a:extLst>
          </p:cNvPr>
          <p:cNvSpPr txBox="1"/>
          <p:nvPr/>
        </p:nvSpPr>
        <p:spPr>
          <a:xfrm>
            <a:off x="10177272" y="3474720"/>
            <a:ext cx="1005840" cy="274320"/>
          </a:xfrm>
          <a:prstGeom prst="rect">
            <a:avLst/>
          </a:prstGeom>
          <a:noFill/>
        </p:spPr>
        <p:txBody>
          <a:bodyPr wrap="square" lIns="0" tIns="0" rIns="0" bIns="0" anchor="t">
            <a:spAutoFit/>
          </a:bodyPr>
          <a:lstStyle/>
          <a:p>
            <a:pPr algn="l">
              <a:spcAft>
                <a:spcPts val="0"/>
              </a:spcAft>
              <a:buNone/>
            </a:pPr>
            <a:r>
              <a:rPr sz="1000" b="1">
                <a:solidFill>
                  <a:srgbClr val="1E2430"/>
                </a:solidFill>
                <a:latin typeface="BIZ UDPゴシック"/>
                <a:ea typeface="BIZ UDPゴシック"/>
                <a:cs typeface="BIZ UDPゴシック"/>
              </a:rPr>
              <a:t>自分</a:t>
            </a:r>
          </a:p>
        </p:txBody>
      </p:sp>
      <p:sp>
        <p:nvSpPr>
          <p:cNvPr id="33" name="テキスト ボックス 32">
            <a:extLst>
              <a:ext uri="{FF2B5EF4-FFF2-40B4-BE49-F238E27FC236}">
                <a16:creationId xmlns:a16="http://schemas.microsoft.com/office/drawing/2014/main" id="{77A24883-8F13-4C4C-27FB-E1BF4142CC97}"/>
              </a:ext>
            </a:extLst>
          </p:cNvPr>
          <p:cNvSpPr txBox="1"/>
          <p:nvPr/>
        </p:nvSpPr>
        <p:spPr>
          <a:xfrm>
            <a:off x="548640" y="1912096"/>
            <a:ext cx="4339650" cy="369332"/>
          </a:xfrm>
          <a:prstGeom prst="rect">
            <a:avLst/>
          </a:prstGeom>
          <a:noFill/>
        </p:spPr>
        <p:txBody>
          <a:bodyPr wrap="none" rtlCol="0">
            <a:spAutoFit/>
          </a:bodyPr>
          <a:lstStyle/>
          <a:p>
            <a:r>
              <a:rPr kumimoji="1" lang="ja-JP" altLang="en-US" dirty="0"/>
              <a:t>音の体験として以下の三つを大事にする</a:t>
            </a:r>
          </a:p>
        </p:txBody>
      </p:sp>
      <p:sp>
        <p:nvSpPr>
          <p:cNvPr id="34" name="ページ番号 34"/>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13</a:t>
            </a:r>
            <a:endParaRPr lang="ja-JP" altLang="en-US" sz="1000" dirty="0"/>
          </a:p>
        </p:txBody>
      </p:sp>
    </p:spTree>
    <p:extLst>
      <p:ext uri="{BB962C8B-B14F-4D97-AF65-F5344CB8AC3E}">
        <p14:creationId xmlns:p14="http://schemas.microsoft.com/office/powerpoint/2010/main" val="1744910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9A6212"/>
                </a:solidFill>
                <a:latin typeface="BIZ UDPゴシック"/>
                <a:ea typeface="BIZ UDPゴシック"/>
                <a:cs typeface="BIZ UDPゴシック"/>
              </a:rPr>
              <a:t>ドアの開き具合での演出</a:t>
            </a:r>
            <a:endParaRPr lang="ja-JP" altLang="en-US" sz="1200" dirty="0">
              <a:solidFill>
                <a:srgbClr val="9A6212"/>
              </a:solidFill>
              <a:latin typeface="BIZ UDPゴシック"/>
              <a:ea typeface="BIZ UDPゴシック"/>
              <a:cs typeface="BIZ UDPゴシック"/>
            </a:endParaRPr>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dirty="0">
                <a:solidFill>
                  <a:srgbClr val="1E2430"/>
                </a:solidFill>
                <a:latin typeface="BIZ UDPゴシック"/>
                <a:ea typeface="BIZ UDPゴシック"/>
                <a:cs typeface="BIZ UDPゴシック"/>
              </a:rPr>
              <a:t>ドアの開けた感の伝え方</a:t>
            </a:r>
          </a:p>
        </p:txBody>
      </p:sp>
      <p:sp>
        <p:nvSpPr>
          <p:cNvPr id="4" name="テキスト 4"/>
          <p:cNvSpPr txBox="1"/>
          <p:nvPr/>
        </p:nvSpPr>
        <p:spPr>
          <a:xfrm>
            <a:off x="548640" y="1300000"/>
            <a:ext cx="11091672" cy="420000"/>
          </a:xfrm>
          <a:prstGeom prst="rect">
            <a:avLst/>
          </a:prstGeom>
          <a:noFill/>
          <a:ln>
            <a:noFill/>
          </a:ln>
        </p:spPr>
        <p:txBody>
          <a:bodyPr wrap="square" lIns="0" tIns="0" rIns="0" bIns="0" rtlCol="0" anchor="t">
            <a:noAutofit/>
          </a:bodyPr>
          <a:lstStyle/>
          <a:p>
            <a:pPr marL="0" indent="0" algn="l">
              <a:lnSpc>
                <a:spcPct val="120000"/>
              </a:lnSpc>
              <a:spcBef>
                <a:spcPts val="0"/>
              </a:spcBef>
              <a:spcAft>
                <a:spcPts val="0"/>
              </a:spcAft>
              <a:buNone/>
            </a:pPr>
            <a:r>
              <a:rPr lang="ja-JP" altLang="en-US" sz="1500" dirty="0">
                <a:solidFill>
                  <a:srgbClr val="1E2430"/>
                </a:solidFill>
                <a:latin typeface="BIZ UDPゴシック"/>
                <a:ea typeface="BIZ UDPゴシック"/>
                <a:cs typeface="BIZ UDPゴシック"/>
              </a:rPr>
              <a:t>扉を開けたこと、どこまで開けたかをより伝わりやすくなるようアプローチを大きく 2 つに。</a:t>
            </a:r>
          </a:p>
        </p:txBody>
      </p:sp>
      <p:sp>
        <p:nvSpPr>
          <p:cNvPr id="5" name="カード 5"/>
          <p:cNvSpPr/>
          <p:nvPr/>
        </p:nvSpPr>
        <p:spPr>
          <a:xfrm>
            <a:off x="499545" y="2527016"/>
            <a:ext cx="5420836" cy="3550000"/>
          </a:xfrm>
          <a:prstGeom prst="roundRect">
            <a:avLst>
              <a:gd name="adj" fmla="val 5000"/>
            </a:avLst>
          </a:prstGeom>
          <a:solidFill>
            <a:srgbClr val="F0F2F5"/>
          </a:solidFill>
          <a:ln>
            <a:noFill/>
          </a:ln>
        </p:spPr>
        <p:txBody>
          <a:bodyPr/>
          <a:lstStyle/>
          <a:p>
            <a:endParaRPr lang="ja-JP" altLang="en-US"/>
          </a:p>
        </p:txBody>
      </p:sp>
      <p:sp>
        <p:nvSpPr>
          <p:cNvPr id="6" name="ラベル 6"/>
          <p:cNvSpPr/>
          <p:nvPr/>
        </p:nvSpPr>
        <p:spPr>
          <a:xfrm>
            <a:off x="799545" y="2777016"/>
            <a:ext cx="1900000" cy="34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開けた感</a:t>
            </a:r>
            <a:endParaRPr lang="ja-JP" altLang="en-US" sz="1250" dirty="0">
              <a:solidFill>
                <a:srgbClr val="1E2430"/>
              </a:solidFill>
              <a:latin typeface="BIZ UDPゴシック"/>
              <a:ea typeface="BIZ UDPゴシック"/>
              <a:cs typeface="BIZ UDPゴシック"/>
            </a:endParaRPr>
          </a:p>
        </p:txBody>
      </p:sp>
      <p:sp>
        <p:nvSpPr>
          <p:cNvPr id="7" name="テキスト 7"/>
          <p:cNvSpPr txBox="1"/>
          <p:nvPr/>
        </p:nvSpPr>
        <p:spPr>
          <a:xfrm>
            <a:off x="799545" y="3247016"/>
            <a:ext cx="4820836" cy="42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850" b="1" dirty="0">
                <a:solidFill>
                  <a:srgbClr val="1E2430"/>
                </a:solidFill>
                <a:latin typeface="BIZ UDPゴシック"/>
                <a:ea typeface="BIZ UDPゴシック"/>
                <a:cs typeface="BIZ UDPゴシック"/>
              </a:rPr>
              <a:t>開いた瞬間に、音量が大きく広がる</a:t>
            </a:r>
            <a:endParaRPr lang="ja-JP" altLang="en-US" sz="1850" dirty="0">
              <a:solidFill>
                <a:srgbClr val="1E2430"/>
              </a:solidFill>
              <a:latin typeface="BIZ UDPゴシック"/>
              <a:ea typeface="BIZ UDPゴシック"/>
              <a:cs typeface="BIZ UDPゴシック"/>
            </a:endParaRPr>
          </a:p>
        </p:txBody>
      </p:sp>
      <p:sp>
        <p:nvSpPr>
          <p:cNvPr id="8" name="テキスト 8"/>
          <p:cNvSpPr txBox="1"/>
          <p:nvPr/>
        </p:nvSpPr>
        <p:spPr>
          <a:xfrm>
            <a:off x="799545" y="3757016"/>
            <a:ext cx="4820836" cy="65000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ja-JP" altLang="en-US" sz="1250" dirty="0">
                <a:solidFill>
                  <a:srgbClr val="1E2430"/>
                </a:solidFill>
                <a:latin typeface="BIZ UDPゴシック"/>
                <a:ea typeface="BIZ UDPゴシック"/>
                <a:cs typeface="BIZ UDPゴシック"/>
              </a:rPr>
              <a:t>少しでも開いた瞬間、開いたと思わせるために開いた瞬間のカーブを大きく、そこからはなだらかに</a:t>
            </a:r>
          </a:p>
        </p:txBody>
      </p:sp>
      <p:sp>
        <p:nvSpPr>
          <p:cNvPr id="9" name="カード 9"/>
          <p:cNvSpPr/>
          <p:nvPr/>
        </p:nvSpPr>
        <p:spPr>
          <a:xfrm>
            <a:off x="6170381" y="2527016"/>
            <a:ext cx="5420836" cy="3550000"/>
          </a:xfrm>
          <a:prstGeom prst="roundRect">
            <a:avLst>
              <a:gd name="adj" fmla="val 5000"/>
            </a:avLst>
          </a:prstGeom>
          <a:solidFill>
            <a:srgbClr val="F0F2F5"/>
          </a:solidFill>
          <a:ln>
            <a:noFill/>
          </a:ln>
        </p:spPr>
        <p:txBody>
          <a:bodyPr/>
          <a:lstStyle/>
          <a:p>
            <a:endParaRPr lang="ja-JP" altLang="en-US"/>
          </a:p>
        </p:txBody>
      </p:sp>
      <p:sp>
        <p:nvSpPr>
          <p:cNvPr id="10" name="ラベル 10"/>
          <p:cNvSpPr/>
          <p:nvPr/>
        </p:nvSpPr>
        <p:spPr>
          <a:xfrm>
            <a:off x="6470381" y="2777016"/>
            <a:ext cx="1900000" cy="34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どこまで開いたか</a:t>
            </a:r>
            <a:endParaRPr lang="ja-JP" altLang="en-US" sz="1250" dirty="0">
              <a:solidFill>
                <a:srgbClr val="1E2430"/>
              </a:solidFill>
              <a:latin typeface="BIZ UDPゴシック"/>
              <a:ea typeface="BIZ UDPゴシック"/>
              <a:cs typeface="BIZ UDPゴシック"/>
            </a:endParaRPr>
          </a:p>
        </p:txBody>
      </p:sp>
      <p:sp>
        <p:nvSpPr>
          <p:cNvPr id="11" name="テキスト 11"/>
          <p:cNvSpPr txBox="1"/>
          <p:nvPr/>
        </p:nvSpPr>
        <p:spPr>
          <a:xfrm>
            <a:off x="6470381" y="3247016"/>
            <a:ext cx="4820836" cy="42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850" b="1" dirty="0">
                <a:solidFill>
                  <a:srgbClr val="1E2430"/>
                </a:solidFill>
                <a:latin typeface="BIZ UDPゴシック"/>
                <a:ea typeface="BIZ UDPゴシック"/>
                <a:cs typeface="BIZ UDPゴシック"/>
              </a:rPr>
              <a:t>音源に対する角度で、こもるか開くか</a:t>
            </a:r>
            <a:endParaRPr lang="ja-JP" altLang="en-US" sz="1850" dirty="0">
              <a:solidFill>
                <a:srgbClr val="1E2430"/>
              </a:solidFill>
              <a:latin typeface="BIZ UDPゴシック"/>
              <a:ea typeface="BIZ UDPゴシック"/>
              <a:cs typeface="BIZ UDPゴシック"/>
            </a:endParaRPr>
          </a:p>
        </p:txBody>
      </p:sp>
      <p:sp>
        <p:nvSpPr>
          <p:cNvPr id="12" name="テキスト 12"/>
          <p:cNvSpPr txBox="1"/>
          <p:nvPr/>
        </p:nvSpPr>
        <p:spPr>
          <a:xfrm>
            <a:off x="6470381" y="3757016"/>
            <a:ext cx="4820836" cy="650000"/>
          </a:xfrm>
          <a:prstGeom prst="rect">
            <a:avLst/>
          </a:prstGeom>
          <a:noFill/>
          <a:ln>
            <a:noFill/>
          </a:ln>
        </p:spPr>
        <p:txBody>
          <a:bodyPr wrap="square" lIns="0" tIns="0" rIns="0" bIns="0" rtlCol="0" anchor="t">
            <a:noAutofit/>
          </a:bodyPr>
          <a:lstStyle/>
          <a:p>
            <a:pPr marL="0" indent="0" algn="l">
              <a:lnSpc>
                <a:spcPct val="130000"/>
              </a:lnSpc>
              <a:spcBef>
                <a:spcPts val="0"/>
              </a:spcBef>
              <a:spcAft>
                <a:spcPts val="0"/>
              </a:spcAft>
              <a:buNone/>
            </a:pPr>
            <a:r>
              <a:rPr lang="ja-JP" altLang="en-US" sz="1250" dirty="0">
                <a:solidFill>
                  <a:srgbClr val="1E2430"/>
                </a:solidFill>
                <a:latin typeface="BIZ UDPゴシック"/>
                <a:ea typeface="BIZ UDPゴシック"/>
                <a:cs typeface="BIZ UDPゴシック"/>
              </a:rPr>
              <a:t>どこまで開いたかで音源に対しての音のこもり方を調節して、音源の場所や方向が伝わるように</a:t>
            </a:r>
          </a:p>
        </p:txBody>
      </p:sp>
      <p:cxnSp>
        <p:nvCxnSpPr>
          <p:cNvPr id="13" name="線 13"/>
          <p:cNvCxnSpPr/>
          <p:nvPr/>
        </p:nvCxnSpPr>
        <p:spPr>
          <a:xfrm>
            <a:off x="999545" y="5777016"/>
            <a:ext cx="4420836" cy="0"/>
          </a:xfrm>
          <a:prstGeom prst="line">
            <a:avLst/>
          </a:prstGeom>
          <a:ln w="12700" cap="rnd">
            <a:solidFill>
              <a:srgbClr val="C9CFD8"/>
            </a:solidFill>
            <a:round/>
          </a:ln>
        </p:spPr>
      </p:cxnSp>
      <p:cxnSp>
        <p:nvCxnSpPr>
          <p:cNvPr id="14" name="線 14"/>
          <p:cNvCxnSpPr/>
          <p:nvPr/>
        </p:nvCxnSpPr>
        <p:spPr>
          <a:xfrm>
            <a:off x="999545" y="4527016"/>
            <a:ext cx="0" cy="1250000"/>
          </a:xfrm>
          <a:prstGeom prst="line">
            <a:avLst/>
          </a:prstGeom>
          <a:ln w="12700" cap="rnd">
            <a:solidFill>
              <a:srgbClr val="C9CFD8"/>
            </a:solidFill>
            <a:round/>
          </a:ln>
        </p:spPr>
      </p:cxnSp>
      <p:sp>
        <p:nvSpPr>
          <p:cNvPr id="16" name="テキスト 16"/>
          <p:cNvSpPr txBox="1"/>
          <p:nvPr/>
        </p:nvSpPr>
        <p:spPr>
          <a:xfrm>
            <a:off x="549545" y="5677016"/>
            <a:ext cx="420000" cy="20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00" b="1" dirty="0">
                <a:solidFill>
                  <a:srgbClr val="5C6677"/>
                </a:solidFill>
                <a:latin typeface="BIZ UDPゴシック"/>
                <a:ea typeface="BIZ UDPゴシック"/>
                <a:cs typeface="BIZ UDPゴシック"/>
              </a:rPr>
              <a:t>閉</a:t>
            </a:r>
            <a:endParaRPr lang="ja-JP" altLang="en-US" sz="1000" dirty="0">
              <a:solidFill>
                <a:srgbClr val="5C6677"/>
              </a:solidFill>
              <a:latin typeface="BIZ UDPゴシック"/>
              <a:ea typeface="BIZ UDPゴシック"/>
              <a:cs typeface="BIZ UDPゴシック"/>
            </a:endParaRPr>
          </a:p>
        </p:txBody>
      </p:sp>
      <p:sp>
        <p:nvSpPr>
          <p:cNvPr id="17" name="テキスト 17"/>
          <p:cNvSpPr txBox="1"/>
          <p:nvPr/>
        </p:nvSpPr>
        <p:spPr>
          <a:xfrm>
            <a:off x="549545" y="4427016"/>
            <a:ext cx="420000" cy="20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00" b="1" dirty="0">
                <a:solidFill>
                  <a:srgbClr val="5C6677"/>
                </a:solidFill>
                <a:latin typeface="BIZ UDPゴシック"/>
                <a:ea typeface="BIZ UDPゴシック"/>
                <a:cs typeface="BIZ UDPゴシック"/>
              </a:rPr>
              <a:t>全開</a:t>
            </a:r>
            <a:endParaRPr lang="ja-JP" altLang="en-US" sz="1000" dirty="0">
              <a:solidFill>
                <a:srgbClr val="5C6677"/>
              </a:solidFill>
              <a:latin typeface="BIZ UDPゴシック"/>
              <a:ea typeface="BIZ UDPゴシック"/>
              <a:cs typeface="BIZ UDPゴシック"/>
            </a:endParaRPr>
          </a:p>
        </p:txBody>
      </p:sp>
      <p:sp>
        <p:nvSpPr>
          <p:cNvPr id="18" name="テキスト 18"/>
          <p:cNvSpPr txBox="1"/>
          <p:nvPr/>
        </p:nvSpPr>
        <p:spPr>
          <a:xfrm>
            <a:off x="999545" y="5817016"/>
            <a:ext cx="8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00" dirty="0">
                <a:solidFill>
                  <a:srgbClr val="5C6677"/>
                </a:solidFill>
                <a:latin typeface="BIZ UDPゴシック"/>
                <a:ea typeface="BIZ UDPゴシック"/>
                <a:cs typeface="BIZ UDPゴシック"/>
              </a:rPr>
              <a:t>0°</a:t>
            </a:r>
          </a:p>
        </p:txBody>
      </p:sp>
      <p:sp>
        <p:nvSpPr>
          <p:cNvPr id="19" name="テキスト 19"/>
          <p:cNvSpPr txBox="1"/>
          <p:nvPr/>
        </p:nvSpPr>
        <p:spPr>
          <a:xfrm>
            <a:off x="4620381" y="5817016"/>
            <a:ext cx="800000" cy="20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00" dirty="0">
                <a:solidFill>
                  <a:srgbClr val="5C6677"/>
                </a:solidFill>
                <a:latin typeface="BIZ UDPゴシック"/>
                <a:ea typeface="BIZ UDPゴシック"/>
                <a:cs typeface="BIZ UDPゴシック"/>
              </a:rPr>
              <a:t>90°</a:t>
            </a:r>
          </a:p>
        </p:txBody>
      </p:sp>
      <p:sp>
        <p:nvSpPr>
          <p:cNvPr id="22" name="面 22"/>
          <p:cNvSpPr/>
          <p:nvPr/>
        </p:nvSpPr>
        <p:spPr>
          <a:xfrm>
            <a:off x="9173619" y="4611016"/>
            <a:ext cx="1102735" cy="896000"/>
          </a:xfrm>
          <a:custGeom>
            <a:avLst/>
            <a:gdLst/>
            <a:ahLst/>
            <a:cxnLst/>
            <a:rect l="0" t="0" r="r" b="b"/>
            <a:pathLst>
              <a:path w="1102735" h="896000">
                <a:moveTo>
                  <a:pt x="0" y="496000"/>
                </a:moveTo>
                <a:lnTo>
                  <a:pt x="191103" y="0"/>
                </a:lnTo>
                <a:lnTo>
                  <a:pt x="1102735" y="0"/>
                </a:lnTo>
                <a:lnTo>
                  <a:pt x="107179" y="896000"/>
                </a:lnTo>
                <a:close/>
              </a:path>
            </a:pathLst>
          </a:custGeom>
          <a:solidFill>
            <a:srgbClr val="FBF1DF"/>
          </a:solidFill>
          <a:ln>
            <a:noFill/>
          </a:ln>
        </p:spPr>
        <p:txBody>
          <a:bodyPr/>
          <a:lstStyle/>
          <a:p>
            <a:endParaRPr lang="ja-JP" altLang="en-US"/>
          </a:p>
        </p:txBody>
      </p:sp>
      <p:sp>
        <p:nvSpPr>
          <p:cNvPr id="23" name="壁 23"/>
          <p:cNvSpPr/>
          <p:nvPr/>
        </p:nvSpPr>
        <p:spPr>
          <a:xfrm>
            <a:off x="6480799" y="5487016"/>
            <a:ext cx="2000000" cy="40000"/>
          </a:xfrm>
          <a:prstGeom prst="rect">
            <a:avLst/>
          </a:prstGeom>
          <a:solidFill>
            <a:srgbClr val="9AA3B0"/>
          </a:solidFill>
          <a:ln>
            <a:noFill/>
          </a:ln>
        </p:spPr>
        <p:txBody>
          <a:bodyPr/>
          <a:lstStyle/>
          <a:p>
            <a:endParaRPr lang="ja-JP" altLang="en-US"/>
          </a:p>
        </p:txBody>
      </p:sp>
      <p:sp>
        <p:nvSpPr>
          <p:cNvPr id="24" name="壁 24"/>
          <p:cNvSpPr/>
          <p:nvPr/>
        </p:nvSpPr>
        <p:spPr>
          <a:xfrm>
            <a:off x="9280799" y="5487016"/>
            <a:ext cx="2000000" cy="40000"/>
          </a:xfrm>
          <a:prstGeom prst="rect">
            <a:avLst/>
          </a:prstGeom>
          <a:solidFill>
            <a:srgbClr val="9AA3B0"/>
          </a:solidFill>
          <a:ln>
            <a:noFill/>
          </a:ln>
        </p:spPr>
        <p:txBody>
          <a:bodyPr/>
          <a:lstStyle/>
          <a:p>
            <a:endParaRPr lang="ja-JP" altLang="en-US"/>
          </a:p>
        </p:txBody>
      </p:sp>
      <p:cxnSp>
        <p:nvCxnSpPr>
          <p:cNvPr id="25" name="線 25"/>
          <p:cNvCxnSpPr/>
          <p:nvPr/>
        </p:nvCxnSpPr>
        <p:spPr>
          <a:xfrm flipV="1">
            <a:off x="8480799" y="5107016"/>
            <a:ext cx="692820" cy="400000"/>
          </a:xfrm>
          <a:prstGeom prst="line">
            <a:avLst/>
          </a:prstGeom>
          <a:ln w="44450" cap="rnd">
            <a:solidFill>
              <a:srgbClr val="1E2430"/>
            </a:solidFill>
            <a:round/>
          </a:ln>
        </p:spPr>
      </p:cxnSp>
      <p:sp>
        <p:nvSpPr>
          <p:cNvPr id="26" name="番号 26"/>
          <p:cNvSpPr/>
          <p:nvPr/>
        </p:nvSpPr>
        <p:spPr>
          <a:xfrm>
            <a:off x="8265857" y="4788538"/>
            <a:ext cx="150000" cy="150000"/>
          </a:xfrm>
          <a:prstGeom prst="ellipse">
            <a:avLst/>
          </a:prstGeom>
          <a:solidFill>
            <a:srgbClr val="C9CFD8"/>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27" name="テキスト 27"/>
          <p:cNvSpPr txBox="1"/>
          <p:nvPr/>
        </p:nvSpPr>
        <p:spPr>
          <a:xfrm>
            <a:off x="7440857" y="4763538"/>
            <a:ext cx="780000" cy="20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50" b="1" dirty="0">
                <a:solidFill>
                  <a:srgbClr val="5C6677"/>
                </a:solidFill>
                <a:latin typeface="BIZ UDPゴシック"/>
                <a:ea typeface="BIZ UDPゴシック"/>
                <a:cs typeface="BIZ UDPゴシック"/>
              </a:rPr>
              <a:t>こもる</a:t>
            </a:r>
            <a:endParaRPr lang="ja-JP" altLang="en-US" sz="1050" dirty="0">
              <a:solidFill>
                <a:srgbClr val="5C6677"/>
              </a:solidFill>
              <a:latin typeface="BIZ UDPゴシック"/>
              <a:ea typeface="BIZ UDPゴシック"/>
              <a:cs typeface="BIZ UDPゴシック"/>
            </a:endParaRPr>
          </a:p>
        </p:txBody>
      </p:sp>
      <p:sp>
        <p:nvSpPr>
          <p:cNvPr id="28" name="番号 28"/>
          <p:cNvSpPr/>
          <p:nvPr/>
        </p:nvSpPr>
        <p:spPr>
          <a:xfrm>
            <a:off x="8805799" y="4592016"/>
            <a:ext cx="150000" cy="150000"/>
          </a:xfrm>
          <a:prstGeom prst="ellipse">
            <a:avLst/>
          </a:prstGeom>
          <a:solidFill>
            <a:srgbClr val="C9CFD8"/>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29" name="テキスト 29"/>
          <p:cNvSpPr txBox="1"/>
          <p:nvPr/>
        </p:nvSpPr>
        <p:spPr>
          <a:xfrm>
            <a:off x="9010799" y="4567016"/>
            <a:ext cx="8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50" b="1" dirty="0">
                <a:solidFill>
                  <a:srgbClr val="5C6677"/>
                </a:solidFill>
                <a:latin typeface="BIZ UDPゴシック"/>
                <a:ea typeface="BIZ UDPゴシック"/>
                <a:cs typeface="BIZ UDPゴシック"/>
              </a:rPr>
              <a:t>こもる</a:t>
            </a:r>
            <a:endParaRPr lang="ja-JP" altLang="en-US" sz="1050" dirty="0">
              <a:solidFill>
                <a:srgbClr val="5C6677"/>
              </a:solidFill>
              <a:latin typeface="BIZ UDPゴシック"/>
              <a:ea typeface="BIZ UDPゴシック"/>
              <a:cs typeface="BIZ UDPゴシック"/>
            </a:endParaRPr>
          </a:p>
        </p:txBody>
      </p:sp>
      <p:sp>
        <p:nvSpPr>
          <p:cNvPr id="30" name="番号 30"/>
          <p:cNvSpPr/>
          <p:nvPr/>
        </p:nvSpPr>
        <p:spPr>
          <a:xfrm>
            <a:off x="9302954" y="4750086"/>
            <a:ext cx="190000" cy="190000"/>
          </a:xfrm>
          <a:prstGeom prst="ellipse">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31" name="テキスト 31"/>
          <p:cNvSpPr txBox="1"/>
          <p:nvPr/>
        </p:nvSpPr>
        <p:spPr>
          <a:xfrm>
            <a:off x="9527954" y="4745086"/>
            <a:ext cx="8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50" b="1" dirty="0">
                <a:solidFill>
                  <a:srgbClr val="9A6212"/>
                </a:solidFill>
                <a:latin typeface="BIZ UDPゴシック"/>
                <a:ea typeface="BIZ UDPゴシック"/>
                <a:cs typeface="BIZ UDPゴシック"/>
              </a:rPr>
              <a:t>開く</a:t>
            </a:r>
            <a:endParaRPr lang="ja-JP" altLang="en-US" sz="1050" dirty="0">
              <a:solidFill>
                <a:srgbClr val="9A6212"/>
              </a:solidFill>
              <a:latin typeface="BIZ UDPゴシック"/>
              <a:ea typeface="BIZ UDPゴシック"/>
              <a:cs typeface="BIZ UDPゴシック"/>
            </a:endParaRPr>
          </a:p>
        </p:txBody>
      </p:sp>
      <p:sp>
        <p:nvSpPr>
          <p:cNvPr id="32" name="番号 32"/>
          <p:cNvSpPr/>
          <p:nvPr/>
        </p:nvSpPr>
        <p:spPr>
          <a:xfrm>
            <a:off x="8805799" y="5792016"/>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33" name="テキスト 33"/>
          <p:cNvSpPr txBox="1"/>
          <p:nvPr/>
        </p:nvSpPr>
        <p:spPr>
          <a:xfrm>
            <a:off x="8990799" y="5767016"/>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00" b="1" dirty="0">
                <a:solidFill>
                  <a:srgbClr val="1E2430"/>
                </a:solidFill>
                <a:latin typeface="BIZ UDPゴシック"/>
                <a:ea typeface="BIZ UDPゴシック"/>
                <a:cs typeface="BIZ UDPゴシック"/>
              </a:rPr>
              <a:t>耳</a:t>
            </a:r>
            <a:endParaRPr lang="ja-JP" altLang="en-US" sz="1000" dirty="0">
              <a:solidFill>
                <a:srgbClr val="1E2430"/>
              </a:solidFill>
              <a:latin typeface="BIZ UDPゴシック"/>
              <a:ea typeface="BIZ UDPゴシック"/>
              <a:cs typeface="BIZ UDPゴシック"/>
            </a:endParaRPr>
          </a:p>
        </p:txBody>
      </p:sp>
      <p:sp>
        <p:nvSpPr>
          <p:cNvPr id="34" name="テキスト 34"/>
          <p:cNvSpPr txBox="1"/>
          <p:nvPr/>
        </p:nvSpPr>
        <p:spPr>
          <a:xfrm>
            <a:off x="7780799" y="5227016"/>
            <a:ext cx="650000" cy="20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00" dirty="0">
                <a:solidFill>
                  <a:srgbClr val="5C6677"/>
                </a:solidFill>
                <a:latin typeface="BIZ UDPゴシック"/>
                <a:ea typeface="BIZ UDPゴシック"/>
                <a:cs typeface="BIZ UDPゴシック"/>
              </a:rPr>
              <a:t>蝶番</a:t>
            </a:r>
          </a:p>
        </p:txBody>
      </p:sp>
      <p:sp>
        <p:nvSpPr>
          <p:cNvPr id="37" name="テキスト ボックス 36">
            <a:extLst>
              <a:ext uri="{FF2B5EF4-FFF2-40B4-BE49-F238E27FC236}">
                <a16:creationId xmlns:a16="http://schemas.microsoft.com/office/drawing/2014/main" id="{9B80E292-9C19-69FA-D979-5630C04A7EDE}"/>
              </a:ext>
            </a:extLst>
          </p:cNvPr>
          <p:cNvSpPr txBox="1"/>
          <p:nvPr/>
        </p:nvSpPr>
        <p:spPr>
          <a:xfrm>
            <a:off x="548640" y="2000538"/>
            <a:ext cx="1747591" cy="369332"/>
          </a:xfrm>
          <a:prstGeom prst="rect">
            <a:avLst/>
          </a:prstGeom>
          <a:noFill/>
        </p:spPr>
        <p:txBody>
          <a:bodyPr wrap="square" rtlCol="0">
            <a:spAutoFit/>
          </a:bodyPr>
          <a:lstStyle/>
          <a:p>
            <a:r>
              <a:rPr kumimoji="1" lang="ja-JP" altLang="en-US" b="1" dirty="0">
                <a:latin typeface="BIZ UDPゴシック" panose="020B0400000000000000" pitchFamily="50" charset="-128"/>
                <a:ea typeface="BIZ UDPゴシック" panose="020B0400000000000000" pitchFamily="50" charset="-128"/>
              </a:rPr>
              <a:t>一つ目</a:t>
            </a:r>
          </a:p>
        </p:txBody>
      </p:sp>
      <p:sp>
        <p:nvSpPr>
          <p:cNvPr id="38" name="テキスト ボックス 37">
            <a:extLst>
              <a:ext uri="{FF2B5EF4-FFF2-40B4-BE49-F238E27FC236}">
                <a16:creationId xmlns:a16="http://schemas.microsoft.com/office/drawing/2014/main" id="{07C1BD18-5BEE-8C70-8663-88A79570CEA2}"/>
              </a:ext>
            </a:extLst>
          </p:cNvPr>
          <p:cNvSpPr txBox="1"/>
          <p:nvPr/>
        </p:nvSpPr>
        <p:spPr>
          <a:xfrm>
            <a:off x="6170381" y="2000538"/>
            <a:ext cx="1747591" cy="369332"/>
          </a:xfrm>
          <a:prstGeom prst="rect">
            <a:avLst/>
          </a:prstGeom>
          <a:noFill/>
        </p:spPr>
        <p:txBody>
          <a:bodyPr wrap="square" rtlCol="0">
            <a:spAutoFit/>
          </a:bodyPr>
          <a:lstStyle/>
          <a:p>
            <a:r>
              <a:rPr lang="ja-JP" altLang="en-US" b="1" dirty="0">
                <a:latin typeface="BIZ UDPゴシック" panose="020B0400000000000000" pitchFamily="50" charset="-128"/>
                <a:ea typeface="BIZ UDPゴシック" panose="020B0400000000000000" pitchFamily="50" charset="-128"/>
              </a:rPr>
              <a:t>二</a:t>
            </a:r>
            <a:r>
              <a:rPr kumimoji="1" lang="ja-JP" altLang="en-US" b="1" dirty="0">
                <a:latin typeface="BIZ UDPゴシック" panose="020B0400000000000000" pitchFamily="50" charset="-128"/>
                <a:ea typeface="BIZ UDPゴシック" panose="020B0400000000000000" pitchFamily="50" charset="-128"/>
              </a:rPr>
              <a:t>つ目</a:t>
            </a:r>
          </a:p>
        </p:txBody>
      </p:sp>
      <p:sp>
        <p:nvSpPr>
          <p:cNvPr id="81" name="折れ線 81"/>
          <p:cNvSpPr/>
          <p:nvPr/>
        </p:nvSpPr>
        <p:spPr>
          <a:xfrm>
            <a:off x="999545" y="4527016"/>
            <a:ext cx="4420836" cy="1250000"/>
          </a:xfrm>
          <a:custGeom>
            <a:avLst/>
            <a:gdLst/>
            <a:ahLst/>
            <a:cxnLst/>
            <a:rect l="0" t="0" r="r" b="b"/>
            <a:pathLst>
              <a:path w="4420836" h="1250000" fill="none">
                <a:moveTo>
                  <a:pt x="0" y="1250000"/>
                </a:moveTo>
                <a:lnTo>
                  <a:pt x="49120" y="1250000"/>
                </a:lnTo>
                <a:lnTo>
                  <a:pt x="98240" y="1250000"/>
                </a:lnTo>
                <a:lnTo>
                  <a:pt x="147361" y="1211916"/>
                </a:lnTo>
                <a:lnTo>
                  <a:pt x="196481" y="1113702"/>
                </a:lnTo>
                <a:lnTo>
                  <a:pt x="245602" y="979409"/>
                </a:lnTo>
                <a:lnTo>
                  <a:pt x="294722" y="833090"/>
                </a:lnTo>
                <a:lnTo>
                  <a:pt x="343842" y="698797"/>
                </a:lnTo>
                <a:lnTo>
                  <a:pt x="392963" y="600583"/>
                </a:lnTo>
                <a:lnTo>
                  <a:pt x="442083" y="562500"/>
                </a:lnTo>
                <a:lnTo>
                  <a:pt x="589444" y="546204"/>
                </a:lnTo>
                <a:lnTo>
                  <a:pt x="736806" y="523743"/>
                </a:lnTo>
                <a:lnTo>
                  <a:pt x="982408" y="479819"/>
                </a:lnTo>
                <a:lnTo>
                  <a:pt x="1228010" y="430428"/>
                </a:lnTo>
                <a:lnTo>
                  <a:pt x="1473612" y="376961"/>
                </a:lnTo>
                <a:lnTo>
                  <a:pt x="1719214" y="320187"/>
                </a:lnTo>
                <a:lnTo>
                  <a:pt x="1964816" y="260600"/>
                </a:lnTo>
                <a:lnTo>
                  <a:pt x="2210418" y="198553"/>
                </a:lnTo>
                <a:lnTo>
                  <a:pt x="2456020" y="134306"/>
                </a:lnTo>
                <a:lnTo>
                  <a:pt x="2701622" y="68067"/>
                </a:lnTo>
                <a:lnTo>
                  <a:pt x="2947224" y="0"/>
                </a:lnTo>
                <a:lnTo>
                  <a:pt x="3438428" y="0"/>
                </a:lnTo>
                <a:lnTo>
                  <a:pt x="3929632" y="0"/>
                </a:lnTo>
                <a:lnTo>
                  <a:pt x="4420836" y="0"/>
                </a:lnTo>
              </a:path>
            </a:pathLst>
          </a:custGeom>
          <a:noFill/>
          <a:ln w="38100" cap="rnd">
            <a:solidFill>
              <a:srgbClr val="E3A33B"/>
            </a:solidFill>
            <a:round/>
          </a:ln>
        </p:spPr>
        <p:txBody>
          <a:bodyPr/>
          <a:lstStyle/>
          <a:p>
            <a:endParaRPr lang="ja-JP" altLang="en-US"/>
          </a:p>
        </p:txBody>
      </p:sp>
      <p:sp>
        <p:nvSpPr>
          <p:cNvPr id="82" name="テキスト 82"/>
          <p:cNvSpPr txBox="1"/>
          <p:nvPr/>
        </p:nvSpPr>
        <p:spPr>
          <a:xfrm>
            <a:off x="1501628" y="5149516"/>
            <a:ext cx="1900000" cy="22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100" b="1" dirty="0">
                <a:solidFill>
                  <a:srgbClr val="9A6212"/>
                </a:solidFill>
                <a:latin typeface="BIZ UDPゴシック"/>
                <a:ea typeface="BIZ UDPゴシック"/>
                <a:cs typeface="BIZ UDPゴシック"/>
              </a:rPr>
              <a:t>開いた瞬間に大きく</a:t>
            </a:r>
            <a:endParaRPr lang="ja-JP" altLang="en-US" sz="1100" dirty="0">
              <a:solidFill>
                <a:srgbClr val="9A6212"/>
              </a:solidFill>
              <a:latin typeface="BIZ UDPゴシック"/>
              <a:ea typeface="BIZ UDPゴシック"/>
              <a:cs typeface="BIZ UDPゴシック"/>
            </a:endParaRPr>
          </a:p>
        </p:txBody>
      </p:sp>
      <p:sp>
        <p:nvSpPr>
          <p:cNvPr id="83" name="テキスト 83"/>
          <p:cNvSpPr txBox="1"/>
          <p:nvPr/>
        </p:nvSpPr>
        <p:spPr>
          <a:xfrm>
            <a:off x="2374916" y="4414516"/>
            <a:ext cx="2000000" cy="22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100" b="1" dirty="0">
                <a:solidFill>
                  <a:srgbClr val="5C6677"/>
                </a:solidFill>
                <a:latin typeface="BIZ UDPゴシック"/>
                <a:ea typeface="BIZ UDPゴシック"/>
                <a:cs typeface="BIZ UDPゴシック"/>
              </a:rPr>
              <a:t>そのあとはなだらか</a:t>
            </a:r>
            <a:endParaRPr lang="ja-JP" altLang="en-US" sz="1100" dirty="0">
              <a:solidFill>
                <a:srgbClr val="5C6677"/>
              </a:solidFill>
              <a:latin typeface="BIZ UDPゴシック"/>
              <a:ea typeface="BIZ UDPゴシック"/>
              <a:cs typeface="BIZ UDPゴシック"/>
            </a:endParaRPr>
          </a:p>
        </p:txBody>
      </p:sp>
      <p:sp>
        <p:nvSpPr>
          <p:cNvPr id="84" name="ページ番号 84"/>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17</a:t>
            </a:r>
            <a:endParaRPr lang="ja-JP" alt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9A6212"/>
                </a:solidFill>
                <a:latin typeface="BIZ UDPゴシック"/>
                <a:ea typeface="BIZ UDPゴシック"/>
                <a:cs typeface="BIZ UDPゴシック"/>
              </a:rPr>
              <a:t>ドアの開き具合での演出</a:t>
            </a:r>
            <a:endParaRPr lang="ja-JP" altLang="en-US" sz="1200" dirty="0">
              <a:solidFill>
                <a:srgbClr val="9A6212"/>
              </a:solidFill>
              <a:latin typeface="BIZ UDPゴシック"/>
              <a:ea typeface="BIZ UDPゴシック"/>
              <a:cs typeface="BIZ UDPゴシック"/>
            </a:endParaRPr>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ドアが開いたことが伝わるように</a:t>
            </a:r>
            <a:endParaRPr lang="ja-JP" altLang="en-US" sz="2600" dirty="0">
              <a:solidFill>
                <a:srgbClr val="1E2430"/>
              </a:solidFill>
              <a:latin typeface="BIZ UDPゴシック"/>
              <a:ea typeface="BIZ UDPゴシック"/>
              <a:cs typeface="BIZ UDPゴシック"/>
            </a:endParaRPr>
          </a:p>
        </p:txBody>
      </p:sp>
      <p:sp>
        <p:nvSpPr>
          <p:cNvPr id="4" name="テキスト 4"/>
          <p:cNvSpPr txBox="1"/>
          <p:nvPr/>
        </p:nvSpPr>
        <p:spPr>
          <a:xfrm>
            <a:off x="548640" y="1240000"/>
            <a:ext cx="11091672" cy="560000"/>
          </a:xfrm>
          <a:prstGeom prst="rect">
            <a:avLst/>
          </a:prstGeom>
          <a:noFill/>
          <a:ln>
            <a:noFill/>
          </a:ln>
        </p:spPr>
        <p:txBody>
          <a:bodyPr wrap="square" lIns="0" tIns="0" rIns="0" bIns="0" rtlCol="0" anchor="t">
            <a:noAutofit/>
          </a:bodyPr>
          <a:lstStyle/>
          <a:p>
            <a:pPr marL="0" indent="0" algn="l">
              <a:lnSpc>
                <a:spcPct val="118000"/>
              </a:lnSpc>
              <a:spcBef>
                <a:spcPts val="0"/>
              </a:spcBef>
              <a:spcAft>
                <a:spcPts val="0"/>
              </a:spcAft>
              <a:buNone/>
            </a:pPr>
            <a:r>
              <a:rPr lang="ja-JP" altLang="en-US" sz="1450" dirty="0">
                <a:solidFill>
                  <a:srgbClr val="1E2430"/>
                </a:solidFill>
                <a:latin typeface="BIZ UDPゴシック"/>
                <a:ea typeface="BIZ UDPゴシック"/>
                <a:cs typeface="BIZ UDPゴシック"/>
              </a:rPr>
              <a:t>ドアを開いた瞬間の開けた感が伝わるように開け始めの瞬間だけ</a:t>
            </a:r>
            <a:endParaRPr lang="en-US" altLang="ja-JP" sz="1450" dirty="0">
              <a:solidFill>
                <a:srgbClr val="1E2430"/>
              </a:solidFill>
              <a:latin typeface="BIZ UDPゴシック"/>
              <a:ea typeface="BIZ UDPゴシック"/>
              <a:cs typeface="BIZ UDPゴシック"/>
            </a:endParaRPr>
          </a:p>
          <a:p>
            <a:pPr marL="0" indent="0" algn="l">
              <a:lnSpc>
                <a:spcPct val="118000"/>
              </a:lnSpc>
              <a:spcBef>
                <a:spcPts val="0"/>
              </a:spcBef>
              <a:spcAft>
                <a:spcPts val="0"/>
              </a:spcAft>
              <a:buNone/>
            </a:pPr>
            <a:r>
              <a:rPr lang="ja-JP" altLang="en-US" sz="1450" dirty="0">
                <a:solidFill>
                  <a:srgbClr val="1E2430"/>
                </a:solidFill>
                <a:latin typeface="BIZ UDPゴシック"/>
                <a:ea typeface="BIZ UDPゴシック"/>
                <a:cs typeface="BIZ UDPゴシック"/>
              </a:rPr>
              <a:t>大きくラウドネスが変化するように、ただ音が急に飛ばないようにしました</a:t>
            </a:r>
            <a:endParaRPr lang="en-US" altLang="ja-JP" sz="1450" dirty="0">
              <a:solidFill>
                <a:srgbClr val="1E2430"/>
              </a:solidFill>
              <a:latin typeface="BIZ UDPゴシック"/>
              <a:ea typeface="BIZ UDPゴシック"/>
              <a:cs typeface="BIZ UDPゴシック"/>
            </a:endParaRPr>
          </a:p>
        </p:txBody>
      </p:sp>
      <p:sp>
        <p:nvSpPr>
          <p:cNvPr id="5" name="カード 5"/>
          <p:cNvSpPr/>
          <p:nvPr/>
        </p:nvSpPr>
        <p:spPr>
          <a:xfrm>
            <a:off x="548640" y="1850000"/>
            <a:ext cx="5350000" cy="2900000"/>
          </a:xfrm>
          <a:prstGeom prst="roundRect">
            <a:avLst>
              <a:gd name="adj" fmla="val 5000"/>
            </a:avLst>
          </a:prstGeom>
          <a:solidFill>
            <a:srgbClr val="F0F2F5"/>
          </a:solidFill>
          <a:ln>
            <a:noFill/>
          </a:ln>
        </p:spPr>
        <p:txBody>
          <a:bodyPr/>
          <a:lstStyle/>
          <a:p>
            <a:endParaRPr lang="ja-JP" altLang="en-US"/>
          </a:p>
        </p:txBody>
      </p:sp>
      <p:sp>
        <p:nvSpPr>
          <p:cNvPr id="6" name="テキスト 6"/>
          <p:cNvSpPr txBox="1"/>
          <p:nvPr/>
        </p:nvSpPr>
        <p:spPr>
          <a:xfrm>
            <a:off x="798640" y="2000000"/>
            <a:ext cx="4850000"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開き角と音量（模式図）</a:t>
            </a:r>
            <a:endParaRPr lang="ja-JP" altLang="en-US" sz="1300" dirty="0">
              <a:solidFill>
                <a:srgbClr val="1E2430"/>
              </a:solidFill>
              <a:latin typeface="BIZ UDPゴシック"/>
              <a:ea typeface="BIZ UDPゴシック"/>
              <a:cs typeface="BIZ UDPゴシック"/>
            </a:endParaRPr>
          </a:p>
        </p:txBody>
      </p:sp>
      <p:sp>
        <p:nvSpPr>
          <p:cNvPr id="7" name="区間 7"/>
          <p:cNvSpPr/>
          <p:nvPr/>
        </p:nvSpPr>
        <p:spPr>
          <a:xfrm>
            <a:off x="1278640" y="2400000"/>
            <a:ext cx="97555" cy="2000000"/>
          </a:xfrm>
          <a:prstGeom prst="rect">
            <a:avLst/>
          </a:prstGeom>
          <a:solidFill>
            <a:srgbClr val="E6E9EE"/>
          </a:solidFill>
          <a:ln>
            <a:noFill/>
          </a:ln>
        </p:spPr>
        <p:txBody>
          <a:bodyPr/>
          <a:lstStyle/>
          <a:p>
            <a:endParaRPr lang="ja-JP" altLang="en-US"/>
          </a:p>
        </p:txBody>
      </p:sp>
      <p:sp>
        <p:nvSpPr>
          <p:cNvPr id="8" name="区間 8"/>
          <p:cNvSpPr/>
          <p:nvPr/>
        </p:nvSpPr>
        <p:spPr>
          <a:xfrm>
            <a:off x="1376195" y="2400000"/>
            <a:ext cx="341444" cy="2000000"/>
          </a:xfrm>
          <a:prstGeom prst="rect">
            <a:avLst/>
          </a:prstGeom>
          <a:solidFill>
            <a:srgbClr val="FBF1DF"/>
          </a:solidFill>
          <a:ln>
            <a:noFill/>
          </a:ln>
        </p:spPr>
        <p:txBody>
          <a:bodyPr/>
          <a:lstStyle/>
          <a:p>
            <a:endParaRPr lang="ja-JP" altLang="en-US"/>
          </a:p>
        </p:txBody>
      </p:sp>
      <p:sp>
        <p:nvSpPr>
          <p:cNvPr id="9" name="区間 9"/>
          <p:cNvSpPr/>
          <p:nvPr/>
        </p:nvSpPr>
        <p:spPr>
          <a:xfrm>
            <a:off x="4205306" y="2400000"/>
            <a:ext cx="1463333" cy="2000000"/>
          </a:xfrm>
          <a:prstGeom prst="rect">
            <a:avLst/>
          </a:prstGeom>
          <a:solidFill>
            <a:srgbClr val="E6E9EE"/>
          </a:solidFill>
          <a:ln>
            <a:noFill/>
          </a:ln>
        </p:spPr>
        <p:txBody>
          <a:bodyPr/>
          <a:lstStyle/>
          <a:p>
            <a:endParaRPr lang="ja-JP" altLang="en-US"/>
          </a:p>
        </p:txBody>
      </p:sp>
      <p:cxnSp>
        <p:nvCxnSpPr>
          <p:cNvPr id="10" name="線 10"/>
          <p:cNvCxnSpPr/>
          <p:nvPr/>
        </p:nvCxnSpPr>
        <p:spPr>
          <a:xfrm>
            <a:off x="1278640" y="2700000"/>
            <a:ext cx="4390000" cy="0"/>
          </a:xfrm>
          <a:prstGeom prst="line">
            <a:avLst/>
          </a:prstGeom>
          <a:ln w="9525" cap="rnd">
            <a:solidFill>
              <a:srgbClr val="C9CFD8"/>
            </a:solidFill>
            <a:prstDash val="dash"/>
            <a:round/>
          </a:ln>
        </p:spPr>
      </p:cxnSp>
      <p:sp>
        <p:nvSpPr>
          <p:cNvPr id="11" name="テキスト 11"/>
          <p:cNvSpPr txBox="1"/>
          <p:nvPr/>
        </p:nvSpPr>
        <p:spPr>
          <a:xfrm>
            <a:off x="628640" y="2610000"/>
            <a:ext cx="600000" cy="18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0 dB</a:t>
            </a:r>
          </a:p>
        </p:txBody>
      </p:sp>
      <p:cxnSp>
        <p:nvCxnSpPr>
          <p:cNvPr id="12" name="線 12"/>
          <p:cNvCxnSpPr/>
          <p:nvPr/>
        </p:nvCxnSpPr>
        <p:spPr>
          <a:xfrm>
            <a:off x="1278640" y="3500000"/>
            <a:ext cx="4390000" cy="0"/>
          </a:xfrm>
          <a:prstGeom prst="line">
            <a:avLst/>
          </a:prstGeom>
          <a:ln w="9525" cap="rnd">
            <a:solidFill>
              <a:srgbClr val="C9CFD8"/>
            </a:solidFill>
            <a:prstDash val="dash"/>
            <a:round/>
          </a:ln>
        </p:spPr>
      </p:cxnSp>
      <p:sp>
        <p:nvSpPr>
          <p:cNvPr id="13" name="テキスト 13"/>
          <p:cNvSpPr txBox="1"/>
          <p:nvPr/>
        </p:nvSpPr>
        <p:spPr>
          <a:xfrm>
            <a:off x="628640" y="3410000"/>
            <a:ext cx="600000" cy="18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-10 dB</a:t>
            </a:r>
          </a:p>
        </p:txBody>
      </p:sp>
      <p:cxnSp>
        <p:nvCxnSpPr>
          <p:cNvPr id="14" name="線 14"/>
          <p:cNvCxnSpPr/>
          <p:nvPr/>
        </p:nvCxnSpPr>
        <p:spPr>
          <a:xfrm>
            <a:off x="1278640" y="4300000"/>
            <a:ext cx="4390000" cy="0"/>
          </a:xfrm>
          <a:prstGeom prst="line">
            <a:avLst/>
          </a:prstGeom>
          <a:ln w="9525" cap="rnd">
            <a:solidFill>
              <a:srgbClr val="C9CFD8"/>
            </a:solidFill>
            <a:prstDash val="dash"/>
            <a:round/>
          </a:ln>
        </p:spPr>
      </p:cxnSp>
      <p:sp>
        <p:nvSpPr>
          <p:cNvPr id="15" name="テキスト 15"/>
          <p:cNvSpPr txBox="1"/>
          <p:nvPr/>
        </p:nvSpPr>
        <p:spPr>
          <a:xfrm>
            <a:off x="628640" y="4210000"/>
            <a:ext cx="600000" cy="18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-20 dB</a:t>
            </a:r>
          </a:p>
        </p:txBody>
      </p:sp>
      <p:sp>
        <p:nvSpPr>
          <p:cNvPr id="16" name="テキスト 16"/>
          <p:cNvSpPr txBox="1"/>
          <p:nvPr/>
        </p:nvSpPr>
        <p:spPr>
          <a:xfrm>
            <a:off x="1028640" y="4410000"/>
            <a:ext cx="500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0°</a:t>
            </a:r>
          </a:p>
        </p:txBody>
      </p:sp>
      <p:sp>
        <p:nvSpPr>
          <p:cNvPr id="17" name="テキスト 17"/>
          <p:cNvSpPr txBox="1"/>
          <p:nvPr/>
        </p:nvSpPr>
        <p:spPr>
          <a:xfrm>
            <a:off x="2491973" y="4410000"/>
            <a:ext cx="500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30°</a:t>
            </a:r>
          </a:p>
        </p:txBody>
      </p:sp>
      <p:sp>
        <p:nvSpPr>
          <p:cNvPr id="18" name="テキスト 18"/>
          <p:cNvSpPr txBox="1"/>
          <p:nvPr/>
        </p:nvSpPr>
        <p:spPr>
          <a:xfrm>
            <a:off x="3955306" y="4410000"/>
            <a:ext cx="500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60°</a:t>
            </a:r>
          </a:p>
        </p:txBody>
      </p:sp>
      <p:sp>
        <p:nvSpPr>
          <p:cNvPr id="19" name="テキスト 19"/>
          <p:cNvSpPr txBox="1"/>
          <p:nvPr/>
        </p:nvSpPr>
        <p:spPr>
          <a:xfrm>
            <a:off x="5418640" y="4410000"/>
            <a:ext cx="500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90°</a:t>
            </a:r>
          </a:p>
        </p:txBody>
      </p:sp>
      <p:sp>
        <p:nvSpPr>
          <p:cNvPr id="20" name="折れ線 20"/>
          <p:cNvSpPr/>
          <p:nvPr/>
        </p:nvSpPr>
        <p:spPr>
          <a:xfrm>
            <a:off x="1278640" y="2700000"/>
            <a:ext cx="4390000" cy="1600000"/>
          </a:xfrm>
          <a:custGeom>
            <a:avLst/>
            <a:gdLst/>
            <a:ahLst/>
            <a:cxnLst/>
            <a:rect l="0" t="0" r="r" b="b"/>
            <a:pathLst>
              <a:path w="4390000" h="1600000" fill="none">
                <a:moveTo>
                  <a:pt x="0" y="1600000"/>
                </a:moveTo>
                <a:lnTo>
                  <a:pt x="48777" y="1600000"/>
                </a:lnTo>
                <a:lnTo>
                  <a:pt x="97555" y="1600000"/>
                </a:lnTo>
                <a:lnTo>
                  <a:pt x="146333" y="1551253"/>
                </a:lnTo>
                <a:lnTo>
                  <a:pt x="195111" y="1425539"/>
                </a:lnTo>
                <a:lnTo>
                  <a:pt x="243888" y="1253644"/>
                </a:lnTo>
                <a:lnTo>
                  <a:pt x="292666" y="1066355"/>
                </a:lnTo>
                <a:lnTo>
                  <a:pt x="341444" y="894460"/>
                </a:lnTo>
                <a:lnTo>
                  <a:pt x="390222" y="768746"/>
                </a:lnTo>
                <a:lnTo>
                  <a:pt x="439000" y="720000"/>
                </a:lnTo>
                <a:lnTo>
                  <a:pt x="585333" y="699142"/>
                </a:lnTo>
                <a:lnTo>
                  <a:pt x="731666" y="670391"/>
                </a:lnTo>
                <a:lnTo>
                  <a:pt x="975555" y="614169"/>
                </a:lnTo>
                <a:lnTo>
                  <a:pt x="1219444" y="550948"/>
                </a:lnTo>
                <a:lnTo>
                  <a:pt x="1463333" y="482510"/>
                </a:lnTo>
                <a:lnTo>
                  <a:pt x="1707222" y="409839"/>
                </a:lnTo>
                <a:lnTo>
                  <a:pt x="1951111" y="333569"/>
                </a:lnTo>
                <a:lnTo>
                  <a:pt x="2195000" y="254148"/>
                </a:lnTo>
                <a:lnTo>
                  <a:pt x="2438888" y="171912"/>
                </a:lnTo>
                <a:lnTo>
                  <a:pt x="2682777" y="87126"/>
                </a:lnTo>
                <a:lnTo>
                  <a:pt x="2926666" y="0"/>
                </a:lnTo>
                <a:lnTo>
                  <a:pt x="3414444" y="0"/>
                </a:lnTo>
                <a:lnTo>
                  <a:pt x="3902222" y="0"/>
                </a:lnTo>
                <a:lnTo>
                  <a:pt x="4390000" y="0"/>
                </a:lnTo>
              </a:path>
            </a:pathLst>
          </a:custGeom>
          <a:noFill/>
          <a:ln w="44450" cap="rnd">
            <a:solidFill>
              <a:srgbClr val="E3A33B"/>
            </a:solidFill>
            <a:round/>
          </a:ln>
        </p:spPr>
        <p:txBody>
          <a:bodyPr/>
          <a:lstStyle/>
          <a:p>
            <a:endParaRPr lang="ja-JP" altLang="en-US"/>
          </a:p>
        </p:txBody>
      </p:sp>
      <p:sp>
        <p:nvSpPr>
          <p:cNvPr id="21" name="テキスト 21"/>
          <p:cNvSpPr txBox="1"/>
          <p:nvPr/>
        </p:nvSpPr>
        <p:spPr>
          <a:xfrm>
            <a:off x="948640" y="2420000"/>
            <a:ext cx="300000" cy="24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00" b="1" dirty="0">
                <a:solidFill>
                  <a:srgbClr val="1E2430"/>
                </a:solidFill>
                <a:latin typeface="BIZ UDPゴシック"/>
                <a:ea typeface="BIZ UDPゴシック"/>
                <a:cs typeface="BIZ UDPゴシック"/>
              </a:rPr>
              <a:t>①</a:t>
            </a:r>
            <a:endParaRPr lang="ja-JP" altLang="en-US" sz="1000" dirty="0">
              <a:solidFill>
                <a:srgbClr val="1E2430"/>
              </a:solidFill>
              <a:latin typeface="BIZ UDPゴシック"/>
              <a:ea typeface="BIZ UDPゴシック"/>
              <a:cs typeface="BIZ UDPゴシック"/>
            </a:endParaRPr>
          </a:p>
        </p:txBody>
      </p:sp>
      <p:sp>
        <p:nvSpPr>
          <p:cNvPr id="22" name="テキスト 22"/>
          <p:cNvSpPr txBox="1"/>
          <p:nvPr/>
        </p:nvSpPr>
        <p:spPr>
          <a:xfrm>
            <a:off x="1406195" y="2420000"/>
            <a:ext cx="1300000" cy="24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00" b="1" dirty="0">
                <a:solidFill>
                  <a:srgbClr val="9A6212"/>
                </a:solidFill>
                <a:latin typeface="BIZ UDPゴシック"/>
                <a:ea typeface="BIZ UDPゴシック"/>
                <a:cs typeface="BIZ UDPゴシック"/>
              </a:rPr>
              <a:t>②</a:t>
            </a:r>
            <a:endParaRPr lang="ja-JP" altLang="en-US" sz="1000" dirty="0">
              <a:solidFill>
                <a:srgbClr val="9A6212"/>
              </a:solidFill>
              <a:latin typeface="BIZ UDPゴシック"/>
              <a:ea typeface="BIZ UDPゴシック"/>
              <a:cs typeface="BIZ UDPゴシック"/>
            </a:endParaRPr>
          </a:p>
        </p:txBody>
      </p:sp>
      <p:sp>
        <p:nvSpPr>
          <p:cNvPr id="23" name="テキスト 23"/>
          <p:cNvSpPr txBox="1"/>
          <p:nvPr/>
        </p:nvSpPr>
        <p:spPr>
          <a:xfrm>
            <a:off x="4255306" y="2420000"/>
            <a:ext cx="1300000" cy="24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00" b="1" dirty="0">
                <a:solidFill>
                  <a:srgbClr val="1E2430"/>
                </a:solidFill>
                <a:latin typeface="BIZ UDPゴシック"/>
                <a:ea typeface="BIZ UDPゴシック"/>
                <a:cs typeface="BIZ UDPゴシック"/>
              </a:rPr>
              <a:t>③</a:t>
            </a:r>
            <a:endParaRPr lang="ja-JP" altLang="en-US" sz="1000" dirty="0">
              <a:solidFill>
                <a:srgbClr val="1E2430"/>
              </a:solidFill>
              <a:latin typeface="BIZ UDPゴシック"/>
              <a:ea typeface="BIZ UDPゴシック"/>
              <a:cs typeface="BIZ UDPゴシック"/>
            </a:endParaRPr>
          </a:p>
        </p:txBody>
      </p:sp>
      <p:cxnSp>
        <p:nvCxnSpPr>
          <p:cNvPr id="24" name="線 24"/>
          <p:cNvCxnSpPr/>
          <p:nvPr/>
        </p:nvCxnSpPr>
        <p:spPr>
          <a:xfrm>
            <a:off x="1376195" y="4360000"/>
            <a:ext cx="341444" cy="0"/>
          </a:xfrm>
          <a:prstGeom prst="line">
            <a:avLst/>
          </a:prstGeom>
          <a:ln w="19050" cap="rnd">
            <a:solidFill>
              <a:srgbClr val="9A6212"/>
            </a:solidFill>
            <a:round/>
          </a:ln>
        </p:spPr>
      </p:cxnSp>
      <p:cxnSp>
        <p:nvCxnSpPr>
          <p:cNvPr id="25" name="線 25"/>
          <p:cNvCxnSpPr/>
          <p:nvPr/>
        </p:nvCxnSpPr>
        <p:spPr>
          <a:xfrm>
            <a:off x="1376195" y="4310000"/>
            <a:ext cx="0" cy="100000"/>
          </a:xfrm>
          <a:prstGeom prst="line">
            <a:avLst/>
          </a:prstGeom>
          <a:ln w="19050" cap="rnd">
            <a:solidFill>
              <a:srgbClr val="9A6212"/>
            </a:solidFill>
            <a:round/>
          </a:ln>
        </p:spPr>
      </p:cxnSp>
      <p:cxnSp>
        <p:nvCxnSpPr>
          <p:cNvPr id="26" name="線 26"/>
          <p:cNvCxnSpPr/>
          <p:nvPr/>
        </p:nvCxnSpPr>
        <p:spPr>
          <a:xfrm>
            <a:off x="1717640" y="4310000"/>
            <a:ext cx="0" cy="100000"/>
          </a:xfrm>
          <a:prstGeom prst="line">
            <a:avLst/>
          </a:prstGeom>
          <a:ln w="19050" cap="rnd">
            <a:solidFill>
              <a:srgbClr val="9A6212"/>
            </a:solidFill>
            <a:round/>
          </a:ln>
        </p:spPr>
      </p:cxnSp>
      <p:sp>
        <p:nvSpPr>
          <p:cNvPr id="27" name="フェード 27"/>
          <p:cNvSpPr/>
          <p:nvPr/>
        </p:nvSpPr>
        <p:spPr>
          <a:xfrm>
            <a:off x="1917640" y="3610000"/>
            <a:ext cx="2000000" cy="500000"/>
          </a:xfrm>
          <a:prstGeom prst="roundRect">
            <a:avLst>
              <a:gd name="adj" fmla="val 20000"/>
            </a:avLst>
          </a:prstGeom>
          <a:solidFill>
            <a:srgbClr val="FFFFFF"/>
          </a:solidFill>
          <a:ln w="15875">
            <a:solidFill>
              <a:srgbClr val="E3A33B"/>
            </a:solidFill>
          </a:ln>
        </p:spPr>
        <p:txBody>
          <a:bodyPr wrap="square" lIns="130000" tIns="0" rIns="80000" bIns="0" rtlCol="0" anchor="ctr">
            <a:noAutofit/>
          </a:bodyPr>
          <a:lstStyle/>
          <a:p>
            <a:pPr marL="0" indent="0" algn="l">
              <a:lnSpc>
                <a:spcPct val="100000"/>
              </a:lnSpc>
              <a:spcBef>
                <a:spcPts val="0"/>
              </a:spcBef>
              <a:spcAft>
                <a:spcPts val="0"/>
              </a:spcAft>
              <a:buNone/>
            </a:pPr>
            <a:r>
              <a:rPr lang="ja-JP" altLang="en-US" sz="1050" b="1" dirty="0">
                <a:solidFill>
                  <a:srgbClr val="9A6212"/>
                </a:solidFill>
                <a:latin typeface="BIZ UDPゴシック"/>
                <a:ea typeface="BIZ UDPゴシック"/>
                <a:cs typeface="BIZ UDPゴシック"/>
              </a:rPr>
              <a:t>ここだけフェード</a:t>
            </a:r>
            <a:endParaRPr lang="ja-JP" altLang="en-US" sz="1050" dirty="0">
              <a:solidFill>
                <a:srgbClr val="9A6212"/>
              </a:solidFill>
              <a:latin typeface="BIZ UDPゴシック"/>
              <a:ea typeface="BIZ UDPゴシック"/>
              <a:cs typeface="BIZ UDPゴシック"/>
            </a:endParaRPr>
          </a:p>
          <a:p>
            <a:pPr marL="0" indent="0" algn="l">
              <a:lnSpc>
                <a:spcPct val="100000"/>
              </a:lnSpc>
              <a:spcBef>
                <a:spcPts val="120"/>
              </a:spcBef>
              <a:spcAft>
                <a:spcPts val="0"/>
              </a:spcAft>
              <a:buNone/>
            </a:pPr>
            <a:r>
              <a:rPr lang="ja-JP" altLang="en-US" sz="900" dirty="0">
                <a:solidFill>
                  <a:srgbClr val="1E2430"/>
                </a:solidFill>
                <a:latin typeface="BIZ UDPゴシック"/>
                <a:ea typeface="BIZ UDPゴシック"/>
                <a:cs typeface="BIZ UDPゴシック"/>
              </a:rPr>
              <a:t>回折が入る瞬間を滑らかに</a:t>
            </a:r>
          </a:p>
        </p:txBody>
      </p:sp>
      <p:cxnSp>
        <p:nvCxnSpPr>
          <p:cNvPr id="28" name="線 28"/>
          <p:cNvCxnSpPr/>
          <p:nvPr/>
        </p:nvCxnSpPr>
        <p:spPr>
          <a:xfrm flipH="1">
            <a:off x="1586917" y="3860000"/>
            <a:ext cx="330722" cy="0"/>
          </a:xfrm>
          <a:prstGeom prst="line">
            <a:avLst/>
          </a:prstGeom>
          <a:ln w="12700" cap="rnd">
            <a:solidFill>
              <a:srgbClr val="E3A33B"/>
            </a:solidFill>
            <a:round/>
            <a:tailEnd type="triangle" w="med" len="med"/>
          </a:ln>
        </p:spPr>
      </p:cxnSp>
      <p:sp>
        <p:nvSpPr>
          <p:cNvPr id="29" name="カード 29"/>
          <p:cNvSpPr/>
          <p:nvPr/>
        </p:nvSpPr>
        <p:spPr>
          <a:xfrm>
            <a:off x="548640" y="4880000"/>
            <a:ext cx="5350000" cy="1570000"/>
          </a:xfrm>
          <a:prstGeom prst="roundRect">
            <a:avLst>
              <a:gd name="adj" fmla="val 5000"/>
            </a:avLst>
          </a:prstGeom>
          <a:solidFill>
            <a:srgbClr val="FBF1DF"/>
          </a:solidFill>
          <a:ln>
            <a:noFill/>
          </a:ln>
        </p:spPr>
        <p:txBody>
          <a:bodyPr/>
          <a:lstStyle/>
          <a:p>
            <a:endParaRPr lang="ja-JP" altLang="en-US"/>
          </a:p>
        </p:txBody>
      </p:sp>
      <p:sp>
        <p:nvSpPr>
          <p:cNvPr id="30" name="ラベル 30"/>
          <p:cNvSpPr/>
          <p:nvPr/>
        </p:nvSpPr>
        <p:spPr>
          <a:xfrm>
            <a:off x="768640" y="5162500"/>
            <a:ext cx="85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150" b="1" dirty="0">
                <a:solidFill>
                  <a:srgbClr val="1E2430"/>
                </a:solidFill>
                <a:latin typeface="BIZ UDPゴシック"/>
                <a:ea typeface="BIZ UDPゴシック"/>
                <a:cs typeface="BIZ UDPゴシック"/>
              </a:rPr>
              <a:t>連続性</a:t>
            </a:r>
            <a:endParaRPr lang="ja-JP" altLang="en-US" sz="1150" dirty="0">
              <a:solidFill>
                <a:srgbClr val="1E2430"/>
              </a:solidFill>
              <a:latin typeface="BIZ UDPゴシック"/>
              <a:ea typeface="BIZ UDPゴシック"/>
              <a:cs typeface="BIZ UDPゴシック"/>
            </a:endParaRPr>
          </a:p>
        </p:txBody>
      </p:sp>
      <p:sp>
        <p:nvSpPr>
          <p:cNvPr id="31" name="テキスト 31"/>
          <p:cNvSpPr txBox="1"/>
          <p:nvPr/>
        </p:nvSpPr>
        <p:spPr>
          <a:xfrm>
            <a:off x="1748640" y="4990000"/>
            <a:ext cx="3970000" cy="645000"/>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050" dirty="0">
                <a:solidFill>
                  <a:srgbClr val="1E2430"/>
                </a:solidFill>
                <a:latin typeface="BIZ UDPゴシック"/>
                <a:ea typeface="BIZ UDPゴシック"/>
                <a:cs typeface="BIZ UDPゴシック"/>
              </a:rPr>
              <a:t>回折が新たに加わる瞬間だけフェードで滑らかにしつつそれ以降は回折と透過の経路の変化で直接音に切り替わるまで滑らかになるようにする</a:t>
            </a:r>
          </a:p>
        </p:txBody>
      </p:sp>
      <p:sp>
        <p:nvSpPr>
          <p:cNvPr id="32" name="ラベル 32"/>
          <p:cNvSpPr/>
          <p:nvPr/>
        </p:nvSpPr>
        <p:spPr>
          <a:xfrm>
            <a:off x="768640" y="5867500"/>
            <a:ext cx="85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150" b="1" dirty="0">
                <a:solidFill>
                  <a:srgbClr val="1E2430"/>
                </a:solidFill>
                <a:latin typeface="BIZ UDPゴシック"/>
                <a:ea typeface="BIZ UDPゴシック"/>
                <a:cs typeface="BIZ UDPゴシック"/>
              </a:rPr>
              <a:t>即時性</a:t>
            </a:r>
            <a:endParaRPr lang="ja-JP" altLang="en-US" sz="1150" dirty="0">
              <a:solidFill>
                <a:srgbClr val="1E2430"/>
              </a:solidFill>
              <a:latin typeface="BIZ UDPゴシック"/>
              <a:ea typeface="BIZ UDPゴシック"/>
              <a:cs typeface="BIZ UDPゴシック"/>
            </a:endParaRPr>
          </a:p>
        </p:txBody>
      </p:sp>
      <p:sp>
        <p:nvSpPr>
          <p:cNvPr id="33" name="テキスト 33"/>
          <p:cNvSpPr txBox="1"/>
          <p:nvPr/>
        </p:nvSpPr>
        <p:spPr>
          <a:xfrm>
            <a:off x="1748640" y="5695000"/>
            <a:ext cx="3970000" cy="645000"/>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050" dirty="0">
                <a:solidFill>
                  <a:srgbClr val="1E2430"/>
                </a:solidFill>
                <a:latin typeface="BIZ UDPゴシック"/>
                <a:ea typeface="BIZ UDPゴシック"/>
                <a:cs typeface="BIZ UDPゴシック"/>
              </a:rPr>
              <a:t>扉の開口はレイでなく角度から解析で出して開き始めた瞬間から変化、動かしたそのフレームで音量が返るように</a:t>
            </a:r>
          </a:p>
        </p:txBody>
      </p:sp>
      <p:sp>
        <p:nvSpPr>
          <p:cNvPr id="34" name="カード 34"/>
          <p:cNvSpPr/>
          <p:nvPr/>
        </p:nvSpPr>
        <p:spPr>
          <a:xfrm>
            <a:off x="6148640" y="1850000"/>
            <a:ext cx="5491672" cy="1460000"/>
          </a:xfrm>
          <a:prstGeom prst="roundRect">
            <a:avLst>
              <a:gd name="adj" fmla="val 5000"/>
            </a:avLst>
          </a:prstGeom>
          <a:solidFill>
            <a:srgbClr val="F0F2F5"/>
          </a:solidFill>
          <a:ln>
            <a:noFill/>
          </a:ln>
        </p:spPr>
        <p:txBody>
          <a:bodyPr/>
          <a:lstStyle/>
          <a:p>
            <a:endParaRPr lang="ja-JP" altLang="en-US"/>
          </a:p>
        </p:txBody>
      </p:sp>
      <p:sp>
        <p:nvSpPr>
          <p:cNvPr id="35" name="壁 35"/>
          <p:cNvSpPr/>
          <p:nvPr/>
        </p:nvSpPr>
        <p:spPr>
          <a:xfrm>
            <a:off x="6468140" y="2629250"/>
            <a:ext cx="365500" cy="21500"/>
          </a:xfrm>
          <a:prstGeom prst="rect">
            <a:avLst/>
          </a:prstGeom>
          <a:solidFill>
            <a:srgbClr val="9AA3B0"/>
          </a:solidFill>
          <a:ln>
            <a:noFill/>
          </a:ln>
        </p:spPr>
        <p:txBody>
          <a:bodyPr/>
          <a:lstStyle/>
          <a:p>
            <a:endParaRPr lang="ja-JP" altLang="en-US"/>
          </a:p>
        </p:txBody>
      </p:sp>
      <p:sp>
        <p:nvSpPr>
          <p:cNvPr id="36" name="壁 36"/>
          <p:cNvSpPr/>
          <p:nvPr/>
        </p:nvSpPr>
        <p:spPr>
          <a:xfrm>
            <a:off x="7263640" y="2629250"/>
            <a:ext cx="365500" cy="21500"/>
          </a:xfrm>
          <a:prstGeom prst="rect">
            <a:avLst/>
          </a:prstGeom>
          <a:solidFill>
            <a:srgbClr val="9AA3B0"/>
          </a:solidFill>
          <a:ln>
            <a:noFill/>
          </a:ln>
        </p:spPr>
        <p:txBody>
          <a:bodyPr/>
          <a:lstStyle/>
          <a:p>
            <a:endParaRPr lang="ja-JP" altLang="en-US"/>
          </a:p>
        </p:txBody>
      </p:sp>
      <p:cxnSp>
        <p:nvCxnSpPr>
          <p:cNvPr id="37" name="線 37"/>
          <p:cNvCxnSpPr/>
          <p:nvPr/>
        </p:nvCxnSpPr>
        <p:spPr>
          <a:xfrm flipH="1">
            <a:off x="7005640" y="2210000"/>
            <a:ext cx="107500" cy="774000"/>
          </a:xfrm>
          <a:prstGeom prst="line">
            <a:avLst/>
          </a:prstGeom>
          <a:ln w="15875" cap="rnd">
            <a:solidFill>
              <a:srgbClr val="9AA3B0"/>
            </a:solidFill>
            <a:prstDash val="dash"/>
            <a:round/>
          </a:ln>
        </p:spPr>
      </p:cxnSp>
      <p:cxnSp>
        <p:nvCxnSpPr>
          <p:cNvPr id="38" name="線 38"/>
          <p:cNvCxnSpPr/>
          <p:nvPr/>
        </p:nvCxnSpPr>
        <p:spPr>
          <a:xfrm>
            <a:off x="6833640" y="2640000"/>
            <a:ext cx="430000" cy="0"/>
          </a:xfrm>
          <a:prstGeom prst="line">
            <a:avLst/>
          </a:prstGeom>
          <a:ln w="44450" cap="rnd">
            <a:solidFill>
              <a:srgbClr val="1E2430"/>
            </a:solidFill>
            <a:round/>
          </a:ln>
        </p:spPr>
      </p:cxnSp>
      <p:sp>
        <p:nvSpPr>
          <p:cNvPr id="39" name="番号 39"/>
          <p:cNvSpPr/>
          <p:nvPr/>
        </p:nvSpPr>
        <p:spPr>
          <a:xfrm>
            <a:off x="7038140" y="2135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40" name="テキスト 40"/>
          <p:cNvSpPr txBox="1"/>
          <p:nvPr/>
        </p:nvSpPr>
        <p:spPr>
          <a:xfrm>
            <a:off x="7223140" y="2110000"/>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41" name="番号 41"/>
          <p:cNvSpPr/>
          <p:nvPr/>
        </p:nvSpPr>
        <p:spPr>
          <a:xfrm>
            <a:off x="6930640" y="2909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42" name="テキスト 42"/>
          <p:cNvSpPr txBox="1"/>
          <p:nvPr/>
        </p:nvSpPr>
        <p:spPr>
          <a:xfrm>
            <a:off x="7115640" y="2884000"/>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43" name="番号 43"/>
          <p:cNvSpPr/>
          <p:nvPr/>
        </p:nvSpPr>
        <p:spPr>
          <a:xfrm>
            <a:off x="8048640" y="1980000"/>
            <a:ext cx="280000" cy="280000"/>
          </a:xfrm>
          <a:prstGeom prst="ellipse">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050" b="1" dirty="0">
                <a:solidFill>
                  <a:srgbClr val="1E2430"/>
                </a:solidFill>
                <a:latin typeface="BIZ UDPゴシック"/>
                <a:ea typeface="BIZ UDPゴシック"/>
                <a:cs typeface="BIZ UDPゴシック"/>
              </a:rPr>
              <a:t>1</a:t>
            </a:r>
            <a:endParaRPr lang="ja-JP" altLang="en-US" sz="1050" dirty="0">
              <a:solidFill>
                <a:srgbClr val="1E2430"/>
              </a:solidFill>
              <a:latin typeface="BIZ UDPゴシック"/>
              <a:ea typeface="BIZ UDPゴシック"/>
              <a:cs typeface="BIZ UDPゴシック"/>
            </a:endParaRPr>
          </a:p>
        </p:txBody>
      </p:sp>
      <p:sp>
        <p:nvSpPr>
          <p:cNvPr id="44" name="テキスト 44"/>
          <p:cNvSpPr txBox="1"/>
          <p:nvPr/>
        </p:nvSpPr>
        <p:spPr>
          <a:xfrm>
            <a:off x="8408640" y="1990000"/>
            <a:ext cx="1800000"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閉じている</a:t>
            </a:r>
            <a:endParaRPr lang="ja-JP" altLang="en-US" sz="1250" dirty="0">
              <a:solidFill>
                <a:srgbClr val="1E2430"/>
              </a:solidFill>
              <a:latin typeface="BIZ UDPゴシック"/>
              <a:ea typeface="BIZ UDPゴシック"/>
              <a:cs typeface="BIZ UDPゴシック"/>
            </a:endParaRPr>
          </a:p>
        </p:txBody>
      </p:sp>
      <p:sp>
        <p:nvSpPr>
          <p:cNvPr id="45" name="タグ 45"/>
          <p:cNvSpPr/>
          <p:nvPr/>
        </p:nvSpPr>
        <p:spPr>
          <a:xfrm>
            <a:off x="9402390" y="1995000"/>
            <a:ext cx="560000" cy="240000"/>
          </a:xfrm>
          <a:prstGeom prst="roundRect">
            <a:avLst>
              <a:gd name="adj" fmla="val 50000"/>
            </a:avLst>
          </a:prstGeom>
          <a:solidFill>
            <a:srgbClr val="C9CFD8"/>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透過</a:t>
            </a:r>
            <a:endParaRPr lang="ja-JP" altLang="en-US" sz="950" dirty="0">
              <a:solidFill>
                <a:srgbClr val="1E2430"/>
              </a:solidFill>
              <a:latin typeface="BIZ UDPゴシック"/>
              <a:ea typeface="BIZ UDPゴシック"/>
              <a:cs typeface="BIZ UDPゴシック"/>
            </a:endParaRPr>
          </a:p>
        </p:txBody>
      </p:sp>
      <p:sp>
        <p:nvSpPr>
          <p:cNvPr id="46" name="テキスト 46"/>
          <p:cNvSpPr txBox="1"/>
          <p:nvPr/>
        </p:nvSpPr>
        <p:spPr>
          <a:xfrm>
            <a:off x="8048640" y="2350000"/>
            <a:ext cx="3411672" cy="900000"/>
          </a:xfrm>
          <a:prstGeom prst="rect">
            <a:avLst/>
          </a:prstGeom>
          <a:noFill/>
          <a:ln>
            <a:noFill/>
          </a:ln>
        </p:spPr>
        <p:txBody>
          <a:bodyPr wrap="square" lIns="0" tIns="0" rIns="0" bIns="0" rtlCol="0" anchor="t">
            <a:noAutofit/>
          </a:bodyPr>
          <a:lstStyle/>
          <a:p>
            <a:pPr marL="0" indent="0" algn="l">
              <a:lnSpc>
                <a:spcPct val="125000"/>
              </a:lnSpc>
              <a:spcBef>
                <a:spcPts val="0"/>
              </a:spcBef>
              <a:spcAft>
                <a:spcPts val="0"/>
              </a:spcAft>
              <a:buNone/>
            </a:pPr>
            <a:r>
              <a:rPr lang="ja-JP" altLang="en-US" sz="1100" dirty="0">
                <a:solidFill>
                  <a:srgbClr val="1E2430"/>
                </a:solidFill>
                <a:latin typeface="BIZ UDPゴシック"/>
                <a:ea typeface="BIZ UDPゴシック"/>
                <a:cs typeface="BIZ UDPゴシック"/>
              </a:rPr>
              <a:t>透過音だけのこもった小さい音</a:t>
            </a:r>
          </a:p>
        </p:txBody>
      </p:sp>
      <p:sp>
        <p:nvSpPr>
          <p:cNvPr id="47" name="カード 47"/>
          <p:cNvSpPr/>
          <p:nvPr/>
        </p:nvSpPr>
        <p:spPr>
          <a:xfrm>
            <a:off x="6148640" y="3420000"/>
            <a:ext cx="5491672" cy="1460000"/>
          </a:xfrm>
          <a:prstGeom prst="roundRect">
            <a:avLst>
              <a:gd name="adj" fmla="val 5000"/>
            </a:avLst>
          </a:prstGeom>
          <a:solidFill>
            <a:srgbClr val="FBF1DF"/>
          </a:solidFill>
          <a:ln>
            <a:noFill/>
          </a:ln>
        </p:spPr>
        <p:txBody>
          <a:bodyPr/>
          <a:lstStyle/>
          <a:p>
            <a:endParaRPr lang="ja-JP" altLang="en-US"/>
          </a:p>
        </p:txBody>
      </p:sp>
      <p:sp>
        <p:nvSpPr>
          <p:cNvPr id="48" name="壁 48"/>
          <p:cNvSpPr/>
          <p:nvPr/>
        </p:nvSpPr>
        <p:spPr>
          <a:xfrm>
            <a:off x="6468140" y="4199250"/>
            <a:ext cx="365500" cy="21500"/>
          </a:xfrm>
          <a:prstGeom prst="rect">
            <a:avLst/>
          </a:prstGeom>
          <a:solidFill>
            <a:srgbClr val="9AA3B0"/>
          </a:solidFill>
          <a:ln>
            <a:noFill/>
          </a:ln>
        </p:spPr>
        <p:txBody>
          <a:bodyPr/>
          <a:lstStyle/>
          <a:p>
            <a:endParaRPr lang="ja-JP" altLang="en-US"/>
          </a:p>
        </p:txBody>
      </p:sp>
      <p:sp>
        <p:nvSpPr>
          <p:cNvPr id="49" name="壁 49"/>
          <p:cNvSpPr/>
          <p:nvPr/>
        </p:nvSpPr>
        <p:spPr>
          <a:xfrm>
            <a:off x="7263640" y="4199250"/>
            <a:ext cx="365500" cy="21500"/>
          </a:xfrm>
          <a:prstGeom prst="rect">
            <a:avLst/>
          </a:prstGeom>
          <a:solidFill>
            <a:srgbClr val="9AA3B0"/>
          </a:solidFill>
          <a:ln>
            <a:noFill/>
          </a:ln>
        </p:spPr>
        <p:txBody>
          <a:bodyPr/>
          <a:lstStyle/>
          <a:p>
            <a:endParaRPr lang="ja-JP" altLang="en-US"/>
          </a:p>
        </p:txBody>
      </p:sp>
      <p:cxnSp>
        <p:nvCxnSpPr>
          <p:cNvPr id="50" name="線 50"/>
          <p:cNvCxnSpPr/>
          <p:nvPr/>
        </p:nvCxnSpPr>
        <p:spPr>
          <a:xfrm flipH="1">
            <a:off x="7005640" y="3780000"/>
            <a:ext cx="107500" cy="774000"/>
          </a:xfrm>
          <a:prstGeom prst="line">
            <a:avLst/>
          </a:prstGeom>
          <a:ln w="15875" cap="rnd">
            <a:solidFill>
              <a:srgbClr val="9AA3B0"/>
            </a:solidFill>
            <a:prstDash val="dash"/>
            <a:round/>
          </a:ln>
        </p:spPr>
      </p:cxnSp>
      <p:sp>
        <p:nvSpPr>
          <p:cNvPr id="51" name="折れ線 51"/>
          <p:cNvSpPr/>
          <p:nvPr/>
        </p:nvSpPr>
        <p:spPr>
          <a:xfrm>
            <a:off x="7005640" y="3780000"/>
            <a:ext cx="273056" cy="774000"/>
          </a:xfrm>
          <a:custGeom>
            <a:avLst/>
            <a:gdLst/>
            <a:ahLst/>
            <a:cxnLst/>
            <a:rect l="0" t="0" r="r" b="b"/>
            <a:pathLst>
              <a:path w="273056" h="774000" fill="none">
                <a:moveTo>
                  <a:pt x="107500" y="0"/>
                </a:moveTo>
                <a:lnTo>
                  <a:pt x="273056" y="335399"/>
                </a:lnTo>
                <a:lnTo>
                  <a:pt x="0" y="774000"/>
                </a:lnTo>
              </a:path>
            </a:pathLst>
          </a:custGeom>
          <a:noFill/>
          <a:ln w="31750" cap="rnd">
            <a:solidFill>
              <a:srgbClr val="E3A33B"/>
            </a:solidFill>
            <a:round/>
          </a:ln>
        </p:spPr>
        <p:txBody>
          <a:bodyPr/>
          <a:lstStyle/>
          <a:p>
            <a:endParaRPr lang="ja-JP" altLang="en-US"/>
          </a:p>
        </p:txBody>
      </p:sp>
      <p:cxnSp>
        <p:nvCxnSpPr>
          <p:cNvPr id="52" name="線 52"/>
          <p:cNvCxnSpPr/>
          <p:nvPr/>
        </p:nvCxnSpPr>
        <p:spPr>
          <a:xfrm flipV="1">
            <a:off x="6833640" y="4120597"/>
            <a:ext cx="420603" cy="89402"/>
          </a:xfrm>
          <a:prstGeom prst="line">
            <a:avLst/>
          </a:prstGeom>
          <a:ln w="44450" cap="rnd">
            <a:solidFill>
              <a:srgbClr val="1E2430"/>
            </a:solidFill>
            <a:round/>
          </a:ln>
        </p:spPr>
      </p:cxnSp>
      <p:sp>
        <p:nvSpPr>
          <p:cNvPr id="53" name="番号 53"/>
          <p:cNvSpPr/>
          <p:nvPr/>
        </p:nvSpPr>
        <p:spPr>
          <a:xfrm>
            <a:off x="7038140" y="3705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54" name="テキスト 54"/>
          <p:cNvSpPr txBox="1"/>
          <p:nvPr/>
        </p:nvSpPr>
        <p:spPr>
          <a:xfrm>
            <a:off x="7223140" y="3680000"/>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55" name="番号 55"/>
          <p:cNvSpPr/>
          <p:nvPr/>
        </p:nvSpPr>
        <p:spPr>
          <a:xfrm>
            <a:off x="6930640" y="4479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56" name="テキスト 56"/>
          <p:cNvSpPr txBox="1"/>
          <p:nvPr/>
        </p:nvSpPr>
        <p:spPr>
          <a:xfrm>
            <a:off x="7115640" y="4454000"/>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57" name="番号 57"/>
          <p:cNvSpPr/>
          <p:nvPr/>
        </p:nvSpPr>
        <p:spPr>
          <a:xfrm>
            <a:off x="8048640" y="3550000"/>
            <a:ext cx="280000" cy="280000"/>
          </a:xfrm>
          <a:prstGeom prst="ellipse">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050" b="1" dirty="0">
                <a:solidFill>
                  <a:srgbClr val="1E2430"/>
                </a:solidFill>
                <a:latin typeface="BIZ UDPゴシック"/>
                <a:ea typeface="BIZ UDPゴシック"/>
                <a:cs typeface="BIZ UDPゴシック"/>
              </a:rPr>
              <a:t>2</a:t>
            </a:r>
            <a:endParaRPr lang="ja-JP" altLang="en-US" sz="1050" dirty="0">
              <a:solidFill>
                <a:srgbClr val="1E2430"/>
              </a:solidFill>
              <a:latin typeface="BIZ UDPゴシック"/>
              <a:ea typeface="BIZ UDPゴシック"/>
              <a:cs typeface="BIZ UDPゴシック"/>
            </a:endParaRPr>
          </a:p>
        </p:txBody>
      </p:sp>
      <p:sp>
        <p:nvSpPr>
          <p:cNvPr id="58" name="テキスト 58"/>
          <p:cNvSpPr txBox="1"/>
          <p:nvPr/>
        </p:nvSpPr>
        <p:spPr>
          <a:xfrm>
            <a:off x="8408640" y="3560000"/>
            <a:ext cx="1800000"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開き始め</a:t>
            </a:r>
            <a:endParaRPr lang="ja-JP" altLang="en-US" sz="1250" dirty="0">
              <a:solidFill>
                <a:srgbClr val="1E2430"/>
              </a:solidFill>
              <a:latin typeface="BIZ UDPゴシック"/>
              <a:ea typeface="BIZ UDPゴシック"/>
              <a:cs typeface="BIZ UDPゴシック"/>
            </a:endParaRPr>
          </a:p>
        </p:txBody>
      </p:sp>
      <p:sp>
        <p:nvSpPr>
          <p:cNvPr id="59" name="タグ 59"/>
          <p:cNvSpPr/>
          <p:nvPr/>
        </p:nvSpPr>
        <p:spPr>
          <a:xfrm>
            <a:off x="9243640" y="3565000"/>
            <a:ext cx="560000" cy="240000"/>
          </a:xfrm>
          <a:prstGeom prst="roundRect">
            <a:avLst>
              <a:gd name="adj" fmla="val 50000"/>
            </a:avLst>
          </a:prstGeom>
          <a:solidFill>
            <a:srgbClr val="C9CFD8"/>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透過</a:t>
            </a:r>
            <a:endParaRPr lang="ja-JP" altLang="en-US" sz="950" dirty="0">
              <a:solidFill>
                <a:srgbClr val="1E2430"/>
              </a:solidFill>
              <a:latin typeface="BIZ UDPゴシック"/>
              <a:ea typeface="BIZ UDPゴシック"/>
              <a:cs typeface="BIZ UDPゴシック"/>
            </a:endParaRPr>
          </a:p>
        </p:txBody>
      </p:sp>
      <p:sp>
        <p:nvSpPr>
          <p:cNvPr id="60" name="タグ 60"/>
          <p:cNvSpPr/>
          <p:nvPr/>
        </p:nvSpPr>
        <p:spPr>
          <a:xfrm>
            <a:off x="9863640" y="3565000"/>
            <a:ext cx="560000" cy="24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回折</a:t>
            </a:r>
            <a:endParaRPr lang="ja-JP" altLang="en-US" sz="950" dirty="0">
              <a:solidFill>
                <a:srgbClr val="1E2430"/>
              </a:solidFill>
              <a:latin typeface="BIZ UDPゴシック"/>
              <a:ea typeface="BIZ UDPゴシック"/>
              <a:cs typeface="BIZ UDPゴシック"/>
            </a:endParaRPr>
          </a:p>
        </p:txBody>
      </p:sp>
      <p:sp>
        <p:nvSpPr>
          <p:cNvPr id="61" name="テキスト 61"/>
          <p:cNvSpPr txBox="1"/>
          <p:nvPr/>
        </p:nvSpPr>
        <p:spPr>
          <a:xfrm>
            <a:off x="8048640" y="3920000"/>
            <a:ext cx="3411672" cy="900000"/>
          </a:xfrm>
          <a:prstGeom prst="rect">
            <a:avLst/>
          </a:prstGeom>
          <a:noFill/>
          <a:ln>
            <a:noFill/>
          </a:ln>
        </p:spPr>
        <p:txBody>
          <a:bodyPr wrap="square" lIns="0" tIns="0" rIns="0" bIns="0" rtlCol="0" anchor="t">
            <a:noAutofit/>
          </a:bodyPr>
          <a:lstStyle/>
          <a:p>
            <a:pPr marL="0" indent="0" algn="l">
              <a:lnSpc>
                <a:spcPct val="125000"/>
              </a:lnSpc>
              <a:spcBef>
                <a:spcPts val="0"/>
              </a:spcBef>
              <a:spcAft>
                <a:spcPts val="0"/>
              </a:spcAft>
              <a:buNone/>
            </a:pPr>
            <a:r>
              <a:rPr lang="ja-JP" altLang="en-US" sz="1100" dirty="0">
                <a:solidFill>
                  <a:srgbClr val="1E2430"/>
                </a:solidFill>
                <a:latin typeface="BIZ UDPゴシック"/>
                <a:ea typeface="BIZ UDPゴシック"/>
                <a:cs typeface="BIZ UDPゴシック"/>
              </a:rPr>
              <a:t>開き始めの一瞬、回折が新たに入る瞬間だけフェードで滑らかに音量が上がるようにする</a:t>
            </a:r>
          </a:p>
        </p:txBody>
      </p:sp>
      <p:sp>
        <p:nvSpPr>
          <p:cNvPr id="62" name="カード 62"/>
          <p:cNvSpPr/>
          <p:nvPr/>
        </p:nvSpPr>
        <p:spPr>
          <a:xfrm>
            <a:off x="6148640" y="4990000"/>
            <a:ext cx="5491672" cy="1460000"/>
          </a:xfrm>
          <a:prstGeom prst="roundRect">
            <a:avLst>
              <a:gd name="adj" fmla="val 5000"/>
            </a:avLst>
          </a:prstGeom>
          <a:solidFill>
            <a:srgbClr val="F0F2F5"/>
          </a:solidFill>
          <a:ln>
            <a:noFill/>
          </a:ln>
        </p:spPr>
        <p:txBody>
          <a:bodyPr/>
          <a:lstStyle/>
          <a:p>
            <a:endParaRPr lang="ja-JP" altLang="en-US"/>
          </a:p>
        </p:txBody>
      </p:sp>
      <p:sp>
        <p:nvSpPr>
          <p:cNvPr id="63" name="壁 63"/>
          <p:cNvSpPr/>
          <p:nvPr/>
        </p:nvSpPr>
        <p:spPr>
          <a:xfrm>
            <a:off x="6468140" y="5769250"/>
            <a:ext cx="365500" cy="21500"/>
          </a:xfrm>
          <a:prstGeom prst="rect">
            <a:avLst/>
          </a:prstGeom>
          <a:solidFill>
            <a:srgbClr val="9AA3B0"/>
          </a:solidFill>
          <a:ln>
            <a:noFill/>
          </a:ln>
        </p:spPr>
        <p:txBody>
          <a:bodyPr/>
          <a:lstStyle/>
          <a:p>
            <a:endParaRPr lang="ja-JP" altLang="en-US"/>
          </a:p>
        </p:txBody>
      </p:sp>
      <p:sp>
        <p:nvSpPr>
          <p:cNvPr id="64" name="壁 64"/>
          <p:cNvSpPr/>
          <p:nvPr/>
        </p:nvSpPr>
        <p:spPr>
          <a:xfrm>
            <a:off x="7263640" y="5769250"/>
            <a:ext cx="365500" cy="21500"/>
          </a:xfrm>
          <a:prstGeom prst="rect">
            <a:avLst/>
          </a:prstGeom>
          <a:solidFill>
            <a:srgbClr val="9AA3B0"/>
          </a:solidFill>
          <a:ln>
            <a:noFill/>
          </a:ln>
        </p:spPr>
        <p:txBody>
          <a:bodyPr/>
          <a:lstStyle/>
          <a:p>
            <a:endParaRPr lang="ja-JP" altLang="en-US"/>
          </a:p>
        </p:txBody>
      </p:sp>
      <p:cxnSp>
        <p:nvCxnSpPr>
          <p:cNvPr id="65" name="線 65"/>
          <p:cNvCxnSpPr/>
          <p:nvPr/>
        </p:nvCxnSpPr>
        <p:spPr>
          <a:xfrm flipH="1">
            <a:off x="7005640" y="5350000"/>
            <a:ext cx="107500" cy="774000"/>
          </a:xfrm>
          <a:prstGeom prst="line">
            <a:avLst/>
          </a:prstGeom>
          <a:ln w="38100" cap="rnd">
            <a:solidFill>
              <a:srgbClr val="E3A33B"/>
            </a:solidFill>
            <a:round/>
          </a:ln>
        </p:spPr>
      </p:cxnSp>
      <p:cxnSp>
        <p:nvCxnSpPr>
          <p:cNvPr id="66" name="線 66"/>
          <p:cNvCxnSpPr/>
          <p:nvPr/>
        </p:nvCxnSpPr>
        <p:spPr>
          <a:xfrm flipV="1">
            <a:off x="6833640" y="5390287"/>
            <a:ext cx="181725" cy="389712"/>
          </a:xfrm>
          <a:prstGeom prst="line">
            <a:avLst/>
          </a:prstGeom>
          <a:ln w="44450" cap="rnd">
            <a:solidFill>
              <a:srgbClr val="1E2430"/>
            </a:solidFill>
            <a:round/>
          </a:ln>
        </p:spPr>
      </p:cxnSp>
      <p:sp>
        <p:nvSpPr>
          <p:cNvPr id="67" name="番号 67"/>
          <p:cNvSpPr/>
          <p:nvPr/>
        </p:nvSpPr>
        <p:spPr>
          <a:xfrm>
            <a:off x="7038140" y="5275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68" name="テキスト 68"/>
          <p:cNvSpPr txBox="1"/>
          <p:nvPr/>
        </p:nvSpPr>
        <p:spPr>
          <a:xfrm>
            <a:off x="7223140" y="5250000"/>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69" name="番号 69"/>
          <p:cNvSpPr/>
          <p:nvPr/>
        </p:nvSpPr>
        <p:spPr>
          <a:xfrm>
            <a:off x="6930640" y="6049000"/>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70" name="テキスト 70"/>
          <p:cNvSpPr txBox="1"/>
          <p:nvPr/>
        </p:nvSpPr>
        <p:spPr>
          <a:xfrm>
            <a:off x="7115640" y="6024000"/>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71" name="番号 71"/>
          <p:cNvSpPr/>
          <p:nvPr/>
        </p:nvSpPr>
        <p:spPr>
          <a:xfrm>
            <a:off x="8048640" y="5120000"/>
            <a:ext cx="280000" cy="280000"/>
          </a:xfrm>
          <a:prstGeom prst="ellipse">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050" b="1" dirty="0">
                <a:solidFill>
                  <a:srgbClr val="1E2430"/>
                </a:solidFill>
                <a:latin typeface="BIZ UDPゴシック"/>
                <a:ea typeface="BIZ UDPゴシック"/>
                <a:cs typeface="BIZ UDPゴシック"/>
              </a:rPr>
              <a:t>3</a:t>
            </a:r>
            <a:endParaRPr lang="ja-JP" altLang="en-US" sz="1050" dirty="0">
              <a:solidFill>
                <a:srgbClr val="1E2430"/>
              </a:solidFill>
              <a:latin typeface="BIZ UDPゴシック"/>
              <a:ea typeface="BIZ UDPゴシック"/>
              <a:cs typeface="BIZ UDPゴシック"/>
            </a:endParaRPr>
          </a:p>
        </p:txBody>
      </p:sp>
      <p:sp>
        <p:nvSpPr>
          <p:cNvPr id="72" name="テキスト 72"/>
          <p:cNvSpPr txBox="1"/>
          <p:nvPr/>
        </p:nvSpPr>
        <p:spPr>
          <a:xfrm>
            <a:off x="8408640" y="5130000"/>
            <a:ext cx="1800000"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開いた後</a:t>
            </a:r>
            <a:endParaRPr lang="ja-JP" altLang="en-US" sz="1250" dirty="0">
              <a:solidFill>
                <a:srgbClr val="1E2430"/>
              </a:solidFill>
              <a:latin typeface="BIZ UDPゴシック"/>
              <a:ea typeface="BIZ UDPゴシック"/>
              <a:cs typeface="BIZ UDPゴシック"/>
            </a:endParaRPr>
          </a:p>
        </p:txBody>
      </p:sp>
      <p:sp>
        <p:nvSpPr>
          <p:cNvPr id="73" name="タグ 73"/>
          <p:cNvSpPr/>
          <p:nvPr/>
        </p:nvSpPr>
        <p:spPr>
          <a:xfrm>
            <a:off x="9243640" y="5135000"/>
            <a:ext cx="560000" cy="24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直接</a:t>
            </a:r>
            <a:endParaRPr lang="ja-JP" altLang="en-US" sz="950" dirty="0">
              <a:solidFill>
                <a:srgbClr val="1E2430"/>
              </a:solidFill>
              <a:latin typeface="BIZ UDPゴシック"/>
              <a:ea typeface="BIZ UDPゴシック"/>
              <a:cs typeface="BIZ UDPゴシック"/>
            </a:endParaRPr>
          </a:p>
        </p:txBody>
      </p:sp>
      <p:sp>
        <p:nvSpPr>
          <p:cNvPr id="74" name="テキスト 74"/>
          <p:cNvSpPr txBox="1"/>
          <p:nvPr/>
        </p:nvSpPr>
        <p:spPr>
          <a:xfrm>
            <a:off x="8048640" y="5490000"/>
            <a:ext cx="3411672" cy="900000"/>
          </a:xfrm>
          <a:prstGeom prst="rect">
            <a:avLst/>
          </a:prstGeom>
          <a:noFill/>
          <a:ln>
            <a:noFill/>
          </a:ln>
        </p:spPr>
        <p:txBody>
          <a:bodyPr wrap="square" lIns="0" tIns="0" rIns="0" bIns="0" rtlCol="0" anchor="t">
            <a:noAutofit/>
          </a:bodyPr>
          <a:lstStyle/>
          <a:p>
            <a:pPr marL="0" indent="0" algn="l">
              <a:lnSpc>
                <a:spcPct val="125000"/>
              </a:lnSpc>
              <a:spcBef>
                <a:spcPts val="0"/>
              </a:spcBef>
              <a:spcAft>
                <a:spcPts val="0"/>
              </a:spcAft>
              <a:buNone/>
            </a:pPr>
            <a:r>
              <a:rPr lang="ja-JP" altLang="en-US" sz="1100" dirty="0">
                <a:solidFill>
                  <a:srgbClr val="1E2430"/>
                </a:solidFill>
                <a:latin typeface="BIZ UDPゴシック"/>
                <a:ea typeface="BIZ UDPゴシック"/>
                <a:cs typeface="BIZ UDPゴシック"/>
              </a:rPr>
              <a:t>音源に対して開ききると直接音でしっかり聞こえるようになる、これ以降は開いても変化なし</a:t>
            </a:r>
          </a:p>
        </p:txBody>
      </p:sp>
      <p:sp>
        <p:nvSpPr>
          <p:cNvPr id="75" name="ページ番号 75"/>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18</a:t>
            </a:r>
            <a:endParaRPr lang="ja-JP" alt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00" b="1" dirty="0">
                <a:solidFill>
                  <a:srgbClr val="9A6212"/>
                </a:solidFill>
                <a:latin typeface="BIZ UDPゴシック"/>
                <a:ea typeface="BIZ UDPゴシック"/>
                <a:cs typeface="BIZ UDPゴシック"/>
              </a:rPr>
              <a:t>ドアの開き具合での演出</a:t>
            </a:r>
            <a:endParaRPr lang="ja-JP" altLang="en-US" sz="1200" dirty="0">
              <a:solidFill>
                <a:srgbClr val="9A6212"/>
              </a:solidFill>
              <a:latin typeface="BIZ UDPゴシック"/>
              <a:ea typeface="BIZ UDPゴシック"/>
              <a:cs typeface="BIZ UDPゴシック"/>
            </a:endParaRPr>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marL="0" indent="0" algn="l">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音がドアの裏側にあるのが伝わるように</a:t>
            </a:r>
            <a:endParaRPr lang="ja-JP" altLang="en-US" sz="2600" dirty="0">
              <a:solidFill>
                <a:srgbClr val="1E2430"/>
              </a:solidFill>
              <a:latin typeface="BIZ UDPゴシック"/>
              <a:ea typeface="BIZ UDPゴシック"/>
              <a:cs typeface="BIZ UDPゴシック"/>
            </a:endParaRPr>
          </a:p>
        </p:txBody>
      </p:sp>
      <p:sp>
        <p:nvSpPr>
          <p:cNvPr id="11" name="カード 11"/>
          <p:cNvSpPr/>
          <p:nvPr/>
        </p:nvSpPr>
        <p:spPr>
          <a:xfrm>
            <a:off x="548640" y="2363344"/>
            <a:ext cx="11091672" cy="4110608"/>
          </a:xfrm>
          <a:prstGeom prst="roundRect">
            <a:avLst>
              <a:gd name="adj" fmla="val 5000"/>
            </a:avLst>
          </a:prstGeom>
          <a:solidFill>
            <a:srgbClr val="F0F2F5"/>
          </a:solidFill>
          <a:ln>
            <a:noFill/>
          </a:ln>
        </p:spPr>
        <p:txBody>
          <a:bodyPr/>
          <a:lstStyle/>
          <a:p>
            <a:endParaRPr lang="ja-JP" altLang="en-US" dirty="0"/>
          </a:p>
        </p:txBody>
      </p:sp>
      <p:sp>
        <p:nvSpPr>
          <p:cNvPr id="12" name="テキスト 12"/>
          <p:cNvSpPr txBox="1"/>
          <p:nvPr/>
        </p:nvSpPr>
        <p:spPr>
          <a:xfrm>
            <a:off x="848640" y="2513344"/>
            <a:ext cx="10491672"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扉の真後ろの音源で、閉じている → 開き始め → 開いた後</a:t>
            </a:r>
            <a:endParaRPr lang="ja-JP" altLang="en-US" sz="1250" dirty="0">
              <a:solidFill>
                <a:srgbClr val="1E2430"/>
              </a:solidFill>
              <a:latin typeface="BIZ UDPゴシック"/>
              <a:ea typeface="BIZ UDPゴシック"/>
              <a:cs typeface="BIZ UDPゴシック"/>
            </a:endParaRPr>
          </a:p>
        </p:txBody>
      </p:sp>
      <p:sp>
        <p:nvSpPr>
          <p:cNvPr id="13" name="壁 13"/>
          <p:cNvSpPr/>
          <p:nvPr/>
        </p:nvSpPr>
        <p:spPr>
          <a:xfrm>
            <a:off x="860696" y="3795844"/>
            <a:ext cx="595000" cy="35000"/>
          </a:xfrm>
          <a:prstGeom prst="rect">
            <a:avLst/>
          </a:prstGeom>
          <a:solidFill>
            <a:srgbClr val="9AA3B0"/>
          </a:solidFill>
          <a:ln>
            <a:noFill/>
          </a:ln>
        </p:spPr>
        <p:txBody>
          <a:bodyPr/>
          <a:lstStyle/>
          <a:p>
            <a:endParaRPr lang="ja-JP" altLang="en-US"/>
          </a:p>
        </p:txBody>
      </p:sp>
      <p:sp>
        <p:nvSpPr>
          <p:cNvPr id="14" name="壁 14"/>
          <p:cNvSpPr/>
          <p:nvPr/>
        </p:nvSpPr>
        <p:spPr>
          <a:xfrm>
            <a:off x="2155696" y="3795844"/>
            <a:ext cx="595000" cy="35000"/>
          </a:xfrm>
          <a:prstGeom prst="rect">
            <a:avLst/>
          </a:prstGeom>
          <a:solidFill>
            <a:srgbClr val="9AA3B0"/>
          </a:solidFill>
          <a:ln>
            <a:noFill/>
          </a:ln>
        </p:spPr>
        <p:txBody>
          <a:bodyPr/>
          <a:lstStyle/>
          <a:p>
            <a:endParaRPr lang="ja-JP" altLang="en-US"/>
          </a:p>
        </p:txBody>
      </p:sp>
      <p:cxnSp>
        <p:nvCxnSpPr>
          <p:cNvPr id="15" name="線 15"/>
          <p:cNvCxnSpPr/>
          <p:nvPr/>
        </p:nvCxnSpPr>
        <p:spPr>
          <a:xfrm flipH="1">
            <a:off x="1735696" y="3113344"/>
            <a:ext cx="175000" cy="1260000"/>
          </a:xfrm>
          <a:prstGeom prst="line">
            <a:avLst/>
          </a:prstGeom>
          <a:ln w="15875" cap="rnd">
            <a:solidFill>
              <a:srgbClr val="9AA3B0"/>
            </a:solidFill>
            <a:prstDash val="dash"/>
            <a:round/>
          </a:ln>
        </p:spPr>
      </p:cxnSp>
      <p:cxnSp>
        <p:nvCxnSpPr>
          <p:cNvPr id="16" name="線 16"/>
          <p:cNvCxnSpPr/>
          <p:nvPr/>
        </p:nvCxnSpPr>
        <p:spPr>
          <a:xfrm>
            <a:off x="1455696" y="3813344"/>
            <a:ext cx="700000" cy="0"/>
          </a:xfrm>
          <a:prstGeom prst="line">
            <a:avLst/>
          </a:prstGeom>
          <a:ln w="44450" cap="rnd">
            <a:solidFill>
              <a:srgbClr val="1E2430"/>
            </a:solidFill>
            <a:round/>
          </a:ln>
        </p:spPr>
      </p:cxnSp>
      <p:sp>
        <p:nvSpPr>
          <p:cNvPr id="17" name="番号 17"/>
          <p:cNvSpPr/>
          <p:nvPr/>
        </p:nvSpPr>
        <p:spPr>
          <a:xfrm>
            <a:off x="1835696" y="3038344"/>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18" name="テキスト 18"/>
          <p:cNvSpPr txBox="1"/>
          <p:nvPr/>
        </p:nvSpPr>
        <p:spPr>
          <a:xfrm>
            <a:off x="2020696" y="3013344"/>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19" name="番号 19"/>
          <p:cNvSpPr/>
          <p:nvPr/>
        </p:nvSpPr>
        <p:spPr>
          <a:xfrm>
            <a:off x="1660696" y="4298344"/>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20" name="テキスト 20"/>
          <p:cNvSpPr txBox="1"/>
          <p:nvPr/>
        </p:nvSpPr>
        <p:spPr>
          <a:xfrm>
            <a:off x="1845696" y="4273344"/>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21" name="棒 21"/>
          <p:cNvSpPr/>
          <p:nvPr/>
        </p:nvSpPr>
        <p:spPr>
          <a:xfrm>
            <a:off x="2988807" y="3450844"/>
            <a:ext cx="234000" cy="562500"/>
          </a:xfrm>
          <a:prstGeom prst="rect">
            <a:avLst/>
          </a:prstGeom>
          <a:solidFill>
            <a:srgbClr val="E3A33B"/>
          </a:solidFill>
          <a:ln>
            <a:noFill/>
          </a:ln>
        </p:spPr>
        <p:txBody>
          <a:bodyPr/>
          <a:lstStyle/>
          <a:p>
            <a:endParaRPr lang="ja-JP" altLang="en-US"/>
          </a:p>
        </p:txBody>
      </p:sp>
      <p:sp>
        <p:nvSpPr>
          <p:cNvPr id="22" name="テキスト 22"/>
          <p:cNvSpPr txBox="1"/>
          <p:nvPr/>
        </p:nvSpPr>
        <p:spPr>
          <a:xfrm>
            <a:off x="2928807" y="4043344"/>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低</a:t>
            </a:r>
            <a:endParaRPr lang="ja-JP" altLang="en-US" sz="850" dirty="0">
              <a:solidFill>
                <a:srgbClr val="5C6677"/>
              </a:solidFill>
              <a:latin typeface="BIZ UDPゴシック"/>
              <a:ea typeface="BIZ UDPゴシック"/>
              <a:cs typeface="BIZ UDPゴシック"/>
            </a:endParaRPr>
          </a:p>
        </p:txBody>
      </p:sp>
      <p:sp>
        <p:nvSpPr>
          <p:cNvPr id="23" name="棒 23"/>
          <p:cNvSpPr/>
          <p:nvPr/>
        </p:nvSpPr>
        <p:spPr>
          <a:xfrm>
            <a:off x="3313807" y="3900844"/>
            <a:ext cx="234000" cy="112500"/>
          </a:xfrm>
          <a:prstGeom prst="rect">
            <a:avLst/>
          </a:prstGeom>
          <a:solidFill>
            <a:srgbClr val="9AA3B0"/>
          </a:solidFill>
          <a:ln>
            <a:noFill/>
          </a:ln>
        </p:spPr>
        <p:txBody>
          <a:bodyPr/>
          <a:lstStyle/>
          <a:p>
            <a:endParaRPr lang="ja-JP" altLang="en-US"/>
          </a:p>
        </p:txBody>
      </p:sp>
      <p:sp>
        <p:nvSpPr>
          <p:cNvPr id="24" name="テキスト 24"/>
          <p:cNvSpPr txBox="1"/>
          <p:nvPr/>
        </p:nvSpPr>
        <p:spPr>
          <a:xfrm>
            <a:off x="3253807" y="4043344"/>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高</a:t>
            </a:r>
            <a:endParaRPr lang="ja-JP" altLang="en-US" sz="850" dirty="0">
              <a:solidFill>
                <a:srgbClr val="5C6677"/>
              </a:solidFill>
              <a:latin typeface="BIZ UDPゴシック"/>
              <a:ea typeface="BIZ UDPゴシック"/>
              <a:cs typeface="BIZ UDPゴシック"/>
            </a:endParaRPr>
          </a:p>
        </p:txBody>
      </p:sp>
      <p:cxnSp>
        <p:nvCxnSpPr>
          <p:cNvPr id="25" name="線 25"/>
          <p:cNvCxnSpPr/>
          <p:nvPr/>
        </p:nvCxnSpPr>
        <p:spPr>
          <a:xfrm>
            <a:off x="2948807" y="4013344"/>
            <a:ext cx="690000" cy="0"/>
          </a:xfrm>
          <a:prstGeom prst="line">
            <a:avLst/>
          </a:prstGeom>
          <a:ln w="9525" cap="rnd">
            <a:solidFill>
              <a:srgbClr val="C9CFD8"/>
            </a:solidFill>
            <a:round/>
          </a:ln>
        </p:spPr>
      </p:cxnSp>
      <p:sp>
        <p:nvSpPr>
          <p:cNvPr id="26" name="テキスト 26"/>
          <p:cNvSpPr txBox="1"/>
          <p:nvPr/>
        </p:nvSpPr>
        <p:spPr>
          <a:xfrm>
            <a:off x="2840918" y="4263344"/>
            <a:ext cx="1300000"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5C6677"/>
                </a:solidFill>
                <a:latin typeface="BIZ UDPゴシック"/>
                <a:ea typeface="BIZ UDPゴシック"/>
                <a:cs typeface="BIZ UDPゴシック"/>
              </a:rPr>
              <a:t>こもる</a:t>
            </a:r>
            <a:endParaRPr lang="ja-JP" altLang="en-US" sz="1250" dirty="0">
              <a:solidFill>
                <a:srgbClr val="5C6677"/>
              </a:solidFill>
              <a:latin typeface="BIZ UDPゴシック"/>
              <a:ea typeface="BIZ UDPゴシック"/>
              <a:cs typeface="BIZ UDPゴシック"/>
            </a:endParaRPr>
          </a:p>
        </p:txBody>
      </p:sp>
      <p:sp>
        <p:nvSpPr>
          <p:cNvPr id="27" name="テキスト 27"/>
          <p:cNvSpPr txBox="1"/>
          <p:nvPr/>
        </p:nvSpPr>
        <p:spPr>
          <a:xfrm>
            <a:off x="798640" y="4913344"/>
            <a:ext cx="3297224"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閉じている時</a:t>
            </a:r>
            <a:endParaRPr lang="ja-JP" altLang="en-US" sz="1300" dirty="0">
              <a:solidFill>
                <a:srgbClr val="1E2430"/>
              </a:solidFill>
              <a:latin typeface="BIZ UDPゴシック"/>
              <a:ea typeface="BIZ UDPゴシック"/>
              <a:cs typeface="BIZ UDPゴシック"/>
            </a:endParaRPr>
          </a:p>
        </p:txBody>
      </p:sp>
      <p:sp>
        <p:nvSpPr>
          <p:cNvPr id="28" name="テキスト 28"/>
          <p:cNvSpPr txBox="1"/>
          <p:nvPr/>
        </p:nvSpPr>
        <p:spPr>
          <a:xfrm>
            <a:off x="798640" y="5223344"/>
            <a:ext cx="3297224"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100" dirty="0">
                <a:solidFill>
                  <a:srgbClr val="1E2430"/>
                </a:solidFill>
                <a:latin typeface="BIZ UDPゴシック"/>
                <a:ea typeface="BIZ UDPゴシック"/>
                <a:cs typeface="BIZ UDPゴシック"/>
              </a:rPr>
              <a:t>ドアを抜ける透過音のみ</a:t>
            </a:r>
            <a:endParaRPr lang="en-US" altLang="ja-JP" sz="1100" dirty="0">
              <a:solidFill>
                <a:srgbClr val="1E2430"/>
              </a:solidFill>
              <a:latin typeface="BIZ UDPゴシック"/>
              <a:ea typeface="BIZ UDPゴシック"/>
              <a:cs typeface="BIZ UDPゴシック"/>
            </a:endParaRPr>
          </a:p>
          <a:p>
            <a:pPr marL="0" indent="0" algn="l">
              <a:lnSpc>
                <a:spcPct val="100000"/>
              </a:lnSpc>
              <a:spcBef>
                <a:spcPts val="0"/>
              </a:spcBef>
              <a:spcAft>
                <a:spcPts val="0"/>
              </a:spcAft>
              <a:buNone/>
            </a:pPr>
            <a:r>
              <a:rPr lang="ja-JP" altLang="en-US" sz="1100" dirty="0">
                <a:solidFill>
                  <a:srgbClr val="1E2430"/>
                </a:solidFill>
                <a:latin typeface="BIZ UDPゴシック"/>
                <a:ea typeface="BIZ UDPゴシック"/>
                <a:cs typeface="BIZ UDPゴシック"/>
              </a:rPr>
              <a:t>どの位置に音源があっても一様のこもり方</a:t>
            </a:r>
          </a:p>
        </p:txBody>
      </p:sp>
      <p:sp>
        <p:nvSpPr>
          <p:cNvPr id="29" name="矢印 29"/>
          <p:cNvSpPr/>
          <p:nvPr/>
        </p:nvSpPr>
        <p:spPr>
          <a:xfrm>
            <a:off x="4095864" y="3713344"/>
            <a:ext cx="260000" cy="200000"/>
          </a:xfrm>
          <a:prstGeom prst="rightArrow">
            <a:avLst/>
          </a:prstGeom>
          <a:solidFill>
            <a:srgbClr val="9AA3B0"/>
          </a:solidFill>
          <a:ln>
            <a:noFill/>
          </a:ln>
        </p:spPr>
        <p:txBody>
          <a:bodyPr/>
          <a:lstStyle/>
          <a:p>
            <a:endParaRPr lang="ja-JP" altLang="en-US"/>
          </a:p>
        </p:txBody>
      </p:sp>
      <p:sp>
        <p:nvSpPr>
          <p:cNvPr id="30" name="壁 30"/>
          <p:cNvSpPr/>
          <p:nvPr/>
        </p:nvSpPr>
        <p:spPr>
          <a:xfrm>
            <a:off x="4557920" y="3795844"/>
            <a:ext cx="595000" cy="35000"/>
          </a:xfrm>
          <a:prstGeom prst="rect">
            <a:avLst/>
          </a:prstGeom>
          <a:solidFill>
            <a:srgbClr val="9AA3B0"/>
          </a:solidFill>
          <a:ln>
            <a:noFill/>
          </a:ln>
        </p:spPr>
        <p:txBody>
          <a:bodyPr/>
          <a:lstStyle/>
          <a:p>
            <a:endParaRPr lang="ja-JP" altLang="en-US"/>
          </a:p>
        </p:txBody>
      </p:sp>
      <p:sp>
        <p:nvSpPr>
          <p:cNvPr id="31" name="壁 31"/>
          <p:cNvSpPr/>
          <p:nvPr/>
        </p:nvSpPr>
        <p:spPr>
          <a:xfrm>
            <a:off x="5852920" y="3795844"/>
            <a:ext cx="595000" cy="35000"/>
          </a:xfrm>
          <a:prstGeom prst="rect">
            <a:avLst/>
          </a:prstGeom>
          <a:solidFill>
            <a:srgbClr val="9AA3B0"/>
          </a:solidFill>
          <a:ln>
            <a:noFill/>
          </a:ln>
        </p:spPr>
        <p:txBody>
          <a:bodyPr/>
          <a:lstStyle/>
          <a:p>
            <a:endParaRPr lang="ja-JP" altLang="en-US"/>
          </a:p>
        </p:txBody>
      </p:sp>
      <p:sp>
        <p:nvSpPr>
          <p:cNvPr id="32" name="折れ線 32"/>
          <p:cNvSpPr/>
          <p:nvPr/>
        </p:nvSpPr>
        <p:spPr>
          <a:xfrm>
            <a:off x="5432920" y="3113344"/>
            <a:ext cx="401276" cy="1260000"/>
          </a:xfrm>
          <a:custGeom>
            <a:avLst/>
            <a:gdLst/>
            <a:ahLst/>
            <a:cxnLst/>
            <a:rect l="0" t="0" r="r" b="b"/>
            <a:pathLst>
              <a:path w="401276" h="1260000" fill="none">
                <a:moveTo>
                  <a:pt x="175000" y="0"/>
                </a:moveTo>
                <a:lnTo>
                  <a:pt x="401276" y="452034"/>
                </a:lnTo>
                <a:lnTo>
                  <a:pt x="0" y="1260000"/>
                </a:lnTo>
              </a:path>
            </a:pathLst>
          </a:custGeom>
          <a:noFill/>
          <a:ln w="31750" cap="rnd">
            <a:solidFill>
              <a:srgbClr val="E3A33B"/>
            </a:solidFill>
            <a:round/>
          </a:ln>
        </p:spPr>
        <p:txBody>
          <a:bodyPr/>
          <a:lstStyle/>
          <a:p>
            <a:endParaRPr lang="ja-JP" altLang="en-US"/>
          </a:p>
        </p:txBody>
      </p:sp>
      <p:cxnSp>
        <p:nvCxnSpPr>
          <p:cNvPr id="33" name="線 33"/>
          <p:cNvCxnSpPr/>
          <p:nvPr/>
        </p:nvCxnSpPr>
        <p:spPr>
          <a:xfrm flipV="1">
            <a:off x="5152920" y="3573929"/>
            <a:ext cx="657784" cy="239414"/>
          </a:xfrm>
          <a:prstGeom prst="line">
            <a:avLst/>
          </a:prstGeom>
          <a:ln w="44450" cap="rnd">
            <a:solidFill>
              <a:srgbClr val="1E2430"/>
            </a:solidFill>
            <a:round/>
          </a:ln>
        </p:spPr>
      </p:cxnSp>
      <p:sp>
        <p:nvSpPr>
          <p:cNvPr id="34" name="番号 34"/>
          <p:cNvSpPr/>
          <p:nvPr/>
        </p:nvSpPr>
        <p:spPr>
          <a:xfrm>
            <a:off x="5532920" y="3038344"/>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35" name="テキスト 35"/>
          <p:cNvSpPr txBox="1"/>
          <p:nvPr/>
        </p:nvSpPr>
        <p:spPr>
          <a:xfrm>
            <a:off x="5717920" y="3013344"/>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36" name="番号 36"/>
          <p:cNvSpPr/>
          <p:nvPr/>
        </p:nvSpPr>
        <p:spPr>
          <a:xfrm>
            <a:off x="5357920" y="4298344"/>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37" name="テキスト 37"/>
          <p:cNvSpPr txBox="1"/>
          <p:nvPr/>
        </p:nvSpPr>
        <p:spPr>
          <a:xfrm>
            <a:off x="5542920" y="4273344"/>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38" name="棒 38"/>
          <p:cNvSpPr/>
          <p:nvPr/>
        </p:nvSpPr>
        <p:spPr>
          <a:xfrm>
            <a:off x="6686031" y="3375844"/>
            <a:ext cx="234000" cy="637500"/>
          </a:xfrm>
          <a:prstGeom prst="rect">
            <a:avLst/>
          </a:prstGeom>
          <a:solidFill>
            <a:srgbClr val="E3A33B"/>
          </a:solidFill>
          <a:ln>
            <a:noFill/>
          </a:ln>
        </p:spPr>
        <p:txBody>
          <a:bodyPr/>
          <a:lstStyle/>
          <a:p>
            <a:endParaRPr lang="ja-JP" altLang="en-US"/>
          </a:p>
        </p:txBody>
      </p:sp>
      <p:sp>
        <p:nvSpPr>
          <p:cNvPr id="39" name="テキスト 39"/>
          <p:cNvSpPr txBox="1"/>
          <p:nvPr/>
        </p:nvSpPr>
        <p:spPr>
          <a:xfrm>
            <a:off x="6626031" y="4043344"/>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低</a:t>
            </a:r>
            <a:endParaRPr lang="ja-JP" altLang="en-US" sz="850" dirty="0">
              <a:solidFill>
                <a:srgbClr val="5C6677"/>
              </a:solidFill>
              <a:latin typeface="BIZ UDPゴシック"/>
              <a:ea typeface="BIZ UDPゴシック"/>
              <a:cs typeface="BIZ UDPゴシック"/>
            </a:endParaRPr>
          </a:p>
        </p:txBody>
      </p:sp>
      <p:sp>
        <p:nvSpPr>
          <p:cNvPr id="40" name="棒 40"/>
          <p:cNvSpPr/>
          <p:nvPr/>
        </p:nvSpPr>
        <p:spPr>
          <a:xfrm>
            <a:off x="7011031" y="3675844"/>
            <a:ext cx="234000" cy="337500"/>
          </a:xfrm>
          <a:prstGeom prst="rect">
            <a:avLst/>
          </a:prstGeom>
          <a:solidFill>
            <a:srgbClr val="9AA3B0"/>
          </a:solidFill>
          <a:ln>
            <a:noFill/>
          </a:ln>
        </p:spPr>
        <p:txBody>
          <a:bodyPr/>
          <a:lstStyle/>
          <a:p>
            <a:endParaRPr lang="ja-JP" altLang="en-US"/>
          </a:p>
        </p:txBody>
      </p:sp>
      <p:sp>
        <p:nvSpPr>
          <p:cNvPr id="41" name="テキスト 41"/>
          <p:cNvSpPr txBox="1"/>
          <p:nvPr/>
        </p:nvSpPr>
        <p:spPr>
          <a:xfrm>
            <a:off x="6951031" y="4043344"/>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高</a:t>
            </a:r>
            <a:endParaRPr lang="ja-JP" altLang="en-US" sz="850" dirty="0">
              <a:solidFill>
                <a:srgbClr val="5C6677"/>
              </a:solidFill>
              <a:latin typeface="BIZ UDPゴシック"/>
              <a:ea typeface="BIZ UDPゴシック"/>
              <a:cs typeface="BIZ UDPゴシック"/>
            </a:endParaRPr>
          </a:p>
        </p:txBody>
      </p:sp>
      <p:cxnSp>
        <p:nvCxnSpPr>
          <p:cNvPr id="42" name="線 42"/>
          <p:cNvCxnSpPr/>
          <p:nvPr/>
        </p:nvCxnSpPr>
        <p:spPr>
          <a:xfrm>
            <a:off x="6646031" y="4013344"/>
            <a:ext cx="690000" cy="0"/>
          </a:xfrm>
          <a:prstGeom prst="line">
            <a:avLst/>
          </a:prstGeom>
          <a:ln w="9525" cap="rnd">
            <a:solidFill>
              <a:srgbClr val="C9CFD8"/>
            </a:solidFill>
            <a:round/>
          </a:ln>
        </p:spPr>
      </p:cxnSp>
      <p:sp>
        <p:nvSpPr>
          <p:cNvPr id="43" name="テキスト 43"/>
          <p:cNvSpPr txBox="1"/>
          <p:nvPr/>
        </p:nvSpPr>
        <p:spPr>
          <a:xfrm>
            <a:off x="6538142" y="4263344"/>
            <a:ext cx="1300000"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5C6677"/>
                </a:solidFill>
                <a:latin typeface="BIZ UDPゴシック"/>
                <a:ea typeface="BIZ UDPゴシック"/>
                <a:cs typeface="BIZ UDPゴシック"/>
              </a:rPr>
              <a:t>少しこもる</a:t>
            </a:r>
            <a:endParaRPr lang="ja-JP" altLang="en-US" sz="1250" dirty="0">
              <a:solidFill>
                <a:srgbClr val="5C6677"/>
              </a:solidFill>
              <a:latin typeface="BIZ UDPゴシック"/>
              <a:ea typeface="BIZ UDPゴシック"/>
              <a:cs typeface="BIZ UDPゴシック"/>
            </a:endParaRPr>
          </a:p>
        </p:txBody>
      </p:sp>
      <p:sp>
        <p:nvSpPr>
          <p:cNvPr id="44" name="テキスト 44"/>
          <p:cNvSpPr txBox="1"/>
          <p:nvPr/>
        </p:nvSpPr>
        <p:spPr>
          <a:xfrm>
            <a:off x="4495864" y="4913344"/>
            <a:ext cx="3297224"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影の間</a:t>
            </a:r>
            <a:endParaRPr lang="ja-JP" altLang="en-US" sz="1300" dirty="0">
              <a:solidFill>
                <a:srgbClr val="1E2430"/>
              </a:solidFill>
              <a:latin typeface="BIZ UDPゴシック"/>
              <a:ea typeface="BIZ UDPゴシック"/>
              <a:cs typeface="BIZ UDPゴシック"/>
            </a:endParaRPr>
          </a:p>
        </p:txBody>
      </p:sp>
      <p:sp>
        <p:nvSpPr>
          <p:cNvPr id="45" name="テキスト 45"/>
          <p:cNvSpPr txBox="1"/>
          <p:nvPr/>
        </p:nvSpPr>
        <p:spPr>
          <a:xfrm>
            <a:off x="4495864" y="5223344"/>
            <a:ext cx="3297224" cy="81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100" dirty="0">
                <a:solidFill>
                  <a:srgbClr val="1E2430"/>
                </a:solidFill>
                <a:latin typeface="BIZ UDPゴシック"/>
                <a:ea typeface="BIZ UDPゴシック"/>
                <a:cs typeface="BIZ UDPゴシック"/>
              </a:rPr>
              <a:t>回折と透過音のミックス</a:t>
            </a:r>
            <a:endParaRPr lang="en-US" altLang="ja-JP" sz="1100" dirty="0">
              <a:solidFill>
                <a:srgbClr val="1E2430"/>
              </a:solidFill>
              <a:latin typeface="BIZ UDPゴシック"/>
              <a:ea typeface="BIZ UDPゴシック"/>
              <a:cs typeface="BIZ UDPゴシック"/>
            </a:endParaRPr>
          </a:p>
          <a:p>
            <a:pPr marL="0" indent="0" algn="l">
              <a:lnSpc>
                <a:spcPct val="100000"/>
              </a:lnSpc>
              <a:spcBef>
                <a:spcPts val="0"/>
              </a:spcBef>
              <a:spcAft>
                <a:spcPts val="0"/>
              </a:spcAft>
              <a:buNone/>
            </a:pPr>
            <a:r>
              <a:rPr lang="ja-JP" altLang="en-US" sz="1100" dirty="0">
                <a:solidFill>
                  <a:srgbClr val="1E2430"/>
                </a:solidFill>
                <a:latin typeface="BIZ UDPゴシック"/>
                <a:ea typeface="BIZ UDPゴシック"/>
                <a:cs typeface="BIZ UDPゴシック"/>
              </a:rPr>
              <a:t>この時点でどのくらいの位置にあるかによって音のこもり具合に変化が出始める</a:t>
            </a:r>
          </a:p>
        </p:txBody>
      </p:sp>
      <p:sp>
        <p:nvSpPr>
          <p:cNvPr id="46" name="矢印 46"/>
          <p:cNvSpPr/>
          <p:nvPr/>
        </p:nvSpPr>
        <p:spPr>
          <a:xfrm>
            <a:off x="7793088" y="3713344"/>
            <a:ext cx="260000" cy="200000"/>
          </a:xfrm>
          <a:prstGeom prst="rightArrow">
            <a:avLst/>
          </a:prstGeom>
          <a:solidFill>
            <a:srgbClr val="9AA3B0"/>
          </a:solidFill>
          <a:ln>
            <a:noFill/>
          </a:ln>
        </p:spPr>
        <p:txBody>
          <a:bodyPr/>
          <a:lstStyle/>
          <a:p>
            <a:endParaRPr lang="ja-JP" altLang="en-US"/>
          </a:p>
        </p:txBody>
      </p:sp>
      <p:sp>
        <p:nvSpPr>
          <p:cNvPr id="47" name="壁 47"/>
          <p:cNvSpPr/>
          <p:nvPr/>
        </p:nvSpPr>
        <p:spPr>
          <a:xfrm>
            <a:off x="8255144" y="3795844"/>
            <a:ext cx="595000" cy="35000"/>
          </a:xfrm>
          <a:prstGeom prst="rect">
            <a:avLst/>
          </a:prstGeom>
          <a:solidFill>
            <a:srgbClr val="9AA3B0"/>
          </a:solidFill>
          <a:ln>
            <a:noFill/>
          </a:ln>
        </p:spPr>
        <p:txBody>
          <a:bodyPr/>
          <a:lstStyle/>
          <a:p>
            <a:endParaRPr lang="ja-JP" altLang="en-US"/>
          </a:p>
        </p:txBody>
      </p:sp>
      <p:sp>
        <p:nvSpPr>
          <p:cNvPr id="48" name="壁 48"/>
          <p:cNvSpPr/>
          <p:nvPr/>
        </p:nvSpPr>
        <p:spPr>
          <a:xfrm>
            <a:off x="9550144" y="3795844"/>
            <a:ext cx="595000" cy="35000"/>
          </a:xfrm>
          <a:prstGeom prst="rect">
            <a:avLst/>
          </a:prstGeom>
          <a:solidFill>
            <a:srgbClr val="9AA3B0"/>
          </a:solidFill>
          <a:ln>
            <a:noFill/>
          </a:ln>
        </p:spPr>
        <p:txBody>
          <a:bodyPr/>
          <a:lstStyle/>
          <a:p>
            <a:endParaRPr lang="ja-JP" altLang="en-US"/>
          </a:p>
        </p:txBody>
      </p:sp>
      <p:cxnSp>
        <p:nvCxnSpPr>
          <p:cNvPr id="49" name="線 49"/>
          <p:cNvCxnSpPr/>
          <p:nvPr/>
        </p:nvCxnSpPr>
        <p:spPr>
          <a:xfrm flipH="1">
            <a:off x="9130144" y="3113344"/>
            <a:ext cx="175000" cy="1260000"/>
          </a:xfrm>
          <a:prstGeom prst="line">
            <a:avLst/>
          </a:prstGeom>
          <a:ln w="38100" cap="rnd">
            <a:solidFill>
              <a:srgbClr val="E3A33B"/>
            </a:solidFill>
            <a:round/>
          </a:ln>
        </p:spPr>
      </p:cxnSp>
      <p:cxnSp>
        <p:nvCxnSpPr>
          <p:cNvPr id="50" name="線 50"/>
          <p:cNvCxnSpPr/>
          <p:nvPr/>
        </p:nvCxnSpPr>
        <p:spPr>
          <a:xfrm flipV="1">
            <a:off x="8850144" y="3155559"/>
            <a:ext cx="239414" cy="657784"/>
          </a:xfrm>
          <a:prstGeom prst="line">
            <a:avLst/>
          </a:prstGeom>
          <a:ln w="44450" cap="rnd">
            <a:solidFill>
              <a:srgbClr val="1E2430"/>
            </a:solidFill>
            <a:round/>
          </a:ln>
        </p:spPr>
      </p:cxnSp>
      <p:sp>
        <p:nvSpPr>
          <p:cNvPr id="51" name="番号 51"/>
          <p:cNvSpPr/>
          <p:nvPr/>
        </p:nvSpPr>
        <p:spPr>
          <a:xfrm>
            <a:off x="9230144" y="3038344"/>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52" name="テキスト 52"/>
          <p:cNvSpPr txBox="1"/>
          <p:nvPr/>
        </p:nvSpPr>
        <p:spPr>
          <a:xfrm>
            <a:off x="9415144" y="3013344"/>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53" name="番号 53"/>
          <p:cNvSpPr/>
          <p:nvPr/>
        </p:nvSpPr>
        <p:spPr>
          <a:xfrm>
            <a:off x="9055144" y="4298344"/>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54" name="テキスト 54"/>
          <p:cNvSpPr txBox="1"/>
          <p:nvPr/>
        </p:nvSpPr>
        <p:spPr>
          <a:xfrm>
            <a:off x="9240144" y="4273344"/>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55" name="棒 55"/>
          <p:cNvSpPr/>
          <p:nvPr/>
        </p:nvSpPr>
        <p:spPr>
          <a:xfrm>
            <a:off x="10383255" y="3263344"/>
            <a:ext cx="234000" cy="750000"/>
          </a:xfrm>
          <a:prstGeom prst="rect">
            <a:avLst/>
          </a:prstGeom>
          <a:solidFill>
            <a:srgbClr val="E3A33B"/>
          </a:solidFill>
          <a:ln>
            <a:noFill/>
          </a:ln>
        </p:spPr>
        <p:txBody>
          <a:bodyPr/>
          <a:lstStyle/>
          <a:p>
            <a:endParaRPr lang="ja-JP" altLang="en-US"/>
          </a:p>
        </p:txBody>
      </p:sp>
      <p:sp>
        <p:nvSpPr>
          <p:cNvPr id="56" name="テキスト 56"/>
          <p:cNvSpPr txBox="1"/>
          <p:nvPr/>
        </p:nvSpPr>
        <p:spPr>
          <a:xfrm>
            <a:off x="10323255" y="4043344"/>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低</a:t>
            </a:r>
            <a:endParaRPr lang="ja-JP" altLang="en-US" sz="850" dirty="0">
              <a:solidFill>
                <a:srgbClr val="5C6677"/>
              </a:solidFill>
              <a:latin typeface="BIZ UDPゴシック"/>
              <a:ea typeface="BIZ UDPゴシック"/>
              <a:cs typeface="BIZ UDPゴシック"/>
            </a:endParaRPr>
          </a:p>
        </p:txBody>
      </p:sp>
      <p:sp>
        <p:nvSpPr>
          <p:cNvPr id="57" name="棒 57"/>
          <p:cNvSpPr/>
          <p:nvPr/>
        </p:nvSpPr>
        <p:spPr>
          <a:xfrm>
            <a:off x="10708255" y="3263344"/>
            <a:ext cx="234000" cy="750000"/>
          </a:xfrm>
          <a:prstGeom prst="rect">
            <a:avLst/>
          </a:prstGeom>
          <a:solidFill>
            <a:srgbClr val="9AA3B0"/>
          </a:solidFill>
          <a:ln>
            <a:noFill/>
          </a:ln>
        </p:spPr>
        <p:txBody>
          <a:bodyPr/>
          <a:lstStyle/>
          <a:p>
            <a:endParaRPr lang="ja-JP" altLang="en-US"/>
          </a:p>
        </p:txBody>
      </p:sp>
      <p:sp>
        <p:nvSpPr>
          <p:cNvPr id="58" name="テキスト 58"/>
          <p:cNvSpPr txBox="1"/>
          <p:nvPr/>
        </p:nvSpPr>
        <p:spPr>
          <a:xfrm>
            <a:off x="10648255" y="4043344"/>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高</a:t>
            </a:r>
            <a:endParaRPr lang="ja-JP" altLang="en-US" sz="850" dirty="0">
              <a:solidFill>
                <a:srgbClr val="5C6677"/>
              </a:solidFill>
              <a:latin typeface="BIZ UDPゴシック"/>
              <a:ea typeface="BIZ UDPゴシック"/>
              <a:cs typeface="BIZ UDPゴシック"/>
            </a:endParaRPr>
          </a:p>
        </p:txBody>
      </p:sp>
      <p:cxnSp>
        <p:nvCxnSpPr>
          <p:cNvPr id="59" name="線 59"/>
          <p:cNvCxnSpPr/>
          <p:nvPr/>
        </p:nvCxnSpPr>
        <p:spPr>
          <a:xfrm>
            <a:off x="10343255" y="4013344"/>
            <a:ext cx="690000" cy="0"/>
          </a:xfrm>
          <a:prstGeom prst="line">
            <a:avLst/>
          </a:prstGeom>
          <a:ln w="9525" cap="rnd">
            <a:solidFill>
              <a:srgbClr val="C9CFD8"/>
            </a:solidFill>
            <a:round/>
          </a:ln>
        </p:spPr>
      </p:cxnSp>
      <p:sp>
        <p:nvSpPr>
          <p:cNvPr id="60" name="テキスト 60"/>
          <p:cNvSpPr txBox="1"/>
          <p:nvPr/>
        </p:nvSpPr>
        <p:spPr>
          <a:xfrm>
            <a:off x="10235366" y="4263344"/>
            <a:ext cx="1300000"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9A6212"/>
                </a:solidFill>
                <a:latin typeface="BIZ UDPゴシック"/>
                <a:ea typeface="BIZ UDPゴシック"/>
                <a:cs typeface="BIZ UDPゴシック"/>
              </a:rPr>
              <a:t>開く</a:t>
            </a:r>
            <a:endParaRPr lang="ja-JP" altLang="en-US" sz="1250" dirty="0">
              <a:solidFill>
                <a:srgbClr val="9A6212"/>
              </a:solidFill>
              <a:latin typeface="BIZ UDPゴシック"/>
              <a:ea typeface="BIZ UDPゴシック"/>
              <a:cs typeface="BIZ UDPゴシック"/>
            </a:endParaRPr>
          </a:p>
        </p:txBody>
      </p:sp>
      <p:sp>
        <p:nvSpPr>
          <p:cNvPr id="61" name="テキスト 61"/>
          <p:cNvSpPr txBox="1"/>
          <p:nvPr/>
        </p:nvSpPr>
        <p:spPr>
          <a:xfrm>
            <a:off x="8193088" y="4913344"/>
            <a:ext cx="3297224"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影から抜けた瞬間</a:t>
            </a:r>
            <a:endParaRPr lang="ja-JP" altLang="en-US" sz="1300" dirty="0">
              <a:solidFill>
                <a:srgbClr val="1E2430"/>
              </a:solidFill>
              <a:latin typeface="BIZ UDPゴシック"/>
              <a:ea typeface="BIZ UDPゴシック"/>
              <a:cs typeface="BIZ UDPゴシック"/>
            </a:endParaRPr>
          </a:p>
        </p:txBody>
      </p:sp>
      <p:sp>
        <p:nvSpPr>
          <p:cNvPr id="62" name="テキスト 62"/>
          <p:cNvSpPr txBox="1"/>
          <p:nvPr/>
        </p:nvSpPr>
        <p:spPr>
          <a:xfrm>
            <a:off x="8193088" y="5223344"/>
            <a:ext cx="2809167" cy="9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100" dirty="0">
                <a:solidFill>
                  <a:srgbClr val="1E2430"/>
                </a:solidFill>
                <a:latin typeface="BIZ UDPゴシック"/>
                <a:ea typeface="BIZ UDPゴシック"/>
                <a:cs typeface="BIZ UDPゴシック"/>
              </a:rPr>
              <a:t>音源が見えて全て直接音になる</a:t>
            </a:r>
            <a:endParaRPr lang="en-US" altLang="ja-JP" sz="1100" dirty="0">
              <a:solidFill>
                <a:srgbClr val="1E2430"/>
              </a:solidFill>
              <a:latin typeface="BIZ UDPゴシック"/>
              <a:ea typeface="BIZ UDPゴシック"/>
              <a:cs typeface="BIZ UDPゴシック"/>
            </a:endParaRPr>
          </a:p>
          <a:p>
            <a:pPr marL="0" indent="0" algn="l">
              <a:lnSpc>
                <a:spcPct val="100000"/>
              </a:lnSpc>
              <a:spcBef>
                <a:spcPts val="0"/>
              </a:spcBef>
              <a:spcAft>
                <a:spcPts val="0"/>
              </a:spcAft>
              <a:buNone/>
            </a:pPr>
            <a:r>
              <a:rPr lang="ja-JP" altLang="en-US" sz="1100" dirty="0">
                <a:solidFill>
                  <a:srgbClr val="1E2430"/>
                </a:solidFill>
                <a:latin typeface="BIZ UDPゴシック"/>
                <a:ea typeface="BIZ UDPゴシック"/>
                <a:cs typeface="BIZ UDPゴシック"/>
              </a:rPr>
              <a:t>段階的にしすぎるとわかりにくいから影から抜けた瞬間大きくこもりが解消されるように</a:t>
            </a:r>
          </a:p>
        </p:txBody>
      </p:sp>
      <p:sp>
        <p:nvSpPr>
          <p:cNvPr id="64" name="テキスト 4">
            <a:extLst>
              <a:ext uri="{FF2B5EF4-FFF2-40B4-BE49-F238E27FC236}">
                <a16:creationId xmlns:a16="http://schemas.microsoft.com/office/drawing/2014/main" id="{1746D23E-6BFA-3A98-A6ED-78E6D602BAED}"/>
              </a:ext>
            </a:extLst>
          </p:cNvPr>
          <p:cNvSpPr txBox="1"/>
          <p:nvPr/>
        </p:nvSpPr>
        <p:spPr>
          <a:xfrm>
            <a:off x="548640" y="1240000"/>
            <a:ext cx="11091672" cy="560000"/>
          </a:xfrm>
          <a:prstGeom prst="rect">
            <a:avLst/>
          </a:prstGeom>
          <a:noFill/>
          <a:ln>
            <a:noFill/>
          </a:ln>
        </p:spPr>
        <p:txBody>
          <a:bodyPr wrap="square" lIns="0" tIns="0" rIns="0" bIns="0" rtlCol="0" anchor="t">
            <a:noAutofit/>
          </a:bodyPr>
          <a:lstStyle/>
          <a:p>
            <a:pPr marL="0" indent="0" algn="l">
              <a:lnSpc>
                <a:spcPct val="118000"/>
              </a:lnSpc>
              <a:spcBef>
                <a:spcPts val="0"/>
              </a:spcBef>
              <a:spcAft>
                <a:spcPts val="0"/>
              </a:spcAft>
              <a:buNone/>
            </a:pPr>
            <a:r>
              <a:rPr lang="ja-JP" altLang="en-US" sz="1450" dirty="0">
                <a:solidFill>
                  <a:srgbClr val="1E2430"/>
                </a:solidFill>
                <a:latin typeface="BIZ UDPゴシック"/>
                <a:ea typeface="BIZ UDPゴシック"/>
                <a:cs typeface="BIZ UDPゴシック"/>
              </a:rPr>
              <a:t>ドアの開けた瞬間はラウドネスの大きな変化で開けた感を</a:t>
            </a:r>
            <a:endParaRPr lang="en-US" altLang="ja-JP" sz="1450" dirty="0">
              <a:solidFill>
                <a:srgbClr val="1E2430"/>
              </a:solidFill>
              <a:latin typeface="BIZ UDPゴシック"/>
              <a:ea typeface="BIZ UDPゴシック"/>
              <a:cs typeface="BIZ UDPゴシック"/>
            </a:endParaRPr>
          </a:p>
          <a:p>
            <a:pPr marL="0" indent="0" algn="l">
              <a:lnSpc>
                <a:spcPct val="118000"/>
              </a:lnSpc>
              <a:spcBef>
                <a:spcPts val="0"/>
              </a:spcBef>
              <a:spcAft>
                <a:spcPts val="0"/>
              </a:spcAft>
              <a:buNone/>
            </a:pPr>
            <a:r>
              <a:rPr lang="ja-JP" altLang="en-US" sz="1450" dirty="0">
                <a:solidFill>
                  <a:srgbClr val="1E2430"/>
                </a:solidFill>
                <a:latin typeface="BIZ UDPゴシック"/>
                <a:ea typeface="BIZ UDPゴシック"/>
                <a:cs typeface="BIZ UDPゴシック"/>
              </a:rPr>
              <a:t>そこからのドアを開けていく感覚はそのまま少しづつラウドネスを変化させるだけでは伝わりにくいため</a:t>
            </a:r>
            <a:endParaRPr lang="en-US" altLang="ja-JP" sz="1450" dirty="0">
              <a:solidFill>
                <a:srgbClr val="1E2430"/>
              </a:solidFill>
              <a:latin typeface="BIZ UDPゴシック"/>
              <a:ea typeface="BIZ UDPゴシック"/>
              <a:cs typeface="BIZ UDPゴシック"/>
            </a:endParaRPr>
          </a:p>
          <a:p>
            <a:pPr marL="0" indent="0" algn="l">
              <a:lnSpc>
                <a:spcPct val="118000"/>
              </a:lnSpc>
              <a:spcBef>
                <a:spcPts val="0"/>
              </a:spcBef>
              <a:spcAft>
                <a:spcPts val="0"/>
              </a:spcAft>
              <a:buNone/>
            </a:pPr>
            <a:r>
              <a:rPr lang="ja-JP" altLang="en-US" sz="1450" dirty="0">
                <a:solidFill>
                  <a:srgbClr val="1E2430"/>
                </a:solidFill>
                <a:latin typeface="BIZ UDPゴシック"/>
                <a:ea typeface="BIZ UDPゴシック"/>
                <a:cs typeface="BIZ UDPゴシック"/>
              </a:rPr>
              <a:t>扉の板の角度と位置から影を毎フレーム探索して音源が影から外れた瞬間のそこまで開けた感が伝わるように心がけました。</a:t>
            </a:r>
            <a:endParaRPr lang="en-US" altLang="ja-JP" sz="1450" dirty="0">
              <a:solidFill>
                <a:srgbClr val="1E2430"/>
              </a:solidFill>
              <a:latin typeface="BIZ UDPゴシック"/>
              <a:ea typeface="BIZ UDPゴシック"/>
              <a:cs typeface="BIZ UDPゴシック"/>
            </a:endParaRPr>
          </a:p>
        </p:txBody>
      </p:sp>
      <p:sp>
        <p:nvSpPr>
          <p:cNvPr id="65" name="ページ番号 65"/>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19</a:t>
            </a:r>
            <a:endParaRPr lang="ja-JP" alt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2"/>
          <p:cNvSpPr txBox="1"/>
          <p:nvPr/>
        </p:nvSpPr>
        <p:spPr>
          <a:xfrm>
            <a:off x="548640" y="2852928"/>
            <a:ext cx="11091672" cy="822960"/>
          </a:xfrm>
          <a:prstGeom prst="rect">
            <a:avLst/>
          </a:prstGeom>
          <a:noFill/>
        </p:spPr>
        <p:txBody>
          <a:bodyPr wrap="square" lIns="0" tIns="0" rIns="0" bIns="0" rtlCol="0" anchor="ctr">
            <a:noAutofit/>
          </a:bodyPr>
          <a:lstStyle/>
          <a:p>
            <a:pPr algn="ctr" marL="0" indent="0">
              <a:spcBef>
                <a:spcPts val="0"/>
              </a:spcBef>
              <a:spcAft>
                <a:spcPts val="0"/>
              </a:spcAft>
              <a:buNone/>
            </a:pPr>
            <a:r>
              <a:rPr lang="ja-JP" altLang="en-US" sz="4000" b="1" dirty="0">
                <a:solidFill>
                  <a:srgbClr val="1E2430"/>
                </a:solidFill>
                <a:latin typeface="BIZ UDPゴシック"/>
                <a:ea typeface="BIZ UDPゴシック"/>
                <a:cs typeface="BIZ UDPゴシック"/>
              </a:rPr>
              <a:t>作品について</a:t>
            </a:r>
            <a:endParaRPr lang="ja-JP" altLang="en-US" sz="4000" dirty="0"/>
          </a:p>
        </p:txBody>
      </p:sp>
      <p:cxnSp>
        <p:nvCxnSpPr>
          <p:cNvPr id="3" name="線 3"/>
          <p:cNvCxnSpPr/>
          <p:nvPr/>
        </p:nvCxnSpPr>
        <p:spPr>
          <a:xfrm>
            <a:off x="3813048" y="3840480"/>
            <a:ext cx="4572000" cy="0"/>
          </a:xfrm>
          <a:prstGeom prst="line">
            <a:avLst/>
          </a:prstGeom>
          <a:ln w="31750">
            <a:solidFill>
              <a:srgbClr val="E3A33B"/>
            </a:solidFill>
          </a:ln>
        </p:spPr>
      </p:cxnSp>
      <p:sp>
        <p:nvSpPr>
          <p:cNvPr id="4" name="ページ番号 4"/>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2</a:t>
            </a:r>
            <a:endParaRPr lang="ja-JP" alt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作品について</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基本情報</a:t>
            </a:r>
            <a:endParaRPr lang="ja-JP" altLang="en-US" sz="2600" dirty="0"/>
          </a:p>
        </p:txBody>
      </p:sp>
      <p:sp>
        <p:nvSpPr>
          <p:cNvPr id="4" name="テキスト 4"/>
          <p:cNvSpPr txBox="1"/>
          <p:nvPr/>
        </p:nvSpPr>
        <p:spPr>
          <a:xfrm>
            <a:off x="548640" y="1600200"/>
            <a:ext cx="1371600" cy="38404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タイトル</a:t>
            </a:r>
            <a:endParaRPr lang="ja-JP" altLang="en-US" sz="1400" dirty="0"/>
          </a:p>
        </p:txBody>
      </p:sp>
      <p:sp>
        <p:nvSpPr>
          <p:cNvPr id="5" name="テキスト 5"/>
          <p:cNvSpPr txBox="1"/>
          <p:nvPr/>
        </p:nvSpPr>
        <p:spPr>
          <a:xfrm>
            <a:off x="1965960" y="1600200"/>
            <a:ext cx="4480560" cy="384048"/>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400" dirty="0">
                <a:solidFill>
                  <a:srgbClr val="1E2430"/>
                </a:solidFill>
                <a:latin typeface="BIZ UDPゴシック"/>
                <a:ea typeface="BIZ UDPゴシック"/>
                <a:cs typeface="BIZ UDPゴシック"/>
              </a:rPr>
              <a:t>AcousticFlow</a:t>
            </a:r>
            <a:endParaRPr lang="ja-JP" altLang="en-US" sz="1400" dirty="0"/>
          </a:p>
        </p:txBody>
      </p:sp>
      <p:sp>
        <p:nvSpPr>
          <p:cNvPr id="6" name="テキスト 6"/>
          <p:cNvSpPr txBox="1"/>
          <p:nvPr/>
        </p:nvSpPr>
        <p:spPr>
          <a:xfrm>
            <a:off x="548640" y="2112264"/>
            <a:ext cx="1371600" cy="38404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コンセプト</a:t>
            </a:r>
            <a:endParaRPr lang="ja-JP" altLang="en-US" sz="1400" dirty="0"/>
          </a:p>
        </p:txBody>
      </p:sp>
      <p:sp>
        <p:nvSpPr>
          <p:cNvPr id="7" name="テキスト 7"/>
          <p:cNvSpPr txBox="1"/>
          <p:nvPr/>
        </p:nvSpPr>
        <p:spPr>
          <a:xfrm>
            <a:off x="1965960" y="2112264"/>
            <a:ext cx="4480560" cy="384048"/>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400" dirty="0">
                <a:solidFill>
                  <a:srgbClr val="1E2430"/>
                </a:solidFill>
                <a:latin typeface="BIZ UDPゴシック"/>
                <a:ea typeface="BIZ UDPゴシック"/>
                <a:cs typeface="BIZ UDPゴシック"/>
              </a:rPr>
              <a:t>プレイヤーの行動が伝わる体験</a:t>
            </a:r>
            <a:endParaRPr lang="ja-JP" altLang="en-US" sz="1400" dirty="0"/>
          </a:p>
        </p:txBody>
      </p:sp>
      <p:sp>
        <p:nvSpPr>
          <p:cNvPr id="8" name="テキスト 8"/>
          <p:cNvSpPr txBox="1"/>
          <p:nvPr/>
        </p:nvSpPr>
        <p:spPr>
          <a:xfrm>
            <a:off x="548640" y="2624328"/>
            <a:ext cx="1371600" cy="38404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ジャンル</a:t>
            </a:r>
            <a:endParaRPr lang="ja-JP" altLang="en-US" sz="1400" dirty="0"/>
          </a:p>
        </p:txBody>
      </p:sp>
      <p:sp>
        <p:nvSpPr>
          <p:cNvPr id="9" name="テキスト 9"/>
          <p:cNvSpPr txBox="1"/>
          <p:nvPr/>
        </p:nvSpPr>
        <p:spPr>
          <a:xfrm>
            <a:off x="1965960" y="2624328"/>
            <a:ext cx="4480560" cy="384048"/>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400" dirty="0">
                <a:solidFill>
                  <a:srgbClr val="1E2430"/>
                </a:solidFill>
                <a:latin typeface="BIZ UDPゴシック"/>
                <a:ea typeface="BIZ UDPゴシック"/>
                <a:cs typeface="BIZ UDPゴシック"/>
              </a:rPr>
              <a:t>ゲーム向けの空間音響エンジン</a:t>
            </a:r>
            <a:endParaRPr lang="ja-JP" altLang="en-US" sz="1400" dirty="0"/>
          </a:p>
        </p:txBody>
      </p:sp>
      <p:sp>
        <p:nvSpPr>
          <p:cNvPr id="10" name="テキスト 10"/>
          <p:cNvSpPr txBox="1"/>
          <p:nvPr/>
        </p:nvSpPr>
        <p:spPr>
          <a:xfrm>
            <a:off x="548640" y="3136392"/>
            <a:ext cx="1371600" cy="38404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制作期間</a:t>
            </a:r>
            <a:endParaRPr lang="ja-JP" altLang="en-US" sz="1400" dirty="0"/>
          </a:p>
        </p:txBody>
      </p:sp>
      <p:sp>
        <p:nvSpPr>
          <p:cNvPr id="11" name="テキスト 11"/>
          <p:cNvSpPr txBox="1"/>
          <p:nvPr/>
        </p:nvSpPr>
        <p:spPr>
          <a:xfrm>
            <a:off x="1965960" y="3136392"/>
            <a:ext cx="4480560" cy="384048"/>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400" dirty="0">
                <a:solidFill>
                  <a:srgbClr val="1E2430"/>
                </a:solidFill>
                <a:latin typeface="BIZ UDPゴシック"/>
                <a:ea typeface="BIZ UDPゴシック"/>
                <a:cs typeface="BIZ UDPゴシック"/>
              </a:rPr>
              <a:t>2026 年 6 月〜（約 3 か月・制作中）</a:t>
            </a:r>
            <a:endParaRPr lang="ja-JP" altLang="en-US" sz="1400" dirty="0"/>
          </a:p>
        </p:txBody>
      </p:sp>
      <p:sp>
        <p:nvSpPr>
          <p:cNvPr id="12" name="テキスト 12"/>
          <p:cNvSpPr txBox="1"/>
          <p:nvPr/>
        </p:nvSpPr>
        <p:spPr>
          <a:xfrm>
            <a:off x="548640" y="3648456"/>
            <a:ext cx="1371600" cy="93268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開発環境</a:t>
            </a:r>
            <a:endParaRPr lang="ja-JP" altLang="en-US" sz="1400" dirty="0"/>
          </a:p>
        </p:txBody>
      </p:sp>
      <p:sp>
        <p:nvSpPr>
          <p:cNvPr id="13" name="テキスト 13"/>
          <p:cNvSpPr txBox="1"/>
          <p:nvPr/>
        </p:nvSpPr>
        <p:spPr>
          <a:xfrm>
            <a:off x="1965960" y="3648456"/>
            <a:ext cx="4480560" cy="932688"/>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400" dirty="0">
                <a:solidFill>
                  <a:srgbClr val="1E2430"/>
                </a:solidFill>
                <a:latin typeface="BIZ UDPゴシック"/>
                <a:ea typeface="BIZ UDPゴシック"/>
                <a:cs typeface="BIZ UDPゴシック"/>
              </a:rPr>
              <a:t>C++17（Visual Studio）</a:t>
            </a:r>
            <a:br>
              <a:rPr lang="ja-JP" altLang="en-US" sz="1400" dirty="0">
                <a:solidFill>
                  <a:srgbClr val="1E2430"/>
                </a:solidFill>
                <a:latin typeface="BIZ UDPゴシック"/>
                <a:ea typeface="BIZ UDPゴシック"/>
                <a:cs typeface="BIZ UDPゴシック"/>
              </a:rPr>
            </a:br>
            <a:r>
              <a:rPr lang="ja-JP" altLang="en-US" sz="1400" dirty="0">
                <a:solidFill>
                  <a:srgbClr val="1E2430"/>
                </a:solidFill>
                <a:latin typeface="BIZ UDPゴシック"/>
                <a:ea typeface="BIZ UDPゴシック"/>
                <a:cs typeface="BIZ UDPゴシック"/>
              </a:rPr>
              <a:t>Unity（試聴用の場面）</a:t>
            </a:r>
            <a:br>
              <a:rPr lang="ja-JP" altLang="en-US" sz="1400" dirty="0">
                <a:solidFill>
                  <a:srgbClr val="1E2430"/>
                </a:solidFill>
                <a:latin typeface="BIZ UDPゴシック"/>
                <a:ea typeface="BIZ UDPゴシック"/>
                <a:cs typeface="BIZ UDPゴシック"/>
              </a:rPr>
            </a:br>
            <a:r>
              <a:rPr lang="ja-JP" altLang="en-US" sz="1400" dirty="0">
                <a:solidFill>
                  <a:srgbClr val="1E2430"/>
                </a:solidFill>
                <a:latin typeface="BIZ UDPゴシック"/>
                <a:ea typeface="BIZ UDPゴシック"/>
                <a:cs typeface="BIZ UDPゴシック"/>
              </a:rPr>
              <a:t>Direct3D 11（レイの GPU 計算）</a:t>
            </a:r>
            <a:endParaRPr lang="ja-JP" altLang="en-US" sz="1400" dirty="0"/>
          </a:p>
        </p:txBody>
      </p:sp>
      <p:sp>
        <p:nvSpPr>
          <p:cNvPr id="14" name="カード 14"/>
          <p:cNvSpPr/>
          <p:nvPr/>
        </p:nvSpPr>
        <p:spPr>
          <a:xfrm>
            <a:off x="548640" y="4526280"/>
            <a:ext cx="5623560" cy="1737360"/>
          </a:xfrm>
          <a:prstGeom prst="roundRect">
            <a:avLst>
              <a:gd name="adj" fmla="val 4000"/>
            </a:avLst>
          </a:prstGeom>
          <a:solidFill>
            <a:srgbClr val="FBF1DF"/>
          </a:solidFill>
          <a:ln>
            <a:noFill/>
          </a:ln>
        </p:spPr>
      </p:sp>
      <p:sp>
        <p:nvSpPr>
          <p:cNvPr id="15" name="テキスト 15"/>
          <p:cNvSpPr txBox="1"/>
          <p:nvPr/>
        </p:nvSpPr>
        <p:spPr>
          <a:xfrm>
            <a:off x="822960" y="4681728"/>
            <a:ext cx="5120640" cy="146304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300" b="1" dirty="0">
                <a:solidFill>
                  <a:srgbClr val="9A6212"/>
                </a:solidFill>
                <a:latin typeface="BIZ UDPゴシック"/>
                <a:ea typeface="BIZ UDPゴシック"/>
                <a:cs typeface="BIZ UDPゴシック"/>
              </a:rPr>
              <a:t>どんな物か</a:t>
            </a:r>
            <a:endParaRPr lang="ja-JP" altLang="en-US" sz="1300" dirty="0"/>
          </a:p>
          <a:p>
            <a:pPr algn="l" marL="0" indent="0">
              <a:lnSpc>
                <a:spcPct val="130000"/>
              </a:lnSpc>
              <a:spcBef>
                <a:spcPts val="400"/>
              </a:spcBef>
              <a:spcAft>
                <a:spcPts val="0"/>
              </a:spcAft>
              <a:buNone/>
            </a:pPr>
            <a:r>
              <a:rPr lang="ja-JP" altLang="en-US" sz="1300" dirty="0">
                <a:solidFill>
                  <a:srgbClr val="1E2430"/>
                </a:solidFill>
                <a:latin typeface="BIZ UDPゴシック"/>
                <a:ea typeface="BIZ UDPゴシック"/>
                <a:cs typeface="BIZ UDPゴシック"/>
              </a:rPr>
              <a:t>壁・床・扉を「箱」で渡すだけで、</a:t>
            </a:r>
            <a:r>
              <a:rPr lang="ja-JP" altLang="en-US" sz="1300" b="1" dirty="0">
                <a:solidFill>
                  <a:srgbClr val="9A6212"/>
                </a:solidFill>
                <a:latin typeface="BIZ UDPゴシック"/>
                <a:ea typeface="BIZ UDPゴシック"/>
                <a:cs typeface="BIZ UDPゴシック"/>
              </a:rPr>
              <a:t>扉越しの音・部屋の響き・隣の部屋の音</a:t>
            </a:r>
            <a:r>
              <a:rPr lang="ja-JP" altLang="en-US" sz="1300" dirty="0">
                <a:solidFill>
                  <a:srgbClr val="1E2430"/>
                </a:solidFill>
                <a:latin typeface="BIZ UDPゴシック"/>
                <a:ea typeface="BIZ UDPゴシック"/>
                <a:cs typeface="BIZ UDPゴシック"/>
              </a:rPr>
              <a:t>を毎フレーム作る音響エンジン。ゲーム側は箱と音源と耳の位置を渡し、音はエンジンが作る。</a:t>
            </a:r>
            <a:endParaRPr lang="ja-JP" altLang="en-US" sz="1300" dirty="0"/>
          </a:p>
        </p:txBody>
      </p:sp>
      <p:sp>
        <p:nvSpPr>
          <p:cNvPr id="16" name="画像の枠 16"/>
          <p:cNvSpPr/>
          <p:nvPr/>
        </p:nvSpPr>
        <p:spPr>
          <a:xfrm>
            <a:off x="6492240" y="1600200"/>
            <a:ext cx="5148072" cy="2743200"/>
          </a:xfrm>
          <a:prstGeom prst="rect">
            <a:avLst/>
          </a:prstGeom>
          <a:solidFill>
            <a:srgbClr val="F7F8FA"/>
          </a:solidFill>
          <a:ln w="15875">
            <a:solidFill>
              <a:srgbClr val="C9CED6"/>
            </a:solidFill>
            <a:prstDash val="dash"/>
          </a:ln>
        </p:spPr>
        <p:txBody>
          <a:bodyPr wrap="square" lIns="54864" tIns="27432" rIns="54864" bIns="27432" rtlCol="0" anchor="ctr">
            <a:noAutofit/>
          </a:bodyPr>
          <a:lstStyle/>
          <a:p>
            <a:pPr algn="ctr" marL="0" indent="0">
              <a:lnSpc>
                <a:spcPct val="130000"/>
              </a:lnSpc>
              <a:spcBef>
                <a:spcPts val="0"/>
              </a:spcBef>
              <a:spcAft>
                <a:spcPts val="0"/>
              </a:spcAft>
              <a:buNone/>
            </a:pPr>
            <a:r>
              <a:rPr lang="ja-JP" altLang="en-US" sz="1200" dirty="0">
                <a:solidFill>
                  <a:srgbClr val="5C6677"/>
                </a:solidFill>
                <a:latin typeface="BIZ UDPゴシック"/>
                <a:ea typeface="BIZ UDPゴシック"/>
                <a:cs typeface="BIZ UDPゴシック"/>
              </a:rPr>
              <a:t>スクリーンショット</a:t>
            </a:r>
            <a:br>
              <a:rPr lang="ja-JP" altLang="en-US" sz="1200" dirty="0">
                <a:solidFill>
                  <a:srgbClr val="5C6677"/>
                </a:solidFill>
                <a:latin typeface="BIZ UDPゴシック"/>
                <a:ea typeface="BIZ UDPゴシック"/>
                <a:cs typeface="BIZ UDPゴシック"/>
              </a:rPr>
            </a:br>
            <a:r>
              <a:rPr lang="ja-JP" altLang="en-US" sz="1200" dirty="0">
                <a:solidFill>
                  <a:srgbClr val="5C6677"/>
                </a:solidFill>
                <a:latin typeface="BIZ UDPゴシック"/>
                <a:ea typeface="BIZ UDPゴシック"/>
                <a:cs typeface="BIZ UDPゴシック"/>
              </a:rPr>
              <a:t>（Unity の試聴場面：扉のある 2 部屋）</a:t>
            </a:r>
            <a:endParaRPr lang="ja-JP" altLang="en-US" sz="1200" dirty="0"/>
          </a:p>
        </p:txBody>
      </p:sp>
      <p:sp>
        <p:nvSpPr>
          <p:cNvPr id="17" name="画像の枠 17"/>
          <p:cNvSpPr/>
          <p:nvPr/>
        </p:nvSpPr>
        <p:spPr>
          <a:xfrm>
            <a:off x="6492240" y="4526280"/>
            <a:ext cx="5148072" cy="1737360"/>
          </a:xfrm>
          <a:prstGeom prst="rect">
            <a:avLst/>
          </a:prstGeom>
          <a:solidFill>
            <a:srgbClr val="F7F8FA"/>
          </a:solidFill>
          <a:ln w="15875">
            <a:solidFill>
              <a:srgbClr val="C9CED6"/>
            </a:solidFill>
            <a:prstDash val="dash"/>
          </a:ln>
        </p:spPr>
        <p:txBody>
          <a:bodyPr wrap="square" lIns="54864" tIns="27432" rIns="54864" bIns="27432" rtlCol="0" anchor="ctr">
            <a:noAutofit/>
          </a:bodyPr>
          <a:lstStyle/>
          <a:p>
            <a:pPr algn="ctr" marL="0" indent="0">
              <a:lnSpc>
                <a:spcPct val="130000"/>
              </a:lnSpc>
              <a:spcBef>
                <a:spcPts val="0"/>
              </a:spcBef>
              <a:spcAft>
                <a:spcPts val="0"/>
              </a:spcAft>
              <a:buNone/>
            </a:pPr>
            <a:r>
              <a:rPr lang="ja-JP" altLang="en-US" sz="1200" dirty="0">
                <a:solidFill>
                  <a:srgbClr val="5C6677"/>
                </a:solidFill>
                <a:latin typeface="BIZ UDPゴシック"/>
                <a:ea typeface="BIZ UDPゴシック"/>
                <a:cs typeface="BIZ UDPゴシック"/>
              </a:rPr>
              <a:t>スクリーンショット</a:t>
            </a:r>
            <a:br>
              <a:rPr lang="ja-JP" altLang="en-US" sz="1200" dirty="0">
                <a:solidFill>
                  <a:srgbClr val="5C6677"/>
                </a:solidFill>
                <a:latin typeface="BIZ UDPゴシック"/>
                <a:ea typeface="BIZ UDPゴシック"/>
                <a:cs typeface="BIZ UDPゴシック"/>
              </a:rPr>
            </a:br>
            <a:r>
              <a:rPr lang="ja-JP" altLang="en-US" sz="1200" dirty="0">
                <a:solidFill>
                  <a:srgbClr val="5C6677"/>
                </a:solidFill>
                <a:latin typeface="BIZ UDPゴシック"/>
                <a:ea typeface="BIZ UDPゴシック"/>
                <a:cs typeface="BIZ UDPゴシック"/>
              </a:rPr>
              <a:t>（音の出どころの地図）</a:t>
            </a:r>
            <a:endParaRPr lang="ja-JP" altLang="en-US" sz="1200" dirty="0"/>
          </a:p>
        </p:txBody>
      </p:sp>
      <p:sp>
        <p:nvSpPr>
          <p:cNvPr id="18" name="ページ番号 18"/>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3</a:t>
            </a:r>
            <a:endParaRPr lang="ja-JP" alt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作品について</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体験の流れ</a:t>
            </a:r>
            <a:endParaRPr lang="ja-JP" altLang="en-US" sz="2600" dirty="0"/>
          </a:p>
        </p:txBody>
      </p:sp>
      <p:sp>
        <p:nvSpPr>
          <p:cNvPr id="4" name="テキスト 4"/>
          <p:cNvSpPr txBox="1"/>
          <p:nvPr/>
        </p:nvSpPr>
        <p:spPr>
          <a:xfrm>
            <a:off x="548640" y="1243584"/>
            <a:ext cx="11091672" cy="54864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行動すると、音の聞こえ方が変わる。音だけで「何をしたか」「どこにいるか」が伝わるようにした。</a:t>
            </a:r>
            <a:endParaRPr lang="ja-JP" altLang="en-US" sz="1450" dirty="0"/>
          </a:p>
        </p:txBody>
      </p:sp>
      <p:sp>
        <p:nvSpPr>
          <p:cNvPr id="5" name="カード 5"/>
          <p:cNvSpPr/>
          <p:nvPr/>
        </p:nvSpPr>
        <p:spPr>
          <a:xfrm>
            <a:off x="548640" y="1920240"/>
            <a:ext cx="2587752" cy="3931920"/>
          </a:xfrm>
          <a:prstGeom prst="roundRect">
            <a:avLst>
              <a:gd name="adj" fmla="val 4000"/>
            </a:avLst>
          </a:prstGeom>
          <a:solidFill>
            <a:srgbClr val="F0F2F5"/>
          </a:solidFill>
          <a:ln>
            <a:noFill/>
          </a:ln>
        </p:spPr>
      </p:sp>
      <p:sp>
        <p:nvSpPr>
          <p:cNvPr id="6" name="図形 6"/>
          <p:cNvSpPr/>
          <p:nvPr/>
        </p:nvSpPr>
        <p:spPr>
          <a:xfrm>
            <a:off x="731520" y="2103120"/>
            <a:ext cx="384048" cy="384048"/>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400" b="1" dirty="0">
                <a:solidFill>
                  <a:srgbClr val="1E2430"/>
                </a:solidFill>
                <a:latin typeface="BIZ UDPゴシック"/>
                <a:ea typeface="BIZ UDPゴシック"/>
                <a:cs typeface="BIZ UDPゴシック"/>
              </a:rPr>
              <a:t>1</a:t>
            </a:r>
            <a:endParaRPr lang="ja-JP" altLang="en-US" sz="1400" dirty="0"/>
          </a:p>
        </p:txBody>
      </p:sp>
      <p:sp>
        <p:nvSpPr>
          <p:cNvPr id="7" name="テキスト 7"/>
          <p:cNvSpPr txBox="1"/>
          <p:nvPr/>
        </p:nvSpPr>
        <p:spPr>
          <a:xfrm>
            <a:off x="1207008" y="2139696"/>
            <a:ext cx="1856232" cy="36576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600" b="1" dirty="0">
                <a:solidFill>
                  <a:srgbClr val="1E2430"/>
                </a:solidFill>
                <a:latin typeface="BIZ UDPゴシック"/>
                <a:ea typeface="BIZ UDPゴシック"/>
                <a:cs typeface="BIZ UDPゴシック"/>
              </a:rPr>
              <a:t>ドアを開ける</a:t>
            </a:r>
            <a:endParaRPr lang="ja-JP" altLang="en-US" sz="1600" dirty="0"/>
          </a:p>
        </p:txBody>
      </p:sp>
      <p:sp>
        <p:nvSpPr>
          <p:cNvPr id="8" name="部屋 8"/>
          <p:cNvSpPr/>
          <p:nvPr/>
        </p:nvSpPr>
        <p:spPr>
          <a:xfrm>
            <a:off x="749808" y="2697480"/>
            <a:ext cx="2185416" cy="1874520"/>
          </a:xfrm>
          <a:prstGeom prst="rect">
            <a:avLst/>
          </a:prstGeom>
          <a:solidFill>
            <a:srgbClr val="FFFFFF"/>
          </a:solidFill>
          <a:ln w="25400">
            <a:solidFill>
              <a:srgbClr val="8A94A6"/>
            </a:solidFill>
          </a:ln>
        </p:spPr>
      </p:sp>
      <p:cxnSp>
        <p:nvCxnSpPr>
          <p:cNvPr id="9" name="線 9"/>
          <p:cNvCxnSpPr/>
          <p:nvPr/>
        </p:nvCxnSpPr>
        <p:spPr>
          <a:xfrm>
            <a:off x="1842516" y="2697480"/>
            <a:ext cx="0" cy="1874520"/>
          </a:xfrm>
          <a:prstGeom prst="line">
            <a:avLst/>
          </a:prstGeom>
          <a:ln w="25400">
            <a:solidFill>
              <a:srgbClr val="8A94A6"/>
            </a:solidFill>
          </a:ln>
        </p:spPr>
      </p:cxnSp>
      <p:sp>
        <p:nvSpPr>
          <p:cNvPr id="10" name="開口 10"/>
          <p:cNvSpPr/>
          <p:nvPr/>
        </p:nvSpPr>
        <p:spPr>
          <a:xfrm>
            <a:off x="1815084" y="3447288"/>
            <a:ext cx="54864" cy="412394"/>
          </a:xfrm>
          <a:prstGeom prst="rect">
            <a:avLst/>
          </a:prstGeom>
          <a:solidFill>
            <a:srgbClr val="FFFFFF"/>
          </a:solidFill>
          <a:ln>
            <a:noFill/>
          </a:ln>
        </p:spPr>
      </p:sp>
      <p:cxnSp>
        <p:nvCxnSpPr>
          <p:cNvPr id="11" name="線 11"/>
          <p:cNvCxnSpPr/>
          <p:nvPr/>
        </p:nvCxnSpPr>
        <p:spPr>
          <a:xfrm>
            <a:off x="1842516" y="3447288"/>
            <a:ext cx="265082" cy="315912"/>
          </a:xfrm>
          <a:prstGeom prst="line">
            <a:avLst/>
          </a:prstGeom>
          <a:ln w="38100">
            <a:solidFill>
              <a:srgbClr val="1E2430"/>
            </a:solidFill>
          </a:ln>
        </p:spPr>
      </p:cxnSp>
      <p:sp>
        <p:nvSpPr>
          <p:cNvPr id="12" name="弧 12"/>
          <p:cNvSpPr/>
          <p:nvPr/>
        </p:nvSpPr>
        <p:spPr>
          <a:xfrm>
            <a:off x="1842516" y="3763200"/>
            <a:ext cx="265082" cy="96482"/>
          </a:xfrm>
          <a:custGeom>
            <a:avLst/>
            <a:gdLst/>
            <a:ahLst/>
            <a:cxnLst/>
            <a:rect l="0" t="0" r="r" b="b"/>
            <a:pathLst>
              <a:path w="265082" h="96482" fill="none">
                <a:moveTo>
                  <a:pt x="0" y="96482"/>
                </a:moveTo>
                <a:lnTo>
                  <a:pt x="23979" y="95784"/>
                </a:lnTo>
                <a:lnTo>
                  <a:pt x="47876" y="93693"/>
                </a:lnTo>
                <a:lnTo>
                  <a:pt x="71612" y="90217"/>
                </a:lnTo>
                <a:lnTo>
                  <a:pt x="95105" y="85366"/>
                </a:lnTo>
                <a:lnTo>
                  <a:pt x="118276" y="79157"/>
                </a:lnTo>
                <a:lnTo>
                  <a:pt x="141047" y="71612"/>
                </a:lnTo>
                <a:lnTo>
                  <a:pt x="163341" y="62755"/>
                </a:lnTo>
                <a:lnTo>
                  <a:pt x="185082" y="52617"/>
                </a:lnTo>
                <a:lnTo>
                  <a:pt x="206197" y="41232"/>
                </a:lnTo>
                <a:lnTo>
                  <a:pt x="226614" y="28638"/>
                </a:lnTo>
                <a:lnTo>
                  <a:pt x="246265" y="14879"/>
                </a:lnTo>
                <a:lnTo>
                  <a:pt x="265082" y="0"/>
                </a:lnTo>
              </a:path>
            </a:pathLst>
          </a:custGeom>
          <a:noFill/>
          <a:ln w="9525">
            <a:solidFill>
              <a:srgbClr val="C9CED6"/>
            </a:solidFill>
            <a:prstDash val="dash"/>
          </a:ln>
        </p:spPr>
      </p:sp>
      <p:sp>
        <p:nvSpPr>
          <p:cNvPr id="13" name="点 13"/>
          <p:cNvSpPr/>
          <p:nvPr/>
        </p:nvSpPr>
        <p:spPr>
          <a:xfrm>
            <a:off x="2434133" y="3570732"/>
            <a:ext cx="128016" cy="128016"/>
          </a:xfrm>
          <a:prstGeom prst="ellipse">
            <a:avLst/>
          </a:prstGeom>
          <a:solidFill>
            <a:srgbClr val="1E2430"/>
          </a:solidFill>
          <a:ln>
            <a:noFill/>
          </a:ln>
        </p:spPr>
      </p:sp>
      <p:sp>
        <p:nvSpPr>
          <p:cNvPr id="14" name="テキスト 14"/>
          <p:cNvSpPr txBox="1"/>
          <p:nvPr/>
        </p:nvSpPr>
        <p:spPr>
          <a:xfrm>
            <a:off x="2635301" y="3506724"/>
            <a:ext cx="1097280" cy="21945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1E2430"/>
                </a:solidFill>
                <a:latin typeface="BIZ UDPゴシック"/>
                <a:ea typeface="BIZ UDPゴシック"/>
                <a:cs typeface="BIZ UDPゴシック"/>
              </a:rPr>
              <a:t>耳</a:t>
            </a:r>
            <a:endParaRPr lang="ja-JP" altLang="en-US" sz="950" dirty="0"/>
          </a:p>
        </p:txBody>
      </p:sp>
      <p:sp>
        <p:nvSpPr>
          <p:cNvPr id="15" name="点 15"/>
          <p:cNvSpPr/>
          <p:nvPr/>
        </p:nvSpPr>
        <p:spPr>
          <a:xfrm>
            <a:off x="1122883" y="3289554"/>
            <a:ext cx="128016" cy="128016"/>
          </a:xfrm>
          <a:prstGeom prst="ellipse">
            <a:avLst/>
          </a:prstGeom>
          <a:solidFill>
            <a:srgbClr val="E3A33B"/>
          </a:solidFill>
          <a:ln>
            <a:noFill/>
          </a:ln>
        </p:spPr>
      </p:sp>
      <p:sp>
        <p:nvSpPr>
          <p:cNvPr id="16" name="テキスト 16"/>
          <p:cNvSpPr txBox="1"/>
          <p:nvPr/>
        </p:nvSpPr>
        <p:spPr>
          <a:xfrm>
            <a:off x="1324051" y="3225546"/>
            <a:ext cx="1097280" cy="21945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1E2430"/>
                </a:solidFill>
                <a:latin typeface="BIZ UDPゴシック"/>
                <a:ea typeface="BIZ UDPゴシック"/>
                <a:cs typeface="BIZ UDPゴシック"/>
              </a:rPr>
              <a:t>音源</a:t>
            </a:r>
            <a:endParaRPr lang="ja-JP" altLang="en-US" sz="950" dirty="0"/>
          </a:p>
        </p:txBody>
      </p:sp>
      <p:sp>
        <p:nvSpPr>
          <p:cNvPr id="17" name="テキスト 17"/>
          <p:cNvSpPr txBox="1"/>
          <p:nvPr/>
        </p:nvSpPr>
        <p:spPr>
          <a:xfrm>
            <a:off x="749808" y="4736592"/>
            <a:ext cx="2185416" cy="105156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250" dirty="0">
                <a:solidFill>
                  <a:srgbClr val="1E2430"/>
                </a:solidFill>
                <a:latin typeface="BIZ UDPゴシック"/>
                <a:ea typeface="BIZ UDPゴシック"/>
                <a:cs typeface="BIZ UDPゴシック"/>
              </a:rPr>
              <a:t>こもった音が、開いた瞬間に大きく開ける。どこまで開けたかで、こもり方が変わる</a:t>
            </a:r>
            <a:endParaRPr lang="ja-JP" altLang="en-US" sz="1250" dirty="0"/>
          </a:p>
        </p:txBody>
      </p:sp>
      <p:sp>
        <p:nvSpPr>
          <p:cNvPr id="18" name="矢印 18"/>
          <p:cNvSpPr/>
          <p:nvPr/>
        </p:nvSpPr>
        <p:spPr>
          <a:xfrm>
            <a:off x="3182112" y="3785616"/>
            <a:ext cx="155448" cy="201168"/>
          </a:xfrm>
          <a:prstGeom prst="rightArrow">
            <a:avLst/>
          </a:prstGeom>
          <a:solidFill>
            <a:srgbClr val="C9CED6"/>
          </a:solidFill>
          <a:ln>
            <a:noFill/>
          </a:ln>
        </p:spPr>
      </p:sp>
      <p:sp>
        <p:nvSpPr>
          <p:cNvPr id="19" name="カード 19"/>
          <p:cNvSpPr/>
          <p:nvPr/>
        </p:nvSpPr>
        <p:spPr>
          <a:xfrm>
            <a:off x="3383280" y="1920240"/>
            <a:ext cx="2587752" cy="3931920"/>
          </a:xfrm>
          <a:prstGeom prst="roundRect">
            <a:avLst>
              <a:gd name="adj" fmla="val 4000"/>
            </a:avLst>
          </a:prstGeom>
          <a:solidFill>
            <a:srgbClr val="F0F2F5"/>
          </a:solidFill>
          <a:ln>
            <a:noFill/>
          </a:ln>
        </p:spPr>
      </p:sp>
      <p:sp>
        <p:nvSpPr>
          <p:cNvPr id="20" name="図形 20"/>
          <p:cNvSpPr/>
          <p:nvPr/>
        </p:nvSpPr>
        <p:spPr>
          <a:xfrm>
            <a:off x="3566160" y="2103120"/>
            <a:ext cx="384048" cy="384048"/>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400" b="1" dirty="0">
                <a:solidFill>
                  <a:srgbClr val="1E2430"/>
                </a:solidFill>
                <a:latin typeface="BIZ UDPゴシック"/>
                <a:ea typeface="BIZ UDPゴシック"/>
                <a:cs typeface="BIZ UDPゴシック"/>
              </a:rPr>
              <a:t>2</a:t>
            </a:r>
            <a:endParaRPr lang="ja-JP" altLang="en-US" sz="1400" dirty="0"/>
          </a:p>
        </p:txBody>
      </p:sp>
      <p:sp>
        <p:nvSpPr>
          <p:cNvPr id="21" name="テキスト 21"/>
          <p:cNvSpPr txBox="1"/>
          <p:nvPr/>
        </p:nvSpPr>
        <p:spPr>
          <a:xfrm>
            <a:off x="4041648" y="2139696"/>
            <a:ext cx="1856232" cy="36576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600" b="1" dirty="0">
                <a:solidFill>
                  <a:srgbClr val="1E2430"/>
                </a:solidFill>
                <a:latin typeface="BIZ UDPゴシック"/>
                <a:ea typeface="BIZ UDPゴシック"/>
                <a:cs typeface="BIZ UDPゴシック"/>
              </a:rPr>
              <a:t>部屋の中を歩く</a:t>
            </a:r>
            <a:endParaRPr lang="ja-JP" altLang="en-US" sz="1600" dirty="0"/>
          </a:p>
        </p:txBody>
      </p:sp>
      <p:sp>
        <p:nvSpPr>
          <p:cNvPr id="22" name="部屋 22"/>
          <p:cNvSpPr/>
          <p:nvPr/>
        </p:nvSpPr>
        <p:spPr>
          <a:xfrm>
            <a:off x="3584448" y="2697480"/>
            <a:ext cx="2185416" cy="1874520"/>
          </a:xfrm>
          <a:prstGeom prst="rect">
            <a:avLst/>
          </a:prstGeom>
          <a:solidFill>
            <a:srgbClr val="FFFFFF"/>
          </a:solidFill>
          <a:ln w="25400">
            <a:solidFill>
              <a:srgbClr val="8A94A6"/>
            </a:solidFill>
          </a:ln>
        </p:spPr>
      </p:sp>
      <p:sp>
        <p:nvSpPr>
          <p:cNvPr id="23" name="点 23"/>
          <p:cNvSpPr/>
          <p:nvPr/>
        </p:nvSpPr>
        <p:spPr>
          <a:xfrm>
            <a:off x="3913815" y="4095598"/>
            <a:ext cx="128016" cy="128016"/>
          </a:xfrm>
          <a:prstGeom prst="ellipse">
            <a:avLst/>
          </a:prstGeom>
          <a:solidFill>
            <a:srgbClr val="E3A33B"/>
          </a:solidFill>
          <a:ln>
            <a:noFill/>
          </a:ln>
        </p:spPr>
      </p:sp>
      <p:sp>
        <p:nvSpPr>
          <p:cNvPr id="24" name="テキスト 24"/>
          <p:cNvSpPr txBox="1"/>
          <p:nvPr/>
        </p:nvSpPr>
        <p:spPr>
          <a:xfrm>
            <a:off x="4114983" y="4031590"/>
            <a:ext cx="1097280" cy="21945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1E2430"/>
                </a:solidFill>
                <a:latin typeface="BIZ UDPゴシック"/>
                <a:ea typeface="BIZ UDPゴシック"/>
                <a:cs typeface="BIZ UDPゴシック"/>
              </a:rPr>
              <a:t>音源</a:t>
            </a:r>
            <a:endParaRPr lang="ja-JP" altLang="en-US" sz="950" dirty="0"/>
          </a:p>
        </p:txBody>
      </p:sp>
      <p:cxnSp>
        <p:nvCxnSpPr>
          <p:cNvPr id="25" name="線 25"/>
          <p:cNvCxnSpPr/>
          <p:nvPr/>
        </p:nvCxnSpPr>
        <p:spPr>
          <a:xfrm>
            <a:off x="4939406" y="3541014"/>
            <a:ext cx="524500" cy="0"/>
          </a:xfrm>
          <a:prstGeom prst="line">
            <a:avLst/>
          </a:prstGeom>
          <a:ln w="15875">
            <a:solidFill>
              <a:srgbClr val="1E2430"/>
            </a:solidFill>
            <a:prstDash val="sysDash"/>
            <a:tailEnd type="triangle" w="med" len="med"/>
          </a:ln>
        </p:spPr>
      </p:cxnSp>
      <p:sp>
        <p:nvSpPr>
          <p:cNvPr id="26" name="点 26"/>
          <p:cNvSpPr/>
          <p:nvPr/>
        </p:nvSpPr>
        <p:spPr>
          <a:xfrm>
            <a:off x="4875398" y="3477006"/>
            <a:ext cx="128016" cy="128016"/>
          </a:xfrm>
          <a:prstGeom prst="ellipse">
            <a:avLst/>
          </a:prstGeom>
          <a:solidFill>
            <a:srgbClr val="1E2430"/>
          </a:solidFill>
          <a:ln>
            <a:noFill/>
          </a:ln>
        </p:spPr>
      </p:sp>
      <p:sp>
        <p:nvSpPr>
          <p:cNvPr id="27" name="テキスト 27"/>
          <p:cNvSpPr txBox="1"/>
          <p:nvPr/>
        </p:nvSpPr>
        <p:spPr>
          <a:xfrm>
            <a:off x="4710806" y="3632454"/>
            <a:ext cx="457200"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50" dirty="0">
                <a:solidFill>
                  <a:srgbClr val="1E2430"/>
                </a:solidFill>
                <a:latin typeface="BIZ UDPゴシック"/>
                <a:ea typeface="BIZ UDPゴシック"/>
                <a:cs typeface="BIZ UDPゴシック"/>
              </a:rPr>
              <a:t>耳</a:t>
            </a:r>
            <a:endParaRPr lang="ja-JP" altLang="en-US" sz="950" dirty="0"/>
          </a:p>
        </p:txBody>
      </p:sp>
      <p:sp>
        <p:nvSpPr>
          <p:cNvPr id="28" name="弧 28"/>
          <p:cNvSpPr/>
          <p:nvPr/>
        </p:nvSpPr>
        <p:spPr>
          <a:xfrm>
            <a:off x="5605272" y="3398473"/>
            <a:ext cx="82296" cy="285082"/>
          </a:xfrm>
          <a:custGeom>
            <a:avLst/>
            <a:gdLst/>
            <a:ahLst/>
            <a:cxnLst/>
            <a:rect l="0" t="0" r="r" b="b"/>
            <a:pathLst>
              <a:path w="82296" h="285082" fill="none">
                <a:moveTo>
                  <a:pt x="82296" y="0"/>
                </a:moveTo>
                <a:lnTo>
                  <a:pt x="54458" y="20225"/>
                </a:lnTo>
                <a:lnTo>
                  <a:pt x="31434" y="45796"/>
                </a:lnTo>
                <a:lnTo>
                  <a:pt x="14230" y="75595"/>
                </a:lnTo>
                <a:lnTo>
                  <a:pt x="3597" y="108320"/>
                </a:lnTo>
                <a:lnTo>
                  <a:pt x="0" y="142541"/>
                </a:lnTo>
                <a:lnTo>
                  <a:pt x="3597" y="176761"/>
                </a:lnTo>
                <a:lnTo>
                  <a:pt x="14230" y="209486"/>
                </a:lnTo>
                <a:lnTo>
                  <a:pt x="31434" y="239286"/>
                </a:lnTo>
                <a:lnTo>
                  <a:pt x="54458" y="264857"/>
                </a:lnTo>
                <a:lnTo>
                  <a:pt x="82296" y="285082"/>
                </a:lnTo>
              </a:path>
            </a:pathLst>
          </a:custGeom>
          <a:noFill/>
          <a:ln w="15875">
            <a:solidFill>
              <a:srgbClr val="E3A33B"/>
            </a:solidFill>
          </a:ln>
        </p:spPr>
      </p:sp>
      <p:sp>
        <p:nvSpPr>
          <p:cNvPr id="29" name="弧 29"/>
          <p:cNvSpPr/>
          <p:nvPr/>
        </p:nvSpPr>
        <p:spPr>
          <a:xfrm>
            <a:off x="5495544" y="3303446"/>
            <a:ext cx="137160" cy="475136"/>
          </a:xfrm>
          <a:custGeom>
            <a:avLst/>
            <a:gdLst/>
            <a:ahLst/>
            <a:cxnLst/>
            <a:rect l="0" t="0" r="r" b="b"/>
            <a:pathLst>
              <a:path w="137160" h="475136" fill="none">
                <a:moveTo>
                  <a:pt x="137160" y="0"/>
                </a:moveTo>
                <a:lnTo>
                  <a:pt x="90764" y="33709"/>
                </a:lnTo>
                <a:lnTo>
                  <a:pt x="52390" y="76327"/>
                </a:lnTo>
                <a:lnTo>
                  <a:pt x="23716" y="125992"/>
                </a:lnTo>
                <a:lnTo>
                  <a:pt x="5995" y="180534"/>
                </a:lnTo>
                <a:lnTo>
                  <a:pt x="0" y="237568"/>
                </a:lnTo>
                <a:lnTo>
                  <a:pt x="5995" y="294602"/>
                </a:lnTo>
                <a:lnTo>
                  <a:pt x="23716" y="349144"/>
                </a:lnTo>
                <a:lnTo>
                  <a:pt x="52390" y="398809"/>
                </a:lnTo>
                <a:lnTo>
                  <a:pt x="90764" y="441428"/>
                </a:lnTo>
                <a:lnTo>
                  <a:pt x="137160" y="475136"/>
                </a:lnTo>
              </a:path>
            </a:pathLst>
          </a:custGeom>
          <a:noFill/>
          <a:ln w="15875">
            <a:solidFill>
              <a:srgbClr val="E3A33B"/>
            </a:solidFill>
          </a:ln>
        </p:spPr>
      </p:sp>
      <p:sp>
        <p:nvSpPr>
          <p:cNvPr id="30" name="弧 30"/>
          <p:cNvSpPr/>
          <p:nvPr/>
        </p:nvSpPr>
        <p:spPr>
          <a:xfrm>
            <a:off x="5385816" y="3208419"/>
            <a:ext cx="192024" cy="665191"/>
          </a:xfrm>
          <a:custGeom>
            <a:avLst/>
            <a:gdLst/>
            <a:ahLst/>
            <a:cxnLst/>
            <a:rect l="0" t="0" r="r" b="b"/>
            <a:pathLst>
              <a:path w="192024" h="665191" fill="none">
                <a:moveTo>
                  <a:pt x="192024" y="0"/>
                </a:moveTo>
                <a:lnTo>
                  <a:pt x="127070" y="47192"/>
                </a:lnTo>
                <a:lnTo>
                  <a:pt x="73347" y="106858"/>
                </a:lnTo>
                <a:lnTo>
                  <a:pt x="33203" y="176389"/>
                </a:lnTo>
                <a:lnTo>
                  <a:pt x="8392" y="252747"/>
                </a:lnTo>
                <a:lnTo>
                  <a:pt x="0" y="332595"/>
                </a:lnTo>
                <a:lnTo>
                  <a:pt x="8392" y="412443"/>
                </a:lnTo>
                <a:lnTo>
                  <a:pt x="33203" y="488802"/>
                </a:lnTo>
                <a:lnTo>
                  <a:pt x="73347" y="558333"/>
                </a:lnTo>
                <a:lnTo>
                  <a:pt x="127070" y="617999"/>
                </a:lnTo>
                <a:lnTo>
                  <a:pt x="192024" y="665191"/>
                </a:lnTo>
              </a:path>
            </a:pathLst>
          </a:custGeom>
          <a:noFill/>
          <a:ln w="15875">
            <a:solidFill>
              <a:srgbClr val="E3A33B"/>
            </a:solidFill>
          </a:ln>
        </p:spPr>
      </p:sp>
      <p:sp>
        <p:nvSpPr>
          <p:cNvPr id="31" name="テキスト 31"/>
          <p:cNvSpPr txBox="1"/>
          <p:nvPr/>
        </p:nvSpPr>
        <p:spPr>
          <a:xfrm>
            <a:off x="3584448" y="4736592"/>
            <a:ext cx="2185416" cy="105156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250" dirty="0">
                <a:solidFill>
                  <a:srgbClr val="1E2430"/>
                </a:solidFill>
                <a:latin typeface="BIZ UDPゴシック"/>
                <a:ea typeface="BIZ UDPゴシック"/>
                <a:cs typeface="BIZ UDPゴシック"/>
              </a:rPr>
              <a:t>壁に近づくと、反射が近く・広く聞こえる。歩いても響きは途切れない</a:t>
            </a:r>
            <a:endParaRPr lang="ja-JP" altLang="en-US" sz="1250" dirty="0"/>
          </a:p>
        </p:txBody>
      </p:sp>
      <p:sp>
        <p:nvSpPr>
          <p:cNvPr id="32" name="矢印 32"/>
          <p:cNvSpPr/>
          <p:nvPr/>
        </p:nvSpPr>
        <p:spPr>
          <a:xfrm>
            <a:off x="6016752" y="3785616"/>
            <a:ext cx="155448" cy="201168"/>
          </a:xfrm>
          <a:prstGeom prst="rightArrow">
            <a:avLst/>
          </a:prstGeom>
          <a:solidFill>
            <a:srgbClr val="C9CED6"/>
          </a:solidFill>
          <a:ln>
            <a:noFill/>
          </a:ln>
        </p:spPr>
      </p:sp>
      <p:sp>
        <p:nvSpPr>
          <p:cNvPr id="33" name="カード 33"/>
          <p:cNvSpPr/>
          <p:nvPr/>
        </p:nvSpPr>
        <p:spPr>
          <a:xfrm>
            <a:off x="6217920" y="1920240"/>
            <a:ext cx="2587752" cy="3931920"/>
          </a:xfrm>
          <a:prstGeom prst="roundRect">
            <a:avLst>
              <a:gd name="adj" fmla="val 4000"/>
            </a:avLst>
          </a:prstGeom>
          <a:solidFill>
            <a:srgbClr val="F0F2F5"/>
          </a:solidFill>
          <a:ln>
            <a:noFill/>
          </a:ln>
        </p:spPr>
      </p:sp>
      <p:sp>
        <p:nvSpPr>
          <p:cNvPr id="34" name="図形 34"/>
          <p:cNvSpPr/>
          <p:nvPr/>
        </p:nvSpPr>
        <p:spPr>
          <a:xfrm>
            <a:off x="6400800" y="2103120"/>
            <a:ext cx="384048" cy="384048"/>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400" b="1" dirty="0">
                <a:solidFill>
                  <a:srgbClr val="1E2430"/>
                </a:solidFill>
                <a:latin typeface="BIZ UDPゴシック"/>
                <a:ea typeface="BIZ UDPゴシック"/>
                <a:cs typeface="BIZ UDPゴシック"/>
              </a:rPr>
              <a:t>3</a:t>
            </a:r>
            <a:endParaRPr lang="ja-JP" altLang="en-US" sz="1400" dirty="0"/>
          </a:p>
        </p:txBody>
      </p:sp>
      <p:sp>
        <p:nvSpPr>
          <p:cNvPr id="35" name="テキスト 35"/>
          <p:cNvSpPr txBox="1"/>
          <p:nvPr/>
        </p:nvSpPr>
        <p:spPr>
          <a:xfrm>
            <a:off x="6876288" y="2139696"/>
            <a:ext cx="1856232" cy="36576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600" b="1" dirty="0">
                <a:solidFill>
                  <a:srgbClr val="1E2430"/>
                </a:solidFill>
                <a:latin typeface="BIZ UDPゴシック"/>
                <a:ea typeface="BIZ UDPゴシック"/>
                <a:cs typeface="BIZ UDPゴシック"/>
              </a:rPr>
              <a:t>別の部屋に入る</a:t>
            </a:r>
            <a:endParaRPr lang="ja-JP" altLang="en-US" sz="1600" dirty="0"/>
          </a:p>
        </p:txBody>
      </p:sp>
      <p:sp>
        <p:nvSpPr>
          <p:cNvPr id="36" name="部屋 36"/>
          <p:cNvSpPr/>
          <p:nvPr/>
        </p:nvSpPr>
        <p:spPr>
          <a:xfrm>
            <a:off x="6419088" y="2697480"/>
            <a:ext cx="2185416" cy="1874520"/>
          </a:xfrm>
          <a:prstGeom prst="rect">
            <a:avLst/>
          </a:prstGeom>
          <a:solidFill>
            <a:srgbClr val="FFFFFF"/>
          </a:solidFill>
          <a:ln w="25400">
            <a:solidFill>
              <a:srgbClr val="8A94A6"/>
            </a:solidFill>
          </a:ln>
        </p:spPr>
      </p:sp>
      <p:cxnSp>
        <p:nvCxnSpPr>
          <p:cNvPr id="37" name="線 37"/>
          <p:cNvCxnSpPr/>
          <p:nvPr/>
        </p:nvCxnSpPr>
        <p:spPr>
          <a:xfrm>
            <a:off x="7511796" y="2697480"/>
            <a:ext cx="0" cy="1874520"/>
          </a:xfrm>
          <a:prstGeom prst="line">
            <a:avLst/>
          </a:prstGeom>
          <a:ln w="25400">
            <a:solidFill>
              <a:srgbClr val="8A94A6"/>
            </a:solidFill>
          </a:ln>
        </p:spPr>
      </p:cxnSp>
      <p:sp>
        <p:nvSpPr>
          <p:cNvPr id="38" name="開口 38"/>
          <p:cNvSpPr/>
          <p:nvPr/>
        </p:nvSpPr>
        <p:spPr>
          <a:xfrm>
            <a:off x="7484364" y="3447288"/>
            <a:ext cx="54864" cy="412394"/>
          </a:xfrm>
          <a:prstGeom prst="rect">
            <a:avLst/>
          </a:prstGeom>
          <a:solidFill>
            <a:srgbClr val="FFFFFF"/>
          </a:solidFill>
          <a:ln>
            <a:noFill/>
          </a:ln>
        </p:spPr>
      </p:sp>
      <p:sp>
        <p:nvSpPr>
          <p:cNvPr id="39" name="響き 39"/>
          <p:cNvSpPr/>
          <p:nvPr/>
        </p:nvSpPr>
        <p:spPr>
          <a:xfrm>
            <a:off x="7539228" y="2724912"/>
            <a:ext cx="1037844" cy="1819656"/>
          </a:xfrm>
          <a:prstGeom prst="rect">
            <a:avLst/>
          </a:prstGeom>
          <a:solidFill>
            <a:srgbClr val="E3A33B">
              <a:alpha val="22000"/>
            </a:srgbClr>
          </a:solidFill>
          <a:ln>
            <a:noFill/>
          </a:ln>
        </p:spPr>
      </p:sp>
      <p:cxnSp>
        <p:nvCxnSpPr>
          <p:cNvPr id="40" name="線 40"/>
          <p:cNvCxnSpPr/>
          <p:nvPr/>
        </p:nvCxnSpPr>
        <p:spPr>
          <a:xfrm>
            <a:off x="7074713" y="3653485"/>
            <a:ext cx="917875" cy="0"/>
          </a:xfrm>
          <a:prstGeom prst="line">
            <a:avLst/>
          </a:prstGeom>
          <a:ln w="15875">
            <a:solidFill>
              <a:srgbClr val="1E2430"/>
            </a:solidFill>
            <a:prstDash val="sysDash"/>
            <a:tailEnd type="triangle" w="med" len="med"/>
          </a:ln>
        </p:spPr>
      </p:cxnSp>
      <p:sp>
        <p:nvSpPr>
          <p:cNvPr id="41" name="点 41"/>
          <p:cNvSpPr/>
          <p:nvPr/>
        </p:nvSpPr>
        <p:spPr>
          <a:xfrm>
            <a:off x="7010705" y="3589477"/>
            <a:ext cx="128016" cy="128016"/>
          </a:xfrm>
          <a:prstGeom prst="ellipse">
            <a:avLst/>
          </a:prstGeom>
          <a:solidFill>
            <a:srgbClr val="1E2430"/>
          </a:solidFill>
          <a:ln>
            <a:noFill/>
          </a:ln>
        </p:spPr>
      </p:sp>
      <p:sp>
        <p:nvSpPr>
          <p:cNvPr id="42" name="テキスト 42"/>
          <p:cNvSpPr txBox="1"/>
          <p:nvPr/>
        </p:nvSpPr>
        <p:spPr>
          <a:xfrm>
            <a:off x="6637630" y="3744925"/>
            <a:ext cx="457200" cy="21945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1E2430"/>
                </a:solidFill>
                <a:latin typeface="BIZ UDPゴシック"/>
                <a:ea typeface="BIZ UDPゴシック"/>
                <a:cs typeface="BIZ UDPゴシック"/>
              </a:rPr>
              <a:t>耳</a:t>
            </a:r>
            <a:endParaRPr lang="ja-JP" altLang="en-US" sz="950" dirty="0"/>
          </a:p>
        </p:txBody>
      </p:sp>
      <p:sp>
        <p:nvSpPr>
          <p:cNvPr id="43" name="テキスト 43"/>
          <p:cNvSpPr txBox="1"/>
          <p:nvPr/>
        </p:nvSpPr>
        <p:spPr>
          <a:xfrm>
            <a:off x="6419088" y="4736592"/>
            <a:ext cx="2185416" cy="105156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250" dirty="0">
                <a:solidFill>
                  <a:srgbClr val="1E2430"/>
                </a:solidFill>
                <a:latin typeface="BIZ UDPゴシック"/>
                <a:ea typeface="BIZ UDPゴシック"/>
                <a:cs typeface="BIZ UDPゴシック"/>
              </a:rPr>
              <a:t>その部屋の広さと材質の響きに包まれる</a:t>
            </a:r>
            <a:endParaRPr lang="ja-JP" altLang="en-US" sz="1250" dirty="0"/>
          </a:p>
        </p:txBody>
      </p:sp>
      <p:sp>
        <p:nvSpPr>
          <p:cNvPr id="44" name="矢印 44"/>
          <p:cNvSpPr/>
          <p:nvPr/>
        </p:nvSpPr>
        <p:spPr>
          <a:xfrm>
            <a:off x="8851392" y="3785616"/>
            <a:ext cx="155448" cy="201168"/>
          </a:xfrm>
          <a:prstGeom prst="rightArrow">
            <a:avLst/>
          </a:prstGeom>
          <a:solidFill>
            <a:srgbClr val="C9CED6"/>
          </a:solidFill>
          <a:ln>
            <a:noFill/>
          </a:ln>
        </p:spPr>
      </p:sp>
      <p:sp>
        <p:nvSpPr>
          <p:cNvPr id="45" name="カード 45"/>
          <p:cNvSpPr/>
          <p:nvPr/>
        </p:nvSpPr>
        <p:spPr>
          <a:xfrm>
            <a:off x="9052560" y="1920240"/>
            <a:ext cx="2587752" cy="3931920"/>
          </a:xfrm>
          <a:prstGeom prst="roundRect">
            <a:avLst>
              <a:gd name="adj" fmla="val 4000"/>
            </a:avLst>
          </a:prstGeom>
          <a:solidFill>
            <a:srgbClr val="F0F2F5"/>
          </a:solidFill>
          <a:ln>
            <a:noFill/>
          </a:ln>
        </p:spPr>
      </p:sp>
      <p:sp>
        <p:nvSpPr>
          <p:cNvPr id="46" name="図形 46"/>
          <p:cNvSpPr/>
          <p:nvPr/>
        </p:nvSpPr>
        <p:spPr>
          <a:xfrm>
            <a:off x="9235440" y="2103120"/>
            <a:ext cx="384048" cy="384048"/>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400" b="1" dirty="0">
                <a:solidFill>
                  <a:srgbClr val="1E2430"/>
                </a:solidFill>
                <a:latin typeface="BIZ UDPゴシック"/>
                <a:ea typeface="BIZ UDPゴシック"/>
                <a:cs typeface="BIZ UDPゴシック"/>
              </a:rPr>
              <a:t>4</a:t>
            </a:r>
            <a:endParaRPr lang="ja-JP" altLang="en-US" sz="1400" dirty="0"/>
          </a:p>
        </p:txBody>
      </p:sp>
      <p:sp>
        <p:nvSpPr>
          <p:cNvPr id="47" name="テキスト 47"/>
          <p:cNvSpPr txBox="1"/>
          <p:nvPr/>
        </p:nvSpPr>
        <p:spPr>
          <a:xfrm>
            <a:off x="9710928" y="2139696"/>
            <a:ext cx="1856232" cy="36576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600" b="1" dirty="0">
                <a:solidFill>
                  <a:srgbClr val="1E2430"/>
                </a:solidFill>
                <a:latin typeface="BIZ UDPゴシック"/>
                <a:ea typeface="BIZ UDPゴシック"/>
                <a:cs typeface="BIZ UDPゴシック"/>
              </a:rPr>
              <a:t>隣の部屋に近づく</a:t>
            </a:r>
            <a:endParaRPr lang="ja-JP" altLang="en-US" sz="1600" dirty="0"/>
          </a:p>
        </p:txBody>
      </p:sp>
      <p:sp>
        <p:nvSpPr>
          <p:cNvPr id="48" name="部屋 48"/>
          <p:cNvSpPr/>
          <p:nvPr/>
        </p:nvSpPr>
        <p:spPr>
          <a:xfrm>
            <a:off x="9253728" y="2697480"/>
            <a:ext cx="2185416" cy="1874520"/>
          </a:xfrm>
          <a:prstGeom prst="rect">
            <a:avLst/>
          </a:prstGeom>
          <a:solidFill>
            <a:srgbClr val="FFFFFF"/>
          </a:solidFill>
          <a:ln w="25400">
            <a:solidFill>
              <a:srgbClr val="8A94A6"/>
            </a:solidFill>
          </a:ln>
        </p:spPr>
      </p:sp>
      <p:cxnSp>
        <p:nvCxnSpPr>
          <p:cNvPr id="49" name="線 49"/>
          <p:cNvCxnSpPr/>
          <p:nvPr/>
        </p:nvCxnSpPr>
        <p:spPr>
          <a:xfrm>
            <a:off x="10346436" y="2697480"/>
            <a:ext cx="0" cy="1874520"/>
          </a:xfrm>
          <a:prstGeom prst="line">
            <a:avLst/>
          </a:prstGeom>
          <a:ln w="25400">
            <a:solidFill>
              <a:srgbClr val="8A94A6"/>
            </a:solidFill>
          </a:ln>
        </p:spPr>
      </p:cxnSp>
      <p:sp>
        <p:nvSpPr>
          <p:cNvPr id="50" name="開口 50"/>
          <p:cNvSpPr/>
          <p:nvPr/>
        </p:nvSpPr>
        <p:spPr>
          <a:xfrm>
            <a:off x="10319004" y="3447288"/>
            <a:ext cx="54864" cy="412394"/>
          </a:xfrm>
          <a:prstGeom prst="rect">
            <a:avLst/>
          </a:prstGeom>
          <a:solidFill>
            <a:srgbClr val="FFFFFF"/>
          </a:solidFill>
          <a:ln>
            <a:noFill/>
          </a:ln>
        </p:spPr>
      </p:sp>
      <p:sp>
        <p:nvSpPr>
          <p:cNvPr id="51" name="点 51"/>
          <p:cNvSpPr/>
          <p:nvPr/>
        </p:nvSpPr>
        <p:spPr>
          <a:xfrm>
            <a:off x="9736074" y="3195828"/>
            <a:ext cx="128016" cy="128016"/>
          </a:xfrm>
          <a:prstGeom prst="ellipse">
            <a:avLst/>
          </a:prstGeom>
          <a:solidFill>
            <a:srgbClr val="E3A33B"/>
          </a:solidFill>
          <a:ln>
            <a:noFill/>
          </a:ln>
        </p:spPr>
      </p:sp>
      <p:sp>
        <p:nvSpPr>
          <p:cNvPr id="52" name="テキスト 52"/>
          <p:cNvSpPr txBox="1"/>
          <p:nvPr/>
        </p:nvSpPr>
        <p:spPr>
          <a:xfrm>
            <a:off x="9937242" y="3131820"/>
            <a:ext cx="1097280" cy="21945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1E2430"/>
                </a:solidFill>
                <a:latin typeface="BIZ UDPゴシック"/>
                <a:ea typeface="BIZ UDPゴシック"/>
                <a:cs typeface="BIZ UDPゴシック"/>
              </a:rPr>
              <a:t>音源</a:t>
            </a:r>
            <a:endParaRPr lang="ja-JP" altLang="en-US" sz="950" dirty="0"/>
          </a:p>
        </p:txBody>
      </p:sp>
      <p:sp>
        <p:nvSpPr>
          <p:cNvPr id="53" name="弧 53"/>
          <p:cNvSpPr/>
          <p:nvPr/>
        </p:nvSpPr>
        <p:spPr>
          <a:xfrm>
            <a:off x="10415016" y="3534701"/>
            <a:ext cx="68580" cy="237568"/>
          </a:xfrm>
          <a:custGeom>
            <a:avLst/>
            <a:gdLst/>
            <a:ahLst/>
            <a:cxnLst/>
            <a:rect l="0" t="0" r="r" b="b"/>
            <a:pathLst>
              <a:path w="68580" h="237568" fill="none">
                <a:moveTo>
                  <a:pt x="0" y="237568"/>
                </a:moveTo>
                <a:lnTo>
                  <a:pt x="23198" y="220714"/>
                </a:lnTo>
                <a:lnTo>
                  <a:pt x="42385" y="199405"/>
                </a:lnTo>
                <a:lnTo>
                  <a:pt x="56722" y="174572"/>
                </a:lnTo>
                <a:lnTo>
                  <a:pt x="65583" y="147301"/>
                </a:lnTo>
                <a:lnTo>
                  <a:pt x="68580" y="118784"/>
                </a:lnTo>
                <a:lnTo>
                  <a:pt x="65583" y="90267"/>
                </a:lnTo>
                <a:lnTo>
                  <a:pt x="56722" y="62996"/>
                </a:lnTo>
                <a:lnTo>
                  <a:pt x="42385" y="38163"/>
                </a:lnTo>
                <a:lnTo>
                  <a:pt x="23198" y="16854"/>
                </a:lnTo>
                <a:lnTo>
                  <a:pt x="0" y="0"/>
                </a:lnTo>
              </a:path>
            </a:pathLst>
          </a:custGeom>
          <a:noFill/>
          <a:ln w="15875">
            <a:solidFill>
              <a:srgbClr val="E3A33B"/>
            </a:solidFill>
          </a:ln>
        </p:spPr>
      </p:sp>
      <p:sp>
        <p:nvSpPr>
          <p:cNvPr id="54" name="弧 54"/>
          <p:cNvSpPr/>
          <p:nvPr/>
        </p:nvSpPr>
        <p:spPr>
          <a:xfrm>
            <a:off x="10469880" y="3439674"/>
            <a:ext cx="123444" cy="427623"/>
          </a:xfrm>
          <a:custGeom>
            <a:avLst/>
            <a:gdLst/>
            <a:ahLst/>
            <a:cxnLst/>
            <a:rect l="0" t="0" r="r" b="b"/>
            <a:pathLst>
              <a:path w="123444" h="427623" fill="none">
                <a:moveTo>
                  <a:pt x="0" y="427623"/>
                </a:moveTo>
                <a:lnTo>
                  <a:pt x="41756" y="397285"/>
                </a:lnTo>
                <a:lnTo>
                  <a:pt x="76293" y="358928"/>
                </a:lnTo>
                <a:lnTo>
                  <a:pt x="102099" y="314230"/>
                </a:lnTo>
                <a:lnTo>
                  <a:pt x="118049" y="265142"/>
                </a:lnTo>
                <a:lnTo>
                  <a:pt x="123444" y="213811"/>
                </a:lnTo>
                <a:lnTo>
                  <a:pt x="118049" y="162480"/>
                </a:lnTo>
                <a:lnTo>
                  <a:pt x="102099" y="113393"/>
                </a:lnTo>
                <a:lnTo>
                  <a:pt x="76293" y="68694"/>
                </a:lnTo>
                <a:lnTo>
                  <a:pt x="41756" y="30338"/>
                </a:lnTo>
                <a:lnTo>
                  <a:pt x="0" y="0"/>
                </a:lnTo>
              </a:path>
            </a:pathLst>
          </a:custGeom>
          <a:noFill/>
          <a:ln w="15875">
            <a:solidFill>
              <a:srgbClr val="E3A33B"/>
            </a:solidFill>
          </a:ln>
        </p:spPr>
      </p:sp>
      <p:sp>
        <p:nvSpPr>
          <p:cNvPr id="55" name="点 55"/>
          <p:cNvSpPr/>
          <p:nvPr/>
        </p:nvSpPr>
        <p:spPr>
          <a:xfrm>
            <a:off x="10938053" y="3983126"/>
            <a:ext cx="128016" cy="128016"/>
          </a:xfrm>
          <a:prstGeom prst="ellipse">
            <a:avLst/>
          </a:prstGeom>
          <a:solidFill>
            <a:srgbClr val="1E2430"/>
          </a:solidFill>
          <a:ln>
            <a:noFill/>
          </a:ln>
        </p:spPr>
      </p:sp>
      <p:sp>
        <p:nvSpPr>
          <p:cNvPr id="56" name="テキスト 56"/>
          <p:cNvSpPr txBox="1"/>
          <p:nvPr/>
        </p:nvSpPr>
        <p:spPr>
          <a:xfrm>
            <a:off x="11139221" y="3919118"/>
            <a:ext cx="1097280" cy="21945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1E2430"/>
                </a:solidFill>
                <a:latin typeface="BIZ UDPゴシック"/>
                <a:ea typeface="BIZ UDPゴシック"/>
                <a:cs typeface="BIZ UDPゴシック"/>
              </a:rPr>
              <a:t>耳</a:t>
            </a:r>
            <a:endParaRPr lang="ja-JP" altLang="en-US" sz="950" dirty="0"/>
          </a:p>
        </p:txBody>
      </p:sp>
      <p:cxnSp>
        <p:nvCxnSpPr>
          <p:cNvPr id="57" name="線 57"/>
          <p:cNvCxnSpPr/>
          <p:nvPr/>
        </p:nvCxnSpPr>
        <p:spPr>
          <a:xfrm>
            <a:off x="10419588" y="3699205"/>
            <a:ext cx="491033" cy="302209"/>
          </a:xfrm>
          <a:prstGeom prst="line">
            <a:avLst/>
          </a:prstGeom>
          <a:ln w="15875">
            <a:solidFill>
              <a:srgbClr val="E3A33B"/>
            </a:solidFill>
            <a:tailEnd type="triangle" w="med" len="med"/>
          </a:ln>
        </p:spPr>
      </p:cxnSp>
      <p:sp>
        <p:nvSpPr>
          <p:cNvPr id="58" name="テキスト 58"/>
          <p:cNvSpPr txBox="1"/>
          <p:nvPr/>
        </p:nvSpPr>
        <p:spPr>
          <a:xfrm>
            <a:off x="9253728" y="4736592"/>
            <a:ext cx="2185416" cy="105156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250" dirty="0">
                <a:solidFill>
                  <a:srgbClr val="1E2430"/>
                </a:solidFill>
                <a:latin typeface="BIZ UDPゴシック"/>
                <a:ea typeface="BIZ UDPゴシック"/>
                <a:cs typeface="BIZ UDPゴシック"/>
              </a:rPr>
              <a:t>隣で鳴っている音の響きが、ドアの方向から聞こえる</a:t>
            </a:r>
            <a:endParaRPr lang="ja-JP" altLang="en-US" sz="1250" dirty="0"/>
          </a:p>
        </p:txBody>
      </p:sp>
      <p:sp>
        <p:nvSpPr>
          <p:cNvPr id="59" name="テキスト 59"/>
          <p:cNvSpPr txBox="1"/>
          <p:nvPr/>
        </p:nvSpPr>
        <p:spPr>
          <a:xfrm>
            <a:off x="548640" y="6035040"/>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9A6212"/>
                </a:solidFill>
                <a:latin typeface="BIZ UDPゴシック"/>
                <a:ea typeface="BIZ UDPゴシック"/>
                <a:cs typeface="BIZ UDPゴシック"/>
              </a:rPr>
              <a:t>試聴場面の操作　</a:t>
            </a:r>
            <a:r>
              <a:rPr lang="ja-JP" altLang="en-US" sz="1100" dirty="0">
                <a:solidFill>
                  <a:srgbClr val="5C6677"/>
                </a:solidFill>
                <a:latin typeface="BIZ UDPゴシック"/>
                <a:ea typeface="BIZ UDPゴシック"/>
                <a:cs typeface="BIZ UDPゴシック"/>
              </a:rPr>
              <a:t>W A S D：移動　／　右ドラッグ：向き　／　5・6：ドアを開ける・閉める（左ドラッグでも動く）</a:t>
            </a:r>
            <a:endParaRPr lang="ja-JP" altLang="en-US" sz="1100" dirty="0"/>
          </a:p>
        </p:txBody>
      </p:sp>
      <p:sp>
        <p:nvSpPr>
          <p:cNvPr id="60" name="注 60"/>
          <p:cNvSpPr txBox="1"/>
          <p:nvPr/>
        </p:nvSpPr>
        <p:spPr>
          <a:xfrm>
            <a:off x="548640" y="6419088"/>
            <a:ext cx="9875520" cy="256032"/>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5C6677"/>
                </a:solidFill>
                <a:latin typeface="BIZ UDPゴシック"/>
                <a:ea typeface="BIZ UDPゴシック"/>
                <a:cs typeface="BIZ UDPゴシック"/>
              </a:rPr>
              <a:t>※ 図は上から見た模式図</a:t>
            </a:r>
            <a:endParaRPr lang="ja-JP" altLang="en-US" sz="950" dirty="0"/>
          </a:p>
        </p:txBody>
      </p:sp>
      <p:sp>
        <p:nvSpPr>
          <p:cNvPr id="61" name="ページ番号 61"/>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4</a:t>
            </a:r>
            <a:endParaRPr lang="ja-JP" alt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コンセプト実現のために</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必要な機能の洗い出し</a:t>
            </a:r>
            <a:endParaRPr lang="ja-JP" altLang="en-US" sz="2600" dirty="0"/>
          </a:p>
        </p:txBody>
      </p:sp>
      <p:sp>
        <p:nvSpPr>
          <p:cNvPr id="4" name="テキスト 4"/>
          <p:cNvSpPr txBox="1"/>
          <p:nvPr/>
        </p:nvSpPr>
        <p:spPr>
          <a:xfrm>
            <a:off x="548640" y="1243584"/>
            <a:ext cx="11091672" cy="54864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伝えたい行動ごとに、聞こえてほしいことと、そのために要る機能を切り出した。</a:t>
            </a:r>
            <a:endParaRPr lang="ja-JP" altLang="en-US" sz="1450" dirty="0"/>
          </a:p>
        </p:txBody>
      </p:sp>
      <p:graphicFrame>
        <p:nvGraphicFramePr>
          <p:cNvPr id="5" name="表 5"/>
          <p:cNvGraphicFramePr>
            <a:graphicFrameLocks noGrp="1"/>
          </p:cNvGraphicFramePr>
          <p:nvPr/>
        </p:nvGraphicFramePr>
        <p:xfrm>
          <a:off x="548640" y="1920240"/>
          <a:ext cx="11091672" cy="3749040"/>
        </p:xfrm>
        <a:graphic>
          <a:graphicData uri="http://schemas.openxmlformats.org/drawingml/2006/table">
            <a:tbl>
              <a:tblPr firstRow="1"/>
              <a:tblGrid>
                <a:gridCol w="2331720"/>
                <a:gridCol w="3749040"/>
                <a:gridCol w="5010912"/>
              </a:tblGrid>
              <a:tr h="457200">
                <a:tc>
                  <a:txBody>
                    <a:bodyPr/>
                    <a:lstStyle/>
                    <a:p>
                      <a:pPr algn="l" marL="0" indent="0">
                        <a:spcBef>
                          <a:spcPts val="0"/>
                        </a:spcBef>
                        <a:spcAft>
                          <a:spcPts val="0"/>
                        </a:spcAft>
                        <a:buNone/>
                      </a:pPr>
                      <a:r>
                        <a:rPr lang="ja-JP" altLang="en-US" sz="1300" b="1" dirty="0">
                          <a:solidFill>
                            <a:srgbClr val="1E2430"/>
                          </a:solidFill>
                          <a:latin typeface="BIZ UDPゴシック"/>
                          <a:ea typeface="BIZ UDPゴシック"/>
                          <a:cs typeface="BIZ UDPゴシック"/>
                        </a:rPr>
                        <a:t>伝えたい行動</a:t>
                      </a:r>
                      <a:endParaRPr lang="ja-JP" altLang="en-US" sz="1300" dirty="0"/>
                    </a:p>
                  </a:txBody>
                  <a:tcPr marL="128016" marR="128016" marT="54864" marB="54864" anchor="ctr">
                    <a:lnL w="0">
                      <a:noFill/>
                    </a:lnL>
                    <a:lnR w="0">
                      <a:noFill/>
                    </a:lnR>
                    <a:lnT w="0">
                      <a:noFill/>
                    </a:lnT>
                    <a:lnB w="9525">
                      <a:solidFill>
                        <a:srgbClr val="D5DAE1"/>
                      </a:solidFill>
                    </a:lnB>
                    <a:solidFill>
                      <a:srgbClr val="F6E3BF"/>
                    </a:solidFill>
                  </a:tcPr>
                </a:tc>
                <a:tc>
                  <a:txBody>
                    <a:bodyPr/>
                    <a:lstStyle/>
                    <a:p>
                      <a:pPr algn="l" marL="0" indent="0">
                        <a:spcBef>
                          <a:spcPts val="0"/>
                        </a:spcBef>
                        <a:spcAft>
                          <a:spcPts val="0"/>
                        </a:spcAft>
                        <a:buNone/>
                      </a:pPr>
                      <a:r>
                        <a:rPr lang="ja-JP" altLang="en-US" sz="1300" b="1" dirty="0">
                          <a:solidFill>
                            <a:srgbClr val="1E2430"/>
                          </a:solidFill>
                          <a:latin typeface="BIZ UDPゴシック"/>
                          <a:ea typeface="BIZ UDPゴシック"/>
                          <a:cs typeface="BIZ UDPゴシック"/>
                        </a:rPr>
                        <a:t>聞こえてほしいこと</a:t>
                      </a:r>
                      <a:endParaRPr lang="ja-JP" altLang="en-US" sz="1300" dirty="0"/>
                    </a:p>
                  </a:txBody>
                  <a:tcPr marL="128016" marR="128016" marT="54864" marB="54864" anchor="ctr">
                    <a:lnL w="0">
                      <a:noFill/>
                    </a:lnL>
                    <a:lnR w="0">
                      <a:noFill/>
                    </a:lnR>
                    <a:lnT w="0">
                      <a:noFill/>
                    </a:lnT>
                    <a:lnB w="9525">
                      <a:solidFill>
                        <a:srgbClr val="D5DAE1"/>
                      </a:solidFill>
                    </a:lnB>
                    <a:solidFill>
                      <a:srgbClr val="F6E3BF"/>
                    </a:solidFill>
                  </a:tcPr>
                </a:tc>
                <a:tc>
                  <a:txBody>
                    <a:bodyPr/>
                    <a:lstStyle/>
                    <a:p>
                      <a:pPr algn="l" marL="0" indent="0">
                        <a:spcBef>
                          <a:spcPts val="0"/>
                        </a:spcBef>
                        <a:spcAft>
                          <a:spcPts val="0"/>
                        </a:spcAft>
                        <a:buNone/>
                      </a:pPr>
                      <a:r>
                        <a:rPr lang="ja-JP" altLang="en-US" sz="1300" b="1" dirty="0">
                          <a:solidFill>
                            <a:srgbClr val="1E2430"/>
                          </a:solidFill>
                          <a:latin typeface="BIZ UDPゴシック"/>
                          <a:ea typeface="BIZ UDPゴシック"/>
                          <a:cs typeface="BIZ UDPゴシック"/>
                        </a:rPr>
                        <a:t>必要と考えた機能</a:t>
                      </a:r>
                      <a:endParaRPr lang="ja-JP" altLang="en-US" sz="1300" dirty="0"/>
                    </a:p>
                  </a:txBody>
                  <a:tcPr marL="128016" marR="128016" marT="54864" marB="54864" anchor="ctr">
                    <a:lnL w="0">
                      <a:noFill/>
                    </a:lnL>
                    <a:lnR w="0">
                      <a:noFill/>
                    </a:lnR>
                    <a:lnT w="0">
                      <a:noFill/>
                    </a:lnT>
                    <a:lnB w="9525">
                      <a:solidFill>
                        <a:srgbClr val="D5DAE1"/>
                      </a:solidFill>
                    </a:lnB>
                    <a:solidFill>
                      <a:srgbClr val="F6E3BF"/>
                    </a:solidFill>
                  </a:tcPr>
                </a:tc>
              </a:tr>
              <a:tr h="658368">
                <a:tc>
                  <a:txBody>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ドアを開ける</a:t>
                      </a:r>
                      <a:endParaRPr lang="ja-JP" altLang="en-US" sz="1400" dirty="0"/>
                    </a:p>
                  </a:txBody>
                  <a:tcPr marL="128016" marR="128016" marT="54864" marB="54864" anchor="ctr">
                    <a:lnL w="0">
                      <a:noFill/>
                    </a:lnL>
                    <a:lnR w="0">
                      <a:noFill/>
                    </a:lnR>
                    <a:lnT w="0">
                      <a:noFill/>
                    </a:lnT>
                    <a:lnB w="9525">
                      <a:solidFill>
                        <a:srgbClr val="D5DAE1"/>
                      </a:solidFill>
                    </a:lnB>
                    <a:noFill/>
                  </a:tcPr>
                </a:tc>
                <a:tc>
                  <a:txBody>
                    <a:bodyPr/>
                    <a:lstStyle/>
                    <a:p>
                      <a:pPr algn="l" marL="0" indent="0">
                        <a:spcBef>
                          <a:spcPts val="0"/>
                        </a:spcBef>
                        <a:spcAft>
                          <a:spcPts val="0"/>
                        </a:spcAft>
                        <a:buNone/>
                      </a:pPr>
                      <a:r>
                        <a:rPr lang="ja-JP" altLang="en-US" sz="1350" dirty="0">
                          <a:solidFill>
                            <a:srgbClr val="1E2430"/>
                          </a:solidFill>
                          <a:latin typeface="BIZ UDPゴシック"/>
                          <a:ea typeface="BIZ UDPゴシック"/>
                          <a:cs typeface="BIZ UDPゴシック"/>
                        </a:rPr>
                        <a:t>開いた瞬間と、どこまで開けたか</a:t>
                      </a:r>
                      <a:endParaRPr lang="ja-JP" altLang="en-US" sz="1350" dirty="0"/>
                    </a:p>
                  </a:txBody>
                  <a:tcPr marL="128016" marR="128016" marT="54864" marB="54864" anchor="ctr">
                    <a:lnL w="0">
                      <a:noFill/>
                    </a:lnL>
                    <a:lnR w="0">
                      <a:noFill/>
                    </a:lnR>
                    <a:lnT w="0">
                      <a:noFill/>
                    </a:lnT>
                    <a:lnB w="9525">
                      <a:solidFill>
                        <a:srgbClr val="D5DAE1"/>
                      </a:solidFill>
                    </a:lnB>
                    <a:noFill/>
                  </a:tcPr>
                </a:tc>
                <a:tc>
                  <a:txBody>
                    <a:bodyPr/>
                    <a:lstStyle/>
                    <a:p>
                      <a:pPr algn="l" marL="0" indent="0">
                        <a:lnSpc>
                          <a:spcPct val="120000"/>
                        </a:lnSpc>
                        <a:spcBef>
                          <a:spcPts val="0"/>
                        </a:spcBef>
                        <a:spcAft>
                          <a:spcPts val="0"/>
                        </a:spcAft>
                        <a:buNone/>
                      </a:pPr>
                      <a:r>
                        <a:rPr lang="ja-JP" altLang="en-US" sz="1350" dirty="0">
                          <a:solidFill>
                            <a:srgbClr val="1E2430"/>
                          </a:solidFill>
                          <a:latin typeface="BIZ UDPゴシック"/>
                          <a:ea typeface="BIZ UDPゴシック"/>
                          <a:cs typeface="BIZ UDPゴシック"/>
                        </a:rPr>
                        <a:t>扉の板の影を毎フレーム解く（直接音・透過音・回折音）</a:t>
                      </a:r>
                      <a:endParaRPr lang="ja-JP" altLang="en-US" sz="1350" dirty="0"/>
                    </a:p>
                  </a:txBody>
                  <a:tcPr marL="128016" marR="128016" marT="54864" marB="54864" anchor="ctr">
                    <a:lnL w="0">
                      <a:noFill/>
                    </a:lnL>
                    <a:lnR w="0">
                      <a:noFill/>
                    </a:lnR>
                    <a:lnT w="0">
                      <a:noFill/>
                    </a:lnT>
                    <a:lnB w="9525">
                      <a:solidFill>
                        <a:srgbClr val="D5DAE1"/>
                      </a:solidFill>
                    </a:lnB>
                    <a:noFill/>
                  </a:tcPr>
                </a:tc>
              </a:tr>
              <a:tr h="658368">
                <a:tc>
                  <a:txBody>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部屋の中を歩く</a:t>
                      </a:r>
                      <a:endParaRPr lang="ja-JP" altLang="en-US" sz="1400" dirty="0"/>
                    </a:p>
                  </a:txBody>
                  <a:tcPr marL="128016" marR="128016" marT="54864" marB="54864" anchor="ctr">
                    <a:lnL w="0">
                      <a:noFill/>
                    </a:lnL>
                    <a:lnR w="0">
                      <a:noFill/>
                    </a:lnR>
                    <a:lnT w="0">
                      <a:noFill/>
                    </a:lnT>
                    <a:lnB w="9525">
                      <a:solidFill>
                        <a:srgbClr val="D5DAE1"/>
                      </a:solidFill>
                    </a:lnB>
                    <a:noFill/>
                  </a:tcPr>
                </a:tc>
                <a:tc>
                  <a:txBody>
                    <a:bodyPr/>
                    <a:lstStyle/>
                    <a:p>
                      <a:pPr algn="l" marL="0" indent="0">
                        <a:spcBef>
                          <a:spcPts val="0"/>
                        </a:spcBef>
                        <a:spcAft>
                          <a:spcPts val="0"/>
                        </a:spcAft>
                        <a:buNone/>
                      </a:pPr>
                      <a:r>
                        <a:rPr lang="ja-JP" altLang="en-US" sz="1350" dirty="0">
                          <a:solidFill>
                            <a:srgbClr val="1E2430"/>
                          </a:solidFill>
                          <a:latin typeface="BIZ UDPゴシック"/>
                          <a:ea typeface="BIZ UDPゴシック"/>
                          <a:cs typeface="BIZ UDPゴシック"/>
                        </a:rPr>
                        <a:t>壁の近さ・響きの広がり</a:t>
                      </a:r>
                      <a:endParaRPr lang="ja-JP" altLang="en-US" sz="1350" dirty="0"/>
                    </a:p>
                  </a:txBody>
                  <a:tcPr marL="128016" marR="128016" marT="54864" marB="54864" anchor="ctr">
                    <a:lnL w="0">
                      <a:noFill/>
                    </a:lnL>
                    <a:lnR w="0">
                      <a:noFill/>
                    </a:lnR>
                    <a:lnT w="0">
                      <a:noFill/>
                    </a:lnT>
                    <a:lnB w="9525">
                      <a:solidFill>
                        <a:srgbClr val="D5DAE1"/>
                      </a:solidFill>
                    </a:lnB>
                    <a:noFill/>
                  </a:tcPr>
                </a:tc>
                <a:tc>
                  <a:txBody>
                    <a:bodyPr/>
                    <a:lstStyle/>
                    <a:p>
                      <a:pPr algn="l" marL="0" indent="0">
                        <a:lnSpc>
                          <a:spcPct val="120000"/>
                        </a:lnSpc>
                        <a:spcBef>
                          <a:spcPts val="0"/>
                        </a:spcBef>
                        <a:spcAft>
                          <a:spcPts val="0"/>
                        </a:spcAft>
                        <a:buNone/>
                      </a:pPr>
                      <a:r>
                        <a:rPr lang="ja-JP" altLang="en-US" sz="1350" dirty="0">
                          <a:solidFill>
                            <a:srgbClr val="1E2430"/>
                          </a:solidFill>
                          <a:latin typeface="BIZ UDPゴシック"/>
                          <a:ea typeface="BIZ UDPゴシック"/>
                          <a:cs typeface="BIZ UDPゴシック"/>
                        </a:rPr>
                        <a:t>虚像をつないだ面音源（初期反射）</a:t>
                      </a:r>
                      <a:endParaRPr lang="ja-JP" altLang="en-US" sz="1350" dirty="0"/>
                    </a:p>
                  </a:txBody>
                  <a:tcPr marL="128016" marR="128016" marT="54864" marB="54864" anchor="ctr">
                    <a:lnL w="0">
                      <a:noFill/>
                    </a:lnL>
                    <a:lnR w="0">
                      <a:noFill/>
                    </a:lnR>
                    <a:lnT w="0">
                      <a:noFill/>
                    </a:lnT>
                    <a:lnB w="9525">
                      <a:solidFill>
                        <a:srgbClr val="D5DAE1"/>
                      </a:solidFill>
                    </a:lnB>
                    <a:noFill/>
                  </a:tcPr>
                </a:tc>
              </a:tr>
              <a:tr h="658368">
                <a:tc>
                  <a:txBody>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別の部屋に入る</a:t>
                      </a:r>
                      <a:endParaRPr lang="ja-JP" altLang="en-US" sz="1400" dirty="0"/>
                    </a:p>
                  </a:txBody>
                  <a:tcPr marL="128016" marR="128016" marT="54864" marB="54864" anchor="ctr">
                    <a:lnL w="0">
                      <a:noFill/>
                    </a:lnL>
                    <a:lnR w="0">
                      <a:noFill/>
                    </a:lnR>
                    <a:lnT w="0">
                      <a:noFill/>
                    </a:lnT>
                    <a:lnB w="9525">
                      <a:solidFill>
                        <a:srgbClr val="D5DAE1"/>
                      </a:solidFill>
                    </a:lnB>
                    <a:noFill/>
                  </a:tcPr>
                </a:tc>
                <a:tc>
                  <a:txBody>
                    <a:bodyPr/>
                    <a:lstStyle/>
                    <a:p>
                      <a:pPr algn="l" marL="0" indent="0">
                        <a:spcBef>
                          <a:spcPts val="0"/>
                        </a:spcBef>
                        <a:spcAft>
                          <a:spcPts val="0"/>
                        </a:spcAft>
                        <a:buNone/>
                      </a:pPr>
                      <a:r>
                        <a:rPr lang="ja-JP" altLang="en-US" sz="1350" dirty="0">
                          <a:solidFill>
                            <a:srgbClr val="1E2430"/>
                          </a:solidFill>
                          <a:latin typeface="BIZ UDPゴシック"/>
                          <a:ea typeface="BIZ UDPゴシック"/>
                          <a:cs typeface="BIZ UDPゴシック"/>
                        </a:rPr>
                        <a:t>その部屋らしい響きの長さと色</a:t>
                      </a:r>
                      <a:endParaRPr lang="ja-JP" altLang="en-US" sz="1350" dirty="0"/>
                    </a:p>
                  </a:txBody>
                  <a:tcPr marL="128016" marR="128016" marT="54864" marB="54864" anchor="ctr">
                    <a:lnL w="0">
                      <a:noFill/>
                    </a:lnL>
                    <a:lnR w="0">
                      <a:noFill/>
                    </a:lnR>
                    <a:lnT w="0">
                      <a:noFill/>
                    </a:lnT>
                    <a:lnB w="9525">
                      <a:solidFill>
                        <a:srgbClr val="D5DAE1"/>
                      </a:solidFill>
                    </a:lnB>
                    <a:noFill/>
                  </a:tcPr>
                </a:tc>
                <a:tc>
                  <a:txBody>
                    <a:bodyPr/>
                    <a:lstStyle/>
                    <a:p>
                      <a:pPr algn="l" marL="0" indent="0">
                        <a:lnSpc>
                          <a:spcPct val="120000"/>
                        </a:lnSpc>
                        <a:spcBef>
                          <a:spcPts val="0"/>
                        </a:spcBef>
                        <a:spcAft>
                          <a:spcPts val="0"/>
                        </a:spcAft>
                        <a:buNone/>
                      </a:pPr>
                      <a:r>
                        <a:rPr lang="ja-JP" altLang="en-US" sz="1350" dirty="0">
                          <a:solidFill>
                            <a:srgbClr val="1E2430"/>
                          </a:solidFill>
                          <a:latin typeface="BIZ UDPゴシック"/>
                          <a:ea typeface="BIZ UDPゴシック"/>
                          <a:cs typeface="BIZ UDPゴシック"/>
                        </a:rPr>
                        <a:t>形と材質から残響時間を出し、部屋ごとの FDN で鳴らす</a:t>
                      </a:r>
                      <a:endParaRPr lang="ja-JP" altLang="en-US" sz="1350" dirty="0"/>
                    </a:p>
                  </a:txBody>
                  <a:tcPr marL="128016" marR="128016" marT="54864" marB="54864" anchor="ctr">
                    <a:lnL w="0">
                      <a:noFill/>
                    </a:lnL>
                    <a:lnR w="0">
                      <a:noFill/>
                    </a:lnR>
                    <a:lnT w="0">
                      <a:noFill/>
                    </a:lnT>
                    <a:lnB w="9525">
                      <a:solidFill>
                        <a:srgbClr val="D5DAE1"/>
                      </a:solidFill>
                    </a:lnB>
                    <a:noFill/>
                  </a:tcPr>
                </a:tc>
              </a:tr>
              <a:tr h="658368">
                <a:tc>
                  <a:txBody>
                    <a:bodyPr/>
                    <a:lstStyle/>
                    <a:p>
                      <a:pPr algn="l" marL="0" indent="0">
                        <a:spcBef>
                          <a:spcPts val="0"/>
                        </a:spcBef>
                        <a:spcAft>
                          <a:spcPts val="0"/>
                        </a:spcAft>
                        <a:buNone/>
                      </a:pPr>
                      <a:r>
                        <a:rPr lang="ja-JP" altLang="en-US" sz="1400" b="1" dirty="0">
                          <a:solidFill>
                            <a:srgbClr val="9A6212"/>
                          </a:solidFill>
                          <a:latin typeface="BIZ UDPゴシック"/>
                          <a:ea typeface="BIZ UDPゴシック"/>
                          <a:cs typeface="BIZ UDPゴシック"/>
                        </a:rPr>
                        <a:t>隣の部屋に近づく</a:t>
                      </a:r>
                      <a:endParaRPr lang="ja-JP" altLang="en-US" sz="1400" dirty="0"/>
                    </a:p>
                  </a:txBody>
                  <a:tcPr marL="128016" marR="128016" marT="54864" marB="54864" anchor="ctr">
                    <a:lnL w="0">
                      <a:noFill/>
                    </a:lnL>
                    <a:lnR w="0">
                      <a:noFill/>
                    </a:lnR>
                    <a:lnT w="0">
                      <a:noFill/>
                    </a:lnT>
                    <a:lnB w="9525">
                      <a:solidFill>
                        <a:srgbClr val="D5DAE1"/>
                      </a:solidFill>
                    </a:lnB>
                    <a:noFill/>
                  </a:tcPr>
                </a:tc>
                <a:tc>
                  <a:txBody>
                    <a:bodyPr/>
                    <a:lstStyle/>
                    <a:p>
                      <a:pPr algn="l" marL="0" indent="0">
                        <a:spcBef>
                          <a:spcPts val="0"/>
                        </a:spcBef>
                        <a:spcAft>
                          <a:spcPts val="0"/>
                        </a:spcAft>
                        <a:buNone/>
                      </a:pPr>
                      <a:r>
                        <a:rPr lang="ja-JP" altLang="en-US" sz="1350" dirty="0">
                          <a:solidFill>
                            <a:srgbClr val="1E2430"/>
                          </a:solidFill>
                          <a:latin typeface="BIZ UDPゴシック"/>
                          <a:ea typeface="BIZ UDPゴシック"/>
                          <a:cs typeface="BIZ UDPゴシック"/>
                        </a:rPr>
                        <a:t>隣で鳴っている音の場所</a:t>
                      </a:r>
                      <a:endParaRPr lang="ja-JP" altLang="en-US" sz="1350" dirty="0"/>
                    </a:p>
                  </a:txBody>
                  <a:tcPr marL="128016" marR="128016" marT="54864" marB="54864" anchor="ctr">
                    <a:lnL w="0">
                      <a:noFill/>
                    </a:lnL>
                    <a:lnR w="0">
                      <a:noFill/>
                    </a:lnR>
                    <a:lnT w="0">
                      <a:noFill/>
                    </a:lnT>
                    <a:lnB w="9525">
                      <a:solidFill>
                        <a:srgbClr val="D5DAE1"/>
                      </a:solidFill>
                    </a:lnB>
                    <a:noFill/>
                  </a:tcPr>
                </a:tc>
                <a:tc>
                  <a:txBody>
                    <a:bodyPr/>
                    <a:lstStyle/>
                    <a:p>
                      <a:pPr algn="l" marL="0" indent="0">
                        <a:lnSpc>
                          <a:spcPct val="120000"/>
                        </a:lnSpc>
                        <a:spcBef>
                          <a:spcPts val="0"/>
                        </a:spcBef>
                        <a:spcAft>
                          <a:spcPts val="0"/>
                        </a:spcAft>
                        <a:buNone/>
                      </a:pPr>
                      <a:r>
                        <a:rPr lang="ja-JP" altLang="en-US" sz="1350" dirty="0">
                          <a:solidFill>
                            <a:srgbClr val="1E2430"/>
                          </a:solidFill>
                          <a:latin typeface="BIZ UDPゴシック"/>
                          <a:ea typeface="BIZ UDPゴシック"/>
                          <a:cs typeface="BIZ UDPゴシック"/>
                        </a:rPr>
                        <a:t>ドアのリスナープローブ（隣の響きをドアから鳴らす）</a:t>
                      </a:r>
                      <a:endParaRPr lang="ja-JP" altLang="en-US" sz="1350" dirty="0"/>
                    </a:p>
                  </a:txBody>
                  <a:tcPr marL="128016" marR="128016" marT="54864" marB="54864" anchor="ctr">
                    <a:lnL w="0">
                      <a:noFill/>
                    </a:lnL>
                    <a:lnR w="0">
                      <a:noFill/>
                    </a:lnR>
                    <a:lnT w="0">
                      <a:noFill/>
                    </a:lnT>
                    <a:lnB w="9525">
                      <a:solidFill>
                        <a:srgbClr val="D5DAE1"/>
                      </a:solidFill>
                    </a:lnB>
                    <a:noFill/>
                  </a:tcPr>
                </a:tc>
              </a:tr>
              <a:tr h="658368">
                <a:tc>
                  <a:txBody>
                    <a:bodyPr/>
                    <a:lstStyle/>
                    <a:p>
                      <a:pPr algn="l" marL="0" indent="0">
                        <a:spcBef>
                          <a:spcPts val="0"/>
                        </a:spcBef>
                        <a:spcAft>
                          <a:spcPts val="0"/>
                        </a:spcAft>
                        <a:buNone/>
                      </a:pPr>
                      <a:r>
                        <a:rPr lang="ja-JP" altLang="en-US" sz="1400" b="1" dirty="0">
                          <a:solidFill>
                            <a:srgbClr val="5C6677"/>
                          </a:solidFill>
                          <a:latin typeface="BIZ UDPゴシック"/>
                          <a:ea typeface="BIZ UDPゴシック"/>
                          <a:cs typeface="BIZ UDPゴシック"/>
                        </a:rPr>
                        <a:t>どの行動でも</a:t>
                      </a:r>
                      <a:endParaRPr lang="ja-JP" altLang="en-US" sz="1400" dirty="0"/>
                    </a:p>
                  </a:txBody>
                  <a:tcPr marL="128016" marR="128016" marT="54864" marB="54864" anchor="ctr">
                    <a:lnL w="0">
                      <a:noFill/>
                    </a:lnL>
                    <a:lnR w="0">
                      <a:noFill/>
                    </a:lnR>
                    <a:lnT w="0">
                      <a:noFill/>
                    </a:lnT>
                    <a:lnB w="9525">
                      <a:solidFill>
                        <a:srgbClr val="D5DAE1"/>
                      </a:solidFill>
                    </a:lnB>
                    <a:noFill/>
                  </a:tcPr>
                </a:tc>
                <a:tc>
                  <a:txBody>
                    <a:bodyPr/>
                    <a:lstStyle/>
                    <a:p>
                      <a:pPr algn="l" marL="0" indent="0">
                        <a:spcBef>
                          <a:spcPts val="0"/>
                        </a:spcBef>
                        <a:spcAft>
                          <a:spcPts val="0"/>
                        </a:spcAft>
                        <a:buNone/>
                      </a:pPr>
                      <a:r>
                        <a:rPr lang="ja-JP" altLang="en-US" sz="1350" dirty="0">
                          <a:solidFill>
                            <a:srgbClr val="1E2430"/>
                          </a:solidFill>
                          <a:latin typeface="BIZ UDPゴシック"/>
                          <a:ea typeface="BIZ UDPゴシック"/>
                          <a:cs typeface="BIZ UDPゴシック"/>
                        </a:rPr>
                        <a:t>途切れない・遅れない・方向がわかる</a:t>
                      </a:r>
                      <a:endParaRPr lang="ja-JP" altLang="en-US" sz="1350" dirty="0"/>
                    </a:p>
                  </a:txBody>
                  <a:tcPr marL="128016" marR="128016" marT="54864" marB="54864" anchor="ctr">
                    <a:lnL w="0">
                      <a:noFill/>
                    </a:lnL>
                    <a:lnR w="0">
                      <a:noFill/>
                    </a:lnR>
                    <a:lnT w="0">
                      <a:noFill/>
                    </a:lnT>
                    <a:lnB w="9525">
                      <a:solidFill>
                        <a:srgbClr val="D5DAE1"/>
                      </a:solidFill>
                    </a:lnB>
                    <a:noFill/>
                  </a:tcPr>
                </a:tc>
                <a:tc>
                  <a:txBody>
                    <a:bodyPr/>
                    <a:lstStyle/>
                    <a:p>
                      <a:pPr algn="l" marL="0" indent="0">
                        <a:lnSpc>
                          <a:spcPct val="120000"/>
                        </a:lnSpc>
                        <a:spcBef>
                          <a:spcPts val="0"/>
                        </a:spcBef>
                        <a:spcAft>
                          <a:spcPts val="0"/>
                        </a:spcAft>
                        <a:buNone/>
                      </a:pPr>
                      <a:r>
                        <a:rPr lang="ja-JP" altLang="en-US" sz="1350" dirty="0">
                          <a:solidFill>
                            <a:srgbClr val="1E2430"/>
                          </a:solidFill>
                          <a:latin typeface="BIZ UDPゴシック"/>
                          <a:ea typeface="BIZ UDPゴシック"/>
                          <a:cs typeface="BIZ UDPゴシック"/>
                        </a:rPr>
                        <a:t>足さずに配る仕組み（帳簿）と、行動に寄せた計算の配分</a:t>
                      </a:r>
                      <a:endParaRPr lang="ja-JP" altLang="en-US" sz="1350" dirty="0"/>
                    </a:p>
                  </a:txBody>
                  <a:tcPr marL="128016" marR="128016" marT="54864" marB="54864" anchor="ctr">
                    <a:lnL w="0">
                      <a:noFill/>
                    </a:lnL>
                    <a:lnR w="0">
                      <a:noFill/>
                    </a:lnR>
                    <a:lnT w="0">
                      <a:noFill/>
                    </a:lnT>
                    <a:lnB w="9525">
                      <a:solidFill>
                        <a:srgbClr val="D5DAE1"/>
                      </a:solidFill>
                    </a:lnB>
                    <a:noFill/>
                  </a:tcPr>
                </a:tc>
              </a:tr>
            </a:tbl>
          </a:graphicData>
        </a:graphic>
      </p:graphicFrame>
      <p:sp>
        <p:nvSpPr>
          <p:cNvPr id="6" name="カード 6"/>
          <p:cNvSpPr/>
          <p:nvPr/>
        </p:nvSpPr>
        <p:spPr>
          <a:xfrm>
            <a:off x="548640" y="5715000"/>
            <a:ext cx="11091672" cy="566928"/>
          </a:xfrm>
          <a:prstGeom prst="roundRect">
            <a:avLst>
              <a:gd name="adj" fmla="val 4000"/>
            </a:avLst>
          </a:prstGeom>
          <a:solidFill>
            <a:srgbClr val="FBF1DF"/>
          </a:solidFill>
          <a:ln>
            <a:noFill/>
          </a:ln>
        </p:spPr>
      </p:sp>
      <p:sp>
        <p:nvSpPr>
          <p:cNvPr id="7" name="テキスト 7"/>
          <p:cNvSpPr txBox="1"/>
          <p:nvPr/>
        </p:nvSpPr>
        <p:spPr>
          <a:xfrm>
            <a:off x="822960" y="5715000"/>
            <a:ext cx="10543032" cy="566928"/>
          </a:xfrm>
          <a:prstGeom prst="rect">
            <a:avLst/>
          </a:prstGeom>
          <a:noFill/>
        </p:spPr>
        <p:txBody>
          <a:bodyPr wrap="square" lIns="0" tIns="0" rIns="0" bIns="0" rtlCol="0" anchor="ctr">
            <a:noAutofit/>
          </a:bodyPr>
          <a:lstStyle/>
          <a:p>
            <a:pPr algn="l" marL="0" indent="0">
              <a:spcBef>
                <a:spcPts val="0"/>
              </a:spcBef>
              <a:spcAft>
                <a:spcPts val="0"/>
              </a:spcAft>
              <a:buNone/>
            </a:pPr>
            <a:r>
              <a:rPr lang="ja-JP" altLang="en-US" sz="1350" dirty="0">
                <a:solidFill>
                  <a:srgbClr val="1E2430"/>
                </a:solidFill>
                <a:latin typeface="BIZ UDPゴシック"/>
                <a:ea typeface="BIZ UDPゴシック"/>
                <a:cs typeface="BIZ UDPゴシック"/>
              </a:rPr>
              <a:t>コンセプトを行動に分けて、</a:t>
            </a:r>
            <a:r>
              <a:rPr lang="ja-JP" altLang="en-US" sz="1350" b="1" dirty="0">
                <a:solidFill>
                  <a:srgbClr val="9A6212"/>
                </a:solidFill>
                <a:latin typeface="BIZ UDPゴシック"/>
                <a:ea typeface="BIZ UDPゴシック"/>
                <a:cs typeface="BIZ UDPゴシック"/>
              </a:rPr>
              <a:t>行動ごとに要る機能だけ</a:t>
            </a:r>
            <a:r>
              <a:rPr lang="ja-JP" altLang="en-US" sz="1350" dirty="0">
                <a:solidFill>
                  <a:srgbClr val="1E2430"/>
                </a:solidFill>
                <a:latin typeface="BIZ UDPゴシック"/>
                <a:ea typeface="BIZ UDPゴシック"/>
                <a:cs typeface="BIZ UDPゴシック"/>
              </a:rPr>
              <a:t>を作る。全体は 3 つの決め事（連続性・即時性・方向性）で揃える。</a:t>
            </a:r>
            <a:endParaRPr lang="ja-JP" altLang="en-US" sz="1350" dirty="0"/>
          </a:p>
        </p:txBody>
      </p:sp>
      <p:sp>
        <p:nvSpPr>
          <p:cNvPr id="8" name="ページ番号 8"/>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8</a:t>
            </a:r>
            <a:endParaRPr lang="ja-JP" alt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2"/>
          <p:cNvSpPr txBox="1"/>
          <p:nvPr/>
        </p:nvSpPr>
        <p:spPr>
          <a:xfrm>
            <a:off x="548640" y="2852928"/>
            <a:ext cx="11091672" cy="822960"/>
          </a:xfrm>
          <a:prstGeom prst="rect">
            <a:avLst/>
          </a:prstGeom>
          <a:noFill/>
        </p:spPr>
        <p:txBody>
          <a:bodyPr wrap="square" lIns="0" tIns="0" rIns="0" bIns="0" rtlCol="0" anchor="ctr">
            <a:noAutofit/>
          </a:bodyPr>
          <a:lstStyle/>
          <a:p>
            <a:pPr algn="ctr" marL="0" indent="0">
              <a:spcBef>
                <a:spcPts val="0"/>
              </a:spcBef>
              <a:spcAft>
                <a:spcPts val="0"/>
              </a:spcAft>
              <a:buNone/>
            </a:pPr>
            <a:r>
              <a:rPr lang="ja-JP" altLang="en-US" sz="4000" b="1" dirty="0">
                <a:solidFill>
                  <a:srgbClr val="1E2430"/>
                </a:solidFill>
                <a:latin typeface="BIZ UDPゴシック"/>
                <a:ea typeface="BIZ UDPゴシック"/>
                <a:cs typeface="BIZ UDPゴシック"/>
              </a:rPr>
              <a:t>実装内容</a:t>
            </a:r>
            <a:endParaRPr lang="ja-JP" altLang="en-US" sz="4000" dirty="0"/>
          </a:p>
        </p:txBody>
      </p:sp>
      <p:cxnSp>
        <p:nvCxnSpPr>
          <p:cNvPr id="3" name="線 3"/>
          <p:cNvCxnSpPr/>
          <p:nvPr/>
        </p:nvCxnSpPr>
        <p:spPr>
          <a:xfrm>
            <a:off x="3813048" y="3840480"/>
            <a:ext cx="4572000" cy="0"/>
          </a:xfrm>
          <a:prstGeom prst="line">
            <a:avLst/>
          </a:prstGeom>
          <a:ln w="31750">
            <a:solidFill>
              <a:srgbClr val="E3A33B"/>
            </a:solidFill>
          </a:ln>
        </p:spPr>
      </p:cxnSp>
      <p:sp>
        <p:nvSpPr>
          <p:cNvPr id="4" name="ページ番号 4"/>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9</a:t>
            </a:r>
            <a:endParaRPr lang="ja-JP" alt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2"/>
          <p:cNvSpPr txBox="1"/>
          <p:nvPr/>
        </p:nvSpPr>
        <p:spPr>
          <a:xfrm>
            <a:off x="548640" y="2487168"/>
            <a:ext cx="11091672" cy="36576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600" b="1" dirty="0">
                <a:solidFill>
                  <a:srgbClr val="9A6212"/>
                </a:solidFill>
                <a:latin typeface="BIZ UDPゴシック"/>
                <a:ea typeface="BIZ UDPゴシック"/>
                <a:cs typeface="BIZ UDPゴシック"/>
              </a:rPr>
              <a:t>実装内容　1</a:t>
            </a:r>
            <a:endParaRPr lang="ja-JP" altLang="en-US" sz="1600" dirty="0"/>
          </a:p>
        </p:txBody>
      </p:sp>
      <p:sp>
        <p:nvSpPr>
          <p:cNvPr id="3" name="テキスト 3"/>
          <p:cNvSpPr txBox="1"/>
          <p:nvPr/>
        </p:nvSpPr>
        <p:spPr>
          <a:xfrm>
            <a:off x="548640" y="2852928"/>
            <a:ext cx="11091672" cy="822960"/>
          </a:xfrm>
          <a:prstGeom prst="rect">
            <a:avLst/>
          </a:prstGeom>
          <a:noFill/>
        </p:spPr>
        <p:txBody>
          <a:bodyPr wrap="square" lIns="0" tIns="0" rIns="0" bIns="0" rtlCol="0" anchor="ctr">
            <a:noAutofit/>
          </a:bodyPr>
          <a:lstStyle/>
          <a:p>
            <a:pPr algn="ctr" marL="0" indent="0">
              <a:spcBef>
                <a:spcPts val="0"/>
              </a:spcBef>
              <a:spcAft>
                <a:spcPts val="0"/>
              </a:spcAft>
              <a:buNone/>
            </a:pPr>
            <a:r>
              <a:rPr lang="ja-JP" altLang="en-US" sz="4000" b="1" dirty="0">
                <a:solidFill>
                  <a:srgbClr val="1E2430"/>
                </a:solidFill>
                <a:latin typeface="BIZ UDPゴシック"/>
                <a:ea typeface="BIZ UDPゴシック"/>
                <a:cs typeface="BIZ UDPゴシック"/>
              </a:rPr>
              <a:t>実装物と全体ルール</a:t>
            </a:r>
            <a:endParaRPr lang="ja-JP" altLang="en-US" sz="4000" dirty="0"/>
          </a:p>
        </p:txBody>
      </p:sp>
      <p:cxnSp>
        <p:nvCxnSpPr>
          <p:cNvPr id="4" name="線 4"/>
          <p:cNvCxnSpPr/>
          <p:nvPr/>
        </p:nvCxnSpPr>
        <p:spPr>
          <a:xfrm>
            <a:off x="3813048" y="3840480"/>
            <a:ext cx="4572000" cy="0"/>
          </a:xfrm>
          <a:prstGeom prst="line">
            <a:avLst/>
          </a:prstGeom>
          <a:ln w="31750">
            <a:solidFill>
              <a:srgbClr val="E3A33B"/>
            </a:solidFill>
          </a:ln>
        </p:spPr>
      </p:cxnSp>
      <p:sp>
        <p:nvSpPr>
          <p:cNvPr id="5" name="ページ番号 5"/>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11</a:t>
            </a:r>
            <a:endParaRPr lang="ja-JP" alt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実装物と全体ルール</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実装物 ── ゲームは箱を渡し、音はエンジンが作る</a:t>
            </a:r>
            <a:endParaRPr lang="ja-JP" altLang="en-US" sz="2600" dirty="0"/>
          </a:p>
        </p:txBody>
      </p:sp>
      <p:sp>
        <p:nvSpPr>
          <p:cNvPr id="4" name="テキスト 4"/>
          <p:cNvSpPr txBox="1"/>
          <p:nvPr/>
        </p:nvSpPr>
        <p:spPr>
          <a:xfrm>
            <a:off x="548640" y="1243584"/>
            <a:ext cx="11091672" cy="54864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C++ で作った音響エンジン（DLL）。Unity には依存せず、今は Unity を試聴台にしている。</a:t>
            </a:r>
            <a:endParaRPr lang="ja-JP" altLang="en-US" sz="1450" dirty="0"/>
          </a:p>
        </p:txBody>
      </p:sp>
      <p:sp>
        <p:nvSpPr>
          <p:cNvPr id="5" name="カード 5"/>
          <p:cNvSpPr/>
          <p:nvPr/>
        </p:nvSpPr>
        <p:spPr>
          <a:xfrm>
            <a:off x="548640" y="1920240"/>
            <a:ext cx="2148840" cy="2606040"/>
          </a:xfrm>
          <a:prstGeom prst="roundRect">
            <a:avLst>
              <a:gd name="adj" fmla="val 4000"/>
            </a:avLst>
          </a:prstGeom>
          <a:solidFill>
            <a:srgbClr val="F0F2F5"/>
          </a:solidFill>
          <a:ln>
            <a:noFill/>
          </a:ln>
        </p:spPr>
      </p:sp>
      <p:sp>
        <p:nvSpPr>
          <p:cNvPr id="6" name="テキスト 6"/>
          <p:cNvSpPr txBox="1"/>
          <p:nvPr/>
        </p:nvSpPr>
        <p:spPr>
          <a:xfrm>
            <a:off x="731520" y="2029968"/>
            <a:ext cx="182880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400" b="1" dirty="0">
                <a:solidFill>
                  <a:srgbClr val="1E2430"/>
                </a:solidFill>
                <a:latin typeface="BIZ UDPゴシック"/>
                <a:ea typeface="BIZ UDPゴシック"/>
                <a:cs typeface="BIZ UDPゴシック"/>
              </a:rPr>
              <a:t>ゲーム側</a:t>
            </a:r>
            <a:endParaRPr lang="ja-JP" altLang="en-US" sz="1400" dirty="0"/>
          </a:p>
        </p:txBody>
      </p:sp>
      <p:sp>
        <p:nvSpPr>
          <p:cNvPr id="7" name="テキスト 7"/>
          <p:cNvSpPr txBox="1"/>
          <p:nvPr/>
        </p:nvSpPr>
        <p:spPr>
          <a:xfrm>
            <a:off x="731520" y="2359152"/>
            <a:ext cx="1828800" cy="457200"/>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050" dirty="0">
                <a:solidFill>
                  <a:srgbClr val="5C6677"/>
                </a:solidFill>
                <a:latin typeface="BIZ UDPゴシック"/>
                <a:ea typeface="BIZ UDPゴシック"/>
                <a:cs typeface="BIZ UDPゴシック"/>
              </a:rPr>
              <a:t>今：Unity（試聴台）</a:t>
            </a:r>
            <a:br>
              <a:rPr lang="ja-JP" altLang="en-US" sz="1050" dirty="0">
                <a:solidFill>
                  <a:srgbClr val="5C6677"/>
                </a:solidFill>
                <a:latin typeface="BIZ UDPゴシック"/>
                <a:ea typeface="BIZ UDPゴシック"/>
                <a:cs typeface="BIZ UDPゴシック"/>
              </a:rPr>
            </a:br>
            <a:r>
              <a:rPr lang="ja-JP" altLang="en-US" sz="1050" dirty="0">
                <a:solidFill>
                  <a:srgbClr val="5C6677"/>
                </a:solidFill>
                <a:latin typeface="BIZ UDPゴシック"/>
                <a:ea typeface="BIZ UDPゴシック"/>
                <a:cs typeface="BIZ UDPゴシック"/>
              </a:rPr>
              <a:t>最終：DirectX＋Wwise</a:t>
            </a:r>
            <a:endParaRPr lang="ja-JP" altLang="en-US" sz="1050" dirty="0"/>
          </a:p>
        </p:txBody>
      </p:sp>
      <p:sp>
        <p:nvSpPr>
          <p:cNvPr id="8" name="図形 8"/>
          <p:cNvSpPr/>
          <p:nvPr/>
        </p:nvSpPr>
        <p:spPr>
          <a:xfrm>
            <a:off x="731520" y="2926080"/>
            <a:ext cx="1783080" cy="402336"/>
          </a:xfrm>
          <a:prstGeom prst="roundRect">
            <a:avLst>
              <a:gd name="adj" fmla="val 20000"/>
            </a:avLst>
          </a:prstGeom>
          <a:solidFill>
            <a:srgbClr val="FFFFFF"/>
          </a:solidFill>
          <a:ln w="12700">
            <a:solidFill>
              <a:srgbClr val="C9CED6"/>
            </a:solidFill>
          </a:ln>
        </p:spPr>
        <p:txBody>
          <a:bodyPr wrap="square" lIns="54864" tIns="27432" rIns="54864" bIns="27432" rtlCol="0" anchor="ctr">
            <a:noAutofit/>
          </a:bodyPr>
          <a:lstStyle/>
          <a:p>
            <a:pPr algn="ctr" marL="0" indent="0">
              <a:spcBef>
                <a:spcPts val="0"/>
              </a:spcBef>
              <a:spcAft>
                <a:spcPts val="0"/>
              </a:spcAft>
              <a:buNone/>
            </a:pPr>
            <a:r>
              <a:rPr lang="ja-JP" altLang="en-US" sz="1200" dirty="0">
                <a:solidFill>
                  <a:srgbClr val="1E2430"/>
                </a:solidFill>
                <a:latin typeface="BIZ UDPゴシック"/>
                <a:ea typeface="BIZ UDPゴシック"/>
                <a:cs typeface="BIZ UDPゴシック"/>
              </a:rPr>
              <a:t>壁・床・扉の箱</a:t>
            </a:r>
            <a:endParaRPr lang="ja-JP" altLang="en-US" sz="1200" dirty="0"/>
          </a:p>
        </p:txBody>
      </p:sp>
      <p:sp>
        <p:nvSpPr>
          <p:cNvPr id="9" name="図形 9"/>
          <p:cNvSpPr/>
          <p:nvPr/>
        </p:nvSpPr>
        <p:spPr>
          <a:xfrm>
            <a:off x="731520" y="3438144"/>
            <a:ext cx="1783080" cy="402336"/>
          </a:xfrm>
          <a:prstGeom prst="roundRect">
            <a:avLst>
              <a:gd name="adj" fmla="val 20000"/>
            </a:avLst>
          </a:prstGeom>
          <a:solidFill>
            <a:srgbClr val="FFFFFF"/>
          </a:solidFill>
          <a:ln w="12700">
            <a:solidFill>
              <a:srgbClr val="C9CED6"/>
            </a:solidFill>
          </a:ln>
        </p:spPr>
        <p:txBody>
          <a:bodyPr wrap="square" lIns="54864" tIns="27432" rIns="54864" bIns="27432" rtlCol="0" anchor="ctr">
            <a:noAutofit/>
          </a:bodyPr>
          <a:lstStyle/>
          <a:p>
            <a:pPr algn="ctr" marL="0" indent="0">
              <a:spcBef>
                <a:spcPts val="0"/>
              </a:spcBef>
              <a:spcAft>
                <a:spcPts val="0"/>
              </a:spcAft>
              <a:buNone/>
            </a:pPr>
            <a:r>
              <a:rPr lang="ja-JP" altLang="en-US" sz="1200" dirty="0">
                <a:solidFill>
                  <a:srgbClr val="1E2430"/>
                </a:solidFill>
                <a:latin typeface="BIZ UDPゴシック"/>
                <a:ea typeface="BIZ UDPゴシック"/>
                <a:cs typeface="BIZ UDPゴシック"/>
              </a:rPr>
              <a:t>音源と耳の位置</a:t>
            </a:r>
            <a:endParaRPr lang="ja-JP" altLang="en-US" sz="1200" dirty="0"/>
          </a:p>
        </p:txBody>
      </p:sp>
      <p:sp>
        <p:nvSpPr>
          <p:cNvPr id="10" name="図形 10"/>
          <p:cNvSpPr/>
          <p:nvPr/>
        </p:nvSpPr>
        <p:spPr>
          <a:xfrm>
            <a:off x="731520" y="3950208"/>
            <a:ext cx="1783080" cy="402336"/>
          </a:xfrm>
          <a:prstGeom prst="roundRect">
            <a:avLst>
              <a:gd name="adj" fmla="val 20000"/>
            </a:avLst>
          </a:prstGeom>
          <a:solidFill>
            <a:srgbClr val="FFFFFF"/>
          </a:solidFill>
          <a:ln w="12700">
            <a:solidFill>
              <a:srgbClr val="C9CED6"/>
            </a:solidFill>
          </a:ln>
        </p:spPr>
        <p:txBody>
          <a:bodyPr wrap="square" lIns="54864" tIns="27432" rIns="54864" bIns="27432" rtlCol="0" anchor="ctr">
            <a:noAutofit/>
          </a:bodyPr>
          <a:lstStyle/>
          <a:p>
            <a:pPr algn="ctr" marL="0" indent="0">
              <a:spcBef>
                <a:spcPts val="0"/>
              </a:spcBef>
              <a:spcAft>
                <a:spcPts val="0"/>
              </a:spcAft>
              <a:buNone/>
            </a:pPr>
            <a:r>
              <a:rPr lang="ja-JP" altLang="en-US" sz="1200" dirty="0">
                <a:solidFill>
                  <a:srgbClr val="1E2430"/>
                </a:solidFill>
                <a:latin typeface="BIZ UDPゴシック"/>
                <a:ea typeface="BIZ UDPゴシック"/>
                <a:cs typeface="BIZ UDPゴシック"/>
              </a:rPr>
              <a:t>鳴らす音</a:t>
            </a:r>
            <a:endParaRPr lang="ja-JP" altLang="en-US" sz="1200" dirty="0"/>
          </a:p>
        </p:txBody>
      </p:sp>
      <p:cxnSp>
        <p:nvCxnSpPr>
          <p:cNvPr id="11" name="線 11"/>
          <p:cNvCxnSpPr/>
          <p:nvPr/>
        </p:nvCxnSpPr>
        <p:spPr>
          <a:xfrm>
            <a:off x="2743200" y="3429000"/>
            <a:ext cx="411480" cy="0"/>
          </a:xfrm>
          <a:prstGeom prst="line">
            <a:avLst/>
          </a:prstGeom>
          <a:ln w="25400">
            <a:solidFill>
              <a:srgbClr val="E3A33B"/>
            </a:solidFill>
            <a:tailEnd type="triangle" w="med" len="med"/>
          </a:ln>
        </p:spPr>
      </p:cxnSp>
      <p:sp>
        <p:nvSpPr>
          <p:cNvPr id="12" name="テキスト 12"/>
          <p:cNvSpPr txBox="1"/>
          <p:nvPr/>
        </p:nvSpPr>
        <p:spPr>
          <a:xfrm>
            <a:off x="2606040" y="3108960"/>
            <a:ext cx="731520" cy="27432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050" b="1" dirty="0">
                <a:solidFill>
                  <a:srgbClr val="9A6212"/>
                </a:solidFill>
                <a:latin typeface="BIZ UDPゴシック"/>
                <a:ea typeface="BIZ UDPゴシック"/>
                <a:cs typeface="BIZ UDPゴシック"/>
              </a:rPr>
              <a:t>C API</a:t>
            </a:r>
            <a:endParaRPr lang="ja-JP" altLang="en-US" sz="1050" dirty="0"/>
          </a:p>
        </p:txBody>
      </p:sp>
      <p:sp>
        <p:nvSpPr>
          <p:cNvPr id="13" name="カード 13"/>
          <p:cNvSpPr/>
          <p:nvPr/>
        </p:nvSpPr>
        <p:spPr>
          <a:xfrm>
            <a:off x="3200400" y="1920240"/>
            <a:ext cx="7086600" cy="2606040"/>
          </a:xfrm>
          <a:prstGeom prst="roundRect">
            <a:avLst>
              <a:gd name="adj" fmla="val 4000"/>
            </a:avLst>
          </a:prstGeom>
          <a:solidFill>
            <a:srgbClr val="FBF1DF"/>
          </a:solidFill>
          <a:ln>
            <a:noFill/>
          </a:ln>
        </p:spPr>
      </p:sp>
      <p:sp>
        <p:nvSpPr>
          <p:cNvPr id="14" name="テキスト 14"/>
          <p:cNvSpPr txBox="1"/>
          <p:nvPr/>
        </p:nvSpPr>
        <p:spPr>
          <a:xfrm>
            <a:off x="3383280" y="2029968"/>
            <a:ext cx="457200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400" b="1" dirty="0">
                <a:solidFill>
                  <a:srgbClr val="1E2430"/>
                </a:solidFill>
                <a:latin typeface="BIZ UDPゴシック"/>
                <a:ea typeface="BIZ UDPゴシック"/>
                <a:cs typeface="BIZ UDPゴシック"/>
              </a:rPr>
              <a:t>音響エンジン（C++）</a:t>
            </a:r>
            <a:endParaRPr lang="ja-JP" altLang="en-US" sz="1400" dirty="0"/>
          </a:p>
        </p:txBody>
      </p:sp>
      <p:sp>
        <p:nvSpPr>
          <p:cNvPr id="15" name="図形 15"/>
          <p:cNvSpPr/>
          <p:nvPr/>
        </p:nvSpPr>
        <p:spPr>
          <a:xfrm>
            <a:off x="3383280" y="2432304"/>
            <a:ext cx="1591056" cy="1920240"/>
          </a:xfrm>
          <a:prstGeom prst="roundRect">
            <a:avLst>
              <a:gd name="adj" fmla="val 8000"/>
            </a:avLst>
          </a:prstGeom>
          <a:solidFill>
            <a:srgbClr val="FFFFFF"/>
          </a:solidFill>
          <a:ln>
            <a:noFill/>
          </a:ln>
        </p:spPr>
      </p:sp>
      <p:sp>
        <p:nvSpPr>
          <p:cNvPr id="16" name="テキスト 16"/>
          <p:cNvSpPr txBox="1"/>
          <p:nvPr/>
        </p:nvSpPr>
        <p:spPr>
          <a:xfrm>
            <a:off x="3493008" y="2523744"/>
            <a:ext cx="1408176" cy="29260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50" b="1" dirty="0">
                <a:solidFill>
                  <a:srgbClr val="9A6212"/>
                </a:solidFill>
                <a:latin typeface="BIZ UDPゴシック"/>
                <a:ea typeface="BIZ UDPゴシック"/>
                <a:cs typeface="BIZ UDPゴシック"/>
              </a:rPr>
              <a:t>① </a:t>
            </a:r>
            <a:r>
              <a:rPr lang="ja-JP" altLang="en-US" sz="1250" b="1" dirty="0">
                <a:solidFill>
                  <a:srgbClr val="1E2430"/>
                </a:solidFill>
                <a:latin typeface="BIZ UDPゴシック"/>
                <a:ea typeface="BIZ UDPゴシック"/>
                <a:cs typeface="BIZ UDPゴシック"/>
              </a:rPr>
              <a:t>部屋を見つける</a:t>
            </a:r>
            <a:endParaRPr lang="ja-JP" altLang="en-US" sz="1250" dirty="0"/>
          </a:p>
        </p:txBody>
      </p:sp>
      <p:sp>
        <p:nvSpPr>
          <p:cNvPr id="17" name="テキスト 17"/>
          <p:cNvSpPr txBox="1"/>
          <p:nvPr/>
        </p:nvSpPr>
        <p:spPr>
          <a:xfrm>
            <a:off x="3493008" y="2907792"/>
            <a:ext cx="1371600" cy="137160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150" dirty="0">
                <a:solidFill>
                  <a:srgbClr val="1E2430"/>
                </a:solidFill>
                <a:latin typeface="BIZ UDPゴシック"/>
                <a:ea typeface="BIZ UDPゴシック"/>
                <a:cs typeface="BIZ UDPゴシック"/>
              </a:rPr>
              <a:t>箱から部屋と戸口を自動で。焼くのは部屋の形だけ</a:t>
            </a:r>
            <a:endParaRPr lang="ja-JP" altLang="en-US" sz="1150" dirty="0"/>
          </a:p>
        </p:txBody>
      </p:sp>
      <p:sp>
        <p:nvSpPr>
          <p:cNvPr id="18" name="矢印 18"/>
          <p:cNvSpPr/>
          <p:nvPr/>
        </p:nvSpPr>
        <p:spPr>
          <a:xfrm>
            <a:off x="4965192" y="3310128"/>
            <a:ext cx="137160" cy="182880"/>
          </a:xfrm>
          <a:prstGeom prst="rightArrow">
            <a:avLst/>
          </a:prstGeom>
          <a:solidFill>
            <a:srgbClr val="E3A33B"/>
          </a:solidFill>
          <a:ln>
            <a:noFill/>
          </a:ln>
        </p:spPr>
      </p:sp>
      <p:sp>
        <p:nvSpPr>
          <p:cNvPr id="19" name="図形 19"/>
          <p:cNvSpPr/>
          <p:nvPr/>
        </p:nvSpPr>
        <p:spPr>
          <a:xfrm>
            <a:off x="5093208" y="2432304"/>
            <a:ext cx="1591056" cy="1920240"/>
          </a:xfrm>
          <a:prstGeom prst="roundRect">
            <a:avLst>
              <a:gd name="adj" fmla="val 8000"/>
            </a:avLst>
          </a:prstGeom>
          <a:solidFill>
            <a:srgbClr val="FFFFFF"/>
          </a:solidFill>
          <a:ln>
            <a:noFill/>
          </a:ln>
        </p:spPr>
      </p:sp>
      <p:sp>
        <p:nvSpPr>
          <p:cNvPr id="20" name="テキスト 20"/>
          <p:cNvSpPr txBox="1"/>
          <p:nvPr/>
        </p:nvSpPr>
        <p:spPr>
          <a:xfrm>
            <a:off x="5202936" y="2523744"/>
            <a:ext cx="1408176" cy="29260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50" b="1" dirty="0">
                <a:solidFill>
                  <a:srgbClr val="9A6212"/>
                </a:solidFill>
                <a:latin typeface="BIZ UDPゴシック"/>
                <a:ea typeface="BIZ UDPゴシック"/>
                <a:cs typeface="BIZ UDPゴシック"/>
              </a:rPr>
              <a:t>② </a:t>
            </a:r>
            <a:r>
              <a:rPr lang="ja-JP" altLang="en-US" sz="1250" b="1" dirty="0">
                <a:solidFill>
                  <a:srgbClr val="1E2430"/>
                </a:solidFill>
                <a:latin typeface="BIZ UDPゴシック"/>
                <a:ea typeface="BIZ UDPゴシック"/>
                <a:cs typeface="BIZ UDPゴシック"/>
              </a:rPr>
              <a:t>音の道を解く</a:t>
            </a:r>
            <a:endParaRPr lang="ja-JP" altLang="en-US" sz="1250" dirty="0"/>
          </a:p>
        </p:txBody>
      </p:sp>
      <p:sp>
        <p:nvSpPr>
          <p:cNvPr id="21" name="テキスト 21"/>
          <p:cNvSpPr txBox="1"/>
          <p:nvPr/>
        </p:nvSpPr>
        <p:spPr>
          <a:xfrm>
            <a:off x="5202936" y="2907792"/>
            <a:ext cx="1371600" cy="137160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150" dirty="0">
                <a:solidFill>
                  <a:srgbClr val="1E2430"/>
                </a:solidFill>
                <a:latin typeface="BIZ UDPゴシック"/>
                <a:ea typeface="BIZ UDPゴシック"/>
                <a:cs typeface="BIZ UDPゴシック"/>
              </a:rPr>
              <a:t>直接・透過・回折・初期反射・後期残響を毎フレーム</a:t>
            </a:r>
            <a:endParaRPr lang="ja-JP" altLang="en-US" sz="1150" dirty="0"/>
          </a:p>
        </p:txBody>
      </p:sp>
      <p:sp>
        <p:nvSpPr>
          <p:cNvPr id="22" name="矢印 22"/>
          <p:cNvSpPr/>
          <p:nvPr/>
        </p:nvSpPr>
        <p:spPr>
          <a:xfrm>
            <a:off x="6675120" y="3310128"/>
            <a:ext cx="137160" cy="182880"/>
          </a:xfrm>
          <a:prstGeom prst="rightArrow">
            <a:avLst/>
          </a:prstGeom>
          <a:solidFill>
            <a:srgbClr val="E3A33B"/>
          </a:solidFill>
          <a:ln>
            <a:noFill/>
          </a:ln>
        </p:spPr>
      </p:sp>
      <p:sp>
        <p:nvSpPr>
          <p:cNvPr id="23" name="図形 23"/>
          <p:cNvSpPr/>
          <p:nvPr/>
        </p:nvSpPr>
        <p:spPr>
          <a:xfrm>
            <a:off x="6803136" y="2432304"/>
            <a:ext cx="1591056" cy="1920240"/>
          </a:xfrm>
          <a:prstGeom prst="roundRect">
            <a:avLst>
              <a:gd name="adj" fmla="val 8000"/>
            </a:avLst>
          </a:prstGeom>
          <a:solidFill>
            <a:srgbClr val="FFFFFF"/>
          </a:solidFill>
          <a:ln>
            <a:noFill/>
          </a:ln>
        </p:spPr>
      </p:sp>
      <p:sp>
        <p:nvSpPr>
          <p:cNvPr id="24" name="テキスト 24"/>
          <p:cNvSpPr txBox="1"/>
          <p:nvPr/>
        </p:nvSpPr>
        <p:spPr>
          <a:xfrm>
            <a:off x="6912864" y="2523744"/>
            <a:ext cx="1408176" cy="29260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50" b="1" dirty="0">
                <a:solidFill>
                  <a:srgbClr val="9A6212"/>
                </a:solidFill>
                <a:latin typeface="BIZ UDPゴシック"/>
                <a:ea typeface="BIZ UDPゴシック"/>
                <a:cs typeface="BIZ UDPゴシック"/>
              </a:rPr>
              <a:t>③ </a:t>
            </a:r>
            <a:r>
              <a:rPr lang="ja-JP" altLang="en-US" sz="1250" b="1" dirty="0">
                <a:solidFill>
                  <a:srgbClr val="1E2430"/>
                </a:solidFill>
                <a:latin typeface="BIZ UDPゴシック"/>
                <a:ea typeface="BIZ UDPゴシック"/>
                <a:cs typeface="BIZ UDPゴシック"/>
              </a:rPr>
              <a:t>配る</a:t>
            </a:r>
            <a:endParaRPr lang="ja-JP" altLang="en-US" sz="1250" dirty="0"/>
          </a:p>
        </p:txBody>
      </p:sp>
      <p:sp>
        <p:nvSpPr>
          <p:cNvPr id="25" name="テキスト 25"/>
          <p:cNvSpPr txBox="1"/>
          <p:nvPr/>
        </p:nvSpPr>
        <p:spPr>
          <a:xfrm>
            <a:off x="6912864" y="2907792"/>
            <a:ext cx="1371600" cy="137160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150" dirty="0">
                <a:solidFill>
                  <a:srgbClr val="1E2430"/>
                </a:solidFill>
                <a:latin typeface="BIZ UDPゴシック"/>
                <a:ea typeface="BIZ UDPゴシック"/>
                <a:cs typeface="BIZ UDPゴシック"/>
              </a:rPr>
              <a:t>5 つの道に 1 回ずつ。量は帳簿で確かめる</a:t>
            </a:r>
            <a:endParaRPr lang="ja-JP" altLang="en-US" sz="1150" dirty="0"/>
          </a:p>
        </p:txBody>
      </p:sp>
      <p:sp>
        <p:nvSpPr>
          <p:cNvPr id="26" name="矢印 26"/>
          <p:cNvSpPr/>
          <p:nvPr/>
        </p:nvSpPr>
        <p:spPr>
          <a:xfrm>
            <a:off x="8385048" y="3310128"/>
            <a:ext cx="137160" cy="182880"/>
          </a:xfrm>
          <a:prstGeom prst="rightArrow">
            <a:avLst/>
          </a:prstGeom>
          <a:solidFill>
            <a:srgbClr val="E3A33B"/>
          </a:solidFill>
          <a:ln>
            <a:noFill/>
          </a:ln>
        </p:spPr>
      </p:sp>
      <p:sp>
        <p:nvSpPr>
          <p:cNvPr id="27" name="図形 27"/>
          <p:cNvSpPr/>
          <p:nvPr/>
        </p:nvSpPr>
        <p:spPr>
          <a:xfrm>
            <a:off x="8513064" y="2432304"/>
            <a:ext cx="1591056" cy="1920240"/>
          </a:xfrm>
          <a:prstGeom prst="roundRect">
            <a:avLst>
              <a:gd name="adj" fmla="val 8000"/>
            </a:avLst>
          </a:prstGeom>
          <a:solidFill>
            <a:srgbClr val="FFFFFF"/>
          </a:solidFill>
          <a:ln>
            <a:noFill/>
          </a:ln>
        </p:spPr>
      </p:sp>
      <p:sp>
        <p:nvSpPr>
          <p:cNvPr id="28" name="テキスト 28"/>
          <p:cNvSpPr txBox="1"/>
          <p:nvPr/>
        </p:nvSpPr>
        <p:spPr>
          <a:xfrm>
            <a:off x="8622792" y="2523744"/>
            <a:ext cx="1408176" cy="29260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50" b="1" dirty="0">
                <a:solidFill>
                  <a:srgbClr val="9A6212"/>
                </a:solidFill>
                <a:latin typeface="BIZ UDPゴシック"/>
                <a:ea typeface="BIZ UDPゴシック"/>
                <a:cs typeface="BIZ UDPゴシック"/>
              </a:rPr>
              <a:t>④ </a:t>
            </a:r>
            <a:r>
              <a:rPr lang="ja-JP" altLang="en-US" sz="1250" b="1" dirty="0">
                <a:solidFill>
                  <a:srgbClr val="1E2430"/>
                </a:solidFill>
                <a:latin typeface="BIZ UDPゴシック"/>
                <a:ea typeface="BIZ UDPゴシック"/>
                <a:cs typeface="BIZ UDPゴシック"/>
              </a:rPr>
              <a:t>鳴らす</a:t>
            </a:r>
            <a:endParaRPr lang="ja-JP" altLang="en-US" sz="1250" dirty="0"/>
          </a:p>
        </p:txBody>
      </p:sp>
      <p:sp>
        <p:nvSpPr>
          <p:cNvPr id="29" name="テキスト 29"/>
          <p:cNvSpPr txBox="1"/>
          <p:nvPr/>
        </p:nvSpPr>
        <p:spPr>
          <a:xfrm>
            <a:off x="8622792" y="2907792"/>
            <a:ext cx="1371600" cy="137160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150" dirty="0">
                <a:solidFill>
                  <a:srgbClr val="1E2430"/>
                </a:solidFill>
                <a:latin typeface="BIZ UDPゴシック"/>
                <a:ea typeface="BIZ UDPゴシック"/>
                <a:cs typeface="BIZ UDPゴシック"/>
              </a:rPr>
              <a:t>両耳（HRTF）・方向バス・部屋ごとの FDN</a:t>
            </a:r>
            <a:endParaRPr lang="ja-JP" altLang="en-US" sz="1150" dirty="0"/>
          </a:p>
        </p:txBody>
      </p:sp>
      <p:cxnSp>
        <p:nvCxnSpPr>
          <p:cNvPr id="30" name="線 30"/>
          <p:cNvCxnSpPr/>
          <p:nvPr/>
        </p:nvCxnSpPr>
        <p:spPr>
          <a:xfrm>
            <a:off x="10332720" y="3429000"/>
            <a:ext cx="411480" cy="0"/>
          </a:xfrm>
          <a:prstGeom prst="line">
            <a:avLst/>
          </a:prstGeom>
          <a:ln w="25400">
            <a:solidFill>
              <a:srgbClr val="E3A33B"/>
            </a:solidFill>
            <a:tailEnd type="triangle" w="med" len="med"/>
          </a:ln>
        </p:spPr>
      </p:cxnSp>
      <p:sp>
        <p:nvSpPr>
          <p:cNvPr id="31" name="テキスト 31"/>
          <p:cNvSpPr txBox="1"/>
          <p:nvPr/>
        </p:nvSpPr>
        <p:spPr>
          <a:xfrm>
            <a:off x="10744200" y="3291840"/>
            <a:ext cx="86868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50" b="1" dirty="0">
                <a:solidFill>
                  <a:srgbClr val="1E2430"/>
                </a:solidFill>
                <a:latin typeface="BIZ UDPゴシック"/>
                <a:ea typeface="BIZ UDPゴシック"/>
                <a:cs typeface="BIZ UDPゴシック"/>
              </a:rPr>
              <a:t>両耳の音</a:t>
            </a:r>
            <a:endParaRPr lang="ja-JP" altLang="en-US" sz="1150" dirty="0"/>
          </a:p>
        </p:txBody>
      </p:sp>
      <p:sp>
        <p:nvSpPr>
          <p:cNvPr id="32" name="カード 32"/>
          <p:cNvSpPr/>
          <p:nvPr/>
        </p:nvSpPr>
        <p:spPr>
          <a:xfrm>
            <a:off x="548640" y="4754880"/>
            <a:ext cx="3657600" cy="1371600"/>
          </a:xfrm>
          <a:prstGeom prst="roundRect">
            <a:avLst>
              <a:gd name="adj" fmla="val 4000"/>
            </a:avLst>
          </a:prstGeom>
          <a:solidFill>
            <a:srgbClr val="F0F2F5"/>
          </a:solidFill>
          <a:ln>
            <a:noFill/>
          </a:ln>
        </p:spPr>
      </p:sp>
      <p:sp>
        <p:nvSpPr>
          <p:cNvPr id="33" name="テキスト 33"/>
          <p:cNvSpPr txBox="1"/>
          <p:nvPr/>
        </p:nvSpPr>
        <p:spPr>
          <a:xfrm>
            <a:off x="777240" y="4873752"/>
            <a:ext cx="320040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300" b="1" dirty="0">
                <a:solidFill>
                  <a:srgbClr val="9A6212"/>
                </a:solidFill>
                <a:latin typeface="BIZ UDPゴシック"/>
                <a:ea typeface="BIZ UDPゴシック"/>
                <a:cs typeface="BIZ UDPゴシック"/>
              </a:rPr>
              <a:t>焼くのは形だけ</a:t>
            </a:r>
            <a:endParaRPr lang="ja-JP" altLang="en-US" sz="1300" dirty="0"/>
          </a:p>
        </p:txBody>
      </p:sp>
      <p:sp>
        <p:nvSpPr>
          <p:cNvPr id="34" name="テキスト 34"/>
          <p:cNvSpPr txBox="1"/>
          <p:nvPr/>
        </p:nvSpPr>
        <p:spPr>
          <a:xfrm>
            <a:off x="777240" y="5212080"/>
            <a:ext cx="3246120" cy="82296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部屋の形から決まる物だけ先に作り、扉と耳の位置は毎フレーム解く</a:t>
            </a:r>
            <a:endParaRPr lang="ja-JP" altLang="en-US" sz="1200" dirty="0"/>
          </a:p>
        </p:txBody>
      </p:sp>
      <p:sp>
        <p:nvSpPr>
          <p:cNvPr id="35" name="カード 35"/>
          <p:cNvSpPr/>
          <p:nvPr/>
        </p:nvSpPr>
        <p:spPr>
          <a:xfrm>
            <a:off x="4265676" y="4754880"/>
            <a:ext cx="3657600" cy="1371600"/>
          </a:xfrm>
          <a:prstGeom prst="roundRect">
            <a:avLst>
              <a:gd name="adj" fmla="val 4000"/>
            </a:avLst>
          </a:prstGeom>
          <a:solidFill>
            <a:srgbClr val="F0F2F5"/>
          </a:solidFill>
          <a:ln>
            <a:noFill/>
          </a:ln>
        </p:spPr>
      </p:sp>
      <p:sp>
        <p:nvSpPr>
          <p:cNvPr id="36" name="テキスト 36"/>
          <p:cNvSpPr txBox="1"/>
          <p:nvPr/>
        </p:nvSpPr>
        <p:spPr>
          <a:xfrm>
            <a:off x="4494276" y="4873752"/>
            <a:ext cx="320040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300" b="1" dirty="0">
                <a:solidFill>
                  <a:srgbClr val="9A6212"/>
                </a:solidFill>
                <a:latin typeface="BIZ UDPゴシック"/>
                <a:ea typeface="BIZ UDPゴシック"/>
                <a:cs typeface="BIZ UDPゴシック"/>
              </a:rPr>
              <a:t>行動に寄せた計算</a:t>
            </a:r>
            <a:endParaRPr lang="ja-JP" altLang="en-US" sz="1300" dirty="0"/>
          </a:p>
        </p:txBody>
      </p:sp>
      <p:sp>
        <p:nvSpPr>
          <p:cNvPr id="37" name="テキスト 37"/>
          <p:cNvSpPr txBox="1"/>
          <p:nvPr/>
        </p:nvSpPr>
        <p:spPr>
          <a:xfrm>
            <a:off x="4494276" y="5212080"/>
            <a:ext cx="3246120" cy="82296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音源を厳密・簡易・保持の段に分け、操作している物の音を最優先に計算する</a:t>
            </a:r>
            <a:endParaRPr lang="ja-JP" altLang="en-US" sz="1200" dirty="0"/>
          </a:p>
        </p:txBody>
      </p:sp>
      <p:sp>
        <p:nvSpPr>
          <p:cNvPr id="38" name="カード 38"/>
          <p:cNvSpPr/>
          <p:nvPr/>
        </p:nvSpPr>
        <p:spPr>
          <a:xfrm>
            <a:off x="7982712" y="4754880"/>
            <a:ext cx="3657600" cy="1371600"/>
          </a:xfrm>
          <a:prstGeom prst="roundRect">
            <a:avLst>
              <a:gd name="adj" fmla="val 4000"/>
            </a:avLst>
          </a:prstGeom>
          <a:solidFill>
            <a:srgbClr val="F0F2F5"/>
          </a:solidFill>
          <a:ln>
            <a:noFill/>
          </a:ln>
        </p:spPr>
      </p:sp>
      <p:sp>
        <p:nvSpPr>
          <p:cNvPr id="39" name="テキスト 39"/>
          <p:cNvSpPr txBox="1"/>
          <p:nvPr/>
        </p:nvSpPr>
        <p:spPr>
          <a:xfrm>
            <a:off x="8211312" y="4873752"/>
            <a:ext cx="320040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300" b="1" dirty="0">
                <a:solidFill>
                  <a:srgbClr val="9A6212"/>
                </a:solidFill>
                <a:latin typeface="BIZ UDPゴシック"/>
                <a:ea typeface="BIZ UDPゴシック"/>
                <a:cs typeface="BIZ UDPゴシック"/>
              </a:rPr>
              <a:t>GPU でも解ける</a:t>
            </a:r>
            <a:endParaRPr lang="ja-JP" altLang="en-US" sz="1300" dirty="0"/>
          </a:p>
        </p:txBody>
      </p:sp>
      <p:sp>
        <p:nvSpPr>
          <p:cNvPr id="40" name="テキスト 40"/>
          <p:cNvSpPr txBox="1"/>
          <p:nvPr/>
        </p:nvSpPr>
        <p:spPr>
          <a:xfrm>
            <a:off x="8211312" y="5212080"/>
            <a:ext cx="3246120" cy="82296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レイだけを GPU で解き、音は CPU で作る。CPU との差は ±0.05 dB</a:t>
            </a:r>
            <a:endParaRPr lang="ja-JP" altLang="en-US" sz="1200" dirty="0"/>
          </a:p>
        </p:txBody>
      </p:sp>
      <p:sp>
        <p:nvSpPr>
          <p:cNvPr id="41" name="ページ番号 41"/>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12</a:t>
            </a:r>
            <a:endParaRPr lang="ja-JP" alt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実装物と全体ルール</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足さずに配る ── 同じ音を二重に数えないように</a:t>
            </a:r>
            <a:endParaRPr lang="ja-JP" altLang="en-US" sz="2600" dirty="0"/>
          </a:p>
        </p:txBody>
      </p:sp>
      <p:sp>
        <p:nvSpPr>
          <p:cNvPr id="4" name="カード 4"/>
          <p:cNvSpPr/>
          <p:nvPr/>
        </p:nvSpPr>
        <p:spPr>
          <a:xfrm>
            <a:off x="548640" y="1417320"/>
            <a:ext cx="5349240" cy="1600200"/>
          </a:xfrm>
          <a:prstGeom prst="roundRect">
            <a:avLst>
              <a:gd name="adj" fmla="val 4000"/>
            </a:avLst>
          </a:prstGeom>
          <a:solidFill>
            <a:srgbClr val="F0F2F5"/>
          </a:solidFill>
          <a:ln>
            <a:noFill/>
          </a:ln>
        </p:spPr>
      </p:sp>
      <p:sp>
        <p:nvSpPr>
          <p:cNvPr id="5" name="ラベル 5"/>
          <p:cNvSpPr/>
          <p:nvPr/>
        </p:nvSpPr>
        <p:spPr>
          <a:xfrm>
            <a:off x="777240" y="1600200"/>
            <a:ext cx="914400" cy="310896"/>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理由</a:t>
            </a:r>
            <a:endParaRPr lang="ja-JP" altLang="en-US" sz="1300" dirty="0"/>
          </a:p>
        </p:txBody>
      </p:sp>
      <p:sp>
        <p:nvSpPr>
          <p:cNvPr id="6" name="テキスト 6"/>
          <p:cNvSpPr txBox="1"/>
          <p:nvPr/>
        </p:nvSpPr>
        <p:spPr>
          <a:xfrm>
            <a:off x="777240" y="2002536"/>
            <a:ext cx="4892040" cy="941832"/>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300" dirty="0">
                <a:solidFill>
                  <a:srgbClr val="1E2430"/>
                </a:solidFill>
                <a:latin typeface="BIZ UDPゴシック"/>
                <a:ea typeface="BIZ UDPゴシック"/>
                <a:cs typeface="BIZ UDPゴシック"/>
              </a:rPr>
              <a:t>扉・反射・残響を別々に計算して足すと、同じ音を二重に数えたり、二重に減らしたりしても気づけない。前の作りでは、扉越しの音の量に答えが 2 つあり、15.7 dB 食い違っていた。</a:t>
            </a:r>
            <a:endParaRPr lang="ja-JP" altLang="en-US" sz="1300" dirty="0"/>
          </a:p>
        </p:txBody>
      </p:sp>
      <p:sp>
        <p:nvSpPr>
          <p:cNvPr id="7" name="矢印 7"/>
          <p:cNvSpPr/>
          <p:nvPr/>
        </p:nvSpPr>
        <p:spPr>
          <a:xfrm>
            <a:off x="5952744" y="2089404"/>
            <a:ext cx="219456" cy="256032"/>
          </a:xfrm>
          <a:prstGeom prst="rightArrow">
            <a:avLst/>
          </a:prstGeom>
          <a:solidFill>
            <a:srgbClr val="E3A33B"/>
          </a:solidFill>
          <a:ln>
            <a:noFill/>
          </a:ln>
        </p:spPr>
      </p:sp>
      <p:sp>
        <p:nvSpPr>
          <p:cNvPr id="8" name="カード 8"/>
          <p:cNvSpPr/>
          <p:nvPr/>
        </p:nvSpPr>
        <p:spPr>
          <a:xfrm>
            <a:off x="6227064" y="1417320"/>
            <a:ext cx="5413248" cy="1600200"/>
          </a:xfrm>
          <a:prstGeom prst="roundRect">
            <a:avLst>
              <a:gd name="adj" fmla="val 4000"/>
            </a:avLst>
          </a:prstGeom>
          <a:solidFill>
            <a:srgbClr val="FBF1DF"/>
          </a:solidFill>
          <a:ln>
            <a:noFill/>
          </a:ln>
        </p:spPr>
      </p:sp>
      <p:sp>
        <p:nvSpPr>
          <p:cNvPr id="9" name="ラベル 9"/>
          <p:cNvSpPr/>
          <p:nvPr/>
        </p:nvSpPr>
        <p:spPr>
          <a:xfrm>
            <a:off x="6455664" y="1600200"/>
            <a:ext cx="1188720" cy="310896"/>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アプローチ</a:t>
            </a:r>
            <a:endParaRPr lang="ja-JP" altLang="en-US" sz="1300" dirty="0"/>
          </a:p>
        </p:txBody>
      </p:sp>
      <p:sp>
        <p:nvSpPr>
          <p:cNvPr id="10" name="テキスト 10"/>
          <p:cNvSpPr txBox="1"/>
          <p:nvPr/>
        </p:nvSpPr>
        <p:spPr>
          <a:xfrm>
            <a:off x="6455664" y="2002536"/>
            <a:ext cx="4956048" cy="941832"/>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300" dirty="0">
                <a:solidFill>
                  <a:srgbClr val="1E2430"/>
                </a:solidFill>
                <a:latin typeface="BIZ UDPゴシック"/>
                <a:ea typeface="BIZ UDPゴシック"/>
                <a:cs typeface="BIZ UDPゴシック"/>
              </a:rPr>
              <a:t>音源から出た量を、直接・透過・回折・初期反射・後期残響の 5 つの道に 1 回ずつ配る。「受け取った量 ＝ 出した量」を毎フレーム確かめる。</a:t>
            </a:r>
            <a:endParaRPr lang="ja-JP" altLang="en-US" sz="1300" dirty="0"/>
          </a:p>
        </p:txBody>
      </p:sp>
      <p:sp>
        <p:nvSpPr>
          <p:cNvPr id="11" name="カード 11"/>
          <p:cNvSpPr/>
          <p:nvPr/>
        </p:nvSpPr>
        <p:spPr>
          <a:xfrm>
            <a:off x="548640" y="3200400"/>
            <a:ext cx="11091672" cy="3090672"/>
          </a:xfrm>
          <a:prstGeom prst="roundRect">
            <a:avLst>
              <a:gd name="adj" fmla="val 4000"/>
            </a:avLst>
          </a:prstGeom>
          <a:solidFill>
            <a:srgbClr val="F0F2F5"/>
          </a:solidFill>
          <a:ln>
            <a:noFill/>
          </a:ln>
        </p:spPr>
      </p:sp>
      <p:sp>
        <p:nvSpPr>
          <p:cNvPr id="12" name="テキスト 12"/>
          <p:cNvSpPr txBox="1"/>
          <p:nvPr/>
        </p:nvSpPr>
        <p:spPr>
          <a:xfrm>
            <a:off x="822960" y="3310128"/>
            <a:ext cx="548640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300" b="1" dirty="0">
                <a:solidFill>
                  <a:srgbClr val="1E2430"/>
                </a:solidFill>
                <a:latin typeface="BIZ UDPゴシック"/>
                <a:ea typeface="BIZ UDPゴシック"/>
                <a:cs typeface="BIZ UDPゴシック"/>
              </a:rPr>
              <a:t>配り方（模式図）</a:t>
            </a:r>
            <a:endParaRPr lang="ja-JP" altLang="en-US" sz="1300" dirty="0"/>
          </a:p>
        </p:txBody>
      </p:sp>
      <p:sp>
        <p:nvSpPr>
          <p:cNvPr id="13" name="テキスト 13"/>
          <p:cNvSpPr txBox="1"/>
          <p:nvPr/>
        </p:nvSpPr>
        <p:spPr>
          <a:xfrm>
            <a:off x="822960" y="3749040"/>
            <a:ext cx="1280160" cy="502920"/>
          </a:xfrm>
          <a:prstGeom prst="rect">
            <a:avLst/>
          </a:prstGeom>
          <a:noFill/>
        </p:spPr>
        <p:txBody>
          <a:bodyPr wrap="square" lIns="0" tIns="0" rIns="0" bIns="0" rtlCol="0" anchor="ctr">
            <a:noAutofit/>
          </a:bodyPr>
          <a:lstStyle/>
          <a:p>
            <a:pPr algn="l" marL="0" indent="0">
              <a:lnSpc>
                <a:spcPct val="110000"/>
              </a:lnSpc>
              <a:spcBef>
                <a:spcPts val="0"/>
              </a:spcBef>
              <a:spcAft>
                <a:spcPts val="0"/>
              </a:spcAft>
              <a:buNone/>
            </a:pPr>
            <a:r>
              <a:rPr lang="ja-JP" altLang="en-US" sz="1050" dirty="0">
                <a:solidFill>
                  <a:srgbClr val="5C6677"/>
                </a:solidFill>
                <a:latin typeface="BIZ UDPゴシック"/>
                <a:ea typeface="BIZ UDPゴシック"/>
                <a:cs typeface="BIZ UDPゴシック"/>
              </a:rPr>
              <a:t>音源から</a:t>
            </a:r>
            <a:br>
              <a:rPr lang="ja-JP" altLang="en-US" sz="1050" dirty="0">
                <a:solidFill>
                  <a:srgbClr val="5C6677"/>
                </a:solidFill>
                <a:latin typeface="BIZ UDPゴシック"/>
                <a:ea typeface="BIZ UDPゴシック"/>
                <a:cs typeface="BIZ UDPゴシック"/>
              </a:rPr>
            </a:br>
            <a:r>
              <a:rPr lang="ja-JP" altLang="en-US" sz="1050" dirty="0">
                <a:solidFill>
                  <a:srgbClr val="5C6677"/>
                </a:solidFill>
                <a:latin typeface="BIZ UDPゴシック"/>
                <a:ea typeface="BIZ UDPゴシック"/>
                <a:cs typeface="BIZ UDPゴシック"/>
              </a:rPr>
              <a:t>届いた量</a:t>
            </a:r>
            <a:endParaRPr lang="ja-JP" altLang="en-US" sz="1050" dirty="0"/>
          </a:p>
        </p:txBody>
      </p:sp>
      <p:sp>
        <p:nvSpPr>
          <p:cNvPr id="14" name="図形 14"/>
          <p:cNvSpPr/>
          <p:nvPr/>
        </p:nvSpPr>
        <p:spPr>
          <a:xfrm>
            <a:off x="1920240" y="3767328"/>
            <a:ext cx="1053389" cy="502920"/>
          </a:xfrm>
          <a:prstGeom prst="rect">
            <a:avLst/>
          </a:prstGeom>
          <a:solidFill>
            <a:srgbClr val="E3A33B"/>
          </a:solidFill>
          <a:ln w="12700">
            <a:solidFill>
              <a:srgbClr val="FFFFFF"/>
            </a:solidFill>
          </a:ln>
        </p:spPr>
        <p:txBody>
          <a:bodyPr wrap="square" lIns="0" tIns="0" rIns="0" bIns="0" rtlCol="0" anchor="ctr">
            <a:noAutofit/>
          </a:bodyPr>
          <a:lstStyle/>
          <a:p>
            <a:pPr algn="ctr" marL="0" indent="0">
              <a:spcBef>
                <a:spcPts val="0"/>
              </a:spcBef>
              <a:spcAft>
                <a:spcPts val="0"/>
              </a:spcAft>
              <a:buNone/>
            </a:pPr>
            <a:r>
              <a:rPr lang="ja-JP" altLang="en-US" sz="1100" b="1" dirty="0">
                <a:solidFill>
                  <a:srgbClr val="1E2430"/>
                </a:solidFill>
                <a:latin typeface="BIZ UDPゴシック"/>
                <a:ea typeface="BIZ UDPゴシック"/>
                <a:cs typeface="BIZ UDPゴシック"/>
              </a:rPr>
              <a:t>直接</a:t>
            </a:r>
            <a:endParaRPr lang="ja-JP" altLang="en-US" sz="1100" dirty="0"/>
          </a:p>
        </p:txBody>
      </p:sp>
      <p:sp>
        <p:nvSpPr>
          <p:cNvPr id="15" name="図形 15"/>
          <p:cNvSpPr/>
          <p:nvPr/>
        </p:nvSpPr>
        <p:spPr>
          <a:xfrm>
            <a:off x="2973629" y="3767328"/>
            <a:ext cx="468173" cy="502920"/>
          </a:xfrm>
          <a:prstGeom prst="rect">
            <a:avLst/>
          </a:prstGeom>
          <a:solidFill>
            <a:srgbClr val="B8C0CC"/>
          </a:solidFill>
          <a:ln w="12700">
            <a:solidFill>
              <a:srgbClr val="FFFFFF"/>
            </a:solidFill>
          </a:ln>
        </p:spPr>
        <p:txBody>
          <a:bodyPr wrap="square" lIns="0" tIns="0" rIns="0" bIns="0" rtlCol="0" anchor="ctr">
            <a:noAutofit/>
          </a:bodyPr>
          <a:lstStyle/>
          <a:p>
            <a:pPr algn="ctr" marL="0" indent="0">
              <a:spcBef>
                <a:spcPts val="0"/>
              </a:spcBef>
              <a:spcAft>
                <a:spcPts val="0"/>
              </a:spcAft>
              <a:buNone/>
            </a:pPr>
            <a:r>
              <a:rPr lang="ja-JP" altLang="en-US" sz="1100" b="1" dirty="0">
                <a:solidFill>
                  <a:srgbClr val="1E2430"/>
                </a:solidFill>
                <a:latin typeface="BIZ UDPゴシック"/>
                <a:ea typeface="BIZ UDPゴシック"/>
                <a:cs typeface="BIZ UDPゴシック"/>
              </a:rPr>
              <a:t>透過</a:t>
            </a:r>
            <a:endParaRPr lang="ja-JP" altLang="en-US" sz="1100" dirty="0"/>
          </a:p>
        </p:txBody>
      </p:sp>
      <p:sp>
        <p:nvSpPr>
          <p:cNvPr id="16" name="図形 16"/>
          <p:cNvSpPr/>
          <p:nvPr/>
        </p:nvSpPr>
        <p:spPr>
          <a:xfrm>
            <a:off x="3441802" y="3767328"/>
            <a:ext cx="702259" cy="502920"/>
          </a:xfrm>
          <a:prstGeom prst="rect">
            <a:avLst/>
          </a:prstGeom>
          <a:solidFill>
            <a:srgbClr val="9A6212"/>
          </a:solidFill>
          <a:ln w="12700">
            <a:solidFill>
              <a:srgbClr val="FFFFFF"/>
            </a:solidFill>
          </a:ln>
        </p:spPr>
        <p:txBody>
          <a:bodyPr wrap="square" lIns="0" tIns="0" rIns="0" bIns="0" rtlCol="0" anchor="ctr">
            <a:noAutofit/>
          </a:bodyPr>
          <a:lstStyle/>
          <a:p>
            <a:pPr algn="ctr" marL="0" indent="0">
              <a:spcBef>
                <a:spcPts val="0"/>
              </a:spcBef>
              <a:spcAft>
                <a:spcPts val="0"/>
              </a:spcAft>
              <a:buNone/>
            </a:pPr>
            <a:r>
              <a:rPr lang="ja-JP" altLang="en-US" sz="1100" b="1" dirty="0">
                <a:solidFill>
                  <a:srgbClr val="FFFFFF"/>
                </a:solidFill>
                <a:latin typeface="BIZ UDPゴシック"/>
                <a:ea typeface="BIZ UDPゴシック"/>
                <a:cs typeface="BIZ UDPゴシック"/>
              </a:rPr>
              <a:t>回折</a:t>
            </a:r>
            <a:endParaRPr lang="ja-JP" altLang="en-US" sz="1100" dirty="0"/>
          </a:p>
        </p:txBody>
      </p:sp>
      <p:sp>
        <p:nvSpPr>
          <p:cNvPr id="17" name="図形 17"/>
          <p:cNvSpPr/>
          <p:nvPr/>
        </p:nvSpPr>
        <p:spPr>
          <a:xfrm>
            <a:off x="4144061" y="3767328"/>
            <a:ext cx="1404518" cy="502920"/>
          </a:xfrm>
          <a:prstGeom prst="rect">
            <a:avLst/>
          </a:prstGeom>
          <a:solidFill>
            <a:srgbClr val="6F82A3"/>
          </a:solidFill>
          <a:ln w="12700">
            <a:solidFill>
              <a:srgbClr val="FFFFFF"/>
            </a:solidFill>
          </a:ln>
        </p:spPr>
        <p:txBody>
          <a:bodyPr wrap="square" lIns="0" tIns="0" rIns="0" bIns="0" rtlCol="0" anchor="ctr">
            <a:noAutofit/>
          </a:bodyPr>
          <a:lstStyle/>
          <a:p>
            <a:pPr algn="ctr" marL="0" indent="0">
              <a:spcBef>
                <a:spcPts val="0"/>
              </a:spcBef>
              <a:spcAft>
                <a:spcPts val="0"/>
              </a:spcAft>
              <a:buNone/>
            </a:pPr>
            <a:r>
              <a:rPr lang="ja-JP" altLang="en-US" sz="1100" b="1" dirty="0">
                <a:solidFill>
                  <a:srgbClr val="FFFFFF"/>
                </a:solidFill>
                <a:latin typeface="BIZ UDPゴシック"/>
                <a:ea typeface="BIZ UDPゴシック"/>
                <a:cs typeface="BIZ UDPゴシック"/>
              </a:rPr>
              <a:t>初期反射</a:t>
            </a:r>
            <a:endParaRPr lang="ja-JP" altLang="en-US" sz="1100" dirty="0"/>
          </a:p>
        </p:txBody>
      </p:sp>
      <p:sp>
        <p:nvSpPr>
          <p:cNvPr id="18" name="図形 18"/>
          <p:cNvSpPr/>
          <p:nvPr/>
        </p:nvSpPr>
        <p:spPr>
          <a:xfrm>
            <a:off x="5548579" y="3767328"/>
            <a:ext cx="2223821" cy="502920"/>
          </a:xfrm>
          <a:prstGeom prst="rect">
            <a:avLst/>
          </a:prstGeom>
          <a:solidFill>
            <a:srgbClr val="2F3A4E"/>
          </a:solidFill>
          <a:ln w="12700">
            <a:solidFill>
              <a:srgbClr val="FFFFFF"/>
            </a:solidFill>
          </a:ln>
        </p:spPr>
        <p:txBody>
          <a:bodyPr wrap="square" lIns="0" tIns="0" rIns="0" bIns="0" rtlCol="0" anchor="ctr">
            <a:noAutofit/>
          </a:bodyPr>
          <a:lstStyle/>
          <a:p>
            <a:pPr algn="ctr" marL="0" indent="0">
              <a:spcBef>
                <a:spcPts val="0"/>
              </a:spcBef>
              <a:spcAft>
                <a:spcPts val="0"/>
              </a:spcAft>
              <a:buNone/>
            </a:pPr>
            <a:r>
              <a:rPr lang="ja-JP" altLang="en-US" sz="1100" b="1" dirty="0">
                <a:solidFill>
                  <a:srgbClr val="FFFFFF"/>
                </a:solidFill>
                <a:latin typeface="BIZ UDPゴシック"/>
                <a:ea typeface="BIZ UDPゴシック"/>
                <a:cs typeface="BIZ UDPゴシック"/>
              </a:rPr>
              <a:t>後期残響</a:t>
            </a:r>
            <a:endParaRPr lang="ja-JP" altLang="en-US" sz="1100" dirty="0"/>
          </a:p>
        </p:txBody>
      </p:sp>
      <p:cxnSp>
        <p:nvCxnSpPr>
          <p:cNvPr id="19" name="線 19"/>
          <p:cNvCxnSpPr/>
          <p:nvPr/>
        </p:nvCxnSpPr>
        <p:spPr>
          <a:xfrm>
            <a:off x="2446934" y="4270248"/>
            <a:ext cx="387706" cy="713232"/>
          </a:xfrm>
          <a:prstGeom prst="line">
            <a:avLst/>
          </a:prstGeom>
          <a:ln w="15875">
            <a:solidFill>
              <a:srgbClr val="C9CED6"/>
            </a:solidFill>
            <a:tailEnd type="triangle" w="med" len="med"/>
          </a:ln>
        </p:spPr>
      </p:cxnSp>
      <p:cxnSp>
        <p:nvCxnSpPr>
          <p:cNvPr id="20" name="線 20"/>
          <p:cNvCxnSpPr/>
          <p:nvPr/>
        </p:nvCxnSpPr>
        <p:spPr>
          <a:xfrm flipH="1">
            <a:off x="2834640" y="4270248"/>
            <a:ext cx="373075" cy="713232"/>
          </a:xfrm>
          <a:prstGeom prst="line">
            <a:avLst/>
          </a:prstGeom>
          <a:ln w="15875">
            <a:solidFill>
              <a:srgbClr val="C9CED6"/>
            </a:solidFill>
            <a:tailEnd type="triangle" w="med" len="med"/>
          </a:ln>
        </p:spPr>
      </p:cxnSp>
      <p:sp>
        <p:nvSpPr>
          <p:cNvPr id="21" name="図形 21"/>
          <p:cNvSpPr/>
          <p:nvPr/>
        </p:nvSpPr>
        <p:spPr>
          <a:xfrm>
            <a:off x="1920240" y="5029200"/>
            <a:ext cx="1901952" cy="868680"/>
          </a:xfrm>
          <a:prstGeom prst="roundRect">
            <a:avLst>
              <a:gd name="adj" fmla="val 10000"/>
            </a:avLst>
          </a:prstGeom>
          <a:solidFill>
            <a:srgbClr val="FFFFFF"/>
          </a:solidFill>
          <a:ln>
            <a:noFill/>
          </a:ln>
        </p:spPr>
        <p:txBody>
          <a:bodyPr wrap="square" lIns="54864" tIns="27432" rIns="54864" bIns="27432" rtlCol="0" anchor="ctr">
            <a:noAutofit/>
          </a:bodyPr>
          <a:lstStyle/>
          <a:p>
            <a:pPr algn="ctr" marL="0" indent="0">
              <a:spcBef>
                <a:spcPts val="0"/>
              </a:spcBef>
              <a:spcAft>
                <a:spcPts val="0"/>
              </a:spcAft>
              <a:buNone/>
            </a:pPr>
            <a:r>
              <a:rPr lang="ja-JP" altLang="en-US" sz="1200" b="1" dirty="0">
                <a:solidFill>
                  <a:srgbClr val="1E2430"/>
                </a:solidFill>
                <a:latin typeface="BIZ UDPゴシック"/>
                <a:ea typeface="BIZ UDPゴシック"/>
                <a:cs typeface="BIZ UDPゴシック"/>
              </a:rPr>
              <a:t>両耳へ（HRTF）</a:t>
            </a:r>
            <a:endParaRPr lang="ja-JP" altLang="en-US" sz="1200" dirty="0"/>
          </a:p>
          <a:p>
            <a:pPr algn="ctr" marL="0" indent="0">
              <a:spcBef>
                <a:spcPts val="200"/>
              </a:spcBef>
              <a:spcAft>
                <a:spcPts val="0"/>
              </a:spcAft>
              <a:buNone/>
            </a:pPr>
            <a:r>
              <a:rPr lang="ja-JP" altLang="en-US" sz="1000" dirty="0">
                <a:solidFill>
                  <a:srgbClr val="5C6677"/>
                </a:solidFill>
                <a:latin typeface="BIZ UDPゴシック"/>
                <a:ea typeface="BIZ UDPゴシック"/>
                <a:cs typeface="BIZ UDPゴシック"/>
              </a:rPr>
              <a:t>向きの決まった音</a:t>
            </a:r>
            <a:endParaRPr lang="ja-JP" altLang="en-US" sz="1000" dirty="0"/>
          </a:p>
        </p:txBody>
      </p:sp>
      <p:cxnSp>
        <p:nvCxnSpPr>
          <p:cNvPr id="22" name="線 22"/>
          <p:cNvCxnSpPr/>
          <p:nvPr/>
        </p:nvCxnSpPr>
        <p:spPr>
          <a:xfrm>
            <a:off x="3792931" y="4270248"/>
            <a:ext cx="1035101" cy="713232"/>
          </a:xfrm>
          <a:prstGeom prst="line">
            <a:avLst/>
          </a:prstGeom>
          <a:ln w="15875">
            <a:solidFill>
              <a:srgbClr val="C9CED6"/>
            </a:solidFill>
            <a:tailEnd type="triangle" w="med" len="med"/>
          </a:ln>
        </p:spPr>
      </p:cxnSp>
      <p:cxnSp>
        <p:nvCxnSpPr>
          <p:cNvPr id="23" name="線 23"/>
          <p:cNvCxnSpPr/>
          <p:nvPr/>
        </p:nvCxnSpPr>
        <p:spPr>
          <a:xfrm flipH="1">
            <a:off x="4828032" y="4270248"/>
            <a:ext cx="18288" cy="713232"/>
          </a:xfrm>
          <a:prstGeom prst="line">
            <a:avLst/>
          </a:prstGeom>
          <a:ln w="15875">
            <a:solidFill>
              <a:srgbClr val="C9CED6"/>
            </a:solidFill>
            <a:tailEnd type="triangle" w="med" len="med"/>
          </a:ln>
        </p:spPr>
      </p:cxnSp>
      <p:sp>
        <p:nvSpPr>
          <p:cNvPr id="24" name="図形 24"/>
          <p:cNvSpPr/>
          <p:nvPr/>
        </p:nvSpPr>
        <p:spPr>
          <a:xfrm>
            <a:off x="3913632" y="5029200"/>
            <a:ext cx="1901952" cy="868680"/>
          </a:xfrm>
          <a:prstGeom prst="roundRect">
            <a:avLst>
              <a:gd name="adj" fmla="val 10000"/>
            </a:avLst>
          </a:prstGeom>
          <a:solidFill>
            <a:srgbClr val="FFFFFF"/>
          </a:solidFill>
          <a:ln>
            <a:noFill/>
          </a:ln>
        </p:spPr>
        <p:txBody>
          <a:bodyPr wrap="square" lIns="54864" tIns="27432" rIns="54864" bIns="27432" rtlCol="0" anchor="ctr">
            <a:noAutofit/>
          </a:bodyPr>
          <a:lstStyle/>
          <a:p>
            <a:pPr algn="ctr" marL="0" indent="0">
              <a:spcBef>
                <a:spcPts val="0"/>
              </a:spcBef>
              <a:spcAft>
                <a:spcPts val="0"/>
              </a:spcAft>
              <a:buNone/>
            </a:pPr>
            <a:r>
              <a:rPr lang="ja-JP" altLang="en-US" sz="1200" b="1" dirty="0">
                <a:solidFill>
                  <a:srgbClr val="1E2430"/>
                </a:solidFill>
                <a:latin typeface="BIZ UDPゴシック"/>
                <a:ea typeface="BIZ UDPゴシック"/>
                <a:cs typeface="BIZ UDPゴシック"/>
              </a:rPr>
              <a:t>方向バスへ</a:t>
            </a:r>
            <a:endParaRPr lang="ja-JP" altLang="en-US" sz="1200" dirty="0"/>
          </a:p>
          <a:p>
            <a:pPr algn="ctr" marL="0" indent="0">
              <a:spcBef>
                <a:spcPts val="200"/>
              </a:spcBef>
              <a:spcAft>
                <a:spcPts val="0"/>
              </a:spcAft>
              <a:buNone/>
            </a:pPr>
            <a:r>
              <a:rPr lang="ja-JP" altLang="en-US" sz="1000" dirty="0">
                <a:solidFill>
                  <a:srgbClr val="5C6677"/>
                </a:solidFill>
                <a:latin typeface="BIZ UDPゴシック"/>
                <a:ea typeface="BIZ UDPゴシック"/>
                <a:cs typeface="BIZ UDPゴシック"/>
              </a:rPr>
              <a:t>8 方向 × 両耳。幅のある音（ASW）</a:t>
            </a:r>
            <a:endParaRPr lang="ja-JP" altLang="en-US" sz="1000" dirty="0"/>
          </a:p>
        </p:txBody>
      </p:sp>
      <p:cxnSp>
        <p:nvCxnSpPr>
          <p:cNvPr id="25" name="線 25"/>
          <p:cNvCxnSpPr/>
          <p:nvPr/>
        </p:nvCxnSpPr>
        <p:spPr>
          <a:xfrm>
            <a:off x="6660490" y="4270248"/>
            <a:ext cx="160934" cy="713232"/>
          </a:xfrm>
          <a:prstGeom prst="line">
            <a:avLst/>
          </a:prstGeom>
          <a:ln w="15875">
            <a:solidFill>
              <a:srgbClr val="C9CED6"/>
            </a:solidFill>
            <a:tailEnd type="triangle" w="med" len="med"/>
          </a:ln>
        </p:spPr>
      </p:cxnSp>
      <p:sp>
        <p:nvSpPr>
          <p:cNvPr id="26" name="図形 26"/>
          <p:cNvSpPr/>
          <p:nvPr/>
        </p:nvSpPr>
        <p:spPr>
          <a:xfrm>
            <a:off x="5907024" y="5029200"/>
            <a:ext cx="1901952" cy="868680"/>
          </a:xfrm>
          <a:prstGeom prst="roundRect">
            <a:avLst>
              <a:gd name="adj" fmla="val 10000"/>
            </a:avLst>
          </a:prstGeom>
          <a:solidFill>
            <a:srgbClr val="FFFFFF"/>
          </a:solidFill>
          <a:ln>
            <a:noFill/>
          </a:ln>
        </p:spPr>
        <p:txBody>
          <a:bodyPr wrap="square" lIns="54864" tIns="27432" rIns="54864" bIns="27432" rtlCol="0" anchor="ctr">
            <a:noAutofit/>
          </a:bodyPr>
          <a:lstStyle/>
          <a:p>
            <a:pPr algn="ctr" marL="0" indent="0">
              <a:spcBef>
                <a:spcPts val="0"/>
              </a:spcBef>
              <a:spcAft>
                <a:spcPts val="0"/>
              </a:spcAft>
              <a:buNone/>
            </a:pPr>
            <a:r>
              <a:rPr lang="ja-JP" altLang="en-US" sz="1200" b="1" dirty="0">
                <a:solidFill>
                  <a:srgbClr val="1E2430"/>
                </a:solidFill>
                <a:latin typeface="BIZ UDPゴシック"/>
                <a:ea typeface="BIZ UDPゴシック"/>
                <a:cs typeface="BIZ UDPゴシック"/>
              </a:rPr>
              <a:t>部屋ごとの FDN へ</a:t>
            </a:r>
            <a:endParaRPr lang="ja-JP" altLang="en-US" sz="1200" dirty="0"/>
          </a:p>
          <a:p>
            <a:pPr algn="ctr" marL="0" indent="0">
              <a:spcBef>
                <a:spcPts val="200"/>
              </a:spcBef>
              <a:spcAft>
                <a:spcPts val="0"/>
              </a:spcAft>
              <a:buNone/>
            </a:pPr>
            <a:r>
              <a:rPr lang="ja-JP" altLang="en-US" sz="1000" dirty="0">
                <a:solidFill>
                  <a:srgbClr val="5C6677"/>
                </a:solidFill>
                <a:latin typeface="BIZ UDPゴシック"/>
                <a:ea typeface="BIZ UDPゴシック"/>
                <a:cs typeface="BIZ UDPゴシック"/>
              </a:rPr>
              <a:t>包まれる音（LEV）</a:t>
            </a:r>
            <a:endParaRPr lang="ja-JP" altLang="en-US" sz="1000" dirty="0"/>
          </a:p>
        </p:txBody>
      </p:sp>
      <p:sp>
        <p:nvSpPr>
          <p:cNvPr id="27" name="カード 27"/>
          <p:cNvSpPr/>
          <p:nvPr/>
        </p:nvSpPr>
        <p:spPr>
          <a:xfrm>
            <a:off x="8595360" y="3657600"/>
            <a:ext cx="2788920" cy="2377440"/>
          </a:xfrm>
          <a:prstGeom prst="roundRect">
            <a:avLst>
              <a:gd name="adj" fmla="val 4000"/>
            </a:avLst>
          </a:prstGeom>
          <a:solidFill>
            <a:srgbClr val="FBF1DF"/>
          </a:solidFill>
          <a:ln>
            <a:noFill/>
          </a:ln>
        </p:spPr>
      </p:sp>
      <p:sp>
        <p:nvSpPr>
          <p:cNvPr id="28" name="テキスト 28"/>
          <p:cNvSpPr txBox="1"/>
          <p:nvPr/>
        </p:nvSpPr>
        <p:spPr>
          <a:xfrm>
            <a:off x="8778240" y="3749040"/>
            <a:ext cx="2514600" cy="224028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50" b="1" dirty="0">
                <a:solidFill>
                  <a:srgbClr val="9A6212"/>
                </a:solidFill>
                <a:latin typeface="BIZ UDPゴシック"/>
                <a:ea typeface="BIZ UDPゴシック"/>
                <a:cs typeface="BIZ UDPゴシック"/>
              </a:rPr>
              <a:t>鳴らした音と帳簿の差</a:t>
            </a:r>
            <a:endParaRPr lang="ja-JP" altLang="en-US" sz="1250" dirty="0"/>
          </a:p>
          <a:p>
            <a:pPr algn="l" marL="0" indent="0">
              <a:spcBef>
                <a:spcPts val="600"/>
              </a:spcBef>
              <a:spcAft>
                <a:spcPts val="0"/>
              </a:spcAft>
              <a:buNone/>
            </a:pPr>
            <a:r>
              <a:rPr lang="ja-JP" altLang="en-US" sz="1050" dirty="0">
                <a:solidFill>
                  <a:srgbClr val="5C6677"/>
                </a:solidFill>
                <a:latin typeface="BIZ UDPゴシック"/>
                <a:ea typeface="BIZ UDPゴシック"/>
                <a:cs typeface="BIZ UDPゴシック"/>
              </a:rPr>
              <a:t>直接だけ</a:t>
            </a:r>
            <a:endParaRPr lang="ja-JP" altLang="en-US" sz="1050" dirty="0"/>
          </a:p>
          <a:p>
            <a:pPr algn="l" marL="0" indent="0">
              <a:spcBef>
                <a:spcPts val="0"/>
              </a:spcBef>
              <a:spcAft>
                <a:spcPts val="0"/>
              </a:spcAft>
              <a:buNone/>
            </a:pPr>
            <a:r>
              <a:rPr lang="ja-JP" altLang="en-US" sz="1500" b="1" dirty="0">
                <a:solidFill>
                  <a:srgbClr val="1E2430"/>
                </a:solidFill>
                <a:latin typeface="BIZ UDPゴシック"/>
                <a:ea typeface="BIZ UDPゴシック"/>
                <a:cs typeface="BIZ UDPゴシック"/>
              </a:rPr>
              <a:t>−0.01 dB</a:t>
            </a:r>
            <a:endParaRPr lang="ja-JP" altLang="en-US" sz="1500" dirty="0"/>
          </a:p>
          <a:p>
            <a:pPr algn="l" marL="0" indent="0">
              <a:spcBef>
                <a:spcPts val="400"/>
              </a:spcBef>
              <a:spcAft>
                <a:spcPts val="0"/>
              </a:spcAft>
              <a:buNone/>
            </a:pPr>
            <a:r>
              <a:rPr lang="ja-JP" altLang="en-US" sz="1050" dirty="0">
                <a:solidFill>
                  <a:srgbClr val="5C6677"/>
                </a:solidFill>
                <a:latin typeface="BIZ UDPゴシック"/>
                <a:ea typeface="BIZ UDPゴシック"/>
                <a:cs typeface="BIZ UDPゴシック"/>
              </a:rPr>
              <a:t>直接＋透過＋初期反射</a:t>
            </a:r>
            <a:endParaRPr lang="ja-JP" altLang="en-US" sz="1050" dirty="0"/>
          </a:p>
          <a:p>
            <a:pPr algn="l" marL="0" indent="0">
              <a:spcBef>
                <a:spcPts val="0"/>
              </a:spcBef>
              <a:spcAft>
                <a:spcPts val="0"/>
              </a:spcAft>
              <a:buNone/>
            </a:pPr>
            <a:r>
              <a:rPr lang="ja-JP" altLang="en-US" sz="1500" b="1" dirty="0">
                <a:solidFill>
                  <a:srgbClr val="1E2430"/>
                </a:solidFill>
                <a:latin typeface="BIZ UDPゴシック"/>
                <a:ea typeface="BIZ UDPゴシック"/>
                <a:cs typeface="BIZ UDPゴシック"/>
              </a:rPr>
              <a:t>−0.01 dB</a:t>
            </a:r>
            <a:endParaRPr lang="ja-JP" altLang="en-US" sz="1500" dirty="0"/>
          </a:p>
          <a:p>
            <a:pPr algn="l" marL="0" indent="0">
              <a:spcBef>
                <a:spcPts val="400"/>
              </a:spcBef>
              <a:spcAft>
                <a:spcPts val="0"/>
              </a:spcAft>
              <a:buNone/>
            </a:pPr>
            <a:r>
              <a:rPr lang="ja-JP" altLang="en-US" sz="1050" dirty="0">
                <a:solidFill>
                  <a:srgbClr val="5C6677"/>
                </a:solidFill>
                <a:latin typeface="BIZ UDPゴシック"/>
                <a:ea typeface="BIZ UDPゴシック"/>
                <a:cs typeface="BIZ UDPゴシック"/>
              </a:rPr>
              <a:t>後期残響（FDN）</a:t>
            </a:r>
            <a:endParaRPr lang="ja-JP" altLang="en-US" sz="1050" dirty="0"/>
          </a:p>
          <a:p>
            <a:pPr algn="l" marL="0" indent="0">
              <a:spcBef>
                <a:spcPts val="0"/>
              </a:spcBef>
              <a:spcAft>
                <a:spcPts val="0"/>
              </a:spcAft>
              <a:buNone/>
            </a:pPr>
            <a:r>
              <a:rPr lang="ja-JP" altLang="en-US" sz="1500" b="1" dirty="0">
                <a:solidFill>
                  <a:srgbClr val="1E2430"/>
                </a:solidFill>
                <a:latin typeface="BIZ UDPゴシック"/>
                <a:ea typeface="BIZ UDPゴシック"/>
                <a:cs typeface="BIZ UDPゴシック"/>
              </a:rPr>
              <a:t>−0.14 dB</a:t>
            </a:r>
            <a:endParaRPr lang="ja-JP" altLang="en-US" sz="1500" dirty="0"/>
          </a:p>
          <a:p>
            <a:pPr algn="l" marL="0" indent="0">
              <a:lnSpc>
                <a:spcPct val="120000"/>
              </a:lnSpc>
              <a:spcBef>
                <a:spcPts val="500"/>
              </a:spcBef>
              <a:spcAft>
                <a:spcPts val="0"/>
              </a:spcAft>
              <a:buNone/>
            </a:pPr>
            <a:r>
              <a:rPr lang="ja-JP" altLang="en-US" sz="950" dirty="0">
                <a:solidFill>
                  <a:srgbClr val="5C6677"/>
                </a:solidFill>
                <a:latin typeface="BIZ UDPゴシック"/>
                <a:ea typeface="BIZ UDPゴシック"/>
                <a:cs typeface="BIZ UDPゴシック"/>
              </a:rPr>
              <a:t>配った量どおりに鳴っているかを、実際の出力で確かめている</a:t>
            </a:r>
            <a:endParaRPr lang="ja-JP" altLang="en-US" sz="950" dirty="0"/>
          </a:p>
        </p:txBody>
      </p:sp>
      <p:sp>
        <p:nvSpPr>
          <p:cNvPr id="29" name="注 29"/>
          <p:cNvSpPr txBox="1"/>
          <p:nvPr/>
        </p:nvSpPr>
        <p:spPr>
          <a:xfrm>
            <a:off x="548640" y="6419088"/>
            <a:ext cx="9875520" cy="256032"/>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5C6677"/>
                </a:solidFill>
                <a:latin typeface="BIZ UDPゴシック"/>
                <a:ea typeface="BIZ UDPゴシック"/>
                <a:cs typeface="BIZ UDPゴシック"/>
              </a:rPr>
              <a:t>※ 数値は 2026-09-18 の回帰テスト（186 件すべて合格）の実測。15.7 dB は作り直す前の実装</a:t>
            </a:r>
            <a:endParaRPr lang="ja-JP" altLang="en-US" sz="950" dirty="0"/>
          </a:p>
        </p:txBody>
      </p:sp>
      <p:sp>
        <p:nvSpPr>
          <p:cNvPr id="30" name="ページ番号 30"/>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14</a:t>
            </a:r>
            <a:endParaRPr lang="ja-JP" alt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実装物と全体ルール</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選ばなかった技術と、その理由</a:t>
            </a:r>
            <a:endParaRPr lang="ja-JP" altLang="en-US" sz="2600" dirty="0"/>
          </a:p>
        </p:txBody>
      </p:sp>
      <p:sp>
        <p:nvSpPr>
          <p:cNvPr id="4" name="テキスト 4"/>
          <p:cNvSpPr txBox="1"/>
          <p:nvPr/>
        </p:nvSpPr>
        <p:spPr>
          <a:xfrm>
            <a:off x="548640" y="1243584"/>
            <a:ext cx="11091672" cy="54864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どれも 3 つの決め事（連続性・即時性・方向性）のどれかを破るので外した。</a:t>
            </a:r>
            <a:endParaRPr lang="ja-JP" altLang="en-US" sz="1450" dirty="0"/>
          </a:p>
        </p:txBody>
      </p:sp>
      <p:graphicFrame>
        <p:nvGraphicFramePr>
          <p:cNvPr id="5" name="表 5"/>
          <p:cNvGraphicFramePr>
            <a:graphicFrameLocks noGrp="1"/>
          </p:cNvGraphicFramePr>
          <p:nvPr/>
        </p:nvGraphicFramePr>
        <p:xfrm>
          <a:off x="548640" y="1874520"/>
          <a:ext cx="11091672" cy="4023360"/>
        </p:xfrm>
        <a:graphic>
          <a:graphicData uri="http://schemas.openxmlformats.org/drawingml/2006/table">
            <a:tbl>
              <a:tblPr firstRow="1"/>
              <a:tblGrid>
                <a:gridCol w="2926080"/>
                <a:gridCol w="6583680"/>
                <a:gridCol w="1581912"/>
              </a:tblGrid>
              <a:tr h="402336">
                <a:tc>
                  <a:txBody>
                    <a:bodyPr/>
                    <a:lstStyle/>
                    <a:p>
                      <a:pPr algn="l" marL="0" indent="0">
                        <a:spcBef>
                          <a:spcPts val="0"/>
                        </a:spcBef>
                        <a:spcAft>
                          <a:spcPts val="0"/>
                        </a:spcAft>
                        <a:buNone/>
                      </a:pPr>
                      <a:r>
                        <a:rPr lang="ja-JP" altLang="en-US" sz="1250" b="1" dirty="0">
                          <a:solidFill>
                            <a:srgbClr val="1E2430"/>
                          </a:solidFill>
                          <a:latin typeface="BIZ UDPゴシック"/>
                          <a:ea typeface="BIZ UDPゴシック"/>
                          <a:cs typeface="BIZ UDPゴシック"/>
                        </a:rPr>
                        <a:t>候補</a:t>
                      </a:r>
                      <a:endParaRPr lang="ja-JP" altLang="en-US" sz="1250" dirty="0"/>
                    </a:p>
                  </a:txBody>
                  <a:tcPr marL="128016" marR="128016" marT="54864" marB="54864" anchor="ctr">
                    <a:lnL w="0">
                      <a:noFill/>
                    </a:lnL>
                    <a:lnR w="0">
                      <a:noFill/>
                    </a:lnR>
                    <a:lnT w="0">
                      <a:noFill/>
                    </a:lnT>
                    <a:lnB w="9525">
                      <a:solidFill>
                        <a:srgbClr val="D5DAE1"/>
                      </a:solidFill>
                    </a:lnB>
                    <a:solidFill>
                      <a:srgbClr val="F6E3BF"/>
                    </a:solidFill>
                  </a:tcPr>
                </a:tc>
                <a:tc>
                  <a:txBody>
                    <a:bodyPr/>
                    <a:lstStyle/>
                    <a:p>
                      <a:pPr algn="l" marL="0" indent="0">
                        <a:spcBef>
                          <a:spcPts val="0"/>
                        </a:spcBef>
                        <a:spcAft>
                          <a:spcPts val="0"/>
                        </a:spcAft>
                        <a:buNone/>
                      </a:pPr>
                      <a:r>
                        <a:rPr lang="ja-JP" altLang="en-US" sz="1250" b="1" dirty="0">
                          <a:solidFill>
                            <a:srgbClr val="1E2430"/>
                          </a:solidFill>
                          <a:latin typeface="BIZ UDPゴシック"/>
                          <a:ea typeface="BIZ UDPゴシック"/>
                          <a:cs typeface="BIZ UDPゴシック"/>
                        </a:rPr>
                        <a:t>外した理由 → 代わりに選んだ物</a:t>
                      </a:r>
                      <a:endParaRPr lang="ja-JP" altLang="en-US" sz="1250" dirty="0"/>
                    </a:p>
                  </a:txBody>
                  <a:tcPr marL="128016" marR="128016" marT="54864" marB="54864" anchor="ctr">
                    <a:lnL w="0">
                      <a:noFill/>
                    </a:lnL>
                    <a:lnR w="0">
                      <a:noFill/>
                    </a:lnR>
                    <a:lnT w="0">
                      <a:noFill/>
                    </a:lnT>
                    <a:lnB w="9525">
                      <a:solidFill>
                        <a:srgbClr val="D5DAE1"/>
                      </a:solidFill>
                    </a:lnB>
                    <a:solidFill>
                      <a:srgbClr val="F6E3BF"/>
                    </a:solidFill>
                  </a:tcPr>
                </a:tc>
                <a:tc>
                  <a:txBody>
                    <a:bodyPr/>
                    <a:lstStyle/>
                    <a:p>
                      <a:pPr algn="l" marL="0" indent="0">
                        <a:spcBef>
                          <a:spcPts val="0"/>
                        </a:spcBef>
                        <a:spcAft>
                          <a:spcPts val="0"/>
                        </a:spcAft>
                        <a:buNone/>
                      </a:pPr>
                      <a:r>
                        <a:rPr lang="ja-JP" altLang="en-US" sz="1250" b="1" dirty="0">
                          <a:solidFill>
                            <a:srgbClr val="1E2430"/>
                          </a:solidFill>
                          <a:latin typeface="BIZ UDPゴシック"/>
                          <a:ea typeface="BIZ UDPゴシック"/>
                          <a:cs typeface="BIZ UDPゴシック"/>
                        </a:rPr>
                        <a:t>決め事</a:t>
                      </a:r>
                      <a:endParaRPr lang="ja-JP" altLang="en-US" sz="1250" dirty="0"/>
                    </a:p>
                  </a:txBody>
                  <a:tcPr marL="128016" marR="128016" marT="54864" marB="54864" anchor="ctr">
                    <a:lnL w="0">
                      <a:noFill/>
                    </a:lnL>
                    <a:lnR w="0">
                      <a:noFill/>
                    </a:lnR>
                    <a:lnT w="0">
                      <a:noFill/>
                    </a:lnT>
                    <a:lnB w="9525">
                      <a:solidFill>
                        <a:srgbClr val="D5DAE1"/>
                      </a:solidFill>
                    </a:lnB>
                    <a:solidFill>
                      <a:srgbClr val="F6E3BF"/>
                    </a:solidFill>
                  </a:tcPr>
                </a:tc>
              </a:tr>
              <a:tr h="603504">
                <a:tc>
                  <a:txBody>
                    <a:bodyPr/>
                    <a:lstStyle/>
                    <a:p>
                      <a:pPr algn="l" marL="0" indent="0">
                        <a:spcBef>
                          <a:spcPts val="0"/>
                        </a:spcBef>
                        <a:spcAft>
                          <a:spcPts val="0"/>
                        </a:spcAft>
                        <a:buNone/>
                      </a:pPr>
                      <a:r>
                        <a:rPr lang="ja-JP" altLang="en-US" sz="1250" b="1" dirty="0">
                          <a:solidFill>
                            <a:srgbClr val="1E2430"/>
                          </a:solidFill>
                          <a:latin typeface="BIZ UDPゴシック"/>
                          <a:ea typeface="BIZ UDPゴシック"/>
                          <a:cs typeface="BIZ UDPゴシック"/>
                        </a:rPr>
                        <a:t>開き具合を 0〜1 の数値で混ぜる</a:t>
                      </a:r>
                      <a:endParaRPr lang="ja-JP" altLang="en-US" sz="1250" dirty="0"/>
                    </a:p>
                  </a:txBody>
                  <a:tcPr marL="128016" marR="128016" marT="54864" marB="54864" anchor="ctr">
                    <a:lnL w="0">
                      <a:noFill/>
                    </a:lnL>
                    <a:lnR w="0">
                      <a:noFill/>
                    </a:lnR>
                    <a:lnT w="0">
                      <a:noFill/>
                    </a:lnT>
                    <a:lnB w="9525">
                      <a:solidFill>
                        <a:srgbClr val="D5DAE1"/>
                      </a:solidFill>
                    </a:lnB>
                    <a:noFill/>
                  </a:tcPr>
                </a:tc>
                <a:tc>
                  <a:txBody>
                    <a:bodyPr/>
                    <a:lstStyle/>
                    <a:p>
                      <a:pPr algn="l" marL="0" indent="0">
                        <a:lnSpc>
                          <a:spcPct val="120000"/>
                        </a:lnSpc>
                        <a:spcBef>
                          <a:spcPts val="0"/>
                        </a:spcBef>
                        <a:spcAft>
                          <a:spcPts val="0"/>
                        </a:spcAft>
                        <a:buNone/>
                      </a:pPr>
                      <a:r>
                        <a:rPr lang="ja-JP" altLang="en-US" sz="1200" dirty="0">
                          <a:solidFill>
                            <a:srgbClr val="1E2430"/>
                          </a:solidFill>
                          <a:latin typeface="BIZ UDPゴシック"/>
                          <a:ea typeface="BIZ UDPゴシック"/>
                          <a:cs typeface="BIZ UDPゴシック"/>
                        </a:rPr>
                        <a:t>どちら側の音源かが消える（扉 20° で、蝶番側と自由端側の 12.8 dB の差が出せない） → </a:t>
                      </a:r>
                      <a:r>
                        <a:rPr lang="ja-JP" altLang="en-US" sz="1200" b="1" dirty="0">
                          <a:solidFill>
                            <a:srgbClr val="9A6212"/>
                          </a:solidFill>
                          <a:latin typeface="BIZ UDPゴシック"/>
                          <a:ea typeface="BIZ UDPゴシック"/>
                          <a:cs typeface="BIZ UDPゴシック"/>
                        </a:rPr>
                        <a:t>扉を動く板として、影を解く</a:t>
                      </a:r>
                      <a:endParaRPr lang="ja-JP" altLang="en-US" sz="1200" dirty="0"/>
                    </a:p>
                  </a:txBody>
                  <a:tcPr marL="128016" marR="128016" marT="54864" marB="54864" anchor="ctr">
                    <a:lnL w="0">
                      <a:noFill/>
                    </a:lnL>
                    <a:lnR w="0">
                      <a:noFill/>
                    </a:lnR>
                    <a:lnT w="0">
                      <a:noFill/>
                    </a:lnT>
                    <a:lnB w="9525">
                      <a:solidFill>
                        <a:srgbClr val="D5DAE1"/>
                      </a:solidFill>
                    </a:lnB>
                    <a:noFill/>
                  </a:tcPr>
                </a:tc>
                <a:tc>
                  <a:txBody>
                    <a:bodyPr/>
                    <a:lstStyle/>
                    <a:p>
                      <a:pPr algn="l" marL="0" indent="0">
                        <a:spcBef>
                          <a:spcPts val="0"/>
                        </a:spcBef>
                        <a:spcAft>
                          <a:spcPts val="0"/>
                        </a:spcAft>
                        <a:buNone/>
                      </a:pPr>
                      <a:r>
                        <a:rPr lang="ja-JP" altLang="en-US" sz="1150" dirty="0">
                          <a:solidFill>
                            <a:srgbClr val="5C6677"/>
                          </a:solidFill>
                          <a:latin typeface="BIZ UDPゴシック"/>
                          <a:ea typeface="BIZ UDPゴシック"/>
                          <a:cs typeface="BIZ UDPゴシック"/>
                        </a:rPr>
                        <a:t>方向性</a:t>
                      </a:r>
                      <a:endParaRPr lang="ja-JP" altLang="en-US" sz="1150" dirty="0"/>
                    </a:p>
                  </a:txBody>
                  <a:tcPr marL="128016" marR="128016" marT="54864" marB="54864" anchor="ctr">
                    <a:lnL w="0">
                      <a:noFill/>
                    </a:lnL>
                    <a:lnR w="0">
                      <a:noFill/>
                    </a:lnR>
                    <a:lnT w="0">
                      <a:noFill/>
                    </a:lnT>
                    <a:lnB w="9525">
                      <a:solidFill>
                        <a:srgbClr val="D5DAE1"/>
                      </a:solidFill>
                    </a:lnB>
                    <a:noFill/>
                  </a:tcPr>
                </a:tc>
              </a:tr>
              <a:tr h="603504">
                <a:tc>
                  <a:txBody>
                    <a:bodyPr/>
                    <a:lstStyle/>
                    <a:p>
                      <a:pPr algn="l" marL="0" indent="0">
                        <a:spcBef>
                          <a:spcPts val="0"/>
                        </a:spcBef>
                        <a:spcAft>
                          <a:spcPts val="0"/>
                        </a:spcAft>
                        <a:buNone/>
                      </a:pPr>
                      <a:r>
                        <a:rPr lang="ja-JP" altLang="en-US" sz="1250" b="1" dirty="0">
                          <a:solidFill>
                            <a:srgbClr val="1E2430"/>
                          </a:solidFill>
                          <a:latin typeface="BIZ UDPゴシック"/>
                          <a:ea typeface="BIZ UDPゴシック"/>
                          <a:cs typeface="BIZ UDPゴシック"/>
                        </a:rPr>
                        <a:t>扉の開口をレイで数える</a:t>
                      </a:r>
                      <a:endParaRPr lang="ja-JP" altLang="en-US" sz="1250" dirty="0"/>
                    </a:p>
                  </a:txBody>
                  <a:tcPr marL="128016" marR="128016" marT="54864" marB="54864" anchor="ctr">
                    <a:lnL w="0">
                      <a:noFill/>
                    </a:lnL>
                    <a:lnR w="0">
                      <a:noFill/>
                    </a:lnR>
                    <a:lnT w="0">
                      <a:noFill/>
                    </a:lnT>
                    <a:lnB w="9525">
                      <a:solidFill>
                        <a:srgbClr val="D5DAE1"/>
                      </a:solidFill>
                    </a:lnB>
                    <a:noFill/>
                  </a:tcPr>
                </a:tc>
                <a:tc>
                  <a:txBody>
                    <a:bodyPr/>
                    <a:lstStyle/>
                    <a:p>
                      <a:pPr algn="l" marL="0" indent="0">
                        <a:lnSpc>
                          <a:spcPct val="120000"/>
                        </a:lnSpc>
                        <a:spcBef>
                          <a:spcPts val="0"/>
                        </a:spcBef>
                        <a:spcAft>
                          <a:spcPts val="0"/>
                        </a:spcAft>
                        <a:buNone/>
                      </a:pPr>
                      <a:r>
                        <a:rPr lang="ja-JP" altLang="en-US" sz="1200" dirty="0">
                          <a:solidFill>
                            <a:srgbClr val="1E2430"/>
                          </a:solidFill>
                          <a:latin typeface="BIZ UDPゴシック"/>
                          <a:ea typeface="BIZ UDPゴシック"/>
                          <a:cs typeface="BIZ UDPゴシック"/>
                        </a:rPr>
                        <a:t>レイの揺れが扉に乗り、均すと音が扉に遅れる → </a:t>
                      </a:r>
                      <a:r>
                        <a:rPr lang="ja-JP" altLang="en-US" sz="1200" b="1" dirty="0">
                          <a:solidFill>
                            <a:srgbClr val="9A6212"/>
                          </a:solidFill>
                          <a:latin typeface="BIZ UDPゴシック"/>
                          <a:ea typeface="BIZ UDPゴシック"/>
                          <a:cs typeface="BIZ UDPゴシック"/>
                        </a:rPr>
                        <a:t>板の影を式で解く</a:t>
                      </a:r>
                      <a:endParaRPr lang="ja-JP" altLang="en-US" sz="1200" dirty="0"/>
                    </a:p>
                  </a:txBody>
                  <a:tcPr marL="128016" marR="128016" marT="54864" marB="54864" anchor="ctr">
                    <a:lnL w="0">
                      <a:noFill/>
                    </a:lnL>
                    <a:lnR w="0">
                      <a:noFill/>
                    </a:lnR>
                    <a:lnT w="0">
                      <a:noFill/>
                    </a:lnT>
                    <a:lnB w="9525">
                      <a:solidFill>
                        <a:srgbClr val="D5DAE1"/>
                      </a:solidFill>
                    </a:lnB>
                    <a:noFill/>
                  </a:tcPr>
                </a:tc>
                <a:tc>
                  <a:txBody>
                    <a:bodyPr/>
                    <a:lstStyle/>
                    <a:p>
                      <a:pPr algn="l" marL="0" indent="0">
                        <a:spcBef>
                          <a:spcPts val="0"/>
                        </a:spcBef>
                        <a:spcAft>
                          <a:spcPts val="0"/>
                        </a:spcAft>
                        <a:buNone/>
                      </a:pPr>
                      <a:r>
                        <a:rPr lang="ja-JP" altLang="en-US" sz="1150" dirty="0">
                          <a:solidFill>
                            <a:srgbClr val="5C6677"/>
                          </a:solidFill>
                          <a:latin typeface="BIZ UDPゴシック"/>
                          <a:ea typeface="BIZ UDPゴシック"/>
                          <a:cs typeface="BIZ UDPゴシック"/>
                        </a:rPr>
                        <a:t>連続性・即時性</a:t>
                      </a:r>
                      <a:endParaRPr lang="ja-JP" altLang="en-US" sz="1150" dirty="0"/>
                    </a:p>
                  </a:txBody>
                  <a:tcPr marL="128016" marR="128016" marT="54864" marB="54864" anchor="ctr">
                    <a:lnL w="0">
                      <a:noFill/>
                    </a:lnL>
                    <a:lnR w="0">
                      <a:noFill/>
                    </a:lnR>
                    <a:lnT w="0">
                      <a:noFill/>
                    </a:lnT>
                    <a:lnB w="9525">
                      <a:solidFill>
                        <a:srgbClr val="D5DAE1"/>
                      </a:solidFill>
                    </a:lnB>
                    <a:noFill/>
                  </a:tcPr>
                </a:tc>
              </a:tr>
              <a:tr h="603504">
                <a:tc>
                  <a:txBody>
                    <a:bodyPr/>
                    <a:lstStyle/>
                    <a:p>
                      <a:pPr algn="l" marL="0" indent="0">
                        <a:spcBef>
                          <a:spcPts val="0"/>
                        </a:spcBef>
                        <a:spcAft>
                          <a:spcPts val="0"/>
                        </a:spcAft>
                        <a:buNone/>
                      </a:pPr>
                      <a:r>
                        <a:rPr lang="ja-JP" altLang="en-US" sz="1250" b="1" dirty="0">
                          <a:solidFill>
                            <a:srgbClr val="1E2430"/>
                          </a:solidFill>
                          <a:latin typeface="BIZ UDPゴシック"/>
                          <a:ea typeface="BIZ UDPゴシック"/>
                          <a:cs typeface="BIZ UDPゴシック"/>
                        </a:rPr>
                        <a:t>UTD の回折</a:t>
                      </a:r>
                      <a:endParaRPr lang="ja-JP" altLang="en-US" sz="1250" dirty="0"/>
                    </a:p>
                  </a:txBody>
                  <a:tcPr marL="128016" marR="128016" marT="54864" marB="54864" anchor="ctr">
                    <a:lnL w="0">
                      <a:noFill/>
                    </a:lnL>
                    <a:lnR w="0">
                      <a:noFill/>
                    </a:lnR>
                    <a:lnT w="0">
                      <a:noFill/>
                    </a:lnT>
                    <a:lnB w="9525">
                      <a:solidFill>
                        <a:srgbClr val="D5DAE1"/>
                      </a:solidFill>
                    </a:lnB>
                    <a:noFill/>
                  </a:tcPr>
                </a:tc>
                <a:tc>
                  <a:txBody>
                    <a:bodyPr/>
                    <a:lstStyle/>
                    <a:p>
                      <a:pPr algn="l" marL="0" indent="0">
                        <a:lnSpc>
                          <a:spcPct val="120000"/>
                        </a:lnSpc>
                        <a:spcBef>
                          <a:spcPts val="0"/>
                        </a:spcBef>
                        <a:spcAft>
                          <a:spcPts val="0"/>
                        </a:spcAft>
                        <a:buNone/>
                      </a:pPr>
                      <a:r>
                        <a:rPr lang="ja-JP" altLang="en-US" sz="1200" dirty="0">
                          <a:solidFill>
                            <a:srgbClr val="1E2430"/>
                          </a:solidFill>
                          <a:latin typeface="BIZ UDPゴシック"/>
                          <a:ea typeface="BIZ UDPゴシック"/>
                          <a:cs typeface="BIZ UDPゴシック"/>
                        </a:rPr>
                        <a:t>縁が入れ替わる所で最大 7.9 dB 跳んだ → </a:t>
                      </a:r>
                      <a:r>
                        <a:rPr lang="ja-JP" altLang="en-US" sz="1200" b="1" dirty="0">
                          <a:solidFill>
                            <a:srgbClr val="9A6212"/>
                          </a:solidFill>
                          <a:latin typeface="BIZ UDPゴシック"/>
                          <a:ea typeface="BIZ UDPゴシック"/>
                          <a:cs typeface="BIZ UDPゴシック"/>
                        </a:rPr>
                        <a:t>前川式（遠回りの長さから）</a:t>
                      </a:r>
                      <a:endParaRPr lang="ja-JP" altLang="en-US" sz="1200" dirty="0"/>
                    </a:p>
                  </a:txBody>
                  <a:tcPr marL="128016" marR="128016" marT="54864" marB="54864" anchor="ctr">
                    <a:lnL w="0">
                      <a:noFill/>
                    </a:lnL>
                    <a:lnR w="0">
                      <a:noFill/>
                    </a:lnR>
                    <a:lnT w="0">
                      <a:noFill/>
                    </a:lnT>
                    <a:lnB w="9525">
                      <a:solidFill>
                        <a:srgbClr val="D5DAE1"/>
                      </a:solidFill>
                    </a:lnB>
                    <a:noFill/>
                  </a:tcPr>
                </a:tc>
                <a:tc>
                  <a:txBody>
                    <a:bodyPr/>
                    <a:lstStyle/>
                    <a:p>
                      <a:pPr algn="l" marL="0" indent="0">
                        <a:spcBef>
                          <a:spcPts val="0"/>
                        </a:spcBef>
                        <a:spcAft>
                          <a:spcPts val="0"/>
                        </a:spcAft>
                        <a:buNone/>
                      </a:pPr>
                      <a:r>
                        <a:rPr lang="ja-JP" altLang="en-US" sz="1150" dirty="0">
                          <a:solidFill>
                            <a:srgbClr val="5C6677"/>
                          </a:solidFill>
                          <a:latin typeface="BIZ UDPゴシック"/>
                          <a:ea typeface="BIZ UDPゴシック"/>
                          <a:cs typeface="BIZ UDPゴシック"/>
                        </a:rPr>
                        <a:t>連続性</a:t>
                      </a:r>
                      <a:endParaRPr lang="ja-JP" altLang="en-US" sz="1150" dirty="0"/>
                    </a:p>
                  </a:txBody>
                  <a:tcPr marL="128016" marR="128016" marT="54864" marB="54864" anchor="ctr">
                    <a:lnL w="0">
                      <a:noFill/>
                    </a:lnL>
                    <a:lnR w="0">
                      <a:noFill/>
                    </a:lnR>
                    <a:lnT w="0">
                      <a:noFill/>
                    </a:lnT>
                    <a:lnB w="9525">
                      <a:solidFill>
                        <a:srgbClr val="D5DAE1"/>
                      </a:solidFill>
                    </a:lnB>
                    <a:noFill/>
                  </a:tcPr>
                </a:tc>
              </a:tr>
              <a:tr h="603504">
                <a:tc>
                  <a:txBody>
                    <a:bodyPr/>
                    <a:lstStyle/>
                    <a:p>
                      <a:pPr algn="l" marL="0" indent="0">
                        <a:spcBef>
                          <a:spcPts val="0"/>
                        </a:spcBef>
                        <a:spcAft>
                          <a:spcPts val="0"/>
                        </a:spcAft>
                        <a:buNone/>
                      </a:pPr>
                      <a:r>
                        <a:rPr lang="ja-JP" altLang="en-US" sz="1250" b="1" dirty="0">
                          <a:solidFill>
                            <a:srgbClr val="1E2430"/>
                          </a:solidFill>
                          <a:latin typeface="BIZ UDPゴシック"/>
                          <a:ea typeface="BIZ UDPゴシック"/>
                          <a:cs typeface="BIZ UDPゴシック"/>
                        </a:rPr>
                        <a:t>点の虚像（見えた／消えた）</a:t>
                      </a:r>
                      <a:endParaRPr lang="ja-JP" altLang="en-US" sz="1250" dirty="0"/>
                    </a:p>
                  </a:txBody>
                  <a:tcPr marL="128016" marR="128016" marT="54864" marB="54864" anchor="ctr">
                    <a:lnL w="0">
                      <a:noFill/>
                    </a:lnL>
                    <a:lnR w="0">
                      <a:noFill/>
                    </a:lnR>
                    <a:lnT w="0">
                      <a:noFill/>
                    </a:lnT>
                    <a:lnB w="9525">
                      <a:solidFill>
                        <a:srgbClr val="D5DAE1"/>
                      </a:solidFill>
                    </a:lnB>
                    <a:noFill/>
                  </a:tcPr>
                </a:tc>
                <a:tc>
                  <a:txBody>
                    <a:bodyPr/>
                    <a:lstStyle/>
                    <a:p>
                      <a:pPr algn="l" marL="0" indent="0">
                        <a:lnSpc>
                          <a:spcPct val="120000"/>
                        </a:lnSpc>
                        <a:spcBef>
                          <a:spcPts val="0"/>
                        </a:spcBef>
                        <a:spcAft>
                          <a:spcPts val="0"/>
                        </a:spcAft>
                        <a:buNone/>
                      </a:pPr>
                      <a:r>
                        <a:rPr lang="ja-JP" altLang="en-US" sz="1200" dirty="0">
                          <a:solidFill>
                            <a:srgbClr val="1E2430"/>
                          </a:solidFill>
                          <a:latin typeface="BIZ UDPゴシック"/>
                          <a:ea typeface="BIZ UDPゴシック"/>
                          <a:cs typeface="BIZ UDPゴシック"/>
                        </a:rPr>
                        <a:t>壁の縁で 0 か 1 に跳び、歩いたときの揺れが 4〜7.6 倍 → </a:t>
                      </a:r>
                      <a:r>
                        <a:rPr lang="ja-JP" altLang="en-US" sz="1200" b="1" dirty="0">
                          <a:solidFill>
                            <a:srgbClr val="9A6212"/>
                          </a:solidFill>
                          <a:latin typeface="BIZ UDPゴシック"/>
                          <a:ea typeface="BIZ UDPゴシック"/>
                          <a:cs typeface="BIZ UDPゴシック"/>
                        </a:rPr>
                        <a:t>虚像をつないだ面音源</a:t>
                      </a:r>
                      <a:endParaRPr lang="ja-JP" altLang="en-US" sz="1200" dirty="0"/>
                    </a:p>
                  </a:txBody>
                  <a:tcPr marL="128016" marR="128016" marT="54864" marB="54864" anchor="ctr">
                    <a:lnL w="0">
                      <a:noFill/>
                    </a:lnL>
                    <a:lnR w="0">
                      <a:noFill/>
                    </a:lnR>
                    <a:lnT w="0">
                      <a:noFill/>
                    </a:lnT>
                    <a:lnB w="9525">
                      <a:solidFill>
                        <a:srgbClr val="D5DAE1"/>
                      </a:solidFill>
                    </a:lnB>
                    <a:noFill/>
                  </a:tcPr>
                </a:tc>
                <a:tc>
                  <a:txBody>
                    <a:bodyPr/>
                    <a:lstStyle/>
                    <a:p>
                      <a:pPr algn="l" marL="0" indent="0">
                        <a:spcBef>
                          <a:spcPts val="0"/>
                        </a:spcBef>
                        <a:spcAft>
                          <a:spcPts val="0"/>
                        </a:spcAft>
                        <a:buNone/>
                      </a:pPr>
                      <a:r>
                        <a:rPr lang="ja-JP" altLang="en-US" sz="1150" dirty="0">
                          <a:solidFill>
                            <a:srgbClr val="5C6677"/>
                          </a:solidFill>
                          <a:latin typeface="BIZ UDPゴシック"/>
                          <a:ea typeface="BIZ UDPゴシック"/>
                          <a:cs typeface="BIZ UDPゴシック"/>
                        </a:rPr>
                        <a:t>連続性</a:t>
                      </a:r>
                      <a:endParaRPr lang="ja-JP" altLang="en-US" sz="1150" dirty="0"/>
                    </a:p>
                  </a:txBody>
                  <a:tcPr marL="128016" marR="128016" marT="54864" marB="54864" anchor="ctr">
                    <a:lnL w="0">
                      <a:noFill/>
                    </a:lnL>
                    <a:lnR w="0">
                      <a:noFill/>
                    </a:lnR>
                    <a:lnT w="0">
                      <a:noFill/>
                    </a:lnT>
                    <a:lnB w="9525">
                      <a:solidFill>
                        <a:srgbClr val="D5DAE1"/>
                      </a:solidFill>
                    </a:lnB>
                    <a:noFill/>
                  </a:tcPr>
                </a:tc>
              </a:tr>
              <a:tr h="603504">
                <a:tc>
                  <a:txBody>
                    <a:bodyPr/>
                    <a:lstStyle/>
                    <a:p>
                      <a:pPr algn="l" marL="0" indent="0">
                        <a:spcBef>
                          <a:spcPts val="0"/>
                        </a:spcBef>
                        <a:spcAft>
                          <a:spcPts val="0"/>
                        </a:spcAft>
                        <a:buNone/>
                      </a:pPr>
                      <a:r>
                        <a:rPr lang="ja-JP" altLang="en-US" sz="1250" b="1" dirty="0">
                          <a:solidFill>
                            <a:srgbClr val="1E2430"/>
                          </a:solidFill>
                          <a:latin typeface="BIZ UDPゴシック"/>
                          <a:ea typeface="BIZ UDPゴシック"/>
                          <a:cs typeface="BIZ UDPゴシック"/>
                        </a:rPr>
                        <a:t>畳み込み IR の残響</a:t>
                      </a:r>
                      <a:endParaRPr lang="ja-JP" altLang="en-US" sz="1250" dirty="0"/>
                    </a:p>
                  </a:txBody>
                  <a:tcPr marL="128016" marR="128016" marT="54864" marB="54864" anchor="ctr">
                    <a:lnL w="0">
                      <a:noFill/>
                    </a:lnL>
                    <a:lnR w="0">
                      <a:noFill/>
                    </a:lnR>
                    <a:lnT w="0">
                      <a:noFill/>
                    </a:lnT>
                    <a:lnB w="9525">
                      <a:solidFill>
                        <a:srgbClr val="D5DAE1"/>
                      </a:solidFill>
                    </a:lnB>
                    <a:noFill/>
                  </a:tcPr>
                </a:tc>
                <a:tc>
                  <a:txBody>
                    <a:bodyPr/>
                    <a:lstStyle/>
                    <a:p>
                      <a:pPr algn="l" marL="0" indent="0">
                        <a:lnSpc>
                          <a:spcPct val="120000"/>
                        </a:lnSpc>
                        <a:spcBef>
                          <a:spcPts val="0"/>
                        </a:spcBef>
                        <a:spcAft>
                          <a:spcPts val="0"/>
                        </a:spcAft>
                        <a:buNone/>
                      </a:pPr>
                      <a:r>
                        <a:rPr lang="ja-JP" altLang="en-US" sz="1200" dirty="0">
                          <a:solidFill>
                            <a:srgbClr val="1E2430"/>
                          </a:solidFill>
                          <a:latin typeface="BIZ UDPゴシック"/>
                          <a:ea typeface="BIZ UDPゴシック"/>
                          <a:cs typeface="BIZ UDPゴシック"/>
                        </a:rPr>
                        <a:t>作り直しの間、響きが扉に遅れる。開けた IR から閉めた分を引けない → </a:t>
                      </a:r>
                      <a:r>
                        <a:rPr lang="ja-JP" altLang="en-US" sz="1200" b="1" dirty="0">
                          <a:solidFill>
                            <a:srgbClr val="9A6212"/>
                          </a:solidFill>
                          <a:latin typeface="BIZ UDPゴシック"/>
                          <a:ea typeface="BIZ UDPゴシック"/>
                          <a:cs typeface="BIZ UDPゴシック"/>
                        </a:rPr>
                        <a:t>部屋ごとの FDN</a:t>
                      </a:r>
                      <a:endParaRPr lang="ja-JP" altLang="en-US" sz="1200" dirty="0"/>
                    </a:p>
                  </a:txBody>
                  <a:tcPr marL="128016" marR="128016" marT="54864" marB="54864" anchor="ctr">
                    <a:lnL w="0">
                      <a:noFill/>
                    </a:lnL>
                    <a:lnR w="0">
                      <a:noFill/>
                    </a:lnR>
                    <a:lnT w="0">
                      <a:noFill/>
                    </a:lnT>
                    <a:lnB w="9525">
                      <a:solidFill>
                        <a:srgbClr val="D5DAE1"/>
                      </a:solidFill>
                    </a:lnB>
                    <a:noFill/>
                  </a:tcPr>
                </a:tc>
                <a:tc>
                  <a:txBody>
                    <a:bodyPr/>
                    <a:lstStyle/>
                    <a:p>
                      <a:pPr algn="l" marL="0" indent="0">
                        <a:spcBef>
                          <a:spcPts val="0"/>
                        </a:spcBef>
                        <a:spcAft>
                          <a:spcPts val="0"/>
                        </a:spcAft>
                        <a:buNone/>
                      </a:pPr>
                      <a:r>
                        <a:rPr lang="ja-JP" altLang="en-US" sz="1150" dirty="0">
                          <a:solidFill>
                            <a:srgbClr val="5C6677"/>
                          </a:solidFill>
                          <a:latin typeface="BIZ UDPゴシック"/>
                          <a:ea typeface="BIZ UDPゴシック"/>
                          <a:cs typeface="BIZ UDPゴシック"/>
                        </a:rPr>
                        <a:t>即時性</a:t>
                      </a:r>
                      <a:endParaRPr lang="ja-JP" altLang="en-US" sz="1150" dirty="0"/>
                    </a:p>
                  </a:txBody>
                  <a:tcPr marL="128016" marR="128016" marT="54864" marB="54864" anchor="ctr">
                    <a:lnL w="0">
                      <a:noFill/>
                    </a:lnL>
                    <a:lnR w="0">
                      <a:noFill/>
                    </a:lnR>
                    <a:lnT w="0">
                      <a:noFill/>
                    </a:lnT>
                    <a:lnB w="9525">
                      <a:solidFill>
                        <a:srgbClr val="D5DAE1"/>
                      </a:solidFill>
                    </a:lnB>
                    <a:noFill/>
                  </a:tcPr>
                </a:tc>
              </a:tr>
              <a:tr h="603504">
                <a:tc>
                  <a:txBody>
                    <a:bodyPr/>
                    <a:lstStyle/>
                    <a:p>
                      <a:pPr algn="l" marL="0" indent="0">
                        <a:spcBef>
                          <a:spcPts val="0"/>
                        </a:spcBef>
                        <a:spcAft>
                          <a:spcPts val="0"/>
                        </a:spcAft>
                        <a:buNone/>
                      </a:pPr>
                      <a:r>
                        <a:rPr lang="ja-JP" altLang="en-US" sz="1250" b="1" dirty="0">
                          <a:solidFill>
                            <a:srgbClr val="1E2430"/>
                          </a:solidFill>
                          <a:latin typeface="BIZ UDPゴシック"/>
                          <a:ea typeface="BIZ UDPゴシック"/>
                          <a:cs typeface="BIZ UDPゴシック"/>
                        </a:rPr>
                        <a:t>全部を事前計算（ベイク）</a:t>
                      </a:r>
                      <a:endParaRPr lang="ja-JP" altLang="en-US" sz="1250" dirty="0"/>
                    </a:p>
                  </a:txBody>
                  <a:tcPr marL="128016" marR="128016" marT="54864" marB="54864" anchor="ctr">
                    <a:lnL w="0">
                      <a:noFill/>
                    </a:lnL>
                    <a:lnR w="0">
                      <a:noFill/>
                    </a:lnR>
                    <a:lnT w="0">
                      <a:noFill/>
                    </a:lnT>
                    <a:lnB w="9525">
                      <a:solidFill>
                        <a:srgbClr val="D5DAE1"/>
                      </a:solidFill>
                    </a:lnB>
                    <a:noFill/>
                  </a:tcPr>
                </a:tc>
                <a:tc>
                  <a:txBody>
                    <a:bodyPr/>
                    <a:lstStyle/>
                    <a:p>
                      <a:pPr algn="l" marL="0" indent="0">
                        <a:lnSpc>
                          <a:spcPct val="120000"/>
                        </a:lnSpc>
                        <a:spcBef>
                          <a:spcPts val="0"/>
                        </a:spcBef>
                        <a:spcAft>
                          <a:spcPts val="0"/>
                        </a:spcAft>
                        <a:buNone/>
                      </a:pPr>
                      <a:r>
                        <a:rPr lang="ja-JP" altLang="en-US" sz="1200" dirty="0">
                          <a:solidFill>
                            <a:srgbClr val="1E2430"/>
                          </a:solidFill>
                          <a:latin typeface="BIZ UDPゴシック"/>
                          <a:ea typeface="BIZ UDPゴシック"/>
                          <a:cs typeface="BIZ UDPゴシック"/>
                        </a:rPr>
                        <a:t>扉の角度ごとに焼き直せない → </a:t>
                      </a:r>
                      <a:r>
                        <a:rPr lang="ja-JP" altLang="en-US" sz="1200" b="1" dirty="0">
                          <a:solidFill>
                            <a:srgbClr val="9A6212"/>
                          </a:solidFill>
                          <a:latin typeface="BIZ UDPゴシック"/>
                          <a:ea typeface="BIZ UDPゴシック"/>
                          <a:cs typeface="BIZ UDPゴシック"/>
                        </a:rPr>
                        <a:t>形だけ先に、扉と耳は毎フレーム</a:t>
                      </a:r>
                      <a:endParaRPr lang="ja-JP" altLang="en-US" sz="1200" dirty="0"/>
                    </a:p>
                  </a:txBody>
                  <a:tcPr marL="128016" marR="128016" marT="54864" marB="54864" anchor="ctr">
                    <a:lnL w="0">
                      <a:noFill/>
                    </a:lnL>
                    <a:lnR w="0">
                      <a:noFill/>
                    </a:lnR>
                    <a:lnT w="0">
                      <a:noFill/>
                    </a:lnT>
                    <a:lnB w="9525">
                      <a:solidFill>
                        <a:srgbClr val="D5DAE1"/>
                      </a:solidFill>
                    </a:lnB>
                    <a:noFill/>
                  </a:tcPr>
                </a:tc>
                <a:tc>
                  <a:txBody>
                    <a:bodyPr/>
                    <a:lstStyle/>
                    <a:p>
                      <a:pPr algn="l" marL="0" indent="0">
                        <a:spcBef>
                          <a:spcPts val="0"/>
                        </a:spcBef>
                        <a:spcAft>
                          <a:spcPts val="0"/>
                        </a:spcAft>
                        <a:buNone/>
                      </a:pPr>
                      <a:r>
                        <a:rPr lang="ja-JP" altLang="en-US" sz="1150" dirty="0">
                          <a:solidFill>
                            <a:srgbClr val="5C6677"/>
                          </a:solidFill>
                          <a:latin typeface="BIZ UDPゴシック"/>
                          <a:ea typeface="BIZ UDPゴシック"/>
                          <a:cs typeface="BIZ UDPゴシック"/>
                        </a:rPr>
                        <a:t>即時性</a:t>
                      </a:r>
                      <a:endParaRPr lang="ja-JP" altLang="en-US" sz="1150" dirty="0"/>
                    </a:p>
                  </a:txBody>
                  <a:tcPr marL="128016" marR="128016" marT="54864" marB="54864" anchor="ctr">
                    <a:lnL w="0">
                      <a:noFill/>
                    </a:lnL>
                    <a:lnR w="0">
                      <a:noFill/>
                    </a:lnR>
                    <a:lnT w="0">
                      <a:noFill/>
                    </a:lnT>
                    <a:lnB w="9525">
                      <a:solidFill>
                        <a:srgbClr val="D5DAE1"/>
                      </a:solidFill>
                    </a:lnB>
                    <a:noFill/>
                  </a:tcPr>
                </a:tc>
              </a:tr>
            </a:tbl>
          </a:graphicData>
        </a:graphic>
      </p:graphicFrame>
      <p:sp>
        <p:nvSpPr>
          <p:cNvPr id="6" name="注 6"/>
          <p:cNvSpPr txBox="1"/>
          <p:nvPr/>
        </p:nvSpPr>
        <p:spPr>
          <a:xfrm>
            <a:off x="548640" y="6419088"/>
            <a:ext cx="9875520" cy="256032"/>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5C6677"/>
                </a:solidFill>
                <a:latin typeface="BIZ UDPゴシック"/>
                <a:ea typeface="BIZ UDPゴシック"/>
                <a:cs typeface="BIZ UDPゴシック"/>
              </a:rPr>
              <a:t>※ 12.8 dB は Unity と同じ扉の場面の実測。7.9 dB・4〜7.6 倍は作り直す前の実装での実測</a:t>
            </a:r>
            <a:endParaRPr lang="ja-JP" altLang="en-US" sz="950" dirty="0"/>
          </a:p>
        </p:txBody>
      </p:sp>
      <p:sp>
        <p:nvSpPr>
          <p:cNvPr id="7" name="ページ番号 7"/>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15</a:t>
            </a:r>
            <a:endParaRPr lang="ja-JP" alt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2"/>
          <p:cNvSpPr txBox="1"/>
          <p:nvPr/>
        </p:nvSpPr>
        <p:spPr>
          <a:xfrm>
            <a:off x="548640" y="2487168"/>
            <a:ext cx="11091672" cy="36576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600" b="1" dirty="0">
                <a:solidFill>
                  <a:srgbClr val="9A6212"/>
                </a:solidFill>
                <a:latin typeface="BIZ UDPゴシック"/>
                <a:ea typeface="BIZ UDPゴシック"/>
                <a:cs typeface="BIZ UDPゴシック"/>
              </a:rPr>
              <a:t>実装内容　2</a:t>
            </a:r>
            <a:endParaRPr lang="ja-JP" altLang="en-US" sz="1600" dirty="0"/>
          </a:p>
        </p:txBody>
      </p:sp>
      <p:sp>
        <p:nvSpPr>
          <p:cNvPr id="3" name="テキスト 3"/>
          <p:cNvSpPr txBox="1"/>
          <p:nvPr/>
        </p:nvSpPr>
        <p:spPr>
          <a:xfrm>
            <a:off x="548640" y="2852928"/>
            <a:ext cx="11091672" cy="822960"/>
          </a:xfrm>
          <a:prstGeom prst="rect">
            <a:avLst/>
          </a:prstGeom>
          <a:noFill/>
        </p:spPr>
        <p:txBody>
          <a:bodyPr wrap="square" lIns="0" tIns="0" rIns="0" bIns="0" rtlCol="0" anchor="ctr">
            <a:noAutofit/>
          </a:bodyPr>
          <a:lstStyle/>
          <a:p>
            <a:pPr algn="ctr" marL="0" indent="0">
              <a:spcBef>
                <a:spcPts val="0"/>
              </a:spcBef>
              <a:spcAft>
                <a:spcPts val="0"/>
              </a:spcAft>
              <a:buNone/>
            </a:pPr>
            <a:r>
              <a:rPr lang="ja-JP" altLang="en-US" sz="4000" b="1" dirty="0">
                <a:solidFill>
                  <a:srgbClr val="1E2430"/>
                </a:solidFill>
                <a:latin typeface="BIZ UDPゴシック"/>
                <a:ea typeface="BIZ UDPゴシック"/>
                <a:cs typeface="BIZ UDPゴシック"/>
              </a:rPr>
              <a:t>ドアの開き具合での演出</a:t>
            </a:r>
            <a:endParaRPr lang="ja-JP" altLang="en-US" sz="4000" dirty="0"/>
          </a:p>
        </p:txBody>
      </p:sp>
      <p:cxnSp>
        <p:nvCxnSpPr>
          <p:cNvPr id="4" name="線 4"/>
          <p:cNvCxnSpPr/>
          <p:nvPr/>
        </p:nvCxnSpPr>
        <p:spPr>
          <a:xfrm>
            <a:off x="3813048" y="3840480"/>
            <a:ext cx="4572000" cy="0"/>
          </a:xfrm>
          <a:prstGeom prst="line">
            <a:avLst/>
          </a:prstGeom>
          <a:ln w="31750">
            <a:solidFill>
              <a:srgbClr val="E3A33B"/>
            </a:solidFill>
          </a:ln>
        </p:spPr>
      </p:cxnSp>
      <p:sp>
        <p:nvSpPr>
          <p:cNvPr id="5" name="ページ番号 5"/>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16</a:t>
            </a:r>
            <a:endParaRPr lang="ja-JP" alt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ドアの開き具合での演出</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問題点と改善方法</a:t>
            </a:r>
            <a:endParaRPr lang="ja-JP" altLang="en-US" sz="2600" dirty="0"/>
          </a:p>
        </p:txBody>
      </p:sp>
      <p:sp>
        <p:nvSpPr>
          <p:cNvPr id="4" name="テキスト 4"/>
          <p:cNvSpPr txBox="1"/>
          <p:nvPr/>
        </p:nvSpPr>
        <p:spPr>
          <a:xfrm>
            <a:off x="548640" y="1243584"/>
            <a:ext cx="11091672" cy="54864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扉の場面を、開き角と音源の向きの格子で総当たりに測って見つけた、残っている問題。</a:t>
            </a:r>
            <a:endParaRPr lang="ja-JP" altLang="en-US" sz="1450" dirty="0"/>
          </a:p>
        </p:txBody>
      </p:sp>
      <p:sp>
        <p:nvSpPr>
          <p:cNvPr id="5" name="カード 5"/>
          <p:cNvSpPr/>
          <p:nvPr/>
        </p:nvSpPr>
        <p:spPr>
          <a:xfrm>
            <a:off x="548640" y="1965960"/>
            <a:ext cx="3593592" cy="4297680"/>
          </a:xfrm>
          <a:prstGeom prst="roundRect">
            <a:avLst>
              <a:gd name="adj" fmla="val 4000"/>
            </a:avLst>
          </a:prstGeom>
          <a:solidFill>
            <a:srgbClr val="F0F2F5"/>
          </a:solidFill>
          <a:ln>
            <a:noFill/>
          </a:ln>
        </p:spPr>
      </p:sp>
      <p:sp>
        <p:nvSpPr>
          <p:cNvPr id="6" name="図形 6"/>
          <p:cNvSpPr/>
          <p:nvPr/>
        </p:nvSpPr>
        <p:spPr>
          <a:xfrm>
            <a:off x="777240" y="2121408"/>
            <a:ext cx="347472" cy="347472"/>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1</a:t>
            </a:r>
            <a:endParaRPr lang="ja-JP" altLang="en-US" sz="1300" dirty="0"/>
          </a:p>
        </p:txBody>
      </p:sp>
      <p:sp>
        <p:nvSpPr>
          <p:cNvPr id="7" name="テキスト 7"/>
          <p:cNvSpPr txBox="1"/>
          <p:nvPr/>
        </p:nvSpPr>
        <p:spPr>
          <a:xfrm>
            <a:off x="1234440" y="2084832"/>
            <a:ext cx="2724912" cy="685800"/>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350" b="1" dirty="0">
                <a:solidFill>
                  <a:srgbClr val="1E2430"/>
                </a:solidFill>
                <a:latin typeface="BIZ UDPゴシック"/>
                <a:ea typeface="BIZ UDPゴシック"/>
                <a:cs typeface="BIZ UDPゴシック"/>
              </a:rPr>
              <a:t>開き始めの 0〜2° では音が変わらない</a:t>
            </a:r>
            <a:endParaRPr lang="ja-JP" altLang="en-US" sz="1350" dirty="0"/>
          </a:p>
        </p:txBody>
      </p:sp>
      <p:sp>
        <p:nvSpPr>
          <p:cNvPr id="8" name="壁 8"/>
          <p:cNvSpPr/>
          <p:nvPr/>
        </p:nvSpPr>
        <p:spPr>
          <a:xfrm>
            <a:off x="777240" y="3360420"/>
            <a:ext cx="1254557" cy="82296"/>
          </a:xfrm>
          <a:prstGeom prst="rect">
            <a:avLst/>
          </a:prstGeom>
          <a:solidFill>
            <a:srgbClr val="8A94A6"/>
          </a:solidFill>
          <a:ln>
            <a:noFill/>
          </a:ln>
        </p:spPr>
      </p:sp>
      <p:sp>
        <p:nvSpPr>
          <p:cNvPr id="9" name="壁 9"/>
          <p:cNvSpPr/>
          <p:nvPr/>
        </p:nvSpPr>
        <p:spPr>
          <a:xfrm>
            <a:off x="2784531" y="3360420"/>
            <a:ext cx="1129101" cy="82296"/>
          </a:xfrm>
          <a:prstGeom prst="rect">
            <a:avLst/>
          </a:prstGeom>
          <a:solidFill>
            <a:srgbClr val="8A94A6"/>
          </a:solidFill>
          <a:ln>
            <a:noFill/>
          </a:ln>
        </p:spPr>
      </p:sp>
      <p:cxnSp>
        <p:nvCxnSpPr>
          <p:cNvPr id="10" name="線 10"/>
          <p:cNvCxnSpPr/>
          <p:nvPr/>
        </p:nvCxnSpPr>
        <p:spPr>
          <a:xfrm flipV="1">
            <a:off x="2031797" y="3363130"/>
            <a:ext cx="733440" cy="38438"/>
          </a:xfrm>
          <a:prstGeom prst="line">
            <a:avLst/>
          </a:prstGeom>
          <a:ln w="38100">
            <a:solidFill>
              <a:srgbClr val="9A6212"/>
            </a:solidFill>
          </a:ln>
        </p:spPr>
      </p:cxnSp>
      <p:sp>
        <p:nvSpPr>
          <p:cNvPr id="11" name="点 11"/>
          <p:cNvSpPr/>
          <p:nvPr/>
        </p:nvSpPr>
        <p:spPr>
          <a:xfrm>
            <a:off x="2353300" y="2862072"/>
            <a:ext cx="109728" cy="109728"/>
          </a:xfrm>
          <a:prstGeom prst="ellipse">
            <a:avLst/>
          </a:prstGeom>
          <a:solidFill>
            <a:srgbClr val="E3A33B"/>
          </a:solidFill>
          <a:ln>
            <a:noFill/>
          </a:ln>
        </p:spPr>
      </p:sp>
      <p:sp>
        <p:nvSpPr>
          <p:cNvPr id="12" name="点 12"/>
          <p:cNvSpPr/>
          <p:nvPr/>
        </p:nvSpPr>
        <p:spPr>
          <a:xfrm>
            <a:off x="2353300" y="3831336"/>
            <a:ext cx="109728" cy="109728"/>
          </a:xfrm>
          <a:prstGeom prst="ellipse">
            <a:avLst/>
          </a:prstGeom>
          <a:solidFill>
            <a:srgbClr val="1E2430"/>
          </a:solidFill>
          <a:ln>
            <a:noFill/>
          </a:ln>
        </p:spPr>
      </p:sp>
      <p:sp>
        <p:nvSpPr>
          <p:cNvPr id="13" name="テキスト 13"/>
          <p:cNvSpPr txBox="1"/>
          <p:nvPr/>
        </p:nvSpPr>
        <p:spPr>
          <a:xfrm>
            <a:off x="2490460" y="2807208"/>
            <a:ext cx="548640" cy="20116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00" dirty="0">
                <a:solidFill>
                  <a:srgbClr val="1E2430"/>
                </a:solidFill>
                <a:latin typeface="BIZ UDPゴシック"/>
                <a:ea typeface="BIZ UDPゴシック"/>
                <a:cs typeface="BIZ UDPゴシック"/>
              </a:rPr>
              <a:t>音源</a:t>
            </a:r>
            <a:endParaRPr lang="ja-JP" altLang="en-US" sz="900" dirty="0"/>
          </a:p>
        </p:txBody>
      </p:sp>
      <p:sp>
        <p:nvSpPr>
          <p:cNvPr id="14" name="テキスト 14"/>
          <p:cNvSpPr txBox="1"/>
          <p:nvPr/>
        </p:nvSpPr>
        <p:spPr>
          <a:xfrm>
            <a:off x="2490460" y="3776472"/>
            <a:ext cx="548640" cy="20116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00" dirty="0">
                <a:solidFill>
                  <a:srgbClr val="1E2430"/>
                </a:solidFill>
                <a:latin typeface="BIZ UDPゴシック"/>
                <a:ea typeface="BIZ UDPゴシック"/>
                <a:cs typeface="BIZ UDPゴシック"/>
              </a:rPr>
              <a:t>耳</a:t>
            </a:r>
            <a:endParaRPr lang="ja-JP" altLang="en-US" sz="900" dirty="0"/>
          </a:p>
        </p:txBody>
      </p:sp>
      <p:cxnSp>
        <p:nvCxnSpPr>
          <p:cNvPr id="15" name="線 15"/>
          <p:cNvCxnSpPr/>
          <p:nvPr/>
        </p:nvCxnSpPr>
        <p:spPr>
          <a:xfrm flipH="1">
            <a:off x="2792668" y="3088810"/>
            <a:ext cx="246888" cy="237744"/>
          </a:xfrm>
          <a:prstGeom prst="line">
            <a:avLst/>
          </a:prstGeom>
          <a:ln w="12700">
            <a:solidFill>
              <a:srgbClr val="E3A33B"/>
            </a:solidFill>
            <a:tailEnd type="triangle" w="med" len="med"/>
          </a:ln>
        </p:spPr>
      </p:cxnSp>
      <p:sp>
        <p:nvSpPr>
          <p:cNvPr id="16" name="テキスト 16"/>
          <p:cNvSpPr txBox="1"/>
          <p:nvPr/>
        </p:nvSpPr>
        <p:spPr>
          <a:xfrm>
            <a:off x="2993836" y="2887642"/>
            <a:ext cx="1188720" cy="20116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00" b="1" dirty="0">
                <a:solidFill>
                  <a:srgbClr val="9A6212"/>
                </a:solidFill>
                <a:latin typeface="BIZ UDPゴシック"/>
                <a:ea typeface="BIZ UDPゴシック"/>
                <a:cs typeface="BIZ UDPゴシック"/>
              </a:rPr>
              <a:t>隙間 4 mm</a:t>
            </a:r>
            <a:endParaRPr lang="ja-JP" altLang="en-US" sz="900" dirty="0"/>
          </a:p>
        </p:txBody>
      </p:sp>
      <p:sp>
        <p:nvSpPr>
          <p:cNvPr id="17" name="テキスト 17"/>
          <p:cNvSpPr txBox="1"/>
          <p:nvPr/>
        </p:nvSpPr>
        <p:spPr>
          <a:xfrm>
            <a:off x="777240" y="3072384"/>
            <a:ext cx="1097280" cy="20116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00" dirty="0">
                <a:solidFill>
                  <a:srgbClr val="5C6677"/>
                </a:solidFill>
                <a:latin typeface="BIZ UDPゴシック"/>
                <a:ea typeface="BIZ UDPゴシック"/>
                <a:cs typeface="BIZ UDPゴシック"/>
              </a:rPr>
              <a:t>扉 0〜2°</a:t>
            </a:r>
            <a:endParaRPr lang="ja-JP" altLang="en-US" sz="900" dirty="0"/>
          </a:p>
        </p:txBody>
      </p:sp>
      <p:sp>
        <p:nvSpPr>
          <p:cNvPr id="18" name="テキスト 18"/>
          <p:cNvSpPr txBox="1"/>
          <p:nvPr/>
        </p:nvSpPr>
        <p:spPr>
          <a:xfrm>
            <a:off x="777240" y="4069080"/>
            <a:ext cx="3136392"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5C6677"/>
                </a:solidFill>
                <a:latin typeface="BIZ UDPゴシック"/>
                <a:ea typeface="BIZ UDPゴシック"/>
                <a:cs typeface="BIZ UDPゴシック"/>
              </a:rPr>
              <a:t>原因</a:t>
            </a:r>
            <a:endParaRPr lang="ja-JP" altLang="en-US" sz="1100" dirty="0"/>
          </a:p>
        </p:txBody>
      </p:sp>
      <p:sp>
        <p:nvSpPr>
          <p:cNvPr id="19" name="テキスト 19"/>
          <p:cNvSpPr txBox="1"/>
          <p:nvPr/>
        </p:nvSpPr>
        <p:spPr>
          <a:xfrm>
            <a:off x="777240" y="4297680"/>
            <a:ext cx="3136392" cy="91440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扉と枠の 4 mm の隙間を、音の道として扱っていない。2° を超えると回折が入り、音色が一段変わる</a:t>
            </a:r>
            <a:endParaRPr lang="ja-JP" altLang="en-US" sz="1200" dirty="0"/>
          </a:p>
        </p:txBody>
      </p:sp>
      <p:sp>
        <p:nvSpPr>
          <p:cNvPr id="20" name="図形 20"/>
          <p:cNvSpPr/>
          <p:nvPr/>
        </p:nvSpPr>
        <p:spPr>
          <a:xfrm>
            <a:off x="731520" y="5212080"/>
            <a:ext cx="3227832" cy="914400"/>
          </a:xfrm>
          <a:prstGeom prst="roundRect">
            <a:avLst>
              <a:gd name="adj" fmla="val 8000"/>
            </a:avLst>
          </a:prstGeom>
          <a:solidFill>
            <a:srgbClr val="FBF1DF"/>
          </a:solidFill>
          <a:ln>
            <a:noFill/>
          </a:ln>
        </p:spPr>
      </p:sp>
      <p:sp>
        <p:nvSpPr>
          <p:cNvPr id="21" name="テキスト 21"/>
          <p:cNvSpPr txBox="1"/>
          <p:nvPr/>
        </p:nvSpPr>
        <p:spPr>
          <a:xfrm>
            <a:off x="914400" y="5266944"/>
            <a:ext cx="2862072"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9A6212"/>
                </a:solidFill>
                <a:latin typeface="BIZ UDPゴシック"/>
                <a:ea typeface="BIZ UDPゴシック"/>
                <a:cs typeface="BIZ UDPゴシック"/>
              </a:rPr>
              <a:t>改善の案</a:t>
            </a:r>
            <a:endParaRPr lang="ja-JP" altLang="en-US" sz="1100" dirty="0"/>
          </a:p>
        </p:txBody>
      </p:sp>
      <p:sp>
        <p:nvSpPr>
          <p:cNvPr id="22" name="テキスト 22"/>
          <p:cNvSpPr txBox="1"/>
          <p:nvPr/>
        </p:nvSpPr>
        <p:spPr>
          <a:xfrm>
            <a:off x="914400" y="5504688"/>
            <a:ext cx="2862072" cy="59436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隙間の幅から、回折の道を少しずつ立ち上げる</a:t>
            </a:r>
            <a:endParaRPr lang="ja-JP" altLang="en-US" sz="1200" dirty="0"/>
          </a:p>
        </p:txBody>
      </p:sp>
      <p:sp>
        <p:nvSpPr>
          <p:cNvPr id="23" name="カード 23"/>
          <p:cNvSpPr/>
          <p:nvPr/>
        </p:nvSpPr>
        <p:spPr>
          <a:xfrm>
            <a:off x="4297680" y="1965960"/>
            <a:ext cx="3593592" cy="4297680"/>
          </a:xfrm>
          <a:prstGeom prst="roundRect">
            <a:avLst>
              <a:gd name="adj" fmla="val 4000"/>
            </a:avLst>
          </a:prstGeom>
          <a:solidFill>
            <a:srgbClr val="F0F2F5"/>
          </a:solidFill>
          <a:ln>
            <a:noFill/>
          </a:ln>
        </p:spPr>
      </p:sp>
      <p:sp>
        <p:nvSpPr>
          <p:cNvPr id="24" name="図形 24"/>
          <p:cNvSpPr/>
          <p:nvPr/>
        </p:nvSpPr>
        <p:spPr>
          <a:xfrm>
            <a:off x="4526280" y="2121408"/>
            <a:ext cx="347472" cy="347472"/>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2</a:t>
            </a:r>
            <a:endParaRPr lang="ja-JP" altLang="en-US" sz="1300" dirty="0"/>
          </a:p>
        </p:txBody>
      </p:sp>
      <p:sp>
        <p:nvSpPr>
          <p:cNvPr id="25" name="テキスト 25"/>
          <p:cNvSpPr txBox="1"/>
          <p:nvPr/>
        </p:nvSpPr>
        <p:spPr>
          <a:xfrm>
            <a:off x="4983480" y="2084832"/>
            <a:ext cx="2724912" cy="685800"/>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350" b="1" dirty="0">
                <a:solidFill>
                  <a:srgbClr val="1E2430"/>
                </a:solidFill>
                <a:latin typeface="BIZ UDPゴシック"/>
                <a:ea typeface="BIZ UDPゴシック"/>
                <a:cs typeface="BIZ UDPゴシック"/>
              </a:rPr>
              <a:t>閉じた扉で、戸口から外れた音源が壁越しに聞こえる</a:t>
            </a:r>
            <a:endParaRPr lang="ja-JP" altLang="en-US" sz="1350" dirty="0"/>
          </a:p>
        </p:txBody>
      </p:sp>
      <p:sp>
        <p:nvSpPr>
          <p:cNvPr id="26" name="壁 26"/>
          <p:cNvSpPr/>
          <p:nvPr/>
        </p:nvSpPr>
        <p:spPr>
          <a:xfrm>
            <a:off x="4526280" y="3360420"/>
            <a:ext cx="1254557" cy="82296"/>
          </a:xfrm>
          <a:prstGeom prst="rect">
            <a:avLst/>
          </a:prstGeom>
          <a:solidFill>
            <a:srgbClr val="8A94A6"/>
          </a:solidFill>
          <a:ln>
            <a:noFill/>
          </a:ln>
        </p:spPr>
      </p:sp>
      <p:sp>
        <p:nvSpPr>
          <p:cNvPr id="27" name="壁 27"/>
          <p:cNvSpPr/>
          <p:nvPr/>
        </p:nvSpPr>
        <p:spPr>
          <a:xfrm>
            <a:off x="6533571" y="3360420"/>
            <a:ext cx="1129101" cy="82296"/>
          </a:xfrm>
          <a:prstGeom prst="rect">
            <a:avLst/>
          </a:prstGeom>
          <a:solidFill>
            <a:srgbClr val="8A94A6"/>
          </a:solidFill>
          <a:ln>
            <a:noFill/>
          </a:ln>
        </p:spPr>
      </p:sp>
      <p:cxnSp>
        <p:nvCxnSpPr>
          <p:cNvPr id="28" name="線 28"/>
          <p:cNvCxnSpPr/>
          <p:nvPr/>
        </p:nvCxnSpPr>
        <p:spPr>
          <a:xfrm>
            <a:off x="5780837" y="3401568"/>
            <a:ext cx="734446" cy="0"/>
          </a:xfrm>
          <a:prstGeom prst="line">
            <a:avLst/>
          </a:prstGeom>
          <a:ln w="38100">
            <a:solidFill>
              <a:srgbClr val="9A6212"/>
            </a:solidFill>
          </a:ln>
        </p:spPr>
      </p:cxnSp>
      <p:cxnSp>
        <p:nvCxnSpPr>
          <p:cNvPr id="29" name="線 29"/>
          <p:cNvCxnSpPr/>
          <p:nvPr/>
        </p:nvCxnSpPr>
        <p:spPr>
          <a:xfrm>
            <a:off x="4777191" y="2916936"/>
            <a:ext cx="1505468" cy="969264"/>
          </a:xfrm>
          <a:prstGeom prst="line">
            <a:avLst/>
          </a:prstGeom>
          <a:ln w="15875">
            <a:solidFill>
              <a:srgbClr val="5C6677"/>
            </a:solidFill>
          </a:ln>
        </p:spPr>
      </p:cxnSp>
      <p:sp>
        <p:nvSpPr>
          <p:cNvPr id="30" name="折れ線 30"/>
          <p:cNvSpPr/>
          <p:nvPr/>
        </p:nvSpPr>
        <p:spPr>
          <a:xfrm>
            <a:off x="4777191" y="2916936"/>
            <a:ext cx="1505468" cy="969264"/>
          </a:xfrm>
          <a:custGeom>
            <a:avLst/>
            <a:gdLst/>
            <a:ahLst/>
            <a:cxnLst/>
            <a:rect l="0" t="0" r="r" b="b"/>
            <a:pathLst>
              <a:path w="1505468" h="969264" fill="none">
                <a:moveTo>
                  <a:pt x="0" y="0"/>
                </a:moveTo>
                <a:lnTo>
                  <a:pt x="1380012" y="484632"/>
                </a:lnTo>
                <a:lnTo>
                  <a:pt x="1505468" y="969264"/>
                </a:lnTo>
              </a:path>
            </a:pathLst>
          </a:custGeom>
          <a:noFill/>
          <a:ln w="19050">
            <a:solidFill>
              <a:srgbClr val="E3A33B"/>
            </a:solidFill>
            <a:prstDash val="dash"/>
          </a:ln>
        </p:spPr>
      </p:sp>
      <p:sp>
        <p:nvSpPr>
          <p:cNvPr id="31" name="点 31"/>
          <p:cNvSpPr/>
          <p:nvPr/>
        </p:nvSpPr>
        <p:spPr>
          <a:xfrm>
            <a:off x="4722327" y="2862072"/>
            <a:ext cx="109728" cy="109728"/>
          </a:xfrm>
          <a:prstGeom prst="ellipse">
            <a:avLst/>
          </a:prstGeom>
          <a:solidFill>
            <a:srgbClr val="E3A33B"/>
          </a:solidFill>
          <a:ln>
            <a:noFill/>
          </a:ln>
        </p:spPr>
      </p:sp>
      <p:sp>
        <p:nvSpPr>
          <p:cNvPr id="32" name="点 32"/>
          <p:cNvSpPr/>
          <p:nvPr/>
        </p:nvSpPr>
        <p:spPr>
          <a:xfrm>
            <a:off x="6227796" y="3831336"/>
            <a:ext cx="109728" cy="109728"/>
          </a:xfrm>
          <a:prstGeom prst="ellipse">
            <a:avLst/>
          </a:prstGeom>
          <a:solidFill>
            <a:srgbClr val="1E2430"/>
          </a:solidFill>
          <a:ln>
            <a:noFill/>
          </a:ln>
        </p:spPr>
      </p:sp>
      <p:sp>
        <p:nvSpPr>
          <p:cNvPr id="33" name="テキスト 33"/>
          <p:cNvSpPr txBox="1"/>
          <p:nvPr/>
        </p:nvSpPr>
        <p:spPr>
          <a:xfrm>
            <a:off x="4859487" y="2807208"/>
            <a:ext cx="548640" cy="20116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00" dirty="0">
                <a:solidFill>
                  <a:srgbClr val="1E2430"/>
                </a:solidFill>
                <a:latin typeface="BIZ UDPゴシック"/>
                <a:ea typeface="BIZ UDPゴシック"/>
                <a:cs typeface="BIZ UDPゴシック"/>
              </a:rPr>
              <a:t>音源</a:t>
            </a:r>
            <a:endParaRPr lang="ja-JP" altLang="en-US" sz="900" dirty="0"/>
          </a:p>
        </p:txBody>
      </p:sp>
      <p:sp>
        <p:nvSpPr>
          <p:cNvPr id="34" name="テキスト 34"/>
          <p:cNvSpPr txBox="1"/>
          <p:nvPr/>
        </p:nvSpPr>
        <p:spPr>
          <a:xfrm>
            <a:off x="6364956" y="3776472"/>
            <a:ext cx="548640" cy="20116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00" dirty="0">
                <a:solidFill>
                  <a:srgbClr val="1E2430"/>
                </a:solidFill>
                <a:latin typeface="BIZ UDPゴシック"/>
                <a:ea typeface="BIZ UDPゴシック"/>
                <a:cs typeface="BIZ UDPゴシック"/>
              </a:rPr>
              <a:t>耳</a:t>
            </a:r>
            <a:endParaRPr lang="ja-JP" altLang="en-US" sz="900" dirty="0"/>
          </a:p>
        </p:txBody>
      </p:sp>
      <p:sp>
        <p:nvSpPr>
          <p:cNvPr id="35" name="テキスト 35"/>
          <p:cNvSpPr txBox="1"/>
          <p:nvPr/>
        </p:nvSpPr>
        <p:spPr>
          <a:xfrm>
            <a:off x="4526280" y="3657600"/>
            <a:ext cx="1005840" cy="20116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00" dirty="0">
                <a:solidFill>
                  <a:srgbClr val="5C6677"/>
                </a:solidFill>
                <a:latin typeface="BIZ UDPゴシック"/>
                <a:ea typeface="BIZ UDPゴシック"/>
                <a:cs typeface="BIZ UDPゴシック"/>
              </a:rPr>
              <a:t>今：壁を直進</a:t>
            </a:r>
            <a:endParaRPr lang="ja-JP" altLang="en-US" sz="900" dirty="0"/>
          </a:p>
        </p:txBody>
      </p:sp>
      <p:sp>
        <p:nvSpPr>
          <p:cNvPr id="36" name="テキスト 36"/>
          <p:cNvSpPr txBox="1"/>
          <p:nvPr/>
        </p:nvSpPr>
        <p:spPr>
          <a:xfrm>
            <a:off x="6579291" y="3072384"/>
            <a:ext cx="1188720" cy="20116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00" b="1" dirty="0">
                <a:solidFill>
                  <a:srgbClr val="9A6212"/>
                </a:solidFill>
                <a:latin typeface="BIZ UDPゴシック"/>
                <a:ea typeface="BIZ UDPゴシック"/>
                <a:cs typeface="BIZ UDPゴシック"/>
              </a:rPr>
              <a:t>案：扉を回る</a:t>
            </a:r>
            <a:endParaRPr lang="ja-JP" altLang="en-US" sz="900" dirty="0"/>
          </a:p>
        </p:txBody>
      </p:sp>
      <p:sp>
        <p:nvSpPr>
          <p:cNvPr id="37" name="テキスト 37"/>
          <p:cNvSpPr txBox="1"/>
          <p:nvPr/>
        </p:nvSpPr>
        <p:spPr>
          <a:xfrm>
            <a:off x="4526280" y="4069080"/>
            <a:ext cx="3136392"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5C6677"/>
                </a:solidFill>
                <a:latin typeface="BIZ UDPゴシック"/>
                <a:ea typeface="BIZ UDPゴシック"/>
                <a:cs typeface="BIZ UDPゴシック"/>
              </a:rPr>
              <a:t>原因</a:t>
            </a:r>
            <a:endParaRPr lang="ja-JP" altLang="en-US" sz="1100" dirty="0"/>
          </a:p>
        </p:txBody>
      </p:sp>
      <p:sp>
        <p:nvSpPr>
          <p:cNvPr id="38" name="テキスト 38"/>
          <p:cNvSpPr txBox="1"/>
          <p:nvPr/>
        </p:nvSpPr>
        <p:spPr>
          <a:xfrm>
            <a:off x="4526280" y="4297680"/>
            <a:ext cx="3136392" cy="91440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透過を「音源と耳を結ぶ直線」でしか見ていない。薄い扉でなく、厚いコンクリートを通った音になる</a:t>
            </a:r>
            <a:endParaRPr lang="ja-JP" altLang="en-US" sz="1200" dirty="0"/>
          </a:p>
        </p:txBody>
      </p:sp>
      <p:sp>
        <p:nvSpPr>
          <p:cNvPr id="39" name="図形 39"/>
          <p:cNvSpPr/>
          <p:nvPr/>
        </p:nvSpPr>
        <p:spPr>
          <a:xfrm>
            <a:off x="4480560" y="5212080"/>
            <a:ext cx="3227832" cy="914400"/>
          </a:xfrm>
          <a:prstGeom prst="roundRect">
            <a:avLst>
              <a:gd name="adj" fmla="val 8000"/>
            </a:avLst>
          </a:prstGeom>
          <a:solidFill>
            <a:srgbClr val="FBF1DF"/>
          </a:solidFill>
          <a:ln>
            <a:noFill/>
          </a:ln>
        </p:spPr>
      </p:sp>
      <p:sp>
        <p:nvSpPr>
          <p:cNvPr id="40" name="テキスト 40"/>
          <p:cNvSpPr txBox="1"/>
          <p:nvPr/>
        </p:nvSpPr>
        <p:spPr>
          <a:xfrm>
            <a:off x="4663440" y="5266944"/>
            <a:ext cx="2862072"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9A6212"/>
                </a:solidFill>
                <a:latin typeface="BIZ UDPゴシック"/>
                <a:ea typeface="BIZ UDPゴシック"/>
                <a:cs typeface="BIZ UDPゴシック"/>
              </a:rPr>
              <a:t>改善の案</a:t>
            </a:r>
            <a:endParaRPr lang="ja-JP" altLang="en-US" sz="1100" dirty="0"/>
          </a:p>
        </p:txBody>
      </p:sp>
      <p:sp>
        <p:nvSpPr>
          <p:cNvPr id="41" name="テキスト 41"/>
          <p:cNvSpPr txBox="1"/>
          <p:nvPr/>
        </p:nvSpPr>
        <p:spPr>
          <a:xfrm>
            <a:off x="4663440" y="5504688"/>
            <a:ext cx="2862072" cy="59436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壁より通りやすい所（扉）を回る透過の道を探す</a:t>
            </a:r>
            <a:endParaRPr lang="ja-JP" altLang="en-US" sz="1200" dirty="0"/>
          </a:p>
        </p:txBody>
      </p:sp>
      <p:sp>
        <p:nvSpPr>
          <p:cNvPr id="42" name="カード 42"/>
          <p:cNvSpPr/>
          <p:nvPr/>
        </p:nvSpPr>
        <p:spPr>
          <a:xfrm>
            <a:off x="8046720" y="1965960"/>
            <a:ext cx="3593592" cy="4297680"/>
          </a:xfrm>
          <a:prstGeom prst="roundRect">
            <a:avLst>
              <a:gd name="adj" fmla="val 4000"/>
            </a:avLst>
          </a:prstGeom>
          <a:solidFill>
            <a:srgbClr val="F0F2F5"/>
          </a:solidFill>
          <a:ln>
            <a:noFill/>
          </a:ln>
        </p:spPr>
      </p:sp>
      <p:sp>
        <p:nvSpPr>
          <p:cNvPr id="43" name="図形 43"/>
          <p:cNvSpPr/>
          <p:nvPr/>
        </p:nvSpPr>
        <p:spPr>
          <a:xfrm>
            <a:off x="8275320" y="2121408"/>
            <a:ext cx="347472" cy="347472"/>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3</a:t>
            </a:r>
            <a:endParaRPr lang="ja-JP" altLang="en-US" sz="1300" dirty="0"/>
          </a:p>
        </p:txBody>
      </p:sp>
      <p:sp>
        <p:nvSpPr>
          <p:cNvPr id="44" name="テキスト 44"/>
          <p:cNvSpPr txBox="1"/>
          <p:nvPr/>
        </p:nvSpPr>
        <p:spPr>
          <a:xfrm>
            <a:off x="8732520" y="2084832"/>
            <a:ext cx="2724912" cy="685800"/>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350" b="1" dirty="0">
                <a:solidFill>
                  <a:srgbClr val="1E2430"/>
                </a:solidFill>
                <a:latin typeface="BIZ UDPゴシック"/>
                <a:ea typeface="BIZ UDPゴシック"/>
                <a:cs typeface="BIZ UDPゴシック"/>
              </a:rPr>
              <a:t>蝶番側の音源で、扉 32〜53° の間だけ回折が途切れる</a:t>
            </a:r>
            <a:endParaRPr lang="ja-JP" altLang="en-US" sz="1350" dirty="0"/>
          </a:p>
        </p:txBody>
      </p:sp>
      <p:sp>
        <p:nvSpPr>
          <p:cNvPr id="45" name="壁 45"/>
          <p:cNvSpPr/>
          <p:nvPr/>
        </p:nvSpPr>
        <p:spPr>
          <a:xfrm>
            <a:off x="8275320" y="3455518"/>
            <a:ext cx="1254557" cy="82296"/>
          </a:xfrm>
          <a:prstGeom prst="rect">
            <a:avLst/>
          </a:prstGeom>
          <a:solidFill>
            <a:srgbClr val="8A94A6"/>
          </a:solidFill>
          <a:ln>
            <a:noFill/>
          </a:ln>
        </p:spPr>
      </p:sp>
      <p:sp>
        <p:nvSpPr>
          <p:cNvPr id="46" name="壁 46"/>
          <p:cNvSpPr/>
          <p:nvPr/>
        </p:nvSpPr>
        <p:spPr>
          <a:xfrm>
            <a:off x="10282611" y="3455518"/>
            <a:ext cx="1129101" cy="82296"/>
          </a:xfrm>
          <a:prstGeom prst="rect">
            <a:avLst/>
          </a:prstGeom>
          <a:solidFill>
            <a:srgbClr val="8A94A6"/>
          </a:solidFill>
          <a:ln>
            <a:noFill/>
          </a:ln>
        </p:spPr>
      </p:sp>
      <p:cxnSp>
        <p:nvCxnSpPr>
          <p:cNvPr id="47" name="線 47"/>
          <p:cNvCxnSpPr/>
          <p:nvPr/>
        </p:nvCxnSpPr>
        <p:spPr>
          <a:xfrm flipV="1">
            <a:off x="9509305" y="3000056"/>
            <a:ext cx="562618" cy="472093"/>
          </a:xfrm>
          <a:prstGeom prst="line">
            <a:avLst/>
          </a:prstGeom>
          <a:ln w="22225">
            <a:solidFill>
              <a:srgbClr val="9A6212"/>
            </a:solidFill>
          </a:ln>
        </p:spPr>
      </p:cxnSp>
      <p:cxnSp>
        <p:nvCxnSpPr>
          <p:cNvPr id="48" name="線 48"/>
          <p:cNvCxnSpPr/>
          <p:nvPr/>
        </p:nvCxnSpPr>
        <p:spPr>
          <a:xfrm flipV="1">
            <a:off x="9550449" y="3049089"/>
            <a:ext cx="562618" cy="472093"/>
          </a:xfrm>
          <a:prstGeom prst="line">
            <a:avLst/>
          </a:prstGeom>
          <a:ln w="22225">
            <a:solidFill>
              <a:srgbClr val="9A6212"/>
            </a:solidFill>
          </a:ln>
        </p:spPr>
      </p:cxnSp>
      <p:sp>
        <p:nvSpPr>
          <p:cNvPr id="49" name="点 49"/>
          <p:cNvSpPr/>
          <p:nvPr/>
        </p:nvSpPr>
        <p:spPr>
          <a:xfrm>
            <a:off x="10039919" y="2968052"/>
            <a:ext cx="64008" cy="64008"/>
          </a:xfrm>
          <a:prstGeom prst="ellipse">
            <a:avLst/>
          </a:prstGeom>
          <a:solidFill>
            <a:srgbClr val="E3A33B"/>
          </a:solidFill>
          <a:ln>
            <a:noFill/>
          </a:ln>
        </p:spPr>
      </p:sp>
      <p:sp>
        <p:nvSpPr>
          <p:cNvPr id="50" name="点 50"/>
          <p:cNvSpPr/>
          <p:nvPr/>
        </p:nvSpPr>
        <p:spPr>
          <a:xfrm>
            <a:off x="10081063" y="3017085"/>
            <a:ext cx="64008" cy="64008"/>
          </a:xfrm>
          <a:prstGeom prst="ellipse">
            <a:avLst/>
          </a:prstGeom>
          <a:solidFill>
            <a:srgbClr val="E3A33B"/>
          </a:solidFill>
          <a:ln>
            <a:noFill/>
          </a:ln>
        </p:spPr>
      </p:sp>
      <p:sp>
        <p:nvSpPr>
          <p:cNvPr id="51" name="テキスト 51"/>
          <p:cNvSpPr txBox="1"/>
          <p:nvPr/>
        </p:nvSpPr>
        <p:spPr>
          <a:xfrm>
            <a:off x="10183935" y="2841693"/>
            <a:ext cx="1097280" cy="20116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00" b="1" dirty="0">
                <a:solidFill>
                  <a:srgbClr val="9A6212"/>
                </a:solidFill>
                <a:latin typeface="BIZ UDPゴシック"/>
                <a:ea typeface="BIZ UDPゴシック"/>
                <a:cs typeface="BIZ UDPゴシック"/>
              </a:rPr>
              <a:t>表と裏の縁</a:t>
            </a:r>
            <a:endParaRPr lang="ja-JP" altLang="en-US" sz="900" dirty="0"/>
          </a:p>
        </p:txBody>
      </p:sp>
      <p:sp>
        <p:nvSpPr>
          <p:cNvPr id="52" name="折れ線 52"/>
          <p:cNvSpPr/>
          <p:nvPr/>
        </p:nvSpPr>
        <p:spPr>
          <a:xfrm>
            <a:off x="8463504" y="2916936"/>
            <a:ext cx="1756380" cy="987552"/>
          </a:xfrm>
          <a:custGeom>
            <a:avLst/>
            <a:gdLst/>
            <a:ahLst/>
            <a:cxnLst/>
            <a:rect l="0" t="0" r="r" b="b"/>
            <a:pathLst>
              <a:path w="1756380" h="987552" fill="none">
                <a:moveTo>
                  <a:pt x="0" y="0"/>
                </a:moveTo>
                <a:lnTo>
                  <a:pt x="1628992" y="107637"/>
                </a:lnTo>
                <a:lnTo>
                  <a:pt x="1756380" y="987552"/>
                </a:lnTo>
              </a:path>
            </a:pathLst>
          </a:custGeom>
          <a:noFill/>
          <a:ln w="15875">
            <a:solidFill>
              <a:srgbClr val="C9CED6"/>
            </a:solidFill>
            <a:prstDash val="dash"/>
          </a:ln>
        </p:spPr>
      </p:sp>
      <p:sp>
        <p:nvSpPr>
          <p:cNvPr id="53" name="点 53"/>
          <p:cNvSpPr/>
          <p:nvPr/>
        </p:nvSpPr>
        <p:spPr>
          <a:xfrm>
            <a:off x="8408640" y="2862072"/>
            <a:ext cx="109728" cy="109728"/>
          </a:xfrm>
          <a:prstGeom prst="ellipse">
            <a:avLst/>
          </a:prstGeom>
          <a:solidFill>
            <a:srgbClr val="E3A33B"/>
          </a:solidFill>
          <a:ln>
            <a:noFill/>
          </a:ln>
        </p:spPr>
      </p:sp>
      <p:sp>
        <p:nvSpPr>
          <p:cNvPr id="54" name="点 54"/>
          <p:cNvSpPr/>
          <p:nvPr/>
        </p:nvSpPr>
        <p:spPr>
          <a:xfrm>
            <a:off x="10165019" y="3849624"/>
            <a:ext cx="109728" cy="109728"/>
          </a:xfrm>
          <a:prstGeom prst="ellipse">
            <a:avLst/>
          </a:prstGeom>
          <a:solidFill>
            <a:srgbClr val="1E2430"/>
          </a:solidFill>
          <a:ln>
            <a:noFill/>
          </a:ln>
        </p:spPr>
      </p:sp>
      <p:sp>
        <p:nvSpPr>
          <p:cNvPr id="55" name="テキスト 55"/>
          <p:cNvSpPr txBox="1"/>
          <p:nvPr/>
        </p:nvSpPr>
        <p:spPr>
          <a:xfrm>
            <a:off x="8545800" y="2807208"/>
            <a:ext cx="548640" cy="20116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00" dirty="0">
                <a:solidFill>
                  <a:srgbClr val="1E2430"/>
                </a:solidFill>
                <a:latin typeface="BIZ UDPゴシック"/>
                <a:ea typeface="BIZ UDPゴシック"/>
                <a:cs typeface="BIZ UDPゴシック"/>
              </a:rPr>
              <a:t>音源</a:t>
            </a:r>
            <a:endParaRPr lang="ja-JP" altLang="en-US" sz="900" dirty="0"/>
          </a:p>
        </p:txBody>
      </p:sp>
      <p:sp>
        <p:nvSpPr>
          <p:cNvPr id="56" name="テキスト 56"/>
          <p:cNvSpPr txBox="1"/>
          <p:nvPr/>
        </p:nvSpPr>
        <p:spPr>
          <a:xfrm>
            <a:off x="10302179" y="3794760"/>
            <a:ext cx="548640" cy="20116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00" dirty="0">
                <a:solidFill>
                  <a:srgbClr val="1E2430"/>
                </a:solidFill>
                <a:latin typeface="BIZ UDPゴシック"/>
                <a:ea typeface="BIZ UDPゴシック"/>
                <a:cs typeface="BIZ UDPゴシック"/>
              </a:rPr>
              <a:t>耳</a:t>
            </a:r>
            <a:endParaRPr lang="ja-JP" altLang="en-US" sz="900" dirty="0"/>
          </a:p>
        </p:txBody>
      </p:sp>
      <p:sp>
        <p:nvSpPr>
          <p:cNvPr id="57" name="テキスト 57"/>
          <p:cNvSpPr txBox="1"/>
          <p:nvPr/>
        </p:nvSpPr>
        <p:spPr>
          <a:xfrm>
            <a:off x="8275320" y="3606394"/>
            <a:ext cx="1188720" cy="20116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00" dirty="0">
                <a:solidFill>
                  <a:srgbClr val="5C6677"/>
                </a:solidFill>
                <a:latin typeface="BIZ UDPゴシック"/>
                <a:ea typeface="BIZ UDPゴシック"/>
                <a:cs typeface="BIZ UDPゴシック"/>
              </a:rPr>
              <a:t>蝶番</a:t>
            </a:r>
            <a:endParaRPr lang="ja-JP" altLang="en-US" sz="900" dirty="0"/>
          </a:p>
        </p:txBody>
      </p:sp>
      <p:sp>
        <p:nvSpPr>
          <p:cNvPr id="58" name="テキスト 58"/>
          <p:cNvSpPr txBox="1"/>
          <p:nvPr/>
        </p:nvSpPr>
        <p:spPr>
          <a:xfrm>
            <a:off x="8275320" y="4069080"/>
            <a:ext cx="3136392"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5C6677"/>
                </a:solidFill>
                <a:latin typeface="BIZ UDPゴシック"/>
                <a:ea typeface="BIZ UDPゴシック"/>
                <a:cs typeface="BIZ UDPゴシック"/>
              </a:rPr>
              <a:t>原因</a:t>
            </a:r>
            <a:endParaRPr lang="ja-JP" altLang="en-US" sz="1100" dirty="0"/>
          </a:p>
        </p:txBody>
      </p:sp>
      <p:sp>
        <p:nvSpPr>
          <p:cNvPr id="59" name="テキスト 59"/>
          <p:cNvSpPr txBox="1"/>
          <p:nvPr/>
        </p:nvSpPr>
        <p:spPr>
          <a:xfrm>
            <a:off x="8275320" y="4297680"/>
            <a:ext cx="3136392" cy="91440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板の厚みの表と裏の縁が入れ替わるところで、どちらの縁も回れない角度ができる</a:t>
            </a:r>
            <a:endParaRPr lang="ja-JP" altLang="en-US" sz="1200" dirty="0"/>
          </a:p>
        </p:txBody>
      </p:sp>
      <p:sp>
        <p:nvSpPr>
          <p:cNvPr id="60" name="図形 60"/>
          <p:cNvSpPr/>
          <p:nvPr/>
        </p:nvSpPr>
        <p:spPr>
          <a:xfrm>
            <a:off x="8229600" y="5212080"/>
            <a:ext cx="3227832" cy="914400"/>
          </a:xfrm>
          <a:prstGeom prst="roundRect">
            <a:avLst>
              <a:gd name="adj" fmla="val 8000"/>
            </a:avLst>
          </a:prstGeom>
          <a:solidFill>
            <a:srgbClr val="FBF1DF"/>
          </a:solidFill>
          <a:ln>
            <a:noFill/>
          </a:ln>
        </p:spPr>
      </p:sp>
      <p:sp>
        <p:nvSpPr>
          <p:cNvPr id="61" name="テキスト 61"/>
          <p:cNvSpPr txBox="1"/>
          <p:nvPr/>
        </p:nvSpPr>
        <p:spPr>
          <a:xfrm>
            <a:off x="8412480" y="5266944"/>
            <a:ext cx="2862072"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9A6212"/>
                </a:solidFill>
                <a:latin typeface="BIZ UDPゴシック"/>
                <a:ea typeface="BIZ UDPゴシック"/>
                <a:cs typeface="BIZ UDPゴシック"/>
              </a:rPr>
              <a:t>改善の案</a:t>
            </a:r>
            <a:endParaRPr lang="ja-JP" altLang="en-US" sz="1100" dirty="0"/>
          </a:p>
        </p:txBody>
      </p:sp>
      <p:sp>
        <p:nvSpPr>
          <p:cNvPr id="62" name="テキスト 62"/>
          <p:cNvSpPr txBox="1"/>
          <p:nvPr/>
        </p:nvSpPr>
        <p:spPr>
          <a:xfrm>
            <a:off x="8412480" y="5504688"/>
            <a:ext cx="2862072" cy="59436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表と裏の縁を 1 本の縁として扱う</a:t>
            </a:r>
            <a:endParaRPr lang="ja-JP" altLang="en-US" sz="1200" dirty="0"/>
          </a:p>
        </p:txBody>
      </p:sp>
      <p:sp>
        <p:nvSpPr>
          <p:cNvPr id="63" name="注 63"/>
          <p:cNvSpPr txBox="1"/>
          <p:nvPr/>
        </p:nvSpPr>
        <p:spPr>
          <a:xfrm>
            <a:off x="548640" y="6419088"/>
            <a:ext cx="9875520" cy="256032"/>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5C6677"/>
                </a:solidFill>
                <a:latin typeface="BIZ UDPゴシック"/>
                <a:ea typeface="BIZ UDPゴシック"/>
                <a:cs typeface="BIZ UDPゴシック"/>
              </a:rPr>
              <a:t>※ Unity と同じ扉の場面（壁 0.2 m のコンクリート、木の扉、隙間 4 mm）で、開き角 0〜90° × 音源の向き −75〜+75° を測った。図は上から見た模式図</a:t>
            </a:r>
            <a:endParaRPr lang="ja-JP" altLang="en-US" sz="950" dirty="0"/>
          </a:p>
        </p:txBody>
      </p:sp>
      <p:sp>
        <p:nvSpPr>
          <p:cNvPr id="64" name="ページ番号 64"/>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20</a:t>
            </a:r>
            <a:endParaRPr lang="ja-JP" alt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2"/>
          <p:cNvSpPr txBox="1"/>
          <p:nvPr/>
        </p:nvSpPr>
        <p:spPr>
          <a:xfrm>
            <a:off x="548640" y="2487168"/>
            <a:ext cx="11091672" cy="36576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600" b="1" dirty="0">
                <a:solidFill>
                  <a:srgbClr val="9A6212"/>
                </a:solidFill>
                <a:latin typeface="BIZ UDPゴシック"/>
                <a:ea typeface="BIZ UDPゴシック"/>
                <a:cs typeface="BIZ UDPゴシック"/>
              </a:rPr>
              <a:t>実装内容　3</a:t>
            </a:r>
            <a:endParaRPr lang="ja-JP" altLang="en-US" sz="1600" dirty="0"/>
          </a:p>
        </p:txBody>
      </p:sp>
      <p:sp>
        <p:nvSpPr>
          <p:cNvPr id="3" name="テキスト 3"/>
          <p:cNvSpPr txBox="1"/>
          <p:nvPr/>
        </p:nvSpPr>
        <p:spPr>
          <a:xfrm>
            <a:off x="548640" y="2852928"/>
            <a:ext cx="11091672" cy="822960"/>
          </a:xfrm>
          <a:prstGeom prst="rect">
            <a:avLst/>
          </a:prstGeom>
          <a:noFill/>
        </p:spPr>
        <p:txBody>
          <a:bodyPr wrap="square" lIns="0" tIns="0" rIns="0" bIns="0" rtlCol="0" anchor="ctr">
            <a:noAutofit/>
          </a:bodyPr>
          <a:lstStyle/>
          <a:p>
            <a:pPr algn="ctr" marL="0" indent="0">
              <a:spcBef>
                <a:spcPts val="0"/>
              </a:spcBef>
              <a:spcAft>
                <a:spcPts val="0"/>
              </a:spcAft>
              <a:buNone/>
            </a:pPr>
            <a:r>
              <a:rPr lang="ja-JP" altLang="en-US" sz="4000" b="1" dirty="0">
                <a:solidFill>
                  <a:srgbClr val="1E2430"/>
                </a:solidFill>
                <a:latin typeface="BIZ UDPゴシック"/>
                <a:ea typeface="BIZ UDPゴシック"/>
                <a:cs typeface="BIZ UDPゴシック"/>
              </a:rPr>
              <a:t>音の空間印象</a:t>
            </a:r>
            <a:endParaRPr lang="ja-JP" altLang="en-US" sz="4000" dirty="0"/>
          </a:p>
        </p:txBody>
      </p:sp>
      <p:cxnSp>
        <p:nvCxnSpPr>
          <p:cNvPr id="4" name="線 4"/>
          <p:cNvCxnSpPr/>
          <p:nvPr/>
        </p:nvCxnSpPr>
        <p:spPr>
          <a:xfrm>
            <a:off x="3813048" y="3840480"/>
            <a:ext cx="4572000" cy="0"/>
          </a:xfrm>
          <a:prstGeom prst="line">
            <a:avLst/>
          </a:prstGeom>
          <a:ln w="31750">
            <a:solidFill>
              <a:srgbClr val="E3A33B"/>
            </a:solidFill>
          </a:ln>
        </p:spPr>
      </p:cxnSp>
      <p:sp>
        <p:nvSpPr>
          <p:cNvPr id="5" name="ページ番号 5"/>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21</a:t>
            </a:r>
            <a:endParaRPr lang="ja-JP" alt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音の空間印象</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歩いた位置で、響きの広がりが伝わるように</a:t>
            </a:r>
            <a:endParaRPr lang="ja-JP" altLang="en-US" sz="2600" dirty="0"/>
          </a:p>
        </p:txBody>
      </p:sp>
      <p:sp>
        <p:nvSpPr>
          <p:cNvPr id="4" name="カード 4"/>
          <p:cNvSpPr/>
          <p:nvPr/>
        </p:nvSpPr>
        <p:spPr>
          <a:xfrm>
            <a:off x="548640" y="1417320"/>
            <a:ext cx="5349240" cy="1600200"/>
          </a:xfrm>
          <a:prstGeom prst="roundRect">
            <a:avLst>
              <a:gd name="adj" fmla="val 4000"/>
            </a:avLst>
          </a:prstGeom>
          <a:solidFill>
            <a:srgbClr val="F0F2F5"/>
          </a:solidFill>
          <a:ln>
            <a:noFill/>
          </a:ln>
        </p:spPr>
      </p:sp>
      <p:sp>
        <p:nvSpPr>
          <p:cNvPr id="5" name="ラベル 5"/>
          <p:cNvSpPr/>
          <p:nvPr/>
        </p:nvSpPr>
        <p:spPr>
          <a:xfrm>
            <a:off x="777240" y="1600200"/>
            <a:ext cx="914400" cy="310896"/>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理由</a:t>
            </a:r>
            <a:endParaRPr lang="ja-JP" altLang="en-US" sz="1300" dirty="0"/>
          </a:p>
        </p:txBody>
      </p:sp>
      <p:sp>
        <p:nvSpPr>
          <p:cNvPr id="6" name="テキスト 6"/>
          <p:cNvSpPr txBox="1"/>
          <p:nvPr/>
        </p:nvSpPr>
        <p:spPr>
          <a:xfrm>
            <a:off x="777240" y="2002536"/>
            <a:ext cx="4892040" cy="941832"/>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300" dirty="0">
                <a:solidFill>
                  <a:srgbClr val="1E2430"/>
                </a:solidFill>
                <a:latin typeface="BIZ UDPゴシック"/>
                <a:ea typeface="BIZ UDPゴシック"/>
                <a:cs typeface="BIZ UDPゴシック"/>
              </a:rPr>
              <a:t>ISM（虚像法）の虚像を点で鳴らすと、反射の方向はわかるが、壁が近い・部屋が広いといった「広がり」や「近さ」が出ない。点が見えた・消えたで、歩くと音が跳ぶ。</a:t>
            </a:r>
            <a:endParaRPr lang="ja-JP" altLang="en-US" sz="1300" dirty="0"/>
          </a:p>
        </p:txBody>
      </p:sp>
      <p:sp>
        <p:nvSpPr>
          <p:cNvPr id="7" name="矢印 7"/>
          <p:cNvSpPr/>
          <p:nvPr/>
        </p:nvSpPr>
        <p:spPr>
          <a:xfrm>
            <a:off x="5952744" y="2089404"/>
            <a:ext cx="219456" cy="256032"/>
          </a:xfrm>
          <a:prstGeom prst="rightArrow">
            <a:avLst/>
          </a:prstGeom>
          <a:solidFill>
            <a:srgbClr val="E3A33B"/>
          </a:solidFill>
          <a:ln>
            <a:noFill/>
          </a:ln>
        </p:spPr>
      </p:sp>
      <p:sp>
        <p:nvSpPr>
          <p:cNvPr id="8" name="カード 8"/>
          <p:cNvSpPr/>
          <p:nvPr/>
        </p:nvSpPr>
        <p:spPr>
          <a:xfrm>
            <a:off x="6227064" y="1417320"/>
            <a:ext cx="5413248" cy="1600200"/>
          </a:xfrm>
          <a:prstGeom prst="roundRect">
            <a:avLst>
              <a:gd name="adj" fmla="val 4000"/>
            </a:avLst>
          </a:prstGeom>
          <a:solidFill>
            <a:srgbClr val="FBF1DF"/>
          </a:solidFill>
          <a:ln>
            <a:noFill/>
          </a:ln>
        </p:spPr>
      </p:sp>
      <p:sp>
        <p:nvSpPr>
          <p:cNvPr id="9" name="ラベル 9"/>
          <p:cNvSpPr/>
          <p:nvPr/>
        </p:nvSpPr>
        <p:spPr>
          <a:xfrm>
            <a:off x="6455664" y="1600200"/>
            <a:ext cx="1188720" cy="310896"/>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アプローチ</a:t>
            </a:r>
            <a:endParaRPr lang="ja-JP" altLang="en-US" sz="1300" dirty="0"/>
          </a:p>
        </p:txBody>
      </p:sp>
      <p:sp>
        <p:nvSpPr>
          <p:cNvPr id="10" name="テキスト 10"/>
          <p:cNvSpPr txBox="1"/>
          <p:nvPr/>
        </p:nvSpPr>
        <p:spPr>
          <a:xfrm>
            <a:off x="6455664" y="2002536"/>
            <a:ext cx="4956048" cy="941832"/>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300" dirty="0">
                <a:solidFill>
                  <a:srgbClr val="1E2430"/>
                </a:solidFill>
                <a:latin typeface="BIZ UDPゴシック"/>
                <a:ea typeface="BIZ UDPゴシック"/>
                <a:cs typeface="BIZ UDPゴシック"/>
              </a:rPr>
              <a:t>虚像どうしをつないで面にする。面の広さを音の幅（ASW）に、虚像の集まり具合と近さを重みにして、奥行き感を出す。</a:t>
            </a:r>
            <a:endParaRPr lang="ja-JP" altLang="en-US" sz="1300" dirty="0"/>
          </a:p>
        </p:txBody>
      </p:sp>
      <p:sp>
        <p:nvSpPr>
          <p:cNvPr id="11" name="カード 11"/>
          <p:cNvSpPr/>
          <p:nvPr/>
        </p:nvSpPr>
        <p:spPr>
          <a:xfrm>
            <a:off x="548640" y="3200400"/>
            <a:ext cx="3657600" cy="3090672"/>
          </a:xfrm>
          <a:prstGeom prst="roundRect">
            <a:avLst>
              <a:gd name="adj" fmla="val 4000"/>
            </a:avLst>
          </a:prstGeom>
          <a:solidFill>
            <a:srgbClr val="F0F2F5"/>
          </a:solidFill>
          <a:ln>
            <a:noFill/>
          </a:ln>
        </p:spPr>
      </p:sp>
      <p:sp>
        <p:nvSpPr>
          <p:cNvPr id="12" name="ラベル 12"/>
          <p:cNvSpPr/>
          <p:nvPr/>
        </p:nvSpPr>
        <p:spPr>
          <a:xfrm>
            <a:off x="731520" y="3337560"/>
            <a:ext cx="548640" cy="292608"/>
          </a:xfrm>
          <a:prstGeom prst="roundRect">
            <a:avLst>
              <a:gd name="adj" fmla="val 50000"/>
            </a:avLst>
          </a:prstGeom>
          <a:solidFill>
            <a:srgbClr val="C9CED6"/>
          </a:solidFill>
          <a:ln>
            <a:noFill/>
          </a:ln>
        </p:spPr>
        <p:txBody>
          <a:bodyPr wrap="square" lIns="0" tIns="0" rIns="0" bIns="0" rtlCol="0" anchor="ctr">
            <a:noAutofit/>
          </a:bodyPr>
          <a:lstStyle/>
          <a:p>
            <a:pPr algn="ctr" marL="0" indent="0">
              <a:spcBef>
                <a:spcPts val="0"/>
              </a:spcBef>
              <a:spcAft>
                <a:spcPts val="0"/>
              </a:spcAft>
              <a:buNone/>
            </a:pPr>
            <a:r>
              <a:rPr lang="ja-JP" altLang="en-US" sz="1200" b="1" dirty="0">
                <a:solidFill>
                  <a:srgbClr val="1E2430"/>
                </a:solidFill>
                <a:latin typeface="BIZ UDPゴシック"/>
                <a:ea typeface="BIZ UDPゴシック"/>
                <a:cs typeface="BIZ UDPゴシック"/>
              </a:rPr>
              <a:t>前</a:t>
            </a:r>
            <a:endParaRPr lang="ja-JP" altLang="en-US" sz="1200" dirty="0"/>
          </a:p>
        </p:txBody>
      </p:sp>
      <p:sp>
        <p:nvSpPr>
          <p:cNvPr id="13" name="テキスト 13"/>
          <p:cNvSpPr txBox="1"/>
          <p:nvPr/>
        </p:nvSpPr>
        <p:spPr>
          <a:xfrm>
            <a:off x="1371600" y="3346704"/>
            <a:ext cx="2743200" cy="29260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1E2430"/>
                </a:solidFill>
                <a:latin typeface="BIZ UDPゴシック"/>
                <a:ea typeface="BIZ UDPゴシック"/>
                <a:cs typeface="BIZ UDPゴシック"/>
              </a:rPr>
              <a:t>虚像を点で鳴らす：方向だけ</a:t>
            </a:r>
            <a:endParaRPr lang="ja-JP" altLang="en-US" sz="1200" dirty="0"/>
          </a:p>
        </p:txBody>
      </p:sp>
      <p:sp>
        <p:nvSpPr>
          <p:cNvPr id="14" name="鏡に映した部屋 14"/>
          <p:cNvSpPr/>
          <p:nvPr/>
        </p:nvSpPr>
        <p:spPr>
          <a:xfrm>
            <a:off x="1005840" y="3927348"/>
            <a:ext cx="914400" cy="658368"/>
          </a:xfrm>
          <a:prstGeom prst="rect">
            <a:avLst/>
          </a:prstGeom>
          <a:noFill/>
          <a:ln w="9525">
            <a:solidFill>
              <a:srgbClr val="C9CED6"/>
            </a:solidFill>
            <a:prstDash val="dash"/>
          </a:ln>
        </p:spPr>
      </p:sp>
      <p:sp>
        <p:nvSpPr>
          <p:cNvPr id="15" name="鏡に映した部屋 15"/>
          <p:cNvSpPr/>
          <p:nvPr/>
        </p:nvSpPr>
        <p:spPr>
          <a:xfrm>
            <a:off x="1005840" y="4585716"/>
            <a:ext cx="914400" cy="658368"/>
          </a:xfrm>
          <a:prstGeom prst="rect">
            <a:avLst/>
          </a:prstGeom>
          <a:noFill/>
          <a:ln w="9525">
            <a:solidFill>
              <a:srgbClr val="C9CED6"/>
            </a:solidFill>
            <a:prstDash val="dash"/>
          </a:ln>
        </p:spPr>
      </p:sp>
      <p:sp>
        <p:nvSpPr>
          <p:cNvPr id="16" name="鏡に映した部屋 16"/>
          <p:cNvSpPr/>
          <p:nvPr/>
        </p:nvSpPr>
        <p:spPr>
          <a:xfrm>
            <a:off x="1005840" y="5244084"/>
            <a:ext cx="914400" cy="658368"/>
          </a:xfrm>
          <a:prstGeom prst="rect">
            <a:avLst/>
          </a:prstGeom>
          <a:noFill/>
          <a:ln w="9525">
            <a:solidFill>
              <a:srgbClr val="C9CED6"/>
            </a:solidFill>
            <a:prstDash val="dash"/>
          </a:ln>
        </p:spPr>
      </p:sp>
      <p:sp>
        <p:nvSpPr>
          <p:cNvPr id="17" name="鏡に映した部屋 17"/>
          <p:cNvSpPr/>
          <p:nvPr/>
        </p:nvSpPr>
        <p:spPr>
          <a:xfrm>
            <a:off x="1920240" y="3927348"/>
            <a:ext cx="914400" cy="658368"/>
          </a:xfrm>
          <a:prstGeom prst="rect">
            <a:avLst/>
          </a:prstGeom>
          <a:noFill/>
          <a:ln w="9525">
            <a:solidFill>
              <a:srgbClr val="C9CED6"/>
            </a:solidFill>
            <a:prstDash val="dash"/>
          </a:ln>
        </p:spPr>
      </p:sp>
      <p:sp>
        <p:nvSpPr>
          <p:cNvPr id="18" name="鏡に映した部屋 18"/>
          <p:cNvSpPr/>
          <p:nvPr/>
        </p:nvSpPr>
        <p:spPr>
          <a:xfrm>
            <a:off x="1920240" y="5244084"/>
            <a:ext cx="914400" cy="658368"/>
          </a:xfrm>
          <a:prstGeom prst="rect">
            <a:avLst/>
          </a:prstGeom>
          <a:noFill/>
          <a:ln w="9525">
            <a:solidFill>
              <a:srgbClr val="C9CED6"/>
            </a:solidFill>
            <a:prstDash val="dash"/>
          </a:ln>
        </p:spPr>
      </p:sp>
      <p:sp>
        <p:nvSpPr>
          <p:cNvPr id="19" name="鏡に映した部屋 19"/>
          <p:cNvSpPr/>
          <p:nvPr/>
        </p:nvSpPr>
        <p:spPr>
          <a:xfrm>
            <a:off x="2834640" y="3927348"/>
            <a:ext cx="914400" cy="658368"/>
          </a:xfrm>
          <a:prstGeom prst="rect">
            <a:avLst/>
          </a:prstGeom>
          <a:noFill/>
          <a:ln w="9525">
            <a:solidFill>
              <a:srgbClr val="C9CED6"/>
            </a:solidFill>
            <a:prstDash val="dash"/>
          </a:ln>
        </p:spPr>
      </p:sp>
      <p:sp>
        <p:nvSpPr>
          <p:cNvPr id="20" name="鏡に映した部屋 20"/>
          <p:cNvSpPr/>
          <p:nvPr/>
        </p:nvSpPr>
        <p:spPr>
          <a:xfrm>
            <a:off x="2834640" y="4585716"/>
            <a:ext cx="914400" cy="658368"/>
          </a:xfrm>
          <a:prstGeom prst="rect">
            <a:avLst/>
          </a:prstGeom>
          <a:noFill/>
          <a:ln w="9525">
            <a:solidFill>
              <a:srgbClr val="C9CED6"/>
            </a:solidFill>
            <a:prstDash val="dash"/>
          </a:ln>
        </p:spPr>
      </p:sp>
      <p:sp>
        <p:nvSpPr>
          <p:cNvPr id="21" name="鏡に映した部屋 21"/>
          <p:cNvSpPr/>
          <p:nvPr/>
        </p:nvSpPr>
        <p:spPr>
          <a:xfrm>
            <a:off x="2834640" y="5244084"/>
            <a:ext cx="914400" cy="658368"/>
          </a:xfrm>
          <a:prstGeom prst="rect">
            <a:avLst/>
          </a:prstGeom>
          <a:noFill/>
          <a:ln w="9525">
            <a:solidFill>
              <a:srgbClr val="C9CED6"/>
            </a:solidFill>
            <a:prstDash val="dash"/>
          </a:ln>
        </p:spPr>
      </p:sp>
      <p:cxnSp>
        <p:nvCxnSpPr>
          <p:cNvPr id="22" name="線 22"/>
          <p:cNvCxnSpPr/>
          <p:nvPr/>
        </p:nvCxnSpPr>
        <p:spPr>
          <a:xfrm>
            <a:off x="1645920" y="4816145"/>
            <a:ext cx="914400" cy="204094"/>
          </a:xfrm>
          <a:prstGeom prst="line">
            <a:avLst/>
          </a:prstGeom>
          <a:ln w="9525">
            <a:solidFill>
              <a:srgbClr val="C9CED6"/>
            </a:solidFill>
            <a:prstDash val="sysDash"/>
          </a:ln>
        </p:spPr>
      </p:cxnSp>
      <p:cxnSp>
        <p:nvCxnSpPr>
          <p:cNvPr id="23" name="線 23"/>
          <p:cNvCxnSpPr/>
          <p:nvPr/>
        </p:nvCxnSpPr>
        <p:spPr>
          <a:xfrm>
            <a:off x="1645920" y="4355287"/>
            <a:ext cx="914400" cy="664952"/>
          </a:xfrm>
          <a:prstGeom prst="line">
            <a:avLst/>
          </a:prstGeom>
          <a:ln w="9525">
            <a:solidFill>
              <a:srgbClr val="C9CED6"/>
            </a:solidFill>
            <a:prstDash val="sysDash"/>
          </a:ln>
        </p:spPr>
      </p:cxnSp>
      <p:cxnSp>
        <p:nvCxnSpPr>
          <p:cNvPr id="24" name="線 24"/>
          <p:cNvCxnSpPr/>
          <p:nvPr/>
        </p:nvCxnSpPr>
        <p:spPr>
          <a:xfrm>
            <a:off x="2194560" y="4355287"/>
            <a:ext cx="365760" cy="664952"/>
          </a:xfrm>
          <a:prstGeom prst="line">
            <a:avLst/>
          </a:prstGeom>
          <a:ln w="9525">
            <a:solidFill>
              <a:srgbClr val="C9CED6"/>
            </a:solidFill>
            <a:prstDash val="sysDash"/>
          </a:ln>
        </p:spPr>
      </p:cxnSp>
      <p:cxnSp>
        <p:nvCxnSpPr>
          <p:cNvPr id="25" name="線 25"/>
          <p:cNvCxnSpPr/>
          <p:nvPr/>
        </p:nvCxnSpPr>
        <p:spPr>
          <a:xfrm flipH="1">
            <a:off x="2560320" y="4355287"/>
            <a:ext cx="914400" cy="664952"/>
          </a:xfrm>
          <a:prstGeom prst="line">
            <a:avLst/>
          </a:prstGeom>
          <a:ln w="9525">
            <a:solidFill>
              <a:srgbClr val="C9CED6"/>
            </a:solidFill>
            <a:prstDash val="sysDash"/>
          </a:ln>
        </p:spPr>
      </p:cxnSp>
      <p:cxnSp>
        <p:nvCxnSpPr>
          <p:cNvPr id="26" name="線 26"/>
          <p:cNvCxnSpPr/>
          <p:nvPr/>
        </p:nvCxnSpPr>
        <p:spPr>
          <a:xfrm flipH="1">
            <a:off x="2560320" y="4816145"/>
            <a:ext cx="914400" cy="204094"/>
          </a:xfrm>
          <a:prstGeom prst="line">
            <a:avLst/>
          </a:prstGeom>
          <a:ln w="9525">
            <a:solidFill>
              <a:srgbClr val="C9CED6"/>
            </a:solidFill>
            <a:prstDash val="sysDash"/>
          </a:ln>
        </p:spPr>
      </p:cxnSp>
      <p:cxnSp>
        <p:nvCxnSpPr>
          <p:cNvPr id="27" name="線 27"/>
          <p:cNvCxnSpPr/>
          <p:nvPr/>
        </p:nvCxnSpPr>
        <p:spPr>
          <a:xfrm flipH="1" flipV="1">
            <a:off x="2560320" y="5020239"/>
            <a:ext cx="914400" cy="651784"/>
          </a:xfrm>
          <a:prstGeom prst="line">
            <a:avLst/>
          </a:prstGeom>
          <a:ln w="9525">
            <a:solidFill>
              <a:srgbClr val="C9CED6"/>
            </a:solidFill>
            <a:prstDash val="sysDash"/>
          </a:ln>
        </p:spPr>
      </p:cxnSp>
      <p:cxnSp>
        <p:nvCxnSpPr>
          <p:cNvPr id="28" name="線 28"/>
          <p:cNvCxnSpPr/>
          <p:nvPr/>
        </p:nvCxnSpPr>
        <p:spPr>
          <a:xfrm flipV="1">
            <a:off x="2194560" y="5020239"/>
            <a:ext cx="365760" cy="651784"/>
          </a:xfrm>
          <a:prstGeom prst="line">
            <a:avLst/>
          </a:prstGeom>
          <a:ln w="9525">
            <a:solidFill>
              <a:srgbClr val="C9CED6"/>
            </a:solidFill>
            <a:prstDash val="sysDash"/>
          </a:ln>
        </p:spPr>
      </p:cxnSp>
      <p:cxnSp>
        <p:nvCxnSpPr>
          <p:cNvPr id="29" name="線 29"/>
          <p:cNvCxnSpPr/>
          <p:nvPr/>
        </p:nvCxnSpPr>
        <p:spPr>
          <a:xfrm flipV="1">
            <a:off x="1645920" y="5020239"/>
            <a:ext cx="914400" cy="651784"/>
          </a:xfrm>
          <a:prstGeom prst="line">
            <a:avLst/>
          </a:prstGeom>
          <a:ln w="9525">
            <a:solidFill>
              <a:srgbClr val="C9CED6"/>
            </a:solidFill>
            <a:prstDash val="sysDash"/>
          </a:ln>
        </p:spPr>
      </p:cxnSp>
      <p:sp>
        <p:nvSpPr>
          <p:cNvPr id="30" name="部屋 30"/>
          <p:cNvSpPr/>
          <p:nvPr/>
        </p:nvSpPr>
        <p:spPr>
          <a:xfrm>
            <a:off x="1920240" y="4585716"/>
            <a:ext cx="914400" cy="658368"/>
          </a:xfrm>
          <a:prstGeom prst="rect">
            <a:avLst/>
          </a:prstGeom>
          <a:solidFill>
            <a:srgbClr val="FFFFFF"/>
          </a:solidFill>
          <a:ln w="25400">
            <a:solidFill>
              <a:srgbClr val="8A94A6"/>
            </a:solidFill>
          </a:ln>
        </p:spPr>
      </p:sp>
      <p:sp>
        <p:nvSpPr>
          <p:cNvPr id="31" name="虚像 31"/>
          <p:cNvSpPr/>
          <p:nvPr/>
        </p:nvSpPr>
        <p:spPr>
          <a:xfrm>
            <a:off x="1591056" y="4761281"/>
            <a:ext cx="109728" cy="109728"/>
          </a:xfrm>
          <a:prstGeom prst="ellipse">
            <a:avLst/>
          </a:prstGeom>
          <a:solidFill>
            <a:srgbClr val="5C6677"/>
          </a:solidFill>
          <a:ln>
            <a:noFill/>
          </a:ln>
        </p:spPr>
      </p:sp>
      <p:sp>
        <p:nvSpPr>
          <p:cNvPr id="32" name="虚像 32"/>
          <p:cNvSpPr/>
          <p:nvPr/>
        </p:nvSpPr>
        <p:spPr>
          <a:xfrm>
            <a:off x="1591056" y="4300423"/>
            <a:ext cx="109728" cy="109728"/>
          </a:xfrm>
          <a:prstGeom prst="ellipse">
            <a:avLst/>
          </a:prstGeom>
          <a:solidFill>
            <a:srgbClr val="5C6677"/>
          </a:solidFill>
          <a:ln>
            <a:noFill/>
          </a:ln>
        </p:spPr>
      </p:sp>
      <p:sp>
        <p:nvSpPr>
          <p:cNvPr id="33" name="虚像 33"/>
          <p:cNvSpPr/>
          <p:nvPr/>
        </p:nvSpPr>
        <p:spPr>
          <a:xfrm>
            <a:off x="2139696" y="4300423"/>
            <a:ext cx="109728" cy="109728"/>
          </a:xfrm>
          <a:prstGeom prst="ellipse">
            <a:avLst/>
          </a:prstGeom>
          <a:solidFill>
            <a:srgbClr val="5C6677"/>
          </a:solidFill>
          <a:ln>
            <a:noFill/>
          </a:ln>
        </p:spPr>
      </p:sp>
      <p:sp>
        <p:nvSpPr>
          <p:cNvPr id="34" name="虚像 34"/>
          <p:cNvSpPr/>
          <p:nvPr/>
        </p:nvSpPr>
        <p:spPr>
          <a:xfrm>
            <a:off x="3419856" y="4300423"/>
            <a:ext cx="109728" cy="109728"/>
          </a:xfrm>
          <a:prstGeom prst="ellipse">
            <a:avLst/>
          </a:prstGeom>
          <a:solidFill>
            <a:srgbClr val="5C6677"/>
          </a:solidFill>
          <a:ln>
            <a:noFill/>
          </a:ln>
        </p:spPr>
      </p:sp>
      <p:sp>
        <p:nvSpPr>
          <p:cNvPr id="35" name="虚像 35"/>
          <p:cNvSpPr/>
          <p:nvPr/>
        </p:nvSpPr>
        <p:spPr>
          <a:xfrm>
            <a:off x="3419856" y="4761281"/>
            <a:ext cx="109728" cy="109728"/>
          </a:xfrm>
          <a:prstGeom prst="ellipse">
            <a:avLst/>
          </a:prstGeom>
          <a:solidFill>
            <a:srgbClr val="5C6677"/>
          </a:solidFill>
          <a:ln>
            <a:noFill/>
          </a:ln>
        </p:spPr>
      </p:sp>
      <p:sp>
        <p:nvSpPr>
          <p:cNvPr id="36" name="虚像 36"/>
          <p:cNvSpPr/>
          <p:nvPr/>
        </p:nvSpPr>
        <p:spPr>
          <a:xfrm>
            <a:off x="3419856" y="5617159"/>
            <a:ext cx="109728" cy="109728"/>
          </a:xfrm>
          <a:prstGeom prst="ellipse">
            <a:avLst/>
          </a:prstGeom>
          <a:solidFill>
            <a:srgbClr val="5C6677"/>
          </a:solidFill>
          <a:ln>
            <a:noFill/>
          </a:ln>
        </p:spPr>
      </p:sp>
      <p:sp>
        <p:nvSpPr>
          <p:cNvPr id="37" name="虚像 37"/>
          <p:cNvSpPr/>
          <p:nvPr/>
        </p:nvSpPr>
        <p:spPr>
          <a:xfrm>
            <a:off x="2139696" y="5617159"/>
            <a:ext cx="109728" cy="109728"/>
          </a:xfrm>
          <a:prstGeom prst="ellipse">
            <a:avLst/>
          </a:prstGeom>
          <a:solidFill>
            <a:srgbClr val="5C6677"/>
          </a:solidFill>
          <a:ln>
            <a:noFill/>
          </a:ln>
        </p:spPr>
      </p:sp>
      <p:sp>
        <p:nvSpPr>
          <p:cNvPr id="38" name="虚像 38"/>
          <p:cNvSpPr/>
          <p:nvPr/>
        </p:nvSpPr>
        <p:spPr>
          <a:xfrm>
            <a:off x="1591056" y="5617159"/>
            <a:ext cx="109728" cy="109728"/>
          </a:xfrm>
          <a:prstGeom prst="ellipse">
            <a:avLst/>
          </a:prstGeom>
          <a:solidFill>
            <a:srgbClr val="5C6677"/>
          </a:solidFill>
          <a:ln>
            <a:noFill/>
          </a:ln>
        </p:spPr>
      </p:sp>
      <p:sp>
        <p:nvSpPr>
          <p:cNvPr id="39" name="点 39"/>
          <p:cNvSpPr/>
          <p:nvPr/>
        </p:nvSpPr>
        <p:spPr>
          <a:xfrm>
            <a:off x="2135124" y="4756709"/>
            <a:ext cx="118872" cy="118872"/>
          </a:xfrm>
          <a:prstGeom prst="ellipse">
            <a:avLst/>
          </a:prstGeom>
          <a:solidFill>
            <a:srgbClr val="E3A33B"/>
          </a:solidFill>
          <a:ln>
            <a:noFill/>
          </a:ln>
        </p:spPr>
      </p:sp>
      <p:sp>
        <p:nvSpPr>
          <p:cNvPr id="40" name="点 40"/>
          <p:cNvSpPr/>
          <p:nvPr/>
        </p:nvSpPr>
        <p:spPr>
          <a:xfrm>
            <a:off x="2500884" y="4960803"/>
            <a:ext cx="118872" cy="118872"/>
          </a:xfrm>
          <a:prstGeom prst="ellipse">
            <a:avLst/>
          </a:prstGeom>
          <a:solidFill>
            <a:srgbClr val="1E2430"/>
          </a:solidFill>
          <a:ln>
            <a:noFill/>
          </a:ln>
        </p:spPr>
      </p:sp>
      <p:sp>
        <p:nvSpPr>
          <p:cNvPr id="41" name="テキスト 41"/>
          <p:cNvSpPr txBox="1"/>
          <p:nvPr/>
        </p:nvSpPr>
        <p:spPr>
          <a:xfrm>
            <a:off x="1920240" y="4871009"/>
            <a:ext cx="5486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1E2430"/>
                </a:solidFill>
                <a:latin typeface="BIZ UDPゴシック"/>
                <a:ea typeface="BIZ UDPゴシック"/>
                <a:cs typeface="BIZ UDPゴシック"/>
              </a:rPr>
              <a:t>音源</a:t>
            </a:r>
            <a:endParaRPr lang="ja-JP" altLang="en-US" sz="900" dirty="0"/>
          </a:p>
        </p:txBody>
      </p:sp>
      <p:sp>
        <p:nvSpPr>
          <p:cNvPr id="42" name="テキスト 42"/>
          <p:cNvSpPr txBox="1"/>
          <p:nvPr/>
        </p:nvSpPr>
        <p:spPr>
          <a:xfrm>
            <a:off x="2286000" y="5075103"/>
            <a:ext cx="5486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1E2430"/>
                </a:solidFill>
                <a:latin typeface="BIZ UDPゴシック"/>
                <a:ea typeface="BIZ UDPゴシック"/>
                <a:cs typeface="BIZ UDPゴシック"/>
              </a:rPr>
              <a:t>耳</a:t>
            </a:r>
            <a:endParaRPr lang="ja-JP" altLang="en-US" sz="900" dirty="0"/>
          </a:p>
        </p:txBody>
      </p:sp>
      <p:sp>
        <p:nvSpPr>
          <p:cNvPr id="43" name="テキスト 43"/>
          <p:cNvSpPr txBox="1"/>
          <p:nvPr/>
        </p:nvSpPr>
        <p:spPr>
          <a:xfrm>
            <a:off x="1371600" y="4080967"/>
            <a:ext cx="5486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虚像</a:t>
            </a:r>
            <a:endParaRPr lang="ja-JP" altLang="en-US" sz="900" dirty="0"/>
          </a:p>
        </p:txBody>
      </p:sp>
      <p:sp>
        <p:nvSpPr>
          <p:cNvPr id="44" name="カード 44"/>
          <p:cNvSpPr/>
          <p:nvPr/>
        </p:nvSpPr>
        <p:spPr>
          <a:xfrm>
            <a:off x="4389120" y="3200400"/>
            <a:ext cx="3657600" cy="3090672"/>
          </a:xfrm>
          <a:prstGeom prst="roundRect">
            <a:avLst>
              <a:gd name="adj" fmla="val 4000"/>
            </a:avLst>
          </a:prstGeom>
          <a:solidFill>
            <a:srgbClr val="F0F2F5"/>
          </a:solidFill>
          <a:ln>
            <a:noFill/>
          </a:ln>
        </p:spPr>
      </p:sp>
      <p:sp>
        <p:nvSpPr>
          <p:cNvPr id="45" name="ラベル 45"/>
          <p:cNvSpPr/>
          <p:nvPr/>
        </p:nvSpPr>
        <p:spPr>
          <a:xfrm>
            <a:off x="4572000" y="3337560"/>
            <a:ext cx="548640" cy="292608"/>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200" b="1" dirty="0">
                <a:solidFill>
                  <a:srgbClr val="1E2430"/>
                </a:solidFill>
                <a:latin typeface="BIZ UDPゴシック"/>
                <a:ea typeface="BIZ UDPゴシック"/>
                <a:cs typeface="BIZ UDPゴシック"/>
              </a:rPr>
              <a:t>今</a:t>
            </a:r>
            <a:endParaRPr lang="ja-JP" altLang="en-US" sz="1200" dirty="0"/>
          </a:p>
        </p:txBody>
      </p:sp>
      <p:sp>
        <p:nvSpPr>
          <p:cNvPr id="46" name="テキスト 46"/>
          <p:cNvSpPr txBox="1"/>
          <p:nvPr/>
        </p:nvSpPr>
        <p:spPr>
          <a:xfrm>
            <a:off x="5212080" y="3346704"/>
            <a:ext cx="2743200" cy="292608"/>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1E2430"/>
                </a:solidFill>
                <a:latin typeface="BIZ UDPゴシック"/>
                <a:ea typeface="BIZ UDPゴシック"/>
                <a:cs typeface="BIZ UDPゴシック"/>
              </a:rPr>
              <a:t>虚像をつないで面に：幅と奥行き</a:t>
            </a:r>
            <a:endParaRPr lang="ja-JP" altLang="en-US" sz="1200" dirty="0"/>
          </a:p>
        </p:txBody>
      </p:sp>
      <p:sp>
        <p:nvSpPr>
          <p:cNvPr id="47" name="鏡に映した部屋 47"/>
          <p:cNvSpPr/>
          <p:nvPr/>
        </p:nvSpPr>
        <p:spPr>
          <a:xfrm>
            <a:off x="4846320" y="3927348"/>
            <a:ext cx="914400" cy="658368"/>
          </a:xfrm>
          <a:prstGeom prst="rect">
            <a:avLst/>
          </a:prstGeom>
          <a:noFill/>
          <a:ln w="9525">
            <a:solidFill>
              <a:srgbClr val="C9CED6"/>
            </a:solidFill>
            <a:prstDash val="dash"/>
          </a:ln>
        </p:spPr>
      </p:sp>
      <p:sp>
        <p:nvSpPr>
          <p:cNvPr id="48" name="鏡に映した部屋 48"/>
          <p:cNvSpPr/>
          <p:nvPr/>
        </p:nvSpPr>
        <p:spPr>
          <a:xfrm>
            <a:off x="4846320" y="4585716"/>
            <a:ext cx="914400" cy="658368"/>
          </a:xfrm>
          <a:prstGeom prst="rect">
            <a:avLst/>
          </a:prstGeom>
          <a:noFill/>
          <a:ln w="9525">
            <a:solidFill>
              <a:srgbClr val="C9CED6"/>
            </a:solidFill>
            <a:prstDash val="dash"/>
          </a:ln>
        </p:spPr>
      </p:sp>
      <p:sp>
        <p:nvSpPr>
          <p:cNvPr id="49" name="鏡に映した部屋 49"/>
          <p:cNvSpPr/>
          <p:nvPr/>
        </p:nvSpPr>
        <p:spPr>
          <a:xfrm>
            <a:off x="4846320" y="5244084"/>
            <a:ext cx="914400" cy="658368"/>
          </a:xfrm>
          <a:prstGeom prst="rect">
            <a:avLst/>
          </a:prstGeom>
          <a:noFill/>
          <a:ln w="9525">
            <a:solidFill>
              <a:srgbClr val="C9CED6"/>
            </a:solidFill>
            <a:prstDash val="dash"/>
          </a:ln>
        </p:spPr>
      </p:sp>
      <p:sp>
        <p:nvSpPr>
          <p:cNvPr id="50" name="鏡に映した部屋 50"/>
          <p:cNvSpPr/>
          <p:nvPr/>
        </p:nvSpPr>
        <p:spPr>
          <a:xfrm>
            <a:off x="5760720" y="3927348"/>
            <a:ext cx="914400" cy="658368"/>
          </a:xfrm>
          <a:prstGeom prst="rect">
            <a:avLst/>
          </a:prstGeom>
          <a:noFill/>
          <a:ln w="9525">
            <a:solidFill>
              <a:srgbClr val="C9CED6"/>
            </a:solidFill>
            <a:prstDash val="dash"/>
          </a:ln>
        </p:spPr>
      </p:sp>
      <p:sp>
        <p:nvSpPr>
          <p:cNvPr id="51" name="鏡に映した部屋 51"/>
          <p:cNvSpPr/>
          <p:nvPr/>
        </p:nvSpPr>
        <p:spPr>
          <a:xfrm>
            <a:off x="5760720" y="5244084"/>
            <a:ext cx="914400" cy="658368"/>
          </a:xfrm>
          <a:prstGeom prst="rect">
            <a:avLst/>
          </a:prstGeom>
          <a:noFill/>
          <a:ln w="9525">
            <a:solidFill>
              <a:srgbClr val="C9CED6"/>
            </a:solidFill>
            <a:prstDash val="dash"/>
          </a:ln>
        </p:spPr>
      </p:sp>
      <p:sp>
        <p:nvSpPr>
          <p:cNvPr id="52" name="鏡に映した部屋 52"/>
          <p:cNvSpPr/>
          <p:nvPr/>
        </p:nvSpPr>
        <p:spPr>
          <a:xfrm>
            <a:off x="6675120" y="3927348"/>
            <a:ext cx="914400" cy="658368"/>
          </a:xfrm>
          <a:prstGeom prst="rect">
            <a:avLst/>
          </a:prstGeom>
          <a:noFill/>
          <a:ln w="9525">
            <a:solidFill>
              <a:srgbClr val="C9CED6"/>
            </a:solidFill>
            <a:prstDash val="dash"/>
          </a:ln>
        </p:spPr>
      </p:sp>
      <p:sp>
        <p:nvSpPr>
          <p:cNvPr id="53" name="鏡に映した部屋 53"/>
          <p:cNvSpPr/>
          <p:nvPr/>
        </p:nvSpPr>
        <p:spPr>
          <a:xfrm>
            <a:off x="6675120" y="4585716"/>
            <a:ext cx="914400" cy="658368"/>
          </a:xfrm>
          <a:prstGeom prst="rect">
            <a:avLst/>
          </a:prstGeom>
          <a:noFill/>
          <a:ln w="9525">
            <a:solidFill>
              <a:srgbClr val="C9CED6"/>
            </a:solidFill>
            <a:prstDash val="dash"/>
          </a:ln>
        </p:spPr>
      </p:sp>
      <p:sp>
        <p:nvSpPr>
          <p:cNvPr id="54" name="鏡に映した部屋 54"/>
          <p:cNvSpPr/>
          <p:nvPr/>
        </p:nvSpPr>
        <p:spPr>
          <a:xfrm>
            <a:off x="6675120" y="5244084"/>
            <a:ext cx="914400" cy="658368"/>
          </a:xfrm>
          <a:prstGeom prst="rect">
            <a:avLst/>
          </a:prstGeom>
          <a:noFill/>
          <a:ln w="9525">
            <a:solidFill>
              <a:srgbClr val="C9CED6"/>
            </a:solidFill>
            <a:prstDash val="dash"/>
          </a:ln>
        </p:spPr>
      </p:sp>
      <p:sp>
        <p:nvSpPr>
          <p:cNvPr id="55" name="虚像の面 55"/>
          <p:cNvSpPr/>
          <p:nvPr/>
        </p:nvSpPr>
        <p:spPr>
          <a:xfrm>
            <a:off x="5486400" y="4355287"/>
            <a:ext cx="1828800" cy="1316736"/>
          </a:xfrm>
          <a:custGeom>
            <a:avLst/>
            <a:gdLst/>
            <a:ahLst/>
            <a:cxnLst/>
            <a:rect l="0" t="0" r="r" b="b"/>
            <a:pathLst>
              <a:path w="1828800" h="1316736">
                <a:moveTo>
                  <a:pt x="0" y="460858"/>
                </a:moveTo>
                <a:lnTo>
                  <a:pt x="0" y="0"/>
                </a:lnTo>
                <a:lnTo>
                  <a:pt x="548640" y="0"/>
                </a:lnTo>
                <a:lnTo>
                  <a:pt x="1828800" y="0"/>
                </a:lnTo>
                <a:lnTo>
                  <a:pt x="1828800" y="460858"/>
                </a:lnTo>
                <a:lnTo>
                  <a:pt x="1828800" y="1316736"/>
                </a:lnTo>
                <a:lnTo>
                  <a:pt x="548640" y="1316736"/>
                </a:lnTo>
                <a:lnTo>
                  <a:pt x="0" y="1316736"/>
                </a:lnTo>
                <a:close/>
              </a:path>
            </a:pathLst>
          </a:custGeom>
          <a:solidFill>
            <a:srgbClr val="E3A33B">
              <a:alpha val="28000"/>
            </a:srgbClr>
          </a:solidFill>
          <a:ln w="31750">
            <a:solidFill>
              <a:srgbClr val="E3A33B"/>
            </a:solidFill>
          </a:ln>
        </p:spPr>
      </p:sp>
      <p:sp>
        <p:nvSpPr>
          <p:cNvPr id="56" name="部屋 56"/>
          <p:cNvSpPr/>
          <p:nvPr/>
        </p:nvSpPr>
        <p:spPr>
          <a:xfrm>
            <a:off x="5760720" y="4585716"/>
            <a:ext cx="914400" cy="658368"/>
          </a:xfrm>
          <a:prstGeom prst="rect">
            <a:avLst/>
          </a:prstGeom>
          <a:solidFill>
            <a:srgbClr val="FFFFFF"/>
          </a:solidFill>
          <a:ln w="25400">
            <a:solidFill>
              <a:srgbClr val="8A94A6"/>
            </a:solidFill>
          </a:ln>
        </p:spPr>
      </p:sp>
      <p:sp>
        <p:nvSpPr>
          <p:cNvPr id="57" name="虚像 57"/>
          <p:cNvSpPr/>
          <p:nvPr/>
        </p:nvSpPr>
        <p:spPr>
          <a:xfrm>
            <a:off x="5431536" y="4761281"/>
            <a:ext cx="109728" cy="109728"/>
          </a:xfrm>
          <a:prstGeom prst="ellipse">
            <a:avLst/>
          </a:prstGeom>
          <a:solidFill>
            <a:srgbClr val="FFFFFF"/>
          </a:solidFill>
          <a:ln w="15875">
            <a:solidFill>
              <a:srgbClr val="9A6212"/>
            </a:solidFill>
          </a:ln>
        </p:spPr>
      </p:sp>
      <p:sp>
        <p:nvSpPr>
          <p:cNvPr id="58" name="虚像 58"/>
          <p:cNvSpPr/>
          <p:nvPr/>
        </p:nvSpPr>
        <p:spPr>
          <a:xfrm>
            <a:off x="5431536" y="4300423"/>
            <a:ext cx="109728" cy="109728"/>
          </a:xfrm>
          <a:prstGeom prst="ellipse">
            <a:avLst/>
          </a:prstGeom>
          <a:solidFill>
            <a:srgbClr val="FFFFFF"/>
          </a:solidFill>
          <a:ln w="15875">
            <a:solidFill>
              <a:srgbClr val="9A6212"/>
            </a:solidFill>
          </a:ln>
        </p:spPr>
      </p:sp>
      <p:sp>
        <p:nvSpPr>
          <p:cNvPr id="59" name="虚像 59"/>
          <p:cNvSpPr/>
          <p:nvPr/>
        </p:nvSpPr>
        <p:spPr>
          <a:xfrm>
            <a:off x="5980176" y="4300423"/>
            <a:ext cx="109728" cy="109728"/>
          </a:xfrm>
          <a:prstGeom prst="ellipse">
            <a:avLst/>
          </a:prstGeom>
          <a:solidFill>
            <a:srgbClr val="FFFFFF"/>
          </a:solidFill>
          <a:ln w="15875">
            <a:solidFill>
              <a:srgbClr val="9A6212"/>
            </a:solidFill>
          </a:ln>
        </p:spPr>
      </p:sp>
      <p:sp>
        <p:nvSpPr>
          <p:cNvPr id="60" name="虚像 60"/>
          <p:cNvSpPr/>
          <p:nvPr/>
        </p:nvSpPr>
        <p:spPr>
          <a:xfrm>
            <a:off x="7260336" y="4300423"/>
            <a:ext cx="109728" cy="109728"/>
          </a:xfrm>
          <a:prstGeom prst="ellipse">
            <a:avLst/>
          </a:prstGeom>
          <a:solidFill>
            <a:srgbClr val="FFFFFF"/>
          </a:solidFill>
          <a:ln w="15875">
            <a:solidFill>
              <a:srgbClr val="9A6212"/>
            </a:solidFill>
          </a:ln>
        </p:spPr>
      </p:sp>
      <p:sp>
        <p:nvSpPr>
          <p:cNvPr id="61" name="虚像 61"/>
          <p:cNvSpPr/>
          <p:nvPr/>
        </p:nvSpPr>
        <p:spPr>
          <a:xfrm>
            <a:off x="7260336" y="4761281"/>
            <a:ext cx="109728" cy="109728"/>
          </a:xfrm>
          <a:prstGeom prst="ellipse">
            <a:avLst/>
          </a:prstGeom>
          <a:solidFill>
            <a:srgbClr val="FFFFFF"/>
          </a:solidFill>
          <a:ln w="15875">
            <a:solidFill>
              <a:srgbClr val="9A6212"/>
            </a:solidFill>
          </a:ln>
        </p:spPr>
      </p:sp>
      <p:sp>
        <p:nvSpPr>
          <p:cNvPr id="62" name="虚像 62"/>
          <p:cNvSpPr/>
          <p:nvPr/>
        </p:nvSpPr>
        <p:spPr>
          <a:xfrm>
            <a:off x="7260336" y="5617159"/>
            <a:ext cx="109728" cy="109728"/>
          </a:xfrm>
          <a:prstGeom prst="ellipse">
            <a:avLst/>
          </a:prstGeom>
          <a:solidFill>
            <a:srgbClr val="FFFFFF"/>
          </a:solidFill>
          <a:ln w="15875">
            <a:solidFill>
              <a:srgbClr val="9A6212"/>
            </a:solidFill>
          </a:ln>
        </p:spPr>
      </p:sp>
      <p:sp>
        <p:nvSpPr>
          <p:cNvPr id="63" name="虚像 63"/>
          <p:cNvSpPr/>
          <p:nvPr/>
        </p:nvSpPr>
        <p:spPr>
          <a:xfrm>
            <a:off x="5980176" y="5617159"/>
            <a:ext cx="109728" cy="109728"/>
          </a:xfrm>
          <a:prstGeom prst="ellipse">
            <a:avLst/>
          </a:prstGeom>
          <a:solidFill>
            <a:srgbClr val="FFFFFF"/>
          </a:solidFill>
          <a:ln w="15875">
            <a:solidFill>
              <a:srgbClr val="9A6212"/>
            </a:solidFill>
          </a:ln>
        </p:spPr>
      </p:sp>
      <p:sp>
        <p:nvSpPr>
          <p:cNvPr id="64" name="虚像 64"/>
          <p:cNvSpPr/>
          <p:nvPr/>
        </p:nvSpPr>
        <p:spPr>
          <a:xfrm>
            <a:off x="5431536" y="5617159"/>
            <a:ext cx="109728" cy="109728"/>
          </a:xfrm>
          <a:prstGeom prst="ellipse">
            <a:avLst/>
          </a:prstGeom>
          <a:solidFill>
            <a:srgbClr val="FFFFFF"/>
          </a:solidFill>
          <a:ln w="15875">
            <a:solidFill>
              <a:srgbClr val="9A6212"/>
            </a:solidFill>
          </a:ln>
        </p:spPr>
      </p:sp>
      <p:sp>
        <p:nvSpPr>
          <p:cNvPr id="65" name="点 65"/>
          <p:cNvSpPr/>
          <p:nvPr/>
        </p:nvSpPr>
        <p:spPr>
          <a:xfrm>
            <a:off x="5975604" y="4756709"/>
            <a:ext cx="118872" cy="118872"/>
          </a:xfrm>
          <a:prstGeom prst="ellipse">
            <a:avLst/>
          </a:prstGeom>
          <a:solidFill>
            <a:srgbClr val="E3A33B"/>
          </a:solidFill>
          <a:ln>
            <a:noFill/>
          </a:ln>
        </p:spPr>
      </p:sp>
      <p:sp>
        <p:nvSpPr>
          <p:cNvPr id="66" name="点 66"/>
          <p:cNvSpPr/>
          <p:nvPr/>
        </p:nvSpPr>
        <p:spPr>
          <a:xfrm>
            <a:off x="6341364" y="4960803"/>
            <a:ext cx="118872" cy="118872"/>
          </a:xfrm>
          <a:prstGeom prst="ellipse">
            <a:avLst/>
          </a:prstGeom>
          <a:solidFill>
            <a:srgbClr val="1E2430"/>
          </a:solidFill>
          <a:ln>
            <a:noFill/>
          </a:ln>
        </p:spPr>
      </p:sp>
      <p:sp>
        <p:nvSpPr>
          <p:cNvPr id="67" name="テキスト 67"/>
          <p:cNvSpPr txBox="1"/>
          <p:nvPr/>
        </p:nvSpPr>
        <p:spPr>
          <a:xfrm>
            <a:off x="5760720" y="4871009"/>
            <a:ext cx="5486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1E2430"/>
                </a:solidFill>
                <a:latin typeface="BIZ UDPゴシック"/>
                <a:ea typeface="BIZ UDPゴシック"/>
                <a:cs typeface="BIZ UDPゴシック"/>
              </a:rPr>
              <a:t>音源</a:t>
            </a:r>
            <a:endParaRPr lang="ja-JP" altLang="en-US" sz="900" dirty="0"/>
          </a:p>
        </p:txBody>
      </p:sp>
      <p:sp>
        <p:nvSpPr>
          <p:cNvPr id="68" name="テキスト 68"/>
          <p:cNvSpPr txBox="1"/>
          <p:nvPr/>
        </p:nvSpPr>
        <p:spPr>
          <a:xfrm>
            <a:off x="6126480" y="5075103"/>
            <a:ext cx="5486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1E2430"/>
                </a:solidFill>
                <a:latin typeface="BIZ UDPゴシック"/>
                <a:ea typeface="BIZ UDPゴシック"/>
                <a:cs typeface="BIZ UDPゴシック"/>
              </a:rPr>
              <a:t>耳</a:t>
            </a:r>
            <a:endParaRPr lang="ja-JP" altLang="en-US" sz="900" dirty="0"/>
          </a:p>
        </p:txBody>
      </p:sp>
      <p:sp>
        <p:nvSpPr>
          <p:cNvPr id="69" name="テキスト 69"/>
          <p:cNvSpPr txBox="1"/>
          <p:nvPr/>
        </p:nvSpPr>
        <p:spPr>
          <a:xfrm>
            <a:off x="6309360" y="4080967"/>
            <a:ext cx="1097280" cy="201168"/>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900" b="1" dirty="0">
                <a:solidFill>
                  <a:srgbClr val="9A6212"/>
                </a:solidFill>
                <a:latin typeface="BIZ UDPゴシック"/>
                <a:ea typeface="BIZ UDPゴシック"/>
                <a:cs typeface="BIZ UDPゴシック"/>
              </a:rPr>
              <a:t>つないだ面</a:t>
            </a:r>
            <a:endParaRPr lang="ja-JP" altLang="en-US" sz="900" dirty="0"/>
          </a:p>
        </p:txBody>
      </p:sp>
      <p:sp>
        <p:nvSpPr>
          <p:cNvPr id="70" name="カード 70"/>
          <p:cNvSpPr/>
          <p:nvPr/>
        </p:nvSpPr>
        <p:spPr>
          <a:xfrm>
            <a:off x="8229600" y="3200400"/>
            <a:ext cx="3410712" cy="3090672"/>
          </a:xfrm>
          <a:prstGeom prst="roundRect">
            <a:avLst>
              <a:gd name="adj" fmla="val 4000"/>
            </a:avLst>
          </a:prstGeom>
          <a:solidFill>
            <a:srgbClr val="FBF1DF"/>
          </a:solidFill>
          <a:ln>
            <a:noFill/>
          </a:ln>
        </p:spPr>
      </p:sp>
      <p:sp>
        <p:nvSpPr>
          <p:cNvPr id="71" name="テキスト 71"/>
          <p:cNvSpPr txBox="1"/>
          <p:nvPr/>
        </p:nvSpPr>
        <p:spPr>
          <a:xfrm>
            <a:off x="8412480" y="3310128"/>
            <a:ext cx="310896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300" b="1" dirty="0">
                <a:solidFill>
                  <a:srgbClr val="9A6212"/>
                </a:solidFill>
                <a:latin typeface="BIZ UDPゴシック"/>
                <a:ea typeface="BIZ UDPゴシック"/>
                <a:cs typeface="BIZ UDPゴシック"/>
              </a:rPr>
              <a:t>音の広がり（実測）</a:t>
            </a:r>
            <a:endParaRPr lang="ja-JP" altLang="en-US" sz="1300" dirty="0"/>
          </a:p>
        </p:txBody>
      </p:sp>
      <p:sp>
        <p:nvSpPr>
          <p:cNvPr id="72" name="テキスト 72"/>
          <p:cNvSpPr txBox="1"/>
          <p:nvPr/>
        </p:nvSpPr>
        <p:spPr>
          <a:xfrm>
            <a:off x="8412480" y="3611880"/>
            <a:ext cx="3108960" cy="457200"/>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050" dirty="0">
                <a:solidFill>
                  <a:srgbClr val="5C6677"/>
                </a:solidFill>
                <a:latin typeface="BIZ UDPゴシック"/>
                <a:ea typeface="BIZ UDPゴシック"/>
                <a:cs typeface="BIZ UDPゴシック"/>
              </a:rPr>
              <a:t>初期反射の左右の似かた（700 Hz より上）。低いほど広く聞こえる</a:t>
            </a:r>
            <a:endParaRPr lang="ja-JP" altLang="en-US" sz="1050" dirty="0"/>
          </a:p>
        </p:txBody>
      </p:sp>
      <p:sp>
        <p:nvSpPr>
          <p:cNvPr id="73" name="棒 73"/>
          <p:cNvSpPr/>
          <p:nvPr/>
        </p:nvSpPr>
        <p:spPr>
          <a:xfrm>
            <a:off x="8823960" y="4526280"/>
            <a:ext cx="731520" cy="1234440"/>
          </a:xfrm>
          <a:prstGeom prst="rect">
            <a:avLst/>
          </a:prstGeom>
          <a:solidFill>
            <a:srgbClr val="C9CED6"/>
          </a:solidFill>
          <a:ln>
            <a:noFill/>
          </a:ln>
        </p:spPr>
      </p:sp>
      <p:sp>
        <p:nvSpPr>
          <p:cNvPr id="74" name="テキスト 74"/>
          <p:cNvSpPr txBox="1"/>
          <p:nvPr/>
        </p:nvSpPr>
        <p:spPr>
          <a:xfrm>
            <a:off x="8641080" y="4270248"/>
            <a:ext cx="1097280" cy="237744"/>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150" b="1" dirty="0">
                <a:solidFill>
                  <a:srgbClr val="1E2430"/>
                </a:solidFill>
                <a:latin typeface="BIZ UDPゴシック"/>
                <a:ea typeface="BIZ UDPゴシック"/>
                <a:cs typeface="BIZ UDPゴシック"/>
              </a:rPr>
              <a:t>0.201</a:t>
            </a:r>
            <a:endParaRPr lang="ja-JP" altLang="en-US" sz="1150" dirty="0"/>
          </a:p>
        </p:txBody>
      </p:sp>
      <p:sp>
        <p:nvSpPr>
          <p:cNvPr id="75" name="テキスト 75"/>
          <p:cNvSpPr txBox="1"/>
          <p:nvPr/>
        </p:nvSpPr>
        <p:spPr>
          <a:xfrm>
            <a:off x="8641080" y="5797296"/>
            <a:ext cx="1097280" cy="237744"/>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150" dirty="0">
                <a:solidFill>
                  <a:srgbClr val="1E2430"/>
                </a:solidFill>
                <a:latin typeface="BIZ UDPゴシック"/>
                <a:ea typeface="BIZ UDPゴシック"/>
                <a:cs typeface="BIZ UDPゴシック"/>
              </a:rPr>
              <a:t>点</a:t>
            </a:r>
            <a:endParaRPr lang="ja-JP" altLang="en-US" sz="1150" dirty="0"/>
          </a:p>
        </p:txBody>
      </p:sp>
      <p:sp>
        <p:nvSpPr>
          <p:cNvPr id="76" name="棒 76"/>
          <p:cNvSpPr/>
          <p:nvPr/>
        </p:nvSpPr>
        <p:spPr>
          <a:xfrm>
            <a:off x="10012680" y="4857921"/>
            <a:ext cx="731520" cy="902799"/>
          </a:xfrm>
          <a:prstGeom prst="rect">
            <a:avLst/>
          </a:prstGeom>
          <a:solidFill>
            <a:srgbClr val="E3A33B"/>
          </a:solidFill>
          <a:ln>
            <a:noFill/>
          </a:ln>
        </p:spPr>
      </p:sp>
      <p:sp>
        <p:nvSpPr>
          <p:cNvPr id="77" name="テキスト 77"/>
          <p:cNvSpPr txBox="1"/>
          <p:nvPr/>
        </p:nvSpPr>
        <p:spPr>
          <a:xfrm>
            <a:off x="9829800" y="4601889"/>
            <a:ext cx="1097280" cy="237744"/>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150" b="1" dirty="0">
                <a:solidFill>
                  <a:srgbClr val="1E2430"/>
                </a:solidFill>
                <a:latin typeface="BIZ UDPゴシック"/>
                <a:ea typeface="BIZ UDPゴシック"/>
                <a:cs typeface="BIZ UDPゴシック"/>
              </a:rPr>
              <a:t>0.147</a:t>
            </a:r>
            <a:endParaRPr lang="ja-JP" altLang="en-US" sz="1150" dirty="0"/>
          </a:p>
        </p:txBody>
      </p:sp>
      <p:sp>
        <p:nvSpPr>
          <p:cNvPr id="78" name="テキスト 78"/>
          <p:cNvSpPr txBox="1"/>
          <p:nvPr/>
        </p:nvSpPr>
        <p:spPr>
          <a:xfrm>
            <a:off x="9829800" y="5797296"/>
            <a:ext cx="1097280" cy="237744"/>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150" dirty="0">
                <a:solidFill>
                  <a:srgbClr val="1E2430"/>
                </a:solidFill>
                <a:latin typeface="BIZ UDPゴシック"/>
                <a:ea typeface="BIZ UDPゴシック"/>
                <a:cs typeface="BIZ UDPゴシック"/>
              </a:rPr>
              <a:t>面</a:t>
            </a:r>
            <a:endParaRPr lang="ja-JP" altLang="en-US" sz="1150" dirty="0"/>
          </a:p>
        </p:txBody>
      </p:sp>
      <p:cxnSp>
        <p:nvCxnSpPr>
          <p:cNvPr id="79" name="線 79"/>
          <p:cNvCxnSpPr/>
          <p:nvPr/>
        </p:nvCxnSpPr>
        <p:spPr>
          <a:xfrm>
            <a:off x="8595360" y="5760720"/>
            <a:ext cx="2834640" cy="0"/>
          </a:xfrm>
          <a:prstGeom prst="line">
            <a:avLst/>
          </a:prstGeom>
          <a:ln w="12700">
            <a:solidFill>
              <a:srgbClr val="8A94A6"/>
            </a:solidFill>
          </a:ln>
        </p:spPr>
      </p:cxnSp>
      <p:sp>
        <p:nvSpPr>
          <p:cNvPr id="80" name="注 80"/>
          <p:cNvSpPr txBox="1"/>
          <p:nvPr/>
        </p:nvSpPr>
        <p:spPr>
          <a:xfrm>
            <a:off x="548640" y="6419088"/>
            <a:ext cx="9875520" cy="256032"/>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5C6677"/>
                </a:solidFill>
                <a:latin typeface="BIZ UDPゴシック"/>
                <a:ea typeface="BIZ UDPゴシック"/>
                <a:cs typeface="BIZ UDPゴシック"/>
              </a:rPr>
              <a:t>※ 左の図は上から見た模式図（1 次と 2 次の虚像）。右は回帰テストの実測</a:t>
            </a:r>
            <a:endParaRPr lang="ja-JP" altLang="en-US" sz="950" dirty="0"/>
          </a:p>
        </p:txBody>
      </p:sp>
      <p:sp>
        <p:nvSpPr>
          <p:cNvPr id="81" name="ページ番号 81"/>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22</a:t>
            </a:r>
            <a:endParaRPr lang="ja-JP" alt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音の空間印象</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歩いても、広がりが跳ばないように</a:t>
            </a:r>
            <a:endParaRPr lang="ja-JP" altLang="en-US" sz="2600" dirty="0"/>
          </a:p>
        </p:txBody>
      </p:sp>
      <p:sp>
        <p:nvSpPr>
          <p:cNvPr id="4" name="カード 4"/>
          <p:cNvSpPr/>
          <p:nvPr/>
        </p:nvSpPr>
        <p:spPr>
          <a:xfrm>
            <a:off x="548640" y="1417320"/>
            <a:ext cx="5349240" cy="1463040"/>
          </a:xfrm>
          <a:prstGeom prst="roundRect">
            <a:avLst>
              <a:gd name="adj" fmla="val 4000"/>
            </a:avLst>
          </a:prstGeom>
          <a:solidFill>
            <a:srgbClr val="F0F2F5"/>
          </a:solidFill>
          <a:ln>
            <a:noFill/>
          </a:ln>
        </p:spPr>
      </p:sp>
      <p:sp>
        <p:nvSpPr>
          <p:cNvPr id="5" name="ラベル 5"/>
          <p:cNvSpPr/>
          <p:nvPr/>
        </p:nvSpPr>
        <p:spPr>
          <a:xfrm>
            <a:off x="777240" y="1600200"/>
            <a:ext cx="914400" cy="310896"/>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理由</a:t>
            </a:r>
            <a:endParaRPr lang="ja-JP" altLang="en-US" sz="1300" dirty="0"/>
          </a:p>
        </p:txBody>
      </p:sp>
      <p:sp>
        <p:nvSpPr>
          <p:cNvPr id="6" name="テキスト 6"/>
          <p:cNvSpPr txBox="1"/>
          <p:nvPr/>
        </p:nvSpPr>
        <p:spPr>
          <a:xfrm>
            <a:off x="777240" y="2002536"/>
            <a:ext cx="4892040" cy="804672"/>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300" dirty="0">
                <a:solidFill>
                  <a:srgbClr val="1E2430"/>
                </a:solidFill>
                <a:latin typeface="BIZ UDPゴシック"/>
                <a:ea typeface="BIZ UDPゴシック"/>
                <a:cs typeface="BIZ UDPゴシック"/>
              </a:rPr>
              <a:t>「つなぐ・つながない」を境目で決めると、歩いたときに境目をまたいだ瞬間、面の形が変わって音が跳ぶ。</a:t>
            </a:r>
            <a:endParaRPr lang="ja-JP" altLang="en-US" sz="1300" dirty="0"/>
          </a:p>
        </p:txBody>
      </p:sp>
      <p:sp>
        <p:nvSpPr>
          <p:cNvPr id="7" name="矢印 7"/>
          <p:cNvSpPr/>
          <p:nvPr/>
        </p:nvSpPr>
        <p:spPr>
          <a:xfrm>
            <a:off x="5952744" y="2020824"/>
            <a:ext cx="219456" cy="256032"/>
          </a:xfrm>
          <a:prstGeom prst="rightArrow">
            <a:avLst/>
          </a:prstGeom>
          <a:solidFill>
            <a:srgbClr val="E3A33B"/>
          </a:solidFill>
          <a:ln>
            <a:noFill/>
          </a:ln>
        </p:spPr>
      </p:sp>
      <p:sp>
        <p:nvSpPr>
          <p:cNvPr id="8" name="カード 8"/>
          <p:cNvSpPr/>
          <p:nvPr/>
        </p:nvSpPr>
        <p:spPr>
          <a:xfrm>
            <a:off x="6227064" y="1417320"/>
            <a:ext cx="5413248" cy="1463040"/>
          </a:xfrm>
          <a:prstGeom prst="roundRect">
            <a:avLst>
              <a:gd name="adj" fmla="val 4000"/>
            </a:avLst>
          </a:prstGeom>
          <a:solidFill>
            <a:srgbClr val="FBF1DF"/>
          </a:solidFill>
          <a:ln>
            <a:noFill/>
          </a:ln>
        </p:spPr>
      </p:sp>
      <p:sp>
        <p:nvSpPr>
          <p:cNvPr id="9" name="ラベル 9"/>
          <p:cNvSpPr/>
          <p:nvPr/>
        </p:nvSpPr>
        <p:spPr>
          <a:xfrm>
            <a:off x="6455664" y="1600200"/>
            <a:ext cx="1188720" cy="310896"/>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アプローチ</a:t>
            </a:r>
            <a:endParaRPr lang="ja-JP" altLang="en-US" sz="1300" dirty="0"/>
          </a:p>
        </p:txBody>
      </p:sp>
      <p:sp>
        <p:nvSpPr>
          <p:cNvPr id="10" name="テキスト 10"/>
          <p:cNvSpPr txBox="1"/>
          <p:nvPr/>
        </p:nvSpPr>
        <p:spPr>
          <a:xfrm>
            <a:off x="6455664" y="2002536"/>
            <a:ext cx="4956048" cy="804672"/>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300" dirty="0">
                <a:solidFill>
                  <a:srgbClr val="1E2430"/>
                </a:solidFill>
                <a:latin typeface="BIZ UDPゴシック"/>
                <a:ea typeface="BIZ UDPゴシック"/>
                <a:cs typeface="BIZ UDPゴシック"/>
              </a:rPr>
              <a:t>向きと届く時刻が近い虚像ほど、強くつなぐ。境目は置かず、つながりの強さを連続に変える。全体の量は変えず、配り方だけを変える。</a:t>
            </a:r>
            <a:endParaRPr lang="ja-JP" altLang="en-US" sz="1300" dirty="0"/>
          </a:p>
        </p:txBody>
      </p:sp>
      <p:sp>
        <p:nvSpPr>
          <p:cNvPr id="11" name="カード 11"/>
          <p:cNvSpPr/>
          <p:nvPr/>
        </p:nvSpPr>
        <p:spPr>
          <a:xfrm>
            <a:off x="548640" y="3063240"/>
            <a:ext cx="5486400" cy="3227832"/>
          </a:xfrm>
          <a:prstGeom prst="roundRect">
            <a:avLst>
              <a:gd name="adj" fmla="val 4000"/>
            </a:avLst>
          </a:prstGeom>
          <a:solidFill>
            <a:srgbClr val="F0F2F5"/>
          </a:solidFill>
          <a:ln>
            <a:noFill/>
          </a:ln>
        </p:spPr>
      </p:sp>
      <p:sp>
        <p:nvSpPr>
          <p:cNvPr id="12" name="テキスト 12"/>
          <p:cNvSpPr txBox="1"/>
          <p:nvPr/>
        </p:nvSpPr>
        <p:spPr>
          <a:xfrm>
            <a:off x="822960" y="3172968"/>
            <a:ext cx="493776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300" b="1" dirty="0">
                <a:solidFill>
                  <a:srgbClr val="1E2430"/>
                </a:solidFill>
                <a:latin typeface="BIZ UDPゴシック"/>
                <a:ea typeface="BIZ UDPゴシック"/>
                <a:cs typeface="BIZ UDPゴシック"/>
              </a:rPr>
              <a:t>つながりの強さ（模式図）</a:t>
            </a:r>
            <a:endParaRPr lang="ja-JP" altLang="en-US" sz="1300" dirty="0"/>
          </a:p>
        </p:txBody>
      </p:sp>
      <p:cxnSp>
        <p:nvCxnSpPr>
          <p:cNvPr id="13" name="線 13"/>
          <p:cNvCxnSpPr/>
          <p:nvPr/>
        </p:nvCxnSpPr>
        <p:spPr>
          <a:xfrm>
            <a:off x="1371600" y="5669280"/>
            <a:ext cx="4297680" cy="0"/>
          </a:xfrm>
          <a:prstGeom prst="line">
            <a:avLst/>
          </a:prstGeom>
          <a:ln w="12700">
            <a:solidFill>
              <a:srgbClr val="8A94A6"/>
            </a:solidFill>
          </a:ln>
        </p:spPr>
      </p:cxnSp>
      <p:cxnSp>
        <p:nvCxnSpPr>
          <p:cNvPr id="14" name="線 14"/>
          <p:cNvCxnSpPr/>
          <p:nvPr/>
        </p:nvCxnSpPr>
        <p:spPr>
          <a:xfrm>
            <a:off x="1371600" y="3657600"/>
            <a:ext cx="0" cy="2011680"/>
          </a:xfrm>
          <a:prstGeom prst="line">
            <a:avLst/>
          </a:prstGeom>
          <a:ln w="12700">
            <a:solidFill>
              <a:srgbClr val="8A94A6"/>
            </a:solidFill>
          </a:ln>
        </p:spPr>
      </p:cxnSp>
      <p:sp>
        <p:nvSpPr>
          <p:cNvPr id="15" name="テキスト 15"/>
          <p:cNvSpPr txBox="1"/>
          <p:nvPr/>
        </p:nvSpPr>
        <p:spPr>
          <a:xfrm>
            <a:off x="640080" y="3611880"/>
            <a:ext cx="685800" cy="237744"/>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強い</a:t>
            </a:r>
            <a:endParaRPr lang="ja-JP" altLang="en-US" sz="1000" dirty="0"/>
          </a:p>
        </p:txBody>
      </p:sp>
      <p:sp>
        <p:nvSpPr>
          <p:cNvPr id="16" name="テキスト 16"/>
          <p:cNvSpPr txBox="1"/>
          <p:nvPr/>
        </p:nvSpPr>
        <p:spPr>
          <a:xfrm>
            <a:off x="640080" y="5486400"/>
            <a:ext cx="685800" cy="237744"/>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0</a:t>
            </a:r>
            <a:endParaRPr lang="ja-JP" altLang="en-US" sz="1000" dirty="0"/>
          </a:p>
        </p:txBody>
      </p:sp>
      <p:sp>
        <p:nvSpPr>
          <p:cNvPr id="17" name="テキスト 17"/>
          <p:cNvSpPr txBox="1"/>
          <p:nvPr/>
        </p:nvSpPr>
        <p:spPr>
          <a:xfrm>
            <a:off x="1371600" y="5715000"/>
            <a:ext cx="4297680" cy="237744"/>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虚像どうしの向きと時刻の差 →</a:t>
            </a:r>
            <a:endParaRPr lang="ja-JP" altLang="en-US" sz="1000" dirty="0"/>
          </a:p>
        </p:txBody>
      </p:sp>
      <p:sp>
        <p:nvSpPr>
          <p:cNvPr id="18" name="折れ線 18"/>
          <p:cNvSpPr/>
          <p:nvPr/>
        </p:nvSpPr>
        <p:spPr>
          <a:xfrm>
            <a:off x="1371600" y="3749040"/>
            <a:ext cx="4297680" cy="1920240"/>
          </a:xfrm>
          <a:custGeom>
            <a:avLst/>
            <a:gdLst/>
            <a:ahLst/>
            <a:cxnLst/>
            <a:rect l="0" t="0" r="r" b="b"/>
            <a:pathLst>
              <a:path w="4297680" h="1920240" fill="none">
                <a:moveTo>
                  <a:pt x="0" y="0"/>
                </a:moveTo>
                <a:lnTo>
                  <a:pt x="1719072" y="0"/>
                </a:lnTo>
                <a:lnTo>
                  <a:pt x="1719072" y="1920240"/>
                </a:lnTo>
                <a:lnTo>
                  <a:pt x="4297680" y="1920240"/>
                </a:lnTo>
              </a:path>
            </a:pathLst>
          </a:custGeom>
          <a:noFill/>
          <a:ln w="25400">
            <a:solidFill>
              <a:srgbClr val="C9CED6"/>
            </a:solidFill>
            <a:prstDash val="dash"/>
          </a:ln>
        </p:spPr>
      </p:sp>
      <p:sp>
        <p:nvSpPr>
          <p:cNvPr id="19" name="折れ線 19"/>
          <p:cNvSpPr/>
          <p:nvPr/>
        </p:nvSpPr>
        <p:spPr>
          <a:xfrm>
            <a:off x="1371600" y="3749040"/>
            <a:ext cx="4297680" cy="1918014"/>
          </a:xfrm>
          <a:custGeom>
            <a:avLst/>
            <a:gdLst/>
            <a:ahLst/>
            <a:cxnLst/>
            <a:rect l="0" t="0" r="r" b="b"/>
            <a:pathLst>
              <a:path w="4297680" h="1918014" fill="none">
                <a:moveTo>
                  <a:pt x="0" y="0"/>
                </a:moveTo>
                <a:lnTo>
                  <a:pt x="107442" y="8096"/>
                </a:lnTo>
                <a:lnTo>
                  <a:pt x="214884" y="32179"/>
                </a:lnTo>
                <a:lnTo>
                  <a:pt x="322326" y="71646"/>
                </a:lnTo>
                <a:lnTo>
                  <a:pt x="429768" y="125518"/>
                </a:lnTo>
                <a:lnTo>
                  <a:pt x="537210" y="192481"/>
                </a:lnTo>
                <a:lnTo>
                  <a:pt x="644652" y="270941"/>
                </a:lnTo>
                <a:lnTo>
                  <a:pt x="752094" y="359086"/>
                </a:lnTo>
                <a:lnTo>
                  <a:pt x="859536" y="454954"/>
                </a:lnTo>
                <a:lnTo>
                  <a:pt x="966978" y="556508"/>
                </a:lnTo>
                <a:lnTo>
                  <a:pt x="1074420" y="661703"/>
                </a:lnTo>
                <a:lnTo>
                  <a:pt x="1181862" y="768556"/>
                </a:lnTo>
                <a:lnTo>
                  <a:pt x="1289304" y="875205"/>
                </a:lnTo>
                <a:lnTo>
                  <a:pt x="1396746" y="979957"/>
                </a:lnTo>
                <a:lnTo>
                  <a:pt x="1504188" y="1081328"/>
                </a:lnTo>
                <a:lnTo>
                  <a:pt x="1611630" y="1178068"/>
                </a:lnTo>
                <a:lnTo>
                  <a:pt x="1719072" y="1269178"/>
                </a:lnTo>
                <a:lnTo>
                  <a:pt x="1826514" y="1353908"/>
                </a:lnTo>
                <a:lnTo>
                  <a:pt x="1933956" y="1431757"/>
                </a:lnTo>
                <a:lnTo>
                  <a:pt x="2041398" y="1502449"/>
                </a:lnTo>
                <a:lnTo>
                  <a:pt x="2148840" y="1565918"/>
                </a:lnTo>
                <a:lnTo>
                  <a:pt x="2256282" y="1622274"/>
                </a:lnTo>
                <a:lnTo>
                  <a:pt x="2363724" y="1671774"/>
                </a:lnTo>
                <a:lnTo>
                  <a:pt x="2471166" y="1714795"/>
                </a:lnTo>
                <a:lnTo>
                  <a:pt x="2578608" y="1751796"/>
                </a:lnTo>
                <a:lnTo>
                  <a:pt x="2686050" y="1783295"/>
                </a:lnTo>
                <a:lnTo>
                  <a:pt x="2793492" y="1809841"/>
                </a:lnTo>
                <a:lnTo>
                  <a:pt x="2900934" y="1831989"/>
                </a:lnTo>
                <a:lnTo>
                  <a:pt x="3008376" y="1850288"/>
                </a:lnTo>
                <a:lnTo>
                  <a:pt x="3115818" y="1865259"/>
                </a:lnTo>
                <a:lnTo>
                  <a:pt x="3223260" y="1877390"/>
                </a:lnTo>
                <a:lnTo>
                  <a:pt x="3330702" y="1887125"/>
                </a:lnTo>
                <a:lnTo>
                  <a:pt x="3438144" y="1894864"/>
                </a:lnTo>
                <a:lnTo>
                  <a:pt x="3545586" y="1900958"/>
                </a:lnTo>
                <a:lnTo>
                  <a:pt x="3653028" y="1905712"/>
                </a:lnTo>
                <a:lnTo>
                  <a:pt x="3760470" y="1909385"/>
                </a:lnTo>
                <a:lnTo>
                  <a:pt x="3867912" y="1912199"/>
                </a:lnTo>
                <a:lnTo>
                  <a:pt x="3975354" y="1914333"/>
                </a:lnTo>
                <a:lnTo>
                  <a:pt x="4082796" y="1915937"/>
                </a:lnTo>
                <a:lnTo>
                  <a:pt x="4190238" y="1917132"/>
                </a:lnTo>
                <a:lnTo>
                  <a:pt x="4297680" y="1918014"/>
                </a:lnTo>
              </a:path>
            </a:pathLst>
          </a:custGeom>
          <a:noFill/>
          <a:ln w="34925">
            <a:solidFill>
              <a:srgbClr val="E3A33B"/>
            </a:solidFill>
          </a:ln>
        </p:spPr>
      </p:sp>
      <p:sp>
        <p:nvSpPr>
          <p:cNvPr id="20" name="テキスト 20"/>
          <p:cNvSpPr txBox="1"/>
          <p:nvPr/>
        </p:nvSpPr>
        <p:spPr>
          <a:xfrm>
            <a:off x="3176626" y="3703320"/>
            <a:ext cx="1645920"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050" dirty="0">
                <a:solidFill>
                  <a:srgbClr val="5C6677"/>
                </a:solidFill>
                <a:latin typeface="BIZ UDPゴシック"/>
                <a:ea typeface="BIZ UDPゴシック"/>
                <a:cs typeface="BIZ UDPゴシック"/>
              </a:rPr>
              <a:t>境目で切る（前）</a:t>
            </a:r>
            <a:endParaRPr lang="ja-JP" altLang="en-US" sz="1050" dirty="0"/>
          </a:p>
        </p:txBody>
      </p:sp>
      <p:sp>
        <p:nvSpPr>
          <p:cNvPr id="21" name="テキスト 21"/>
          <p:cNvSpPr txBox="1"/>
          <p:nvPr/>
        </p:nvSpPr>
        <p:spPr>
          <a:xfrm>
            <a:off x="3520440" y="4764024"/>
            <a:ext cx="1828800"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050" b="1" dirty="0">
                <a:solidFill>
                  <a:srgbClr val="9A6212"/>
                </a:solidFill>
                <a:latin typeface="BIZ UDPゴシック"/>
                <a:ea typeface="BIZ UDPゴシック"/>
                <a:cs typeface="BIZ UDPゴシック"/>
              </a:rPr>
              <a:t>連続に弱める（今）</a:t>
            </a:r>
            <a:endParaRPr lang="ja-JP" altLang="en-US" sz="1050" dirty="0"/>
          </a:p>
        </p:txBody>
      </p:sp>
      <p:sp>
        <p:nvSpPr>
          <p:cNvPr id="22" name="カード 22"/>
          <p:cNvSpPr/>
          <p:nvPr/>
        </p:nvSpPr>
        <p:spPr>
          <a:xfrm>
            <a:off x="6217920" y="3063240"/>
            <a:ext cx="5422392" cy="3227832"/>
          </a:xfrm>
          <a:prstGeom prst="roundRect">
            <a:avLst>
              <a:gd name="adj" fmla="val 4000"/>
            </a:avLst>
          </a:prstGeom>
          <a:solidFill>
            <a:srgbClr val="FBF1DF"/>
          </a:solidFill>
          <a:ln>
            <a:noFill/>
          </a:ln>
        </p:spPr>
      </p:sp>
      <p:sp>
        <p:nvSpPr>
          <p:cNvPr id="23" name="テキスト 23"/>
          <p:cNvSpPr txBox="1"/>
          <p:nvPr/>
        </p:nvSpPr>
        <p:spPr>
          <a:xfrm>
            <a:off x="6446520" y="3172968"/>
            <a:ext cx="502920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300" b="1" dirty="0">
                <a:solidFill>
                  <a:srgbClr val="9A6212"/>
                </a:solidFill>
                <a:latin typeface="BIZ UDPゴシック"/>
                <a:ea typeface="BIZ UDPゴシック"/>
                <a:cs typeface="BIZ UDPゴシック"/>
              </a:rPr>
              <a:t>歩いたときの動き（実測）</a:t>
            </a:r>
            <a:endParaRPr lang="ja-JP" altLang="en-US" sz="1300" dirty="0"/>
          </a:p>
        </p:txBody>
      </p:sp>
      <p:sp>
        <p:nvSpPr>
          <p:cNvPr id="24" name="テキスト 24"/>
          <p:cNvSpPr txBox="1"/>
          <p:nvPr/>
        </p:nvSpPr>
        <p:spPr>
          <a:xfrm>
            <a:off x="6446520" y="3611880"/>
            <a:ext cx="1554480" cy="45720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2000" b="1" dirty="0">
                <a:solidFill>
                  <a:srgbClr val="1E2430"/>
                </a:solidFill>
                <a:latin typeface="BIZ UDPゴシック"/>
                <a:ea typeface="BIZ UDPゴシック"/>
                <a:cs typeface="BIZ UDPゴシック"/>
              </a:rPr>
              <a:t>0.14°</a:t>
            </a:r>
            <a:endParaRPr lang="ja-JP" altLang="en-US" sz="2000" dirty="0"/>
          </a:p>
        </p:txBody>
      </p:sp>
      <p:sp>
        <p:nvSpPr>
          <p:cNvPr id="25" name="テキスト 25"/>
          <p:cNvSpPr txBox="1"/>
          <p:nvPr/>
        </p:nvSpPr>
        <p:spPr>
          <a:xfrm>
            <a:off x="8046720" y="3630168"/>
            <a:ext cx="3429000" cy="73152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150" dirty="0">
                <a:solidFill>
                  <a:srgbClr val="1E2430"/>
                </a:solidFill>
                <a:latin typeface="BIZ UDPゴシック"/>
                <a:ea typeface="BIZ UDPゴシック"/>
                <a:cs typeface="BIZ UDPゴシック"/>
              </a:rPr>
              <a:t>耳を 1 cm ずつ 1.5 m 動かしたときの、面の向きの動き（最大）</a:t>
            </a:r>
            <a:endParaRPr lang="ja-JP" altLang="en-US" sz="1150" dirty="0"/>
          </a:p>
        </p:txBody>
      </p:sp>
      <p:sp>
        <p:nvSpPr>
          <p:cNvPr id="26" name="テキスト 26"/>
          <p:cNvSpPr txBox="1"/>
          <p:nvPr/>
        </p:nvSpPr>
        <p:spPr>
          <a:xfrm>
            <a:off x="6446520" y="4453128"/>
            <a:ext cx="1554480" cy="45720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2000" b="1" dirty="0">
                <a:solidFill>
                  <a:srgbClr val="1E2430"/>
                </a:solidFill>
                <a:latin typeface="BIZ UDPゴシック"/>
                <a:ea typeface="BIZ UDPゴシック"/>
                <a:cs typeface="BIZ UDPゴシック"/>
              </a:rPr>
              <a:t>0.12°</a:t>
            </a:r>
            <a:endParaRPr lang="ja-JP" altLang="en-US" sz="2000" dirty="0"/>
          </a:p>
        </p:txBody>
      </p:sp>
      <p:sp>
        <p:nvSpPr>
          <p:cNvPr id="27" name="テキスト 27"/>
          <p:cNvSpPr txBox="1"/>
          <p:nvPr/>
        </p:nvSpPr>
        <p:spPr>
          <a:xfrm>
            <a:off x="8046720" y="4471416"/>
            <a:ext cx="3429000" cy="73152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150" dirty="0">
                <a:solidFill>
                  <a:srgbClr val="1E2430"/>
                </a:solidFill>
                <a:latin typeface="BIZ UDPゴシック"/>
                <a:ea typeface="BIZ UDPゴシック"/>
                <a:cs typeface="BIZ UDPゴシック"/>
              </a:rPr>
              <a:t>同じく、面の幅の動き（最大）</a:t>
            </a:r>
            <a:endParaRPr lang="ja-JP" altLang="en-US" sz="1150" dirty="0"/>
          </a:p>
        </p:txBody>
      </p:sp>
      <p:sp>
        <p:nvSpPr>
          <p:cNvPr id="28" name="テキスト 28"/>
          <p:cNvSpPr txBox="1"/>
          <p:nvPr/>
        </p:nvSpPr>
        <p:spPr>
          <a:xfrm>
            <a:off x="6446520" y="5294376"/>
            <a:ext cx="1554480" cy="45720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2000" b="1" dirty="0">
                <a:solidFill>
                  <a:srgbClr val="1E2430"/>
                </a:solidFill>
                <a:latin typeface="BIZ UDPゴシック"/>
                <a:ea typeface="BIZ UDPゴシック"/>
                <a:cs typeface="BIZ UDPゴシック"/>
              </a:rPr>
              <a:t>0.5% 以内</a:t>
            </a:r>
            <a:endParaRPr lang="ja-JP" altLang="en-US" sz="2000" dirty="0"/>
          </a:p>
        </p:txBody>
      </p:sp>
      <p:sp>
        <p:nvSpPr>
          <p:cNvPr id="29" name="テキスト 29"/>
          <p:cNvSpPr txBox="1"/>
          <p:nvPr/>
        </p:nvSpPr>
        <p:spPr>
          <a:xfrm>
            <a:off x="8046720" y="5312664"/>
            <a:ext cx="3429000" cy="73152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150" dirty="0">
                <a:solidFill>
                  <a:srgbClr val="1E2430"/>
                </a:solidFill>
                <a:latin typeface="BIZ UDPゴシック"/>
                <a:ea typeface="BIZ UDPゴシック"/>
                <a:cs typeface="BIZ UDPゴシック"/>
              </a:rPr>
              <a:t>近さ・集まりの重みを入れても、初期反射の総量は変わらない</a:t>
            </a:r>
            <a:endParaRPr lang="ja-JP" altLang="en-US" sz="1150" dirty="0"/>
          </a:p>
        </p:txBody>
      </p:sp>
      <p:sp>
        <p:nvSpPr>
          <p:cNvPr id="30" name="注 30"/>
          <p:cNvSpPr txBox="1"/>
          <p:nvPr/>
        </p:nvSpPr>
        <p:spPr>
          <a:xfrm>
            <a:off x="548640" y="6419088"/>
            <a:ext cx="9875520" cy="256032"/>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5C6677"/>
                </a:solidFill>
                <a:latin typeface="BIZ UDPゴシック"/>
                <a:ea typeface="BIZ UDPゴシック"/>
                <a:cs typeface="BIZ UDPゴシック"/>
              </a:rPr>
              <a:t>※ 数値は 2026-09-18 の回帰テストの実測</a:t>
            </a:r>
            <a:endParaRPr lang="ja-JP" altLang="en-US" sz="950" dirty="0"/>
          </a:p>
        </p:txBody>
      </p:sp>
      <p:sp>
        <p:nvSpPr>
          <p:cNvPr id="31" name="ページ番号 31"/>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23</a:t>
            </a:r>
            <a:endParaRPr lang="ja-JP" alt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音の空間印象</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問題点と改善方法 ── 初期反射の作り直し</a:t>
            </a:r>
            <a:endParaRPr lang="ja-JP" altLang="en-US" sz="2600" dirty="0"/>
          </a:p>
        </p:txBody>
      </p:sp>
      <p:sp>
        <p:nvSpPr>
          <p:cNvPr id="4" name="テキスト 4"/>
          <p:cNvSpPr txBox="1"/>
          <p:nvPr/>
        </p:nvSpPr>
        <p:spPr>
          <a:xfrm>
            <a:off x="548640" y="1243584"/>
            <a:ext cx="11091672" cy="54864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「何で反射を受けるか」から考えて外し続けた。最後は「どう聞こえてほしいか」から逆に組み立てて着地した。</a:t>
            </a:r>
            <a:endParaRPr lang="ja-JP" altLang="en-US" sz="1450" dirty="0"/>
          </a:p>
        </p:txBody>
      </p:sp>
      <p:sp>
        <p:nvSpPr>
          <p:cNvPr id="5" name="カード 5"/>
          <p:cNvSpPr/>
          <p:nvPr/>
        </p:nvSpPr>
        <p:spPr>
          <a:xfrm>
            <a:off x="548640" y="1965960"/>
            <a:ext cx="3429000" cy="3017520"/>
          </a:xfrm>
          <a:prstGeom prst="roundRect">
            <a:avLst>
              <a:gd name="adj" fmla="val 4000"/>
            </a:avLst>
          </a:prstGeom>
          <a:solidFill>
            <a:srgbClr val="F0F2F5"/>
          </a:solidFill>
          <a:ln>
            <a:noFill/>
          </a:ln>
        </p:spPr>
      </p:sp>
      <p:sp>
        <p:nvSpPr>
          <p:cNvPr id="6" name="図形 6"/>
          <p:cNvSpPr/>
          <p:nvPr/>
        </p:nvSpPr>
        <p:spPr>
          <a:xfrm>
            <a:off x="777240" y="2103120"/>
            <a:ext cx="365760" cy="365760"/>
          </a:xfrm>
          <a:prstGeom prst="ellipse">
            <a:avLst/>
          </a:prstGeom>
          <a:solidFill>
            <a:srgbClr val="C9CED6"/>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1</a:t>
            </a:r>
            <a:endParaRPr lang="ja-JP" altLang="en-US" sz="1300" dirty="0"/>
          </a:p>
        </p:txBody>
      </p:sp>
      <p:sp>
        <p:nvSpPr>
          <p:cNvPr id="7" name="テキスト 7"/>
          <p:cNvSpPr txBox="1"/>
          <p:nvPr/>
        </p:nvSpPr>
        <p:spPr>
          <a:xfrm>
            <a:off x="1280160" y="2121408"/>
            <a:ext cx="2514600" cy="36576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500" b="1" dirty="0">
                <a:solidFill>
                  <a:srgbClr val="1E2430"/>
                </a:solidFill>
                <a:latin typeface="BIZ UDPゴシック"/>
                <a:ea typeface="BIZ UDPゴシック"/>
                <a:cs typeface="BIZ UDPゴシック"/>
              </a:rPr>
              <a:t>点の虚像</a:t>
            </a:r>
            <a:endParaRPr lang="ja-JP" altLang="en-US" sz="1500" dirty="0"/>
          </a:p>
        </p:txBody>
      </p:sp>
      <p:sp>
        <p:nvSpPr>
          <p:cNvPr id="8" name="鏡に映した部屋 8"/>
          <p:cNvSpPr/>
          <p:nvPr/>
        </p:nvSpPr>
        <p:spPr>
          <a:xfrm>
            <a:off x="1412748" y="2624328"/>
            <a:ext cx="566928" cy="384048"/>
          </a:xfrm>
          <a:prstGeom prst="rect">
            <a:avLst/>
          </a:prstGeom>
          <a:noFill/>
          <a:ln w="9525">
            <a:solidFill>
              <a:srgbClr val="C9CED6"/>
            </a:solidFill>
            <a:prstDash val="dash"/>
          </a:ln>
        </p:spPr>
      </p:sp>
      <p:sp>
        <p:nvSpPr>
          <p:cNvPr id="9" name="鏡に映した部屋 9"/>
          <p:cNvSpPr/>
          <p:nvPr/>
        </p:nvSpPr>
        <p:spPr>
          <a:xfrm>
            <a:off x="1412748" y="3008376"/>
            <a:ext cx="566928" cy="384048"/>
          </a:xfrm>
          <a:prstGeom prst="rect">
            <a:avLst/>
          </a:prstGeom>
          <a:noFill/>
          <a:ln w="9525">
            <a:solidFill>
              <a:srgbClr val="C9CED6"/>
            </a:solidFill>
            <a:prstDash val="dash"/>
          </a:ln>
        </p:spPr>
      </p:sp>
      <p:sp>
        <p:nvSpPr>
          <p:cNvPr id="10" name="鏡に映した部屋 10"/>
          <p:cNvSpPr/>
          <p:nvPr/>
        </p:nvSpPr>
        <p:spPr>
          <a:xfrm>
            <a:off x="1412748" y="3392424"/>
            <a:ext cx="566928" cy="384048"/>
          </a:xfrm>
          <a:prstGeom prst="rect">
            <a:avLst/>
          </a:prstGeom>
          <a:noFill/>
          <a:ln w="9525">
            <a:solidFill>
              <a:srgbClr val="C9CED6"/>
            </a:solidFill>
            <a:prstDash val="dash"/>
          </a:ln>
        </p:spPr>
      </p:sp>
      <p:sp>
        <p:nvSpPr>
          <p:cNvPr id="11" name="鏡に映した部屋 11"/>
          <p:cNvSpPr/>
          <p:nvPr/>
        </p:nvSpPr>
        <p:spPr>
          <a:xfrm>
            <a:off x="1979676" y="2624328"/>
            <a:ext cx="566928" cy="384048"/>
          </a:xfrm>
          <a:prstGeom prst="rect">
            <a:avLst/>
          </a:prstGeom>
          <a:noFill/>
          <a:ln w="9525">
            <a:solidFill>
              <a:srgbClr val="C9CED6"/>
            </a:solidFill>
            <a:prstDash val="dash"/>
          </a:ln>
        </p:spPr>
      </p:sp>
      <p:sp>
        <p:nvSpPr>
          <p:cNvPr id="12" name="鏡に映した部屋 12"/>
          <p:cNvSpPr/>
          <p:nvPr/>
        </p:nvSpPr>
        <p:spPr>
          <a:xfrm>
            <a:off x="1979676" y="3392424"/>
            <a:ext cx="566928" cy="384048"/>
          </a:xfrm>
          <a:prstGeom prst="rect">
            <a:avLst/>
          </a:prstGeom>
          <a:noFill/>
          <a:ln w="9525">
            <a:solidFill>
              <a:srgbClr val="C9CED6"/>
            </a:solidFill>
            <a:prstDash val="dash"/>
          </a:ln>
        </p:spPr>
      </p:sp>
      <p:sp>
        <p:nvSpPr>
          <p:cNvPr id="13" name="鏡に映した部屋 13"/>
          <p:cNvSpPr/>
          <p:nvPr/>
        </p:nvSpPr>
        <p:spPr>
          <a:xfrm>
            <a:off x="2546604" y="2624328"/>
            <a:ext cx="566928" cy="384048"/>
          </a:xfrm>
          <a:prstGeom prst="rect">
            <a:avLst/>
          </a:prstGeom>
          <a:noFill/>
          <a:ln w="9525">
            <a:solidFill>
              <a:srgbClr val="C9CED6"/>
            </a:solidFill>
            <a:prstDash val="dash"/>
          </a:ln>
        </p:spPr>
      </p:sp>
      <p:sp>
        <p:nvSpPr>
          <p:cNvPr id="14" name="鏡に映した部屋 14"/>
          <p:cNvSpPr/>
          <p:nvPr/>
        </p:nvSpPr>
        <p:spPr>
          <a:xfrm>
            <a:off x="2546604" y="3008376"/>
            <a:ext cx="566928" cy="384048"/>
          </a:xfrm>
          <a:prstGeom prst="rect">
            <a:avLst/>
          </a:prstGeom>
          <a:noFill/>
          <a:ln w="9525">
            <a:solidFill>
              <a:srgbClr val="C9CED6"/>
            </a:solidFill>
            <a:prstDash val="dash"/>
          </a:ln>
        </p:spPr>
      </p:sp>
      <p:sp>
        <p:nvSpPr>
          <p:cNvPr id="15" name="鏡に映した部屋 15"/>
          <p:cNvSpPr/>
          <p:nvPr/>
        </p:nvSpPr>
        <p:spPr>
          <a:xfrm>
            <a:off x="2546604" y="3392424"/>
            <a:ext cx="566928" cy="384048"/>
          </a:xfrm>
          <a:prstGeom prst="rect">
            <a:avLst/>
          </a:prstGeom>
          <a:noFill/>
          <a:ln w="9525">
            <a:solidFill>
              <a:srgbClr val="C9CED6"/>
            </a:solidFill>
            <a:prstDash val="dash"/>
          </a:ln>
        </p:spPr>
      </p:sp>
      <p:cxnSp>
        <p:nvCxnSpPr>
          <p:cNvPr id="16" name="線 16"/>
          <p:cNvCxnSpPr/>
          <p:nvPr/>
        </p:nvCxnSpPr>
        <p:spPr>
          <a:xfrm>
            <a:off x="1809598" y="3142793"/>
            <a:ext cx="566928" cy="119055"/>
          </a:xfrm>
          <a:prstGeom prst="line">
            <a:avLst/>
          </a:prstGeom>
          <a:ln w="9525">
            <a:solidFill>
              <a:srgbClr val="C9CED6"/>
            </a:solidFill>
            <a:prstDash val="sysDash"/>
          </a:ln>
        </p:spPr>
      </p:cxnSp>
      <p:cxnSp>
        <p:nvCxnSpPr>
          <p:cNvPr id="17" name="線 17"/>
          <p:cNvCxnSpPr/>
          <p:nvPr/>
        </p:nvCxnSpPr>
        <p:spPr>
          <a:xfrm>
            <a:off x="1809598" y="2873959"/>
            <a:ext cx="566928" cy="387888"/>
          </a:xfrm>
          <a:prstGeom prst="line">
            <a:avLst/>
          </a:prstGeom>
          <a:ln w="9525">
            <a:solidFill>
              <a:srgbClr val="C9CED6"/>
            </a:solidFill>
            <a:prstDash val="sysDash"/>
          </a:ln>
        </p:spPr>
      </p:cxnSp>
      <p:cxnSp>
        <p:nvCxnSpPr>
          <p:cNvPr id="18" name="線 18"/>
          <p:cNvCxnSpPr/>
          <p:nvPr/>
        </p:nvCxnSpPr>
        <p:spPr>
          <a:xfrm>
            <a:off x="2149754" y="2873959"/>
            <a:ext cx="226771" cy="387888"/>
          </a:xfrm>
          <a:prstGeom prst="line">
            <a:avLst/>
          </a:prstGeom>
          <a:ln w="9525">
            <a:solidFill>
              <a:srgbClr val="C9CED6"/>
            </a:solidFill>
            <a:prstDash val="sysDash"/>
          </a:ln>
        </p:spPr>
      </p:cxnSp>
      <p:cxnSp>
        <p:nvCxnSpPr>
          <p:cNvPr id="19" name="線 19"/>
          <p:cNvCxnSpPr/>
          <p:nvPr/>
        </p:nvCxnSpPr>
        <p:spPr>
          <a:xfrm flipH="1">
            <a:off x="2376526" y="2873959"/>
            <a:ext cx="566928" cy="387888"/>
          </a:xfrm>
          <a:prstGeom prst="line">
            <a:avLst/>
          </a:prstGeom>
          <a:ln w="9525">
            <a:solidFill>
              <a:srgbClr val="C9CED6"/>
            </a:solidFill>
            <a:prstDash val="sysDash"/>
          </a:ln>
        </p:spPr>
      </p:cxnSp>
      <p:cxnSp>
        <p:nvCxnSpPr>
          <p:cNvPr id="20" name="線 20"/>
          <p:cNvCxnSpPr/>
          <p:nvPr/>
        </p:nvCxnSpPr>
        <p:spPr>
          <a:xfrm flipH="1">
            <a:off x="2376526" y="3142793"/>
            <a:ext cx="566928" cy="119055"/>
          </a:xfrm>
          <a:prstGeom prst="line">
            <a:avLst/>
          </a:prstGeom>
          <a:ln w="9525">
            <a:solidFill>
              <a:srgbClr val="C9CED6"/>
            </a:solidFill>
            <a:prstDash val="sysDash"/>
          </a:ln>
        </p:spPr>
      </p:cxnSp>
      <p:cxnSp>
        <p:nvCxnSpPr>
          <p:cNvPr id="21" name="線 21"/>
          <p:cNvCxnSpPr/>
          <p:nvPr/>
        </p:nvCxnSpPr>
        <p:spPr>
          <a:xfrm flipH="1" flipV="1">
            <a:off x="2376526" y="3261848"/>
            <a:ext cx="566928" cy="380208"/>
          </a:xfrm>
          <a:prstGeom prst="line">
            <a:avLst/>
          </a:prstGeom>
          <a:ln w="9525">
            <a:solidFill>
              <a:srgbClr val="C9CED6"/>
            </a:solidFill>
            <a:prstDash val="sysDash"/>
          </a:ln>
        </p:spPr>
      </p:cxnSp>
      <p:cxnSp>
        <p:nvCxnSpPr>
          <p:cNvPr id="22" name="線 22"/>
          <p:cNvCxnSpPr/>
          <p:nvPr/>
        </p:nvCxnSpPr>
        <p:spPr>
          <a:xfrm flipV="1">
            <a:off x="2149754" y="3261848"/>
            <a:ext cx="226771" cy="380208"/>
          </a:xfrm>
          <a:prstGeom prst="line">
            <a:avLst/>
          </a:prstGeom>
          <a:ln w="9525">
            <a:solidFill>
              <a:srgbClr val="C9CED6"/>
            </a:solidFill>
            <a:prstDash val="sysDash"/>
          </a:ln>
        </p:spPr>
      </p:cxnSp>
      <p:cxnSp>
        <p:nvCxnSpPr>
          <p:cNvPr id="23" name="線 23"/>
          <p:cNvCxnSpPr/>
          <p:nvPr/>
        </p:nvCxnSpPr>
        <p:spPr>
          <a:xfrm flipV="1">
            <a:off x="1809598" y="3261848"/>
            <a:ext cx="566928" cy="380208"/>
          </a:xfrm>
          <a:prstGeom prst="line">
            <a:avLst/>
          </a:prstGeom>
          <a:ln w="9525">
            <a:solidFill>
              <a:srgbClr val="C9CED6"/>
            </a:solidFill>
            <a:prstDash val="sysDash"/>
          </a:ln>
        </p:spPr>
      </p:cxnSp>
      <p:sp>
        <p:nvSpPr>
          <p:cNvPr id="24" name="部屋 24"/>
          <p:cNvSpPr/>
          <p:nvPr/>
        </p:nvSpPr>
        <p:spPr>
          <a:xfrm>
            <a:off x="1979676" y="3008376"/>
            <a:ext cx="566928" cy="384048"/>
          </a:xfrm>
          <a:prstGeom prst="rect">
            <a:avLst/>
          </a:prstGeom>
          <a:solidFill>
            <a:srgbClr val="FFFFFF"/>
          </a:solidFill>
          <a:ln w="25400">
            <a:solidFill>
              <a:srgbClr val="8A94A6"/>
            </a:solidFill>
          </a:ln>
        </p:spPr>
      </p:sp>
      <p:sp>
        <p:nvSpPr>
          <p:cNvPr id="25" name="虚像 25"/>
          <p:cNvSpPr/>
          <p:nvPr/>
        </p:nvSpPr>
        <p:spPr>
          <a:xfrm>
            <a:off x="1768450" y="3101645"/>
            <a:ext cx="82296" cy="82296"/>
          </a:xfrm>
          <a:prstGeom prst="ellipse">
            <a:avLst/>
          </a:prstGeom>
          <a:solidFill>
            <a:srgbClr val="5C6677"/>
          </a:solidFill>
          <a:ln>
            <a:noFill/>
          </a:ln>
        </p:spPr>
      </p:sp>
      <p:sp>
        <p:nvSpPr>
          <p:cNvPr id="26" name="虚像 26"/>
          <p:cNvSpPr/>
          <p:nvPr/>
        </p:nvSpPr>
        <p:spPr>
          <a:xfrm>
            <a:off x="1768450" y="2832811"/>
            <a:ext cx="82296" cy="82296"/>
          </a:xfrm>
          <a:prstGeom prst="ellipse">
            <a:avLst/>
          </a:prstGeom>
          <a:solidFill>
            <a:srgbClr val="5C6677"/>
          </a:solidFill>
          <a:ln>
            <a:noFill/>
          </a:ln>
        </p:spPr>
      </p:sp>
      <p:sp>
        <p:nvSpPr>
          <p:cNvPr id="27" name="虚像 27"/>
          <p:cNvSpPr/>
          <p:nvPr/>
        </p:nvSpPr>
        <p:spPr>
          <a:xfrm>
            <a:off x="2108606" y="2832811"/>
            <a:ext cx="82296" cy="82296"/>
          </a:xfrm>
          <a:prstGeom prst="ellipse">
            <a:avLst/>
          </a:prstGeom>
          <a:solidFill>
            <a:srgbClr val="5C6677"/>
          </a:solidFill>
          <a:ln>
            <a:noFill/>
          </a:ln>
        </p:spPr>
      </p:sp>
      <p:sp>
        <p:nvSpPr>
          <p:cNvPr id="28" name="虚像 28"/>
          <p:cNvSpPr/>
          <p:nvPr/>
        </p:nvSpPr>
        <p:spPr>
          <a:xfrm>
            <a:off x="2902306" y="2832811"/>
            <a:ext cx="82296" cy="82296"/>
          </a:xfrm>
          <a:prstGeom prst="ellipse">
            <a:avLst/>
          </a:prstGeom>
          <a:solidFill>
            <a:srgbClr val="5C6677"/>
          </a:solidFill>
          <a:ln>
            <a:noFill/>
          </a:ln>
        </p:spPr>
      </p:sp>
      <p:sp>
        <p:nvSpPr>
          <p:cNvPr id="29" name="虚像 29"/>
          <p:cNvSpPr/>
          <p:nvPr/>
        </p:nvSpPr>
        <p:spPr>
          <a:xfrm>
            <a:off x="2902306" y="3101645"/>
            <a:ext cx="82296" cy="82296"/>
          </a:xfrm>
          <a:prstGeom prst="ellipse">
            <a:avLst/>
          </a:prstGeom>
          <a:solidFill>
            <a:srgbClr val="5C6677"/>
          </a:solidFill>
          <a:ln>
            <a:noFill/>
          </a:ln>
        </p:spPr>
      </p:sp>
      <p:sp>
        <p:nvSpPr>
          <p:cNvPr id="30" name="虚像 30"/>
          <p:cNvSpPr/>
          <p:nvPr/>
        </p:nvSpPr>
        <p:spPr>
          <a:xfrm>
            <a:off x="2902306" y="3600907"/>
            <a:ext cx="82296" cy="82296"/>
          </a:xfrm>
          <a:prstGeom prst="ellipse">
            <a:avLst/>
          </a:prstGeom>
          <a:solidFill>
            <a:srgbClr val="5C6677"/>
          </a:solidFill>
          <a:ln>
            <a:noFill/>
          </a:ln>
        </p:spPr>
      </p:sp>
      <p:sp>
        <p:nvSpPr>
          <p:cNvPr id="31" name="虚像 31"/>
          <p:cNvSpPr/>
          <p:nvPr/>
        </p:nvSpPr>
        <p:spPr>
          <a:xfrm>
            <a:off x="2108606" y="3600907"/>
            <a:ext cx="82296" cy="82296"/>
          </a:xfrm>
          <a:prstGeom prst="ellipse">
            <a:avLst/>
          </a:prstGeom>
          <a:solidFill>
            <a:srgbClr val="5C6677"/>
          </a:solidFill>
          <a:ln>
            <a:noFill/>
          </a:ln>
        </p:spPr>
      </p:sp>
      <p:sp>
        <p:nvSpPr>
          <p:cNvPr id="32" name="虚像 32"/>
          <p:cNvSpPr/>
          <p:nvPr/>
        </p:nvSpPr>
        <p:spPr>
          <a:xfrm>
            <a:off x="1768450" y="3600907"/>
            <a:ext cx="82296" cy="82296"/>
          </a:xfrm>
          <a:prstGeom prst="ellipse">
            <a:avLst/>
          </a:prstGeom>
          <a:solidFill>
            <a:srgbClr val="5C6677"/>
          </a:solidFill>
          <a:ln>
            <a:noFill/>
          </a:ln>
        </p:spPr>
      </p:sp>
      <p:sp>
        <p:nvSpPr>
          <p:cNvPr id="33" name="点 33"/>
          <p:cNvSpPr/>
          <p:nvPr/>
        </p:nvSpPr>
        <p:spPr>
          <a:xfrm>
            <a:off x="2104034" y="3097073"/>
            <a:ext cx="91440" cy="91440"/>
          </a:xfrm>
          <a:prstGeom prst="ellipse">
            <a:avLst/>
          </a:prstGeom>
          <a:solidFill>
            <a:srgbClr val="E3A33B"/>
          </a:solidFill>
          <a:ln>
            <a:noFill/>
          </a:ln>
        </p:spPr>
      </p:sp>
      <p:sp>
        <p:nvSpPr>
          <p:cNvPr id="34" name="点 34"/>
          <p:cNvSpPr/>
          <p:nvPr/>
        </p:nvSpPr>
        <p:spPr>
          <a:xfrm>
            <a:off x="2330806" y="3216128"/>
            <a:ext cx="91440" cy="91440"/>
          </a:xfrm>
          <a:prstGeom prst="ellipse">
            <a:avLst/>
          </a:prstGeom>
          <a:solidFill>
            <a:srgbClr val="1E2430"/>
          </a:solidFill>
          <a:ln>
            <a:noFill/>
          </a:ln>
        </p:spPr>
      </p:sp>
      <p:sp>
        <p:nvSpPr>
          <p:cNvPr id="35" name="テキスト 35"/>
          <p:cNvSpPr txBox="1"/>
          <p:nvPr/>
        </p:nvSpPr>
        <p:spPr>
          <a:xfrm>
            <a:off x="777240" y="3931920"/>
            <a:ext cx="2971800" cy="100584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200" dirty="0">
                <a:solidFill>
                  <a:srgbClr val="1E2430"/>
                </a:solidFill>
                <a:latin typeface="BIZ UDPゴシック"/>
                <a:ea typeface="BIZ UDPゴシック"/>
                <a:cs typeface="BIZ UDPゴシック"/>
              </a:rPr>
              <a:t>方向はわかるが、壁の近さや広がりが出ない</a:t>
            </a:r>
            <a:endParaRPr lang="ja-JP" altLang="en-US" sz="1200" dirty="0"/>
          </a:p>
        </p:txBody>
      </p:sp>
      <p:sp>
        <p:nvSpPr>
          <p:cNvPr id="36" name="矢印 36"/>
          <p:cNvSpPr/>
          <p:nvPr/>
        </p:nvSpPr>
        <p:spPr>
          <a:xfrm>
            <a:off x="4069080" y="3063240"/>
            <a:ext cx="219456" cy="274320"/>
          </a:xfrm>
          <a:prstGeom prst="rightArrow">
            <a:avLst/>
          </a:prstGeom>
          <a:solidFill>
            <a:srgbClr val="E3A33B"/>
          </a:solidFill>
          <a:ln>
            <a:noFill/>
          </a:ln>
        </p:spPr>
      </p:sp>
      <p:sp>
        <p:nvSpPr>
          <p:cNvPr id="37" name="カード 37"/>
          <p:cNvSpPr/>
          <p:nvPr/>
        </p:nvSpPr>
        <p:spPr>
          <a:xfrm>
            <a:off x="4379976" y="1965960"/>
            <a:ext cx="3429000" cy="3017520"/>
          </a:xfrm>
          <a:prstGeom prst="roundRect">
            <a:avLst>
              <a:gd name="adj" fmla="val 4000"/>
            </a:avLst>
          </a:prstGeom>
          <a:solidFill>
            <a:srgbClr val="F0F2F5"/>
          </a:solidFill>
          <a:ln>
            <a:noFill/>
          </a:ln>
        </p:spPr>
      </p:sp>
      <p:sp>
        <p:nvSpPr>
          <p:cNvPr id="38" name="図形 38"/>
          <p:cNvSpPr/>
          <p:nvPr/>
        </p:nvSpPr>
        <p:spPr>
          <a:xfrm>
            <a:off x="4608576" y="2103120"/>
            <a:ext cx="365760" cy="365760"/>
          </a:xfrm>
          <a:prstGeom prst="ellipse">
            <a:avLst/>
          </a:prstGeom>
          <a:solidFill>
            <a:srgbClr val="C9CED6"/>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2</a:t>
            </a:r>
            <a:endParaRPr lang="ja-JP" altLang="en-US" sz="1300" dirty="0"/>
          </a:p>
        </p:txBody>
      </p:sp>
      <p:sp>
        <p:nvSpPr>
          <p:cNvPr id="39" name="テキスト 39"/>
          <p:cNvSpPr txBox="1"/>
          <p:nvPr/>
        </p:nvSpPr>
        <p:spPr>
          <a:xfrm>
            <a:off x="5111496" y="2121408"/>
            <a:ext cx="2514600" cy="36576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500" b="1" dirty="0">
                <a:solidFill>
                  <a:srgbClr val="1E2430"/>
                </a:solidFill>
                <a:latin typeface="BIZ UDPゴシック"/>
                <a:ea typeface="BIZ UDPゴシック"/>
                <a:cs typeface="BIZ UDPゴシック"/>
              </a:rPr>
              <a:t>壁を受け取る面にする</a:t>
            </a:r>
            <a:endParaRPr lang="ja-JP" altLang="en-US" sz="1500" dirty="0"/>
          </a:p>
        </p:txBody>
      </p:sp>
      <p:sp>
        <p:nvSpPr>
          <p:cNvPr id="40" name="部屋 40"/>
          <p:cNvSpPr/>
          <p:nvPr/>
        </p:nvSpPr>
        <p:spPr>
          <a:xfrm>
            <a:off x="5527548" y="2816352"/>
            <a:ext cx="1133856" cy="768096"/>
          </a:xfrm>
          <a:prstGeom prst="rect">
            <a:avLst/>
          </a:prstGeom>
          <a:solidFill>
            <a:srgbClr val="FFFFFF"/>
          </a:solidFill>
          <a:ln w="25400">
            <a:solidFill>
              <a:srgbClr val="8A94A6"/>
            </a:solidFill>
          </a:ln>
        </p:spPr>
      </p:sp>
      <p:sp>
        <p:nvSpPr>
          <p:cNvPr id="41" name="受け取る面 41"/>
          <p:cNvSpPr/>
          <p:nvPr/>
        </p:nvSpPr>
        <p:spPr>
          <a:xfrm>
            <a:off x="5628132" y="2775204"/>
            <a:ext cx="82296" cy="82296"/>
          </a:xfrm>
          <a:prstGeom prst="rect">
            <a:avLst/>
          </a:prstGeom>
          <a:solidFill>
            <a:srgbClr val="E3A33B"/>
          </a:solidFill>
          <a:ln>
            <a:noFill/>
          </a:ln>
        </p:spPr>
      </p:sp>
      <p:cxnSp>
        <p:nvCxnSpPr>
          <p:cNvPr id="42" name="線 42"/>
          <p:cNvCxnSpPr/>
          <p:nvPr/>
        </p:nvCxnSpPr>
        <p:spPr>
          <a:xfrm>
            <a:off x="5669280" y="2816352"/>
            <a:ext cx="651967" cy="506943"/>
          </a:xfrm>
          <a:prstGeom prst="line">
            <a:avLst/>
          </a:prstGeom>
          <a:ln w="9525">
            <a:solidFill>
              <a:srgbClr val="F0C987"/>
            </a:solidFill>
          </a:ln>
        </p:spPr>
      </p:cxnSp>
      <p:sp>
        <p:nvSpPr>
          <p:cNvPr id="43" name="受け取る面 43"/>
          <p:cNvSpPr/>
          <p:nvPr/>
        </p:nvSpPr>
        <p:spPr>
          <a:xfrm>
            <a:off x="5628132" y="3543300"/>
            <a:ext cx="82296" cy="82296"/>
          </a:xfrm>
          <a:prstGeom prst="rect">
            <a:avLst/>
          </a:prstGeom>
          <a:solidFill>
            <a:srgbClr val="E3A33B"/>
          </a:solidFill>
          <a:ln>
            <a:noFill/>
          </a:ln>
        </p:spPr>
      </p:sp>
      <p:cxnSp>
        <p:nvCxnSpPr>
          <p:cNvPr id="44" name="線 44"/>
          <p:cNvCxnSpPr/>
          <p:nvPr/>
        </p:nvCxnSpPr>
        <p:spPr>
          <a:xfrm flipV="1">
            <a:off x="5669280" y="3323295"/>
            <a:ext cx="651967" cy="261153"/>
          </a:xfrm>
          <a:prstGeom prst="line">
            <a:avLst/>
          </a:prstGeom>
          <a:ln w="9525">
            <a:solidFill>
              <a:srgbClr val="F0C987"/>
            </a:solidFill>
          </a:ln>
        </p:spPr>
      </p:cxnSp>
      <p:sp>
        <p:nvSpPr>
          <p:cNvPr id="45" name="受け取る面 45"/>
          <p:cNvSpPr/>
          <p:nvPr/>
        </p:nvSpPr>
        <p:spPr>
          <a:xfrm>
            <a:off x="5486400" y="2871216"/>
            <a:ext cx="82296" cy="82296"/>
          </a:xfrm>
          <a:prstGeom prst="rect">
            <a:avLst/>
          </a:prstGeom>
          <a:solidFill>
            <a:srgbClr val="E3A33B"/>
          </a:solidFill>
          <a:ln>
            <a:noFill/>
          </a:ln>
        </p:spPr>
      </p:sp>
      <p:cxnSp>
        <p:nvCxnSpPr>
          <p:cNvPr id="46" name="線 46"/>
          <p:cNvCxnSpPr/>
          <p:nvPr/>
        </p:nvCxnSpPr>
        <p:spPr>
          <a:xfrm>
            <a:off x="5527548" y="2912364"/>
            <a:ext cx="793699" cy="410931"/>
          </a:xfrm>
          <a:prstGeom prst="line">
            <a:avLst/>
          </a:prstGeom>
          <a:ln w="9525">
            <a:solidFill>
              <a:srgbClr val="F0C987"/>
            </a:solidFill>
          </a:ln>
        </p:spPr>
      </p:cxnSp>
      <p:sp>
        <p:nvSpPr>
          <p:cNvPr id="47" name="受け取る面 47"/>
          <p:cNvSpPr/>
          <p:nvPr/>
        </p:nvSpPr>
        <p:spPr>
          <a:xfrm>
            <a:off x="6620256" y="2871216"/>
            <a:ext cx="82296" cy="82296"/>
          </a:xfrm>
          <a:prstGeom prst="rect">
            <a:avLst/>
          </a:prstGeom>
          <a:solidFill>
            <a:srgbClr val="E3A33B"/>
          </a:solidFill>
          <a:ln>
            <a:noFill/>
          </a:ln>
        </p:spPr>
      </p:sp>
      <p:cxnSp>
        <p:nvCxnSpPr>
          <p:cNvPr id="48" name="線 48"/>
          <p:cNvCxnSpPr/>
          <p:nvPr/>
        </p:nvCxnSpPr>
        <p:spPr>
          <a:xfrm flipH="1">
            <a:off x="6321247" y="2912364"/>
            <a:ext cx="340157" cy="410931"/>
          </a:xfrm>
          <a:prstGeom prst="line">
            <a:avLst/>
          </a:prstGeom>
          <a:ln w="9525">
            <a:solidFill>
              <a:srgbClr val="F0C987"/>
            </a:solidFill>
          </a:ln>
        </p:spPr>
      </p:cxnSp>
      <p:sp>
        <p:nvSpPr>
          <p:cNvPr id="49" name="受け取る面 49"/>
          <p:cNvSpPr/>
          <p:nvPr/>
        </p:nvSpPr>
        <p:spPr>
          <a:xfrm>
            <a:off x="5911596" y="2775204"/>
            <a:ext cx="82296" cy="82296"/>
          </a:xfrm>
          <a:prstGeom prst="rect">
            <a:avLst/>
          </a:prstGeom>
          <a:solidFill>
            <a:srgbClr val="E3A33B"/>
          </a:solidFill>
          <a:ln>
            <a:noFill/>
          </a:ln>
        </p:spPr>
      </p:sp>
      <p:sp>
        <p:nvSpPr>
          <p:cNvPr id="50" name="受け取る面 50"/>
          <p:cNvSpPr/>
          <p:nvPr/>
        </p:nvSpPr>
        <p:spPr>
          <a:xfrm>
            <a:off x="5911596" y="3543300"/>
            <a:ext cx="82296" cy="82296"/>
          </a:xfrm>
          <a:prstGeom prst="rect">
            <a:avLst/>
          </a:prstGeom>
          <a:solidFill>
            <a:srgbClr val="E3A33B"/>
          </a:solidFill>
          <a:ln>
            <a:noFill/>
          </a:ln>
        </p:spPr>
      </p:sp>
      <p:sp>
        <p:nvSpPr>
          <p:cNvPr id="51" name="受け取る面 51"/>
          <p:cNvSpPr/>
          <p:nvPr/>
        </p:nvSpPr>
        <p:spPr>
          <a:xfrm>
            <a:off x="5486400" y="3063240"/>
            <a:ext cx="82296" cy="82296"/>
          </a:xfrm>
          <a:prstGeom prst="rect">
            <a:avLst/>
          </a:prstGeom>
          <a:solidFill>
            <a:srgbClr val="E3A33B"/>
          </a:solidFill>
          <a:ln>
            <a:noFill/>
          </a:ln>
        </p:spPr>
      </p:sp>
      <p:sp>
        <p:nvSpPr>
          <p:cNvPr id="52" name="受け取る面 52"/>
          <p:cNvSpPr/>
          <p:nvPr/>
        </p:nvSpPr>
        <p:spPr>
          <a:xfrm>
            <a:off x="6620256" y="3063240"/>
            <a:ext cx="82296" cy="82296"/>
          </a:xfrm>
          <a:prstGeom prst="rect">
            <a:avLst/>
          </a:prstGeom>
          <a:solidFill>
            <a:srgbClr val="E3A33B"/>
          </a:solidFill>
          <a:ln>
            <a:noFill/>
          </a:ln>
        </p:spPr>
      </p:sp>
      <p:sp>
        <p:nvSpPr>
          <p:cNvPr id="53" name="受け取る面 53"/>
          <p:cNvSpPr/>
          <p:nvPr/>
        </p:nvSpPr>
        <p:spPr>
          <a:xfrm>
            <a:off x="6195060" y="2775204"/>
            <a:ext cx="82296" cy="82296"/>
          </a:xfrm>
          <a:prstGeom prst="rect">
            <a:avLst/>
          </a:prstGeom>
          <a:solidFill>
            <a:srgbClr val="E3A33B"/>
          </a:solidFill>
          <a:ln>
            <a:noFill/>
          </a:ln>
        </p:spPr>
      </p:sp>
      <p:cxnSp>
        <p:nvCxnSpPr>
          <p:cNvPr id="54" name="線 54"/>
          <p:cNvCxnSpPr/>
          <p:nvPr/>
        </p:nvCxnSpPr>
        <p:spPr>
          <a:xfrm>
            <a:off x="6236208" y="2816352"/>
            <a:ext cx="85039" cy="506943"/>
          </a:xfrm>
          <a:prstGeom prst="line">
            <a:avLst/>
          </a:prstGeom>
          <a:ln w="9525">
            <a:solidFill>
              <a:srgbClr val="F0C987"/>
            </a:solidFill>
          </a:ln>
        </p:spPr>
      </p:cxnSp>
      <p:sp>
        <p:nvSpPr>
          <p:cNvPr id="55" name="受け取る面 55"/>
          <p:cNvSpPr/>
          <p:nvPr/>
        </p:nvSpPr>
        <p:spPr>
          <a:xfrm>
            <a:off x="6195060" y="3543300"/>
            <a:ext cx="82296" cy="82296"/>
          </a:xfrm>
          <a:prstGeom prst="rect">
            <a:avLst/>
          </a:prstGeom>
          <a:solidFill>
            <a:srgbClr val="E3A33B"/>
          </a:solidFill>
          <a:ln>
            <a:noFill/>
          </a:ln>
        </p:spPr>
      </p:sp>
      <p:cxnSp>
        <p:nvCxnSpPr>
          <p:cNvPr id="56" name="線 56"/>
          <p:cNvCxnSpPr/>
          <p:nvPr/>
        </p:nvCxnSpPr>
        <p:spPr>
          <a:xfrm flipV="1">
            <a:off x="6236208" y="3323295"/>
            <a:ext cx="85039" cy="261153"/>
          </a:xfrm>
          <a:prstGeom prst="line">
            <a:avLst/>
          </a:prstGeom>
          <a:ln w="9525">
            <a:solidFill>
              <a:srgbClr val="F0C987"/>
            </a:solidFill>
          </a:ln>
        </p:spPr>
      </p:cxnSp>
      <p:sp>
        <p:nvSpPr>
          <p:cNvPr id="57" name="受け取る面 57"/>
          <p:cNvSpPr/>
          <p:nvPr/>
        </p:nvSpPr>
        <p:spPr>
          <a:xfrm>
            <a:off x="5486400" y="3255264"/>
            <a:ext cx="82296" cy="82296"/>
          </a:xfrm>
          <a:prstGeom prst="rect">
            <a:avLst/>
          </a:prstGeom>
          <a:solidFill>
            <a:srgbClr val="E3A33B"/>
          </a:solidFill>
          <a:ln>
            <a:noFill/>
          </a:ln>
        </p:spPr>
      </p:sp>
      <p:cxnSp>
        <p:nvCxnSpPr>
          <p:cNvPr id="58" name="線 58"/>
          <p:cNvCxnSpPr/>
          <p:nvPr/>
        </p:nvCxnSpPr>
        <p:spPr>
          <a:xfrm>
            <a:off x="5527548" y="3296412"/>
            <a:ext cx="793699" cy="26883"/>
          </a:xfrm>
          <a:prstGeom prst="line">
            <a:avLst/>
          </a:prstGeom>
          <a:ln w="9525">
            <a:solidFill>
              <a:srgbClr val="F0C987"/>
            </a:solidFill>
          </a:ln>
        </p:spPr>
      </p:cxnSp>
      <p:sp>
        <p:nvSpPr>
          <p:cNvPr id="59" name="受け取る面 59"/>
          <p:cNvSpPr/>
          <p:nvPr/>
        </p:nvSpPr>
        <p:spPr>
          <a:xfrm>
            <a:off x="6620256" y="3255264"/>
            <a:ext cx="82296" cy="82296"/>
          </a:xfrm>
          <a:prstGeom prst="rect">
            <a:avLst/>
          </a:prstGeom>
          <a:solidFill>
            <a:srgbClr val="E3A33B"/>
          </a:solidFill>
          <a:ln>
            <a:noFill/>
          </a:ln>
        </p:spPr>
      </p:sp>
      <p:cxnSp>
        <p:nvCxnSpPr>
          <p:cNvPr id="60" name="線 60"/>
          <p:cNvCxnSpPr/>
          <p:nvPr/>
        </p:nvCxnSpPr>
        <p:spPr>
          <a:xfrm flipH="1">
            <a:off x="6321247" y="3296412"/>
            <a:ext cx="340157" cy="26883"/>
          </a:xfrm>
          <a:prstGeom prst="line">
            <a:avLst/>
          </a:prstGeom>
          <a:ln w="9525">
            <a:solidFill>
              <a:srgbClr val="F0C987"/>
            </a:solidFill>
          </a:ln>
        </p:spPr>
      </p:cxnSp>
      <p:sp>
        <p:nvSpPr>
          <p:cNvPr id="61" name="受け取る面 61"/>
          <p:cNvSpPr/>
          <p:nvPr/>
        </p:nvSpPr>
        <p:spPr>
          <a:xfrm>
            <a:off x="6478524" y="2775204"/>
            <a:ext cx="82296" cy="82296"/>
          </a:xfrm>
          <a:prstGeom prst="rect">
            <a:avLst/>
          </a:prstGeom>
          <a:solidFill>
            <a:srgbClr val="E3A33B"/>
          </a:solidFill>
          <a:ln>
            <a:noFill/>
          </a:ln>
        </p:spPr>
      </p:sp>
      <p:sp>
        <p:nvSpPr>
          <p:cNvPr id="62" name="受け取る面 62"/>
          <p:cNvSpPr/>
          <p:nvPr/>
        </p:nvSpPr>
        <p:spPr>
          <a:xfrm>
            <a:off x="6478524" y="3543300"/>
            <a:ext cx="82296" cy="82296"/>
          </a:xfrm>
          <a:prstGeom prst="rect">
            <a:avLst/>
          </a:prstGeom>
          <a:solidFill>
            <a:srgbClr val="E3A33B"/>
          </a:solidFill>
          <a:ln>
            <a:noFill/>
          </a:ln>
        </p:spPr>
      </p:sp>
      <p:sp>
        <p:nvSpPr>
          <p:cNvPr id="63" name="受け取る面 63"/>
          <p:cNvSpPr/>
          <p:nvPr/>
        </p:nvSpPr>
        <p:spPr>
          <a:xfrm>
            <a:off x="5486400" y="3447288"/>
            <a:ext cx="82296" cy="82296"/>
          </a:xfrm>
          <a:prstGeom prst="rect">
            <a:avLst/>
          </a:prstGeom>
          <a:solidFill>
            <a:srgbClr val="E3A33B"/>
          </a:solidFill>
          <a:ln>
            <a:noFill/>
          </a:ln>
        </p:spPr>
      </p:sp>
      <p:sp>
        <p:nvSpPr>
          <p:cNvPr id="64" name="受け取る面 64"/>
          <p:cNvSpPr/>
          <p:nvPr/>
        </p:nvSpPr>
        <p:spPr>
          <a:xfrm>
            <a:off x="6620256" y="3447288"/>
            <a:ext cx="82296" cy="82296"/>
          </a:xfrm>
          <a:prstGeom prst="rect">
            <a:avLst/>
          </a:prstGeom>
          <a:solidFill>
            <a:srgbClr val="E3A33B"/>
          </a:solidFill>
          <a:ln>
            <a:noFill/>
          </a:ln>
        </p:spPr>
      </p:sp>
      <p:sp>
        <p:nvSpPr>
          <p:cNvPr id="65" name="点 65"/>
          <p:cNvSpPr/>
          <p:nvPr/>
        </p:nvSpPr>
        <p:spPr>
          <a:xfrm>
            <a:off x="5808269" y="3025750"/>
            <a:ext cx="118872" cy="118872"/>
          </a:xfrm>
          <a:prstGeom prst="ellipse">
            <a:avLst/>
          </a:prstGeom>
          <a:solidFill>
            <a:srgbClr val="E3A33B"/>
          </a:solidFill>
          <a:ln>
            <a:noFill/>
          </a:ln>
        </p:spPr>
      </p:sp>
      <p:sp>
        <p:nvSpPr>
          <p:cNvPr id="66" name="点 66"/>
          <p:cNvSpPr/>
          <p:nvPr/>
        </p:nvSpPr>
        <p:spPr>
          <a:xfrm>
            <a:off x="6261811" y="3263859"/>
            <a:ext cx="118872" cy="118872"/>
          </a:xfrm>
          <a:prstGeom prst="ellipse">
            <a:avLst/>
          </a:prstGeom>
          <a:solidFill>
            <a:srgbClr val="1E2430"/>
          </a:solidFill>
          <a:ln>
            <a:noFill/>
          </a:ln>
        </p:spPr>
      </p:sp>
      <p:sp>
        <p:nvSpPr>
          <p:cNvPr id="67" name="テキスト 67"/>
          <p:cNvSpPr txBox="1"/>
          <p:nvPr/>
        </p:nvSpPr>
        <p:spPr>
          <a:xfrm>
            <a:off x="4608576" y="3931920"/>
            <a:ext cx="2971800" cy="100584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200" dirty="0">
                <a:solidFill>
                  <a:srgbClr val="1E2430"/>
                </a:solidFill>
                <a:latin typeface="BIZ UDPゴシック"/>
                <a:ea typeface="BIZ UDPゴシック"/>
                <a:cs typeface="BIZ UDPゴシック"/>
              </a:rPr>
              <a:t>近さと量は出た。ただ狙いは「虚像をつないだ面」で、壁で受ける形はずれていた（形を変えて 3 回試した）</a:t>
            </a:r>
            <a:endParaRPr lang="ja-JP" altLang="en-US" sz="1200" dirty="0"/>
          </a:p>
        </p:txBody>
      </p:sp>
      <p:sp>
        <p:nvSpPr>
          <p:cNvPr id="68" name="矢印 68"/>
          <p:cNvSpPr/>
          <p:nvPr/>
        </p:nvSpPr>
        <p:spPr>
          <a:xfrm>
            <a:off x="7900416" y="3063240"/>
            <a:ext cx="219456" cy="274320"/>
          </a:xfrm>
          <a:prstGeom prst="rightArrow">
            <a:avLst/>
          </a:prstGeom>
          <a:solidFill>
            <a:srgbClr val="E3A33B"/>
          </a:solidFill>
          <a:ln>
            <a:noFill/>
          </a:ln>
        </p:spPr>
      </p:sp>
      <p:sp>
        <p:nvSpPr>
          <p:cNvPr id="69" name="カード 69"/>
          <p:cNvSpPr/>
          <p:nvPr/>
        </p:nvSpPr>
        <p:spPr>
          <a:xfrm>
            <a:off x="8211312" y="1965960"/>
            <a:ext cx="3429000" cy="3017520"/>
          </a:xfrm>
          <a:prstGeom prst="roundRect">
            <a:avLst>
              <a:gd name="adj" fmla="val 4000"/>
            </a:avLst>
          </a:prstGeom>
          <a:solidFill>
            <a:srgbClr val="FBF1DF"/>
          </a:solidFill>
          <a:ln>
            <a:noFill/>
          </a:ln>
        </p:spPr>
      </p:sp>
      <p:sp>
        <p:nvSpPr>
          <p:cNvPr id="70" name="図形 70"/>
          <p:cNvSpPr/>
          <p:nvPr/>
        </p:nvSpPr>
        <p:spPr>
          <a:xfrm>
            <a:off x="8439912" y="2103120"/>
            <a:ext cx="365760" cy="365760"/>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3</a:t>
            </a:r>
            <a:endParaRPr lang="ja-JP" altLang="en-US" sz="1300" dirty="0"/>
          </a:p>
        </p:txBody>
      </p:sp>
      <p:sp>
        <p:nvSpPr>
          <p:cNvPr id="71" name="テキスト 71"/>
          <p:cNvSpPr txBox="1"/>
          <p:nvPr/>
        </p:nvSpPr>
        <p:spPr>
          <a:xfrm>
            <a:off x="8942832" y="2121408"/>
            <a:ext cx="2514600" cy="36576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500" b="1" dirty="0">
                <a:solidFill>
                  <a:srgbClr val="1E2430"/>
                </a:solidFill>
                <a:latin typeface="BIZ UDPゴシック"/>
                <a:ea typeface="BIZ UDPゴシック"/>
                <a:cs typeface="BIZ UDPゴシック"/>
              </a:rPr>
              <a:t>虚像をつないだ面音源</a:t>
            </a:r>
            <a:endParaRPr lang="ja-JP" altLang="en-US" sz="1500" dirty="0"/>
          </a:p>
        </p:txBody>
      </p:sp>
      <p:sp>
        <p:nvSpPr>
          <p:cNvPr id="72" name="鏡に映した部屋 72"/>
          <p:cNvSpPr/>
          <p:nvPr/>
        </p:nvSpPr>
        <p:spPr>
          <a:xfrm>
            <a:off x="9075420" y="2624328"/>
            <a:ext cx="566928" cy="384048"/>
          </a:xfrm>
          <a:prstGeom prst="rect">
            <a:avLst/>
          </a:prstGeom>
          <a:noFill/>
          <a:ln w="9525">
            <a:solidFill>
              <a:srgbClr val="C9CED6"/>
            </a:solidFill>
            <a:prstDash val="dash"/>
          </a:ln>
        </p:spPr>
      </p:sp>
      <p:sp>
        <p:nvSpPr>
          <p:cNvPr id="73" name="鏡に映した部屋 73"/>
          <p:cNvSpPr/>
          <p:nvPr/>
        </p:nvSpPr>
        <p:spPr>
          <a:xfrm>
            <a:off x="9075420" y="3008376"/>
            <a:ext cx="566928" cy="384048"/>
          </a:xfrm>
          <a:prstGeom prst="rect">
            <a:avLst/>
          </a:prstGeom>
          <a:noFill/>
          <a:ln w="9525">
            <a:solidFill>
              <a:srgbClr val="C9CED6"/>
            </a:solidFill>
            <a:prstDash val="dash"/>
          </a:ln>
        </p:spPr>
      </p:sp>
      <p:sp>
        <p:nvSpPr>
          <p:cNvPr id="74" name="鏡に映した部屋 74"/>
          <p:cNvSpPr/>
          <p:nvPr/>
        </p:nvSpPr>
        <p:spPr>
          <a:xfrm>
            <a:off x="9075420" y="3392424"/>
            <a:ext cx="566928" cy="384048"/>
          </a:xfrm>
          <a:prstGeom prst="rect">
            <a:avLst/>
          </a:prstGeom>
          <a:noFill/>
          <a:ln w="9525">
            <a:solidFill>
              <a:srgbClr val="C9CED6"/>
            </a:solidFill>
            <a:prstDash val="dash"/>
          </a:ln>
        </p:spPr>
      </p:sp>
      <p:sp>
        <p:nvSpPr>
          <p:cNvPr id="75" name="鏡に映した部屋 75"/>
          <p:cNvSpPr/>
          <p:nvPr/>
        </p:nvSpPr>
        <p:spPr>
          <a:xfrm>
            <a:off x="9642348" y="2624328"/>
            <a:ext cx="566928" cy="384048"/>
          </a:xfrm>
          <a:prstGeom prst="rect">
            <a:avLst/>
          </a:prstGeom>
          <a:noFill/>
          <a:ln w="9525">
            <a:solidFill>
              <a:srgbClr val="C9CED6"/>
            </a:solidFill>
            <a:prstDash val="dash"/>
          </a:ln>
        </p:spPr>
      </p:sp>
      <p:sp>
        <p:nvSpPr>
          <p:cNvPr id="76" name="鏡に映した部屋 76"/>
          <p:cNvSpPr/>
          <p:nvPr/>
        </p:nvSpPr>
        <p:spPr>
          <a:xfrm>
            <a:off x="9642348" y="3392424"/>
            <a:ext cx="566928" cy="384048"/>
          </a:xfrm>
          <a:prstGeom prst="rect">
            <a:avLst/>
          </a:prstGeom>
          <a:noFill/>
          <a:ln w="9525">
            <a:solidFill>
              <a:srgbClr val="C9CED6"/>
            </a:solidFill>
            <a:prstDash val="dash"/>
          </a:ln>
        </p:spPr>
      </p:sp>
      <p:sp>
        <p:nvSpPr>
          <p:cNvPr id="77" name="鏡に映した部屋 77"/>
          <p:cNvSpPr/>
          <p:nvPr/>
        </p:nvSpPr>
        <p:spPr>
          <a:xfrm>
            <a:off x="10209276" y="2624328"/>
            <a:ext cx="566928" cy="384048"/>
          </a:xfrm>
          <a:prstGeom prst="rect">
            <a:avLst/>
          </a:prstGeom>
          <a:noFill/>
          <a:ln w="9525">
            <a:solidFill>
              <a:srgbClr val="C9CED6"/>
            </a:solidFill>
            <a:prstDash val="dash"/>
          </a:ln>
        </p:spPr>
      </p:sp>
      <p:sp>
        <p:nvSpPr>
          <p:cNvPr id="78" name="鏡に映した部屋 78"/>
          <p:cNvSpPr/>
          <p:nvPr/>
        </p:nvSpPr>
        <p:spPr>
          <a:xfrm>
            <a:off x="10209276" y="3008376"/>
            <a:ext cx="566928" cy="384048"/>
          </a:xfrm>
          <a:prstGeom prst="rect">
            <a:avLst/>
          </a:prstGeom>
          <a:noFill/>
          <a:ln w="9525">
            <a:solidFill>
              <a:srgbClr val="C9CED6"/>
            </a:solidFill>
            <a:prstDash val="dash"/>
          </a:ln>
        </p:spPr>
      </p:sp>
      <p:sp>
        <p:nvSpPr>
          <p:cNvPr id="79" name="鏡に映した部屋 79"/>
          <p:cNvSpPr/>
          <p:nvPr/>
        </p:nvSpPr>
        <p:spPr>
          <a:xfrm>
            <a:off x="10209276" y="3392424"/>
            <a:ext cx="566928" cy="384048"/>
          </a:xfrm>
          <a:prstGeom prst="rect">
            <a:avLst/>
          </a:prstGeom>
          <a:noFill/>
          <a:ln w="9525">
            <a:solidFill>
              <a:srgbClr val="C9CED6"/>
            </a:solidFill>
            <a:prstDash val="dash"/>
          </a:ln>
        </p:spPr>
      </p:sp>
      <p:sp>
        <p:nvSpPr>
          <p:cNvPr id="80" name="虚像の面 80"/>
          <p:cNvSpPr/>
          <p:nvPr/>
        </p:nvSpPr>
        <p:spPr>
          <a:xfrm>
            <a:off x="9472270" y="2873959"/>
            <a:ext cx="1133856" cy="768096"/>
          </a:xfrm>
          <a:custGeom>
            <a:avLst/>
            <a:gdLst/>
            <a:ahLst/>
            <a:cxnLst/>
            <a:rect l="0" t="0" r="r" b="b"/>
            <a:pathLst>
              <a:path w="1133856" h="768096">
                <a:moveTo>
                  <a:pt x="0" y="268834"/>
                </a:moveTo>
                <a:lnTo>
                  <a:pt x="0" y="0"/>
                </a:lnTo>
                <a:lnTo>
                  <a:pt x="340157" y="0"/>
                </a:lnTo>
                <a:lnTo>
                  <a:pt x="1133856" y="0"/>
                </a:lnTo>
                <a:lnTo>
                  <a:pt x="1133856" y="268834"/>
                </a:lnTo>
                <a:lnTo>
                  <a:pt x="1133856" y="768096"/>
                </a:lnTo>
                <a:lnTo>
                  <a:pt x="340157" y="768096"/>
                </a:lnTo>
                <a:lnTo>
                  <a:pt x="0" y="768096"/>
                </a:lnTo>
                <a:close/>
              </a:path>
            </a:pathLst>
          </a:custGeom>
          <a:solidFill>
            <a:srgbClr val="E3A33B">
              <a:alpha val="28000"/>
            </a:srgbClr>
          </a:solidFill>
          <a:ln w="31750">
            <a:solidFill>
              <a:srgbClr val="E3A33B"/>
            </a:solidFill>
          </a:ln>
        </p:spPr>
      </p:sp>
      <p:sp>
        <p:nvSpPr>
          <p:cNvPr id="81" name="部屋 81"/>
          <p:cNvSpPr/>
          <p:nvPr/>
        </p:nvSpPr>
        <p:spPr>
          <a:xfrm>
            <a:off x="9642348" y="3008376"/>
            <a:ext cx="566928" cy="384048"/>
          </a:xfrm>
          <a:prstGeom prst="rect">
            <a:avLst/>
          </a:prstGeom>
          <a:solidFill>
            <a:srgbClr val="FFFFFF"/>
          </a:solidFill>
          <a:ln w="25400">
            <a:solidFill>
              <a:srgbClr val="8A94A6"/>
            </a:solidFill>
          </a:ln>
        </p:spPr>
      </p:sp>
      <p:sp>
        <p:nvSpPr>
          <p:cNvPr id="82" name="虚像 82"/>
          <p:cNvSpPr/>
          <p:nvPr/>
        </p:nvSpPr>
        <p:spPr>
          <a:xfrm>
            <a:off x="9431122" y="3101645"/>
            <a:ext cx="82296" cy="82296"/>
          </a:xfrm>
          <a:prstGeom prst="ellipse">
            <a:avLst/>
          </a:prstGeom>
          <a:solidFill>
            <a:srgbClr val="FFFFFF"/>
          </a:solidFill>
          <a:ln w="15875">
            <a:solidFill>
              <a:srgbClr val="9A6212"/>
            </a:solidFill>
          </a:ln>
        </p:spPr>
      </p:sp>
      <p:sp>
        <p:nvSpPr>
          <p:cNvPr id="83" name="虚像 83"/>
          <p:cNvSpPr/>
          <p:nvPr/>
        </p:nvSpPr>
        <p:spPr>
          <a:xfrm>
            <a:off x="9431122" y="2832811"/>
            <a:ext cx="82296" cy="82296"/>
          </a:xfrm>
          <a:prstGeom prst="ellipse">
            <a:avLst/>
          </a:prstGeom>
          <a:solidFill>
            <a:srgbClr val="FFFFFF"/>
          </a:solidFill>
          <a:ln w="15875">
            <a:solidFill>
              <a:srgbClr val="9A6212"/>
            </a:solidFill>
          </a:ln>
        </p:spPr>
      </p:sp>
      <p:sp>
        <p:nvSpPr>
          <p:cNvPr id="84" name="虚像 84"/>
          <p:cNvSpPr/>
          <p:nvPr/>
        </p:nvSpPr>
        <p:spPr>
          <a:xfrm>
            <a:off x="9771278" y="2832811"/>
            <a:ext cx="82296" cy="82296"/>
          </a:xfrm>
          <a:prstGeom prst="ellipse">
            <a:avLst/>
          </a:prstGeom>
          <a:solidFill>
            <a:srgbClr val="FFFFFF"/>
          </a:solidFill>
          <a:ln w="15875">
            <a:solidFill>
              <a:srgbClr val="9A6212"/>
            </a:solidFill>
          </a:ln>
        </p:spPr>
      </p:sp>
      <p:sp>
        <p:nvSpPr>
          <p:cNvPr id="85" name="虚像 85"/>
          <p:cNvSpPr/>
          <p:nvPr/>
        </p:nvSpPr>
        <p:spPr>
          <a:xfrm>
            <a:off x="10564978" y="2832811"/>
            <a:ext cx="82296" cy="82296"/>
          </a:xfrm>
          <a:prstGeom prst="ellipse">
            <a:avLst/>
          </a:prstGeom>
          <a:solidFill>
            <a:srgbClr val="FFFFFF"/>
          </a:solidFill>
          <a:ln w="15875">
            <a:solidFill>
              <a:srgbClr val="9A6212"/>
            </a:solidFill>
          </a:ln>
        </p:spPr>
      </p:sp>
      <p:sp>
        <p:nvSpPr>
          <p:cNvPr id="86" name="虚像 86"/>
          <p:cNvSpPr/>
          <p:nvPr/>
        </p:nvSpPr>
        <p:spPr>
          <a:xfrm>
            <a:off x="10564978" y="3101645"/>
            <a:ext cx="82296" cy="82296"/>
          </a:xfrm>
          <a:prstGeom prst="ellipse">
            <a:avLst/>
          </a:prstGeom>
          <a:solidFill>
            <a:srgbClr val="FFFFFF"/>
          </a:solidFill>
          <a:ln w="15875">
            <a:solidFill>
              <a:srgbClr val="9A6212"/>
            </a:solidFill>
          </a:ln>
        </p:spPr>
      </p:sp>
      <p:sp>
        <p:nvSpPr>
          <p:cNvPr id="87" name="虚像 87"/>
          <p:cNvSpPr/>
          <p:nvPr/>
        </p:nvSpPr>
        <p:spPr>
          <a:xfrm>
            <a:off x="10564978" y="3600907"/>
            <a:ext cx="82296" cy="82296"/>
          </a:xfrm>
          <a:prstGeom prst="ellipse">
            <a:avLst/>
          </a:prstGeom>
          <a:solidFill>
            <a:srgbClr val="FFFFFF"/>
          </a:solidFill>
          <a:ln w="15875">
            <a:solidFill>
              <a:srgbClr val="9A6212"/>
            </a:solidFill>
          </a:ln>
        </p:spPr>
      </p:sp>
      <p:sp>
        <p:nvSpPr>
          <p:cNvPr id="88" name="虚像 88"/>
          <p:cNvSpPr/>
          <p:nvPr/>
        </p:nvSpPr>
        <p:spPr>
          <a:xfrm>
            <a:off x="9771278" y="3600907"/>
            <a:ext cx="82296" cy="82296"/>
          </a:xfrm>
          <a:prstGeom prst="ellipse">
            <a:avLst/>
          </a:prstGeom>
          <a:solidFill>
            <a:srgbClr val="FFFFFF"/>
          </a:solidFill>
          <a:ln w="15875">
            <a:solidFill>
              <a:srgbClr val="9A6212"/>
            </a:solidFill>
          </a:ln>
        </p:spPr>
      </p:sp>
      <p:sp>
        <p:nvSpPr>
          <p:cNvPr id="89" name="虚像 89"/>
          <p:cNvSpPr/>
          <p:nvPr/>
        </p:nvSpPr>
        <p:spPr>
          <a:xfrm>
            <a:off x="9431122" y="3600907"/>
            <a:ext cx="82296" cy="82296"/>
          </a:xfrm>
          <a:prstGeom prst="ellipse">
            <a:avLst/>
          </a:prstGeom>
          <a:solidFill>
            <a:srgbClr val="FFFFFF"/>
          </a:solidFill>
          <a:ln w="15875">
            <a:solidFill>
              <a:srgbClr val="9A6212"/>
            </a:solidFill>
          </a:ln>
        </p:spPr>
      </p:sp>
      <p:sp>
        <p:nvSpPr>
          <p:cNvPr id="90" name="点 90"/>
          <p:cNvSpPr/>
          <p:nvPr/>
        </p:nvSpPr>
        <p:spPr>
          <a:xfrm>
            <a:off x="9766706" y="3097073"/>
            <a:ext cx="91440" cy="91440"/>
          </a:xfrm>
          <a:prstGeom prst="ellipse">
            <a:avLst/>
          </a:prstGeom>
          <a:solidFill>
            <a:srgbClr val="E3A33B"/>
          </a:solidFill>
          <a:ln>
            <a:noFill/>
          </a:ln>
        </p:spPr>
      </p:sp>
      <p:sp>
        <p:nvSpPr>
          <p:cNvPr id="91" name="点 91"/>
          <p:cNvSpPr/>
          <p:nvPr/>
        </p:nvSpPr>
        <p:spPr>
          <a:xfrm>
            <a:off x="9993478" y="3216128"/>
            <a:ext cx="91440" cy="91440"/>
          </a:xfrm>
          <a:prstGeom prst="ellipse">
            <a:avLst/>
          </a:prstGeom>
          <a:solidFill>
            <a:srgbClr val="1E2430"/>
          </a:solidFill>
          <a:ln>
            <a:noFill/>
          </a:ln>
        </p:spPr>
      </p:sp>
      <p:sp>
        <p:nvSpPr>
          <p:cNvPr id="92" name="テキスト 92"/>
          <p:cNvSpPr txBox="1"/>
          <p:nvPr/>
        </p:nvSpPr>
        <p:spPr>
          <a:xfrm>
            <a:off x="8439912" y="3931920"/>
            <a:ext cx="2971800" cy="100584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200" dirty="0">
                <a:solidFill>
                  <a:srgbClr val="1E2430"/>
                </a:solidFill>
                <a:latin typeface="BIZ UDPゴシック"/>
                <a:ea typeface="BIZ UDPゴシック"/>
                <a:cs typeface="BIZ UDPゴシック"/>
              </a:rPr>
              <a:t>狙い（幅・奥行き・滑らかさ）から逆に組んだ。広がりが出て、歩いても跳ばない</a:t>
            </a:r>
            <a:endParaRPr lang="ja-JP" altLang="en-US" sz="1200" dirty="0"/>
          </a:p>
        </p:txBody>
      </p:sp>
      <p:sp>
        <p:nvSpPr>
          <p:cNvPr id="93" name="カード 93"/>
          <p:cNvSpPr/>
          <p:nvPr/>
        </p:nvSpPr>
        <p:spPr>
          <a:xfrm>
            <a:off x="548640" y="5166360"/>
            <a:ext cx="11091672" cy="1097280"/>
          </a:xfrm>
          <a:prstGeom prst="roundRect">
            <a:avLst>
              <a:gd name="adj" fmla="val 4000"/>
            </a:avLst>
          </a:prstGeom>
          <a:solidFill>
            <a:srgbClr val="F0F2F5"/>
          </a:solidFill>
          <a:ln>
            <a:noFill/>
          </a:ln>
        </p:spPr>
      </p:sp>
      <p:sp>
        <p:nvSpPr>
          <p:cNvPr id="94" name="テキスト 94"/>
          <p:cNvSpPr txBox="1"/>
          <p:nvPr/>
        </p:nvSpPr>
        <p:spPr>
          <a:xfrm>
            <a:off x="822960" y="5266944"/>
            <a:ext cx="274320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300" b="1" dirty="0">
                <a:solidFill>
                  <a:srgbClr val="9A6212"/>
                </a:solidFill>
                <a:latin typeface="BIZ UDPゴシック"/>
                <a:ea typeface="BIZ UDPゴシック"/>
                <a:cs typeface="BIZ UDPゴシック"/>
              </a:rPr>
              <a:t>学んだこと</a:t>
            </a:r>
            <a:endParaRPr lang="ja-JP" altLang="en-US" sz="1300" dirty="0"/>
          </a:p>
        </p:txBody>
      </p:sp>
      <p:sp>
        <p:nvSpPr>
          <p:cNvPr id="95" name="テキスト 95"/>
          <p:cNvSpPr txBox="1"/>
          <p:nvPr/>
        </p:nvSpPr>
        <p:spPr>
          <a:xfrm>
            <a:off x="822960" y="5559552"/>
            <a:ext cx="10543032" cy="64008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300" dirty="0">
                <a:solidFill>
                  <a:srgbClr val="1E2430"/>
                </a:solidFill>
                <a:latin typeface="BIZ UDPゴシック"/>
                <a:ea typeface="BIZ UDPゴシック"/>
                <a:cs typeface="BIZ UDPゴシック"/>
              </a:rPr>
              <a:t>仕組みを先に詰めると、聞こえ方の狙いから外れる。</a:t>
            </a:r>
            <a:r>
              <a:rPr lang="ja-JP" altLang="en-US" sz="1300" b="1" dirty="0">
                <a:solidFill>
                  <a:srgbClr val="9A6212"/>
                </a:solidFill>
                <a:latin typeface="BIZ UDPゴシック"/>
                <a:ea typeface="BIZ UDPゴシック"/>
                <a:cs typeface="BIZ UDPゴシック"/>
              </a:rPr>
              <a:t>聞こえ方の言葉（幅・奥行き・滑らかさ）を先に決め、そこから仕組みを逆に選ぶ</a:t>
            </a:r>
            <a:r>
              <a:rPr lang="ja-JP" altLang="en-US" sz="1300" dirty="0">
                <a:solidFill>
                  <a:srgbClr val="1E2430"/>
                </a:solidFill>
                <a:latin typeface="BIZ UDPゴシック"/>
                <a:ea typeface="BIZ UDPゴシック"/>
                <a:cs typeface="BIZ UDPゴシック"/>
              </a:rPr>
              <a:t>ようにした。</a:t>
            </a:r>
            <a:endParaRPr lang="ja-JP" altLang="en-US" sz="1300" dirty="0"/>
          </a:p>
        </p:txBody>
      </p:sp>
      <p:sp>
        <p:nvSpPr>
          <p:cNvPr id="96" name="注 96"/>
          <p:cNvSpPr txBox="1"/>
          <p:nvPr/>
        </p:nvSpPr>
        <p:spPr>
          <a:xfrm>
            <a:off x="548640" y="6419088"/>
            <a:ext cx="9875520" cy="256032"/>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5C6677"/>
                </a:solidFill>
                <a:latin typeface="BIZ UDPゴシック"/>
                <a:ea typeface="BIZ UDPゴシック"/>
                <a:cs typeface="BIZ UDPゴシック"/>
              </a:rPr>
              <a:t>※ 図は上から見た模式図（破線は鏡に映した部屋）</a:t>
            </a:r>
            <a:endParaRPr lang="ja-JP" altLang="en-US" sz="950" dirty="0"/>
          </a:p>
        </p:txBody>
      </p:sp>
      <p:sp>
        <p:nvSpPr>
          <p:cNvPr id="97" name="ページ番号 97"/>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24</a:t>
            </a:r>
            <a:endParaRPr lang="ja-JP" alt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2"/>
          <p:cNvSpPr txBox="1"/>
          <p:nvPr/>
        </p:nvSpPr>
        <p:spPr>
          <a:xfrm>
            <a:off x="548640" y="2487168"/>
            <a:ext cx="11091672" cy="36576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600" b="1" dirty="0">
                <a:solidFill>
                  <a:srgbClr val="9A6212"/>
                </a:solidFill>
                <a:latin typeface="BIZ UDPゴシック"/>
                <a:ea typeface="BIZ UDPゴシック"/>
                <a:cs typeface="BIZ UDPゴシック"/>
              </a:rPr>
              <a:t>実装内容　4</a:t>
            </a:r>
            <a:endParaRPr lang="ja-JP" altLang="en-US" sz="1600" dirty="0"/>
          </a:p>
        </p:txBody>
      </p:sp>
      <p:sp>
        <p:nvSpPr>
          <p:cNvPr id="3" name="テキスト 3"/>
          <p:cNvSpPr txBox="1"/>
          <p:nvPr/>
        </p:nvSpPr>
        <p:spPr>
          <a:xfrm>
            <a:off x="548640" y="2852928"/>
            <a:ext cx="11091672" cy="822960"/>
          </a:xfrm>
          <a:prstGeom prst="rect">
            <a:avLst/>
          </a:prstGeom>
          <a:noFill/>
        </p:spPr>
        <p:txBody>
          <a:bodyPr wrap="square" lIns="0" tIns="0" rIns="0" bIns="0" rtlCol="0" anchor="ctr">
            <a:noAutofit/>
          </a:bodyPr>
          <a:lstStyle/>
          <a:p>
            <a:pPr algn="ctr" marL="0" indent="0">
              <a:spcBef>
                <a:spcPts val="0"/>
              </a:spcBef>
              <a:spcAft>
                <a:spcPts val="0"/>
              </a:spcAft>
              <a:buNone/>
            </a:pPr>
            <a:r>
              <a:rPr lang="ja-JP" altLang="en-US" sz="4000" b="1" dirty="0">
                <a:solidFill>
                  <a:srgbClr val="1E2430"/>
                </a:solidFill>
                <a:latin typeface="BIZ UDPゴシック"/>
                <a:ea typeface="BIZ UDPゴシック"/>
                <a:cs typeface="BIZ UDPゴシック"/>
              </a:rPr>
              <a:t>部屋での残響感</a:t>
            </a:r>
            <a:endParaRPr lang="ja-JP" altLang="en-US" sz="4000" dirty="0"/>
          </a:p>
        </p:txBody>
      </p:sp>
      <p:cxnSp>
        <p:nvCxnSpPr>
          <p:cNvPr id="4" name="線 4"/>
          <p:cNvCxnSpPr/>
          <p:nvPr/>
        </p:nvCxnSpPr>
        <p:spPr>
          <a:xfrm>
            <a:off x="3813048" y="3840480"/>
            <a:ext cx="4572000" cy="0"/>
          </a:xfrm>
          <a:prstGeom prst="line">
            <a:avLst/>
          </a:prstGeom>
          <a:ln w="31750">
            <a:solidFill>
              <a:srgbClr val="E3A33B"/>
            </a:solidFill>
          </a:ln>
        </p:spPr>
      </p:cxnSp>
      <p:sp>
        <p:nvSpPr>
          <p:cNvPr id="5" name="ページ番号 5"/>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25</a:t>
            </a:r>
            <a:endParaRPr lang="ja-JP" alt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部屋での残響感</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部屋に入ったら、その部屋の響きが伝わるように</a:t>
            </a:r>
            <a:endParaRPr lang="ja-JP" altLang="en-US" sz="2600" dirty="0"/>
          </a:p>
        </p:txBody>
      </p:sp>
      <p:sp>
        <p:nvSpPr>
          <p:cNvPr id="4" name="カード 4"/>
          <p:cNvSpPr/>
          <p:nvPr/>
        </p:nvSpPr>
        <p:spPr>
          <a:xfrm>
            <a:off x="548640" y="1417320"/>
            <a:ext cx="5349240" cy="1600200"/>
          </a:xfrm>
          <a:prstGeom prst="roundRect">
            <a:avLst>
              <a:gd name="adj" fmla="val 4000"/>
            </a:avLst>
          </a:prstGeom>
          <a:solidFill>
            <a:srgbClr val="F0F2F5"/>
          </a:solidFill>
          <a:ln>
            <a:noFill/>
          </a:ln>
        </p:spPr>
      </p:sp>
      <p:sp>
        <p:nvSpPr>
          <p:cNvPr id="5" name="ラベル 5"/>
          <p:cNvSpPr/>
          <p:nvPr/>
        </p:nvSpPr>
        <p:spPr>
          <a:xfrm>
            <a:off x="777240" y="1600200"/>
            <a:ext cx="914400" cy="310896"/>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理由</a:t>
            </a:r>
            <a:endParaRPr lang="ja-JP" altLang="en-US" sz="1300" dirty="0"/>
          </a:p>
        </p:txBody>
      </p:sp>
      <p:sp>
        <p:nvSpPr>
          <p:cNvPr id="6" name="テキスト 6"/>
          <p:cNvSpPr txBox="1"/>
          <p:nvPr/>
        </p:nvSpPr>
        <p:spPr>
          <a:xfrm>
            <a:off x="777240" y="2002536"/>
            <a:ext cx="4892040" cy="941832"/>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300" dirty="0">
                <a:solidFill>
                  <a:srgbClr val="1E2430"/>
                </a:solidFill>
                <a:latin typeface="BIZ UDPゴシック"/>
                <a:ea typeface="BIZ UDPゴシック"/>
                <a:cs typeface="BIZ UDPゴシック"/>
              </a:rPr>
              <a:t>部屋ごとに響きの長さや色が違えば、音だけで今どの部屋にいるかがわかる。ただ、部屋ごとに残響を手で置くと、形や材質を変えるたびに直すことになる。</a:t>
            </a:r>
            <a:endParaRPr lang="ja-JP" altLang="en-US" sz="1300" dirty="0"/>
          </a:p>
        </p:txBody>
      </p:sp>
      <p:sp>
        <p:nvSpPr>
          <p:cNvPr id="7" name="矢印 7"/>
          <p:cNvSpPr/>
          <p:nvPr/>
        </p:nvSpPr>
        <p:spPr>
          <a:xfrm>
            <a:off x="5952744" y="2089404"/>
            <a:ext cx="219456" cy="256032"/>
          </a:xfrm>
          <a:prstGeom prst="rightArrow">
            <a:avLst/>
          </a:prstGeom>
          <a:solidFill>
            <a:srgbClr val="E3A33B"/>
          </a:solidFill>
          <a:ln>
            <a:noFill/>
          </a:ln>
        </p:spPr>
      </p:sp>
      <p:sp>
        <p:nvSpPr>
          <p:cNvPr id="8" name="カード 8"/>
          <p:cNvSpPr/>
          <p:nvPr/>
        </p:nvSpPr>
        <p:spPr>
          <a:xfrm>
            <a:off x="6227064" y="1417320"/>
            <a:ext cx="5413248" cy="1600200"/>
          </a:xfrm>
          <a:prstGeom prst="roundRect">
            <a:avLst>
              <a:gd name="adj" fmla="val 4000"/>
            </a:avLst>
          </a:prstGeom>
          <a:solidFill>
            <a:srgbClr val="FBF1DF"/>
          </a:solidFill>
          <a:ln>
            <a:noFill/>
          </a:ln>
        </p:spPr>
      </p:sp>
      <p:sp>
        <p:nvSpPr>
          <p:cNvPr id="9" name="ラベル 9"/>
          <p:cNvSpPr/>
          <p:nvPr/>
        </p:nvSpPr>
        <p:spPr>
          <a:xfrm>
            <a:off x="6455664" y="1600200"/>
            <a:ext cx="1188720" cy="310896"/>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アプローチ</a:t>
            </a:r>
            <a:endParaRPr lang="ja-JP" altLang="en-US" sz="1300" dirty="0"/>
          </a:p>
        </p:txBody>
      </p:sp>
      <p:sp>
        <p:nvSpPr>
          <p:cNvPr id="10" name="テキスト 10"/>
          <p:cNvSpPr txBox="1"/>
          <p:nvPr/>
        </p:nvSpPr>
        <p:spPr>
          <a:xfrm>
            <a:off x="6455664" y="2002536"/>
            <a:ext cx="4956048" cy="941832"/>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300" dirty="0">
                <a:solidFill>
                  <a:srgbClr val="1E2430"/>
                </a:solidFill>
                <a:latin typeface="BIZ UDPゴシック"/>
                <a:ea typeface="BIZ UDPゴシック"/>
                <a:cs typeface="BIZ UDPゴシック"/>
              </a:rPr>
              <a:t>箱の形から部屋と戸口を自動で見つけ、壁の材質から帯域ごとの残響時間（RT60）を Sabine の式で出す。それを部屋ごとの FDN で鳴らす。</a:t>
            </a:r>
            <a:endParaRPr lang="ja-JP" altLang="en-US" sz="1300" dirty="0"/>
          </a:p>
        </p:txBody>
      </p:sp>
      <p:sp>
        <p:nvSpPr>
          <p:cNvPr id="11" name="カード 11"/>
          <p:cNvSpPr/>
          <p:nvPr/>
        </p:nvSpPr>
        <p:spPr>
          <a:xfrm>
            <a:off x="548640" y="3200400"/>
            <a:ext cx="11091672" cy="3090672"/>
          </a:xfrm>
          <a:prstGeom prst="roundRect">
            <a:avLst>
              <a:gd name="adj" fmla="val 4000"/>
            </a:avLst>
          </a:prstGeom>
          <a:solidFill>
            <a:srgbClr val="F0F2F5"/>
          </a:solidFill>
          <a:ln>
            <a:noFill/>
          </a:ln>
        </p:spPr>
      </p:sp>
      <p:sp>
        <p:nvSpPr>
          <p:cNvPr id="12" name="図形 12"/>
          <p:cNvSpPr/>
          <p:nvPr/>
        </p:nvSpPr>
        <p:spPr>
          <a:xfrm>
            <a:off x="822960" y="3401568"/>
            <a:ext cx="2395728" cy="2240280"/>
          </a:xfrm>
          <a:prstGeom prst="roundRect">
            <a:avLst>
              <a:gd name="adj" fmla="val 6000"/>
            </a:avLst>
          </a:prstGeom>
          <a:solidFill>
            <a:srgbClr val="FFFFFF"/>
          </a:solidFill>
          <a:ln>
            <a:noFill/>
          </a:ln>
        </p:spPr>
      </p:sp>
      <p:sp>
        <p:nvSpPr>
          <p:cNvPr id="13" name="テキスト 13"/>
          <p:cNvSpPr txBox="1"/>
          <p:nvPr/>
        </p:nvSpPr>
        <p:spPr>
          <a:xfrm>
            <a:off x="960120" y="3474720"/>
            <a:ext cx="2121408" cy="27432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箱を置く</a:t>
            </a:r>
            <a:endParaRPr lang="ja-JP" altLang="en-US" sz="1300" dirty="0"/>
          </a:p>
        </p:txBody>
      </p:sp>
      <p:sp>
        <p:nvSpPr>
          <p:cNvPr id="14" name="箱 14"/>
          <p:cNvSpPr/>
          <p:nvPr/>
        </p:nvSpPr>
        <p:spPr>
          <a:xfrm>
            <a:off x="1143000" y="3840480"/>
            <a:ext cx="1737360" cy="109728"/>
          </a:xfrm>
          <a:prstGeom prst="rect">
            <a:avLst/>
          </a:prstGeom>
          <a:solidFill>
            <a:srgbClr val="8A94A6"/>
          </a:solidFill>
          <a:ln>
            <a:noFill/>
          </a:ln>
        </p:spPr>
      </p:sp>
      <p:sp>
        <p:nvSpPr>
          <p:cNvPr id="15" name="箱 15"/>
          <p:cNvSpPr/>
          <p:nvPr/>
        </p:nvSpPr>
        <p:spPr>
          <a:xfrm>
            <a:off x="1143000" y="4846320"/>
            <a:ext cx="1737360" cy="109728"/>
          </a:xfrm>
          <a:prstGeom prst="rect">
            <a:avLst/>
          </a:prstGeom>
          <a:solidFill>
            <a:srgbClr val="8A94A6"/>
          </a:solidFill>
          <a:ln>
            <a:noFill/>
          </a:ln>
        </p:spPr>
      </p:sp>
      <p:sp>
        <p:nvSpPr>
          <p:cNvPr id="16" name="箱 16"/>
          <p:cNvSpPr/>
          <p:nvPr/>
        </p:nvSpPr>
        <p:spPr>
          <a:xfrm>
            <a:off x="1143000" y="3840480"/>
            <a:ext cx="109728" cy="1115568"/>
          </a:xfrm>
          <a:prstGeom prst="rect">
            <a:avLst/>
          </a:prstGeom>
          <a:solidFill>
            <a:srgbClr val="8A94A6"/>
          </a:solidFill>
          <a:ln>
            <a:noFill/>
          </a:ln>
        </p:spPr>
      </p:sp>
      <p:sp>
        <p:nvSpPr>
          <p:cNvPr id="17" name="箱 17"/>
          <p:cNvSpPr/>
          <p:nvPr/>
        </p:nvSpPr>
        <p:spPr>
          <a:xfrm>
            <a:off x="2770632" y="3840480"/>
            <a:ext cx="109728" cy="1115568"/>
          </a:xfrm>
          <a:prstGeom prst="rect">
            <a:avLst/>
          </a:prstGeom>
          <a:solidFill>
            <a:srgbClr val="8A94A6"/>
          </a:solidFill>
          <a:ln>
            <a:noFill/>
          </a:ln>
        </p:spPr>
      </p:sp>
      <p:sp>
        <p:nvSpPr>
          <p:cNvPr id="18" name="箱 18"/>
          <p:cNvSpPr/>
          <p:nvPr/>
        </p:nvSpPr>
        <p:spPr>
          <a:xfrm>
            <a:off x="1965960" y="3840480"/>
            <a:ext cx="109728" cy="411480"/>
          </a:xfrm>
          <a:prstGeom prst="rect">
            <a:avLst/>
          </a:prstGeom>
          <a:solidFill>
            <a:srgbClr val="8A94A6"/>
          </a:solidFill>
          <a:ln>
            <a:noFill/>
          </a:ln>
        </p:spPr>
      </p:sp>
      <p:sp>
        <p:nvSpPr>
          <p:cNvPr id="19" name="箱 19"/>
          <p:cNvSpPr/>
          <p:nvPr/>
        </p:nvSpPr>
        <p:spPr>
          <a:xfrm>
            <a:off x="1965960" y="4526280"/>
            <a:ext cx="109728" cy="429768"/>
          </a:xfrm>
          <a:prstGeom prst="rect">
            <a:avLst/>
          </a:prstGeom>
          <a:solidFill>
            <a:srgbClr val="8A94A6"/>
          </a:solidFill>
          <a:ln>
            <a:noFill/>
          </a:ln>
        </p:spPr>
      </p:sp>
      <p:sp>
        <p:nvSpPr>
          <p:cNvPr id="20" name="テキスト 20"/>
          <p:cNvSpPr txBox="1"/>
          <p:nvPr/>
        </p:nvSpPr>
        <p:spPr>
          <a:xfrm>
            <a:off x="960120" y="5230368"/>
            <a:ext cx="2121408" cy="411480"/>
          </a:xfrm>
          <a:prstGeom prst="rect">
            <a:avLst/>
          </a:prstGeom>
          <a:noFill/>
        </p:spPr>
        <p:txBody>
          <a:bodyPr wrap="square" lIns="0" tIns="0" rIns="0" bIns="0" rtlCol="0" anchor="t">
            <a:noAutofit/>
          </a:bodyPr>
          <a:lstStyle/>
          <a:p>
            <a:pPr algn="ctr" marL="0" indent="0">
              <a:lnSpc>
                <a:spcPct val="120000"/>
              </a:lnSpc>
              <a:spcBef>
                <a:spcPts val="0"/>
              </a:spcBef>
              <a:spcAft>
                <a:spcPts val="0"/>
              </a:spcAft>
              <a:buNone/>
            </a:pPr>
            <a:r>
              <a:rPr lang="ja-JP" altLang="en-US" sz="1100" dirty="0">
                <a:solidFill>
                  <a:srgbClr val="1E2430"/>
                </a:solidFill>
                <a:latin typeface="BIZ UDPゴシック"/>
                <a:ea typeface="BIZ UDPゴシック"/>
                <a:cs typeface="BIZ UDPゴシック"/>
              </a:rPr>
              <a:t>壁・床・天井・扉</a:t>
            </a:r>
            <a:endParaRPr lang="ja-JP" altLang="en-US" sz="1100" dirty="0"/>
          </a:p>
        </p:txBody>
      </p:sp>
      <p:sp>
        <p:nvSpPr>
          <p:cNvPr id="21" name="矢印 21"/>
          <p:cNvSpPr/>
          <p:nvPr/>
        </p:nvSpPr>
        <p:spPr>
          <a:xfrm>
            <a:off x="3282696" y="4343400"/>
            <a:ext cx="182880" cy="237744"/>
          </a:xfrm>
          <a:prstGeom prst="rightArrow">
            <a:avLst/>
          </a:prstGeom>
          <a:solidFill>
            <a:srgbClr val="E3A33B"/>
          </a:solidFill>
          <a:ln>
            <a:noFill/>
          </a:ln>
        </p:spPr>
      </p:sp>
      <p:sp>
        <p:nvSpPr>
          <p:cNvPr id="22" name="図形 22"/>
          <p:cNvSpPr/>
          <p:nvPr/>
        </p:nvSpPr>
        <p:spPr>
          <a:xfrm>
            <a:off x="3538728" y="3401568"/>
            <a:ext cx="2395728" cy="2240280"/>
          </a:xfrm>
          <a:prstGeom prst="roundRect">
            <a:avLst>
              <a:gd name="adj" fmla="val 6000"/>
            </a:avLst>
          </a:prstGeom>
          <a:solidFill>
            <a:srgbClr val="FFFFFF"/>
          </a:solidFill>
          <a:ln>
            <a:noFill/>
          </a:ln>
        </p:spPr>
      </p:sp>
      <p:sp>
        <p:nvSpPr>
          <p:cNvPr id="23" name="テキスト 23"/>
          <p:cNvSpPr txBox="1"/>
          <p:nvPr/>
        </p:nvSpPr>
        <p:spPr>
          <a:xfrm>
            <a:off x="3675888" y="3474720"/>
            <a:ext cx="2121408" cy="27432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部屋を見つける</a:t>
            </a:r>
            <a:endParaRPr lang="ja-JP" altLang="en-US" sz="1300" dirty="0"/>
          </a:p>
        </p:txBody>
      </p:sp>
      <p:sp>
        <p:nvSpPr>
          <p:cNvPr id="24" name="図形 24"/>
          <p:cNvSpPr/>
          <p:nvPr/>
        </p:nvSpPr>
        <p:spPr>
          <a:xfrm>
            <a:off x="3858768" y="3840480"/>
            <a:ext cx="868680" cy="1115568"/>
          </a:xfrm>
          <a:prstGeom prst="rect">
            <a:avLst/>
          </a:prstGeom>
          <a:solidFill>
            <a:srgbClr val="F6E3BF"/>
          </a:solidFill>
          <a:ln w="19050">
            <a:solidFill>
              <a:srgbClr val="8A94A6"/>
            </a:solidFill>
          </a:ln>
        </p:spPr>
      </p:sp>
      <p:sp>
        <p:nvSpPr>
          <p:cNvPr id="25" name="図形 25"/>
          <p:cNvSpPr/>
          <p:nvPr/>
        </p:nvSpPr>
        <p:spPr>
          <a:xfrm>
            <a:off x="4727448" y="3840480"/>
            <a:ext cx="868680" cy="1115568"/>
          </a:xfrm>
          <a:prstGeom prst="rect">
            <a:avLst/>
          </a:prstGeom>
          <a:solidFill>
            <a:srgbClr val="DCE3EE"/>
          </a:solidFill>
          <a:ln w="19050">
            <a:solidFill>
              <a:srgbClr val="8A94A6"/>
            </a:solidFill>
          </a:ln>
        </p:spPr>
      </p:sp>
      <p:sp>
        <p:nvSpPr>
          <p:cNvPr id="26" name="開口 26"/>
          <p:cNvSpPr/>
          <p:nvPr/>
        </p:nvSpPr>
        <p:spPr>
          <a:xfrm>
            <a:off x="4700016" y="4251960"/>
            <a:ext cx="54864" cy="292608"/>
          </a:xfrm>
          <a:prstGeom prst="rect">
            <a:avLst/>
          </a:prstGeom>
          <a:solidFill>
            <a:srgbClr val="E3A33B"/>
          </a:solidFill>
          <a:ln>
            <a:noFill/>
          </a:ln>
        </p:spPr>
      </p:sp>
      <p:sp>
        <p:nvSpPr>
          <p:cNvPr id="27" name="テキスト 27"/>
          <p:cNvSpPr txBox="1"/>
          <p:nvPr/>
        </p:nvSpPr>
        <p:spPr>
          <a:xfrm>
            <a:off x="3858768" y="4251960"/>
            <a:ext cx="868680" cy="27432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000" dirty="0">
                <a:solidFill>
                  <a:srgbClr val="1E2430"/>
                </a:solidFill>
                <a:latin typeface="BIZ UDPゴシック"/>
                <a:ea typeface="BIZ UDPゴシック"/>
                <a:cs typeface="BIZ UDPゴシック"/>
              </a:rPr>
              <a:t>部屋 A</a:t>
            </a:r>
            <a:endParaRPr lang="ja-JP" altLang="en-US" sz="1000" dirty="0"/>
          </a:p>
        </p:txBody>
      </p:sp>
      <p:sp>
        <p:nvSpPr>
          <p:cNvPr id="28" name="テキスト 28"/>
          <p:cNvSpPr txBox="1"/>
          <p:nvPr/>
        </p:nvSpPr>
        <p:spPr>
          <a:xfrm>
            <a:off x="4727448" y="4251960"/>
            <a:ext cx="868680" cy="27432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000" dirty="0">
                <a:solidFill>
                  <a:srgbClr val="1E2430"/>
                </a:solidFill>
                <a:latin typeface="BIZ UDPゴシック"/>
                <a:ea typeface="BIZ UDPゴシック"/>
                <a:cs typeface="BIZ UDPゴシック"/>
              </a:rPr>
              <a:t>部屋 B</a:t>
            </a:r>
            <a:endParaRPr lang="ja-JP" altLang="en-US" sz="1000" dirty="0"/>
          </a:p>
        </p:txBody>
      </p:sp>
      <p:sp>
        <p:nvSpPr>
          <p:cNvPr id="29" name="テキスト 29"/>
          <p:cNvSpPr txBox="1"/>
          <p:nvPr/>
        </p:nvSpPr>
        <p:spPr>
          <a:xfrm>
            <a:off x="3675888" y="5230368"/>
            <a:ext cx="2121408" cy="411480"/>
          </a:xfrm>
          <a:prstGeom prst="rect">
            <a:avLst/>
          </a:prstGeom>
          <a:noFill/>
        </p:spPr>
        <p:txBody>
          <a:bodyPr wrap="square" lIns="0" tIns="0" rIns="0" bIns="0" rtlCol="0" anchor="t">
            <a:noAutofit/>
          </a:bodyPr>
          <a:lstStyle/>
          <a:p>
            <a:pPr algn="ctr" marL="0" indent="0">
              <a:lnSpc>
                <a:spcPct val="120000"/>
              </a:lnSpc>
              <a:spcBef>
                <a:spcPts val="0"/>
              </a:spcBef>
              <a:spcAft>
                <a:spcPts val="0"/>
              </a:spcAft>
              <a:buNone/>
            </a:pPr>
            <a:r>
              <a:rPr lang="ja-JP" altLang="en-US" sz="1100" dirty="0">
                <a:solidFill>
                  <a:srgbClr val="1E2430"/>
                </a:solidFill>
                <a:latin typeface="BIZ UDPゴシック"/>
                <a:ea typeface="BIZ UDPゴシック"/>
                <a:cs typeface="BIZ UDPゴシック"/>
              </a:rPr>
              <a:t>0.25 m の格子で、狭い所で部屋を分ける</a:t>
            </a:r>
            <a:endParaRPr lang="ja-JP" altLang="en-US" sz="1100" dirty="0"/>
          </a:p>
        </p:txBody>
      </p:sp>
      <p:sp>
        <p:nvSpPr>
          <p:cNvPr id="30" name="矢印 30"/>
          <p:cNvSpPr/>
          <p:nvPr/>
        </p:nvSpPr>
        <p:spPr>
          <a:xfrm>
            <a:off x="5998464" y="4343400"/>
            <a:ext cx="182880" cy="237744"/>
          </a:xfrm>
          <a:prstGeom prst="rightArrow">
            <a:avLst/>
          </a:prstGeom>
          <a:solidFill>
            <a:srgbClr val="E3A33B"/>
          </a:solidFill>
          <a:ln>
            <a:noFill/>
          </a:ln>
        </p:spPr>
      </p:sp>
      <p:sp>
        <p:nvSpPr>
          <p:cNvPr id="31" name="図形 31"/>
          <p:cNvSpPr/>
          <p:nvPr/>
        </p:nvSpPr>
        <p:spPr>
          <a:xfrm>
            <a:off x="6254496" y="3401568"/>
            <a:ext cx="2395728" cy="2240280"/>
          </a:xfrm>
          <a:prstGeom prst="roundRect">
            <a:avLst>
              <a:gd name="adj" fmla="val 6000"/>
            </a:avLst>
          </a:prstGeom>
          <a:solidFill>
            <a:srgbClr val="FFFFFF"/>
          </a:solidFill>
          <a:ln>
            <a:noFill/>
          </a:ln>
        </p:spPr>
      </p:sp>
      <p:sp>
        <p:nvSpPr>
          <p:cNvPr id="32" name="テキスト 32"/>
          <p:cNvSpPr txBox="1"/>
          <p:nvPr/>
        </p:nvSpPr>
        <p:spPr>
          <a:xfrm>
            <a:off x="6391656" y="3474720"/>
            <a:ext cx="2121408" cy="27432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RT60 を出す</a:t>
            </a:r>
            <a:endParaRPr lang="ja-JP" altLang="en-US" sz="1300" dirty="0"/>
          </a:p>
        </p:txBody>
      </p:sp>
      <p:sp>
        <p:nvSpPr>
          <p:cNvPr id="33" name="棒 33"/>
          <p:cNvSpPr/>
          <p:nvPr/>
        </p:nvSpPr>
        <p:spPr>
          <a:xfrm>
            <a:off x="6574536" y="3840480"/>
            <a:ext cx="219456" cy="1115568"/>
          </a:xfrm>
          <a:prstGeom prst="rect">
            <a:avLst/>
          </a:prstGeom>
          <a:solidFill>
            <a:srgbClr val="E3A33B"/>
          </a:solidFill>
          <a:ln>
            <a:noFill/>
          </a:ln>
        </p:spPr>
      </p:sp>
      <p:sp>
        <p:nvSpPr>
          <p:cNvPr id="34" name="棒 34"/>
          <p:cNvSpPr/>
          <p:nvPr/>
        </p:nvSpPr>
        <p:spPr>
          <a:xfrm>
            <a:off x="6867144" y="3896258"/>
            <a:ext cx="219456" cy="1059790"/>
          </a:xfrm>
          <a:prstGeom prst="rect">
            <a:avLst/>
          </a:prstGeom>
          <a:solidFill>
            <a:srgbClr val="E3A33B"/>
          </a:solidFill>
          <a:ln>
            <a:noFill/>
          </a:ln>
        </p:spPr>
      </p:sp>
      <p:sp>
        <p:nvSpPr>
          <p:cNvPr id="35" name="棒 35"/>
          <p:cNvSpPr/>
          <p:nvPr/>
        </p:nvSpPr>
        <p:spPr>
          <a:xfrm>
            <a:off x="7159752" y="4007815"/>
            <a:ext cx="219456" cy="948233"/>
          </a:xfrm>
          <a:prstGeom prst="rect">
            <a:avLst/>
          </a:prstGeom>
          <a:solidFill>
            <a:srgbClr val="E3A33B"/>
          </a:solidFill>
          <a:ln>
            <a:noFill/>
          </a:ln>
        </p:spPr>
      </p:sp>
      <p:sp>
        <p:nvSpPr>
          <p:cNvPr id="36" name="棒 36"/>
          <p:cNvSpPr/>
          <p:nvPr/>
        </p:nvSpPr>
        <p:spPr>
          <a:xfrm>
            <a:off x="7452360" y="4152839"/>
            <a:ext cx="219456" cy="803209"/>
          </a:xfrm>
          <a:prstGeom prst="rect">
            <a:avLst/>
          </a:prstGeom>
          <a:solidFill>
            <a:srgbClr val="F0C987"/>
          </a:solidFill>
          <a:ln>
            <a:noFill/>
          </a:ln>
        </p:spPr>
      </p:sp>
      <p:sp>
        <p:nvSpPr>
          <p:cNvPr id="37" name="棒 37"/>
          <p:cNvSpPr/>
          <p:nvPr/>
        </p:nvSpPr>
        <p:spPr>
          <a:xfrm>
            <a:off x="7744968" y="4309019"/>
            <a:ext cx="219456" cy="647029"/>
          </a:xfrm>
          <a:prstGeom prst="rect">
            <a:avLst/>
          </a:prstGeom>
          <a:solidFill>
            <a:srgbClr val="F0C987"/>
          </a:solidFill>
          <a:ln>
            <a:noFill/>
          </a:ln>
        </p:spPr>
      </p:sp>
      <p:sp>
        <p:nvSpPr>
          <p:cNvPr id="38" name="棒 38"/>
          <p:cNvSpPr/>
          <p:nvPr/>
        </p:nvSpPr>
        <p:spPr>
          <a:xfrm>
            <a:off x="8037576" y="4487509"/>
            <a:ext cx="219456" cy="468539"/>
          </a:xfrm>
          <a:prstGeom prst="rect">
            <a:avLst/>
          </a:prstGeom>
          <a:solidFill>
            <a:srgbClr val="F0C987"/>
          </a:solidFill>
          <a:ln>
            <a:noFill/>
          </a:ln>
        </p:spPr>
      </p:sp>
      <p:sp>
        <p:nvSpPr>
          <p:cNvPr id="39" name="テキスト 39"/>
          <p:cNvSpPr txBox="1"/>
          <p:nvPr/>
        </p:nvSpPr>
        <p:spPr>
          <a:xfrm>
            <a:off x="6483096" y="4974336"/>
            <a:ext cx="1920240"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低い音 ←　→ 高い音</a:t>
            </a:r>
            <a:endParaRPr lang="ja-JP" altLang="en-US" sz="900" dirty="0"/>
          </a:p>
        </p:txBody>
      </p:sp>
      <p:sp>
        <p:nvSpPr>
          <p:cNvPr id="40" name="テキスト 40"/>
          <p:cNvSpPr txBox="1"/>
          <p:nvPr/>
        </p:nvSpPr>
        <p:spPr>
          <a:xfrm>
            <a:off x="6391656" y="5230368"/>
            <a:ext cx="2121408" cy="411480"/>
          </a:xfrm>
          <a:prstGeom prst="rect">
            <a:avLst/>
          </a:prstGeom>
          <a:noFill/>
        </p:spPr>
        <p:txBody>
          <a:bodyPr wrap="square" lIns="0" tIns="0" rIns="0" bIns="0" rtlCol="0" anchor="t">
            <a:noAutofit/>
          </a:bodyPr>
          <a:lstStyle/>
          <a:p>
            <a:pPr algn="ctr" marL="0" indent="0">
              <a:lnSpc>
                <a:spcPct val="120000"/>
              </a:lnSpc>
              <a:spcBef>
                <a:spcPts val="0"/>
              </a:spcBef>
              <a:spcAft>
                <a:spcPts val="0"/>
              </a:spcAft>
              <a:buNone/>
            </a:pPr>
            <a:r>
              <a:rPr lang="ja-JP" altLang="en-US" sz="1100" dirty="0">
                <a:solidFill>
                  <a:srgbClr val="1E2430"/>
                </a:solidFill>
                <a:latin typeface="BIZ UDPゴシック"/>
                <a:ea typeface="BIZ UDPゴシック"/>
                <a:cs typeface="BIZ UDPゴシック"/>
              </a:rPr>
              <a:t>6 帯域ごとに、形と材質から</a:t>
            </a:r>
            <a:endParaRPr lang="ja-JP" altLang="en-US" sz="1100" dirty="0"/>
          </a:p>
        </p:txBody>
      </p:sp>
      <p:sp>
        <p:nvSpPr>
          <p:cNvPr id="41" name="矢印 41"/>
          <p:cNvSpPr/>
          <p:nvPr/>
        </p:nvSpPr>
        <p:spPr>
          <a:xfrm>
            <a:off x="8714232" y="4343400"/>
            <a:ext cx="182880" cy="237744"/>
          </a:xfrm>
          <a:prstGeom prst="rightArrow">
            <a:avLst/>
          </a:prstGeom>
          <a:solidFill>
            <a:srgbClr val="E3A33B"/>
          </a:solidFill>
          <a:ln>
            <a:noFill/>
          </a:ln>
        </p:spPr>
      </p:sp>
      <p:sp>
        <p:nvSpPr>
          <p:cNvPr id="42" name="図形 42"/>
          <p:cNvSpPr/>
          <p:nvPr/>
        </p:nvSpPr>
        <p:spPr>
          <a:xfrm>
            <a:off x="8970264" y="3401568"/>
            <a:ext cx="2395728" cy="2240280"/>
          </a:xfrm>
          <a:prstGeom prst="roundRect">
            <a:avLst>
              <a:gd name="adj" fmla="val 6000"/>
            </a:avLst>
          </a:prstGeom>
          <a:solidFill>
            <a:srgbClr val="FFFFFF"/>
          </a:solidFill>
          <a:ln>
            <a:noFill/>
          </a:ln>
        </p:spPr>
      </p:sp>
      <p:sp>
        <p:nvSpPr>
          <p:cNvPr id="43" name="テキスト 43"/>
          <p:cNvSpPr txBox="1"/>
          <p:nvPr/>
        </p:nvSpPr>
        <p:spPr>
          <a:xfrm>
            <a:off x="9107424" y="3474720"/>
            <a:ext cx="2121408" cy="27432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部屋ごとの FDN</a:t>
            </a:r>
            <a:endParaRPr lang="ja-JP" altLang="en-US" sz="1300" dirty="0"/>
          </a:p>
        </p:txBody>
      </p:sp>
      <p:sp>
        <p:nvSpPr>
          <p:cNvPr id="44" name="遅延線 44"/>
          <p:cNvSpPr/>
          <p:nvPr/>
        </p:nvSpPr>
        <p:spPr>
          <a:xfrm>
            <a:off x="9473184" y="3931920"/>
            <a:ext cx="1005840" cy="109728"/>
          </a:xfrm>
          <a:prstGeom prst="rect">
            <a:avLst/>
          </a:prstGeom>
          <a:solidFill>
            <a:srgbClr val="2F3A4E"/>
          </a:solidFill>
          <a:ln>
            <a:noFill/>
          </a:ln>
        </p:spPr>
      </p:sp>
      <p:sp>
        <p:nvSpPr>
          <p:cNvPr id="45" name="遅延線 45"/>
          <p:cNvSpPr/>
          <p:nvPr/>
        </p:nvSpPr>
        <p:spPr>
          <a:xfrm>
            <a:off x="9473184" y="4160520"/>
            <a:ext cx="868680" cy="109728"/>
          </a:xfrm>
          <a:prstGeom prst="rect">
            <a:avLst/>
          </a:prstGeom>
          <a:solidFill>
            <a:srgbClr val="2F3A4E"/>
          </a:solidFill>
          <a:ln>
            <a:noFill/>
          </a:ln>
        </p:spPr>
      </p:sp>
      <p:sp>
        <p:nvSpPr>
          <p:cNvPr id="46" name="遅延線 46"/>
          <p:cNvSpPr/>
          <p:nvPr/>
        </p:nvSpPr>
        <p:spPr>
          <a:xfrm>
            <a:off x="9473184" y="4389120"/>
            <a:ext cx="731520" cy="109728"/>
          </a:xfrm>
          <a:prstGeom prst="rect">
            <a:avLst/>
          </a:prstGeom>
          <a:solidFill>
            <a:srgbClr val="2F3A4E"/>
          </a:solidFill>
          <a:ln>
            <a:noFill/>
          </a:ln>
        </p:spPr>
      </p:sp>
      <p:sp>
        <p:nvSpPr>
          <p:cNvPr id="47" name="遅延線 47"/>
          <p:cNvSpPr/>
          <p:nvPr/>
        </p:nvSpPr>
        <p:spPr>
          <a:xfrm>
            <a:off x="9473184" y="4617720"/>
            <a:ext cx="594360" cy="109728"/>
          </a:xfrm>
          <a:prstGeom prst="rect">
            <a:avLst/>
          </a:prstGeom>
          <a:solidFill>
            <a:srgbClr val="2F3A4E"/>
          </a:solidFill>
          <a:ln>
            <a:noFill/>
          </a:ln>
        </p:spPr>
      </p:sp>
      <p:sp>
        <p:nvSpPr>
          <p:cNvPr id="48" name="折れ線 48"/>
          <p:cNvSpPr/>
          <p:nvPr/>
        </p:nvSpPr>
        <p:spPr>
          <a:xfrm>
            <a:off x="9290304" y="3986784"/>
            <a:ext cx="1600200" cy="950976"/>
          </a:xfrm>
          <a:custGeom>
            <a:avLst/>
            <a:gdLst/>
            <a:ahLst/>
            <a:cxnLst/>
            <a:rect l="0" t="0" r="r" b="b"/>
            <a:pathLst>
              <a:path w="1600200" h="950976" fill="none">
                <a:moveTo>
                  <a:pt x="1325880" y="310896"/>
                </a:moveTo>
                <a:lnTo>
                  <a:pt x="1600200" y="310896"/>
                </a:lnTo>
                <a:lnTo>
                  <a:pt x="1600200" y="950976"/>
                </a:lnTo>
                <a:lnTo>
                  <a:pt x="0" y="950976"/>
                </a:lnTo>
                <a:lnTo>
                  <a:pt x="0" y="0"/>
                </a:lnTo>
                <a:lnTo>
                  <a:pt x="137160" y="0"/>
                </a:lnTo>
              </a:path>
            </a:pathLst>
          </a:custGeom>
          <a:noFill/>
          <a:ln w="19050">
            <a:solidFill>
              <a:srgbClr val="E3A33B"/>
            </a:solidFill>
            <a:tailEnd type="triangle" w="med" len="med"/>
          </a:ln>
        </p:spPr>
      </p:sp>
      <p:sp>
        <p:nvSpPr>
          <p:cNvPr id="49" name="テキスト 49"/>
          <p:cNvSpPr txBox="1"/>
          <p:nvPr/>
        </p:nvSpPr>
        <p:spPr>
          <a:xfrm>
            <a:off x="9473184" y="5001768"/>
            <a:ext cx="1463040"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混ぜて戻す</a:t>
            </a:r>
            <a:endParaRPr lang="ja-JP" altLang="en-US" sz="900" dirty="0"/>
          </a:p>
        </p:txBody>
      </p:sp>
      <p:sp>
        <p:nvSpPr>
          <p:cNvPr id="50" name="テキスト 50"/>
          <p:cNvSpPr txBox="1"/>
          <p:nvPr/>
        </p:nvSpPr>
        <p:spPr>
          <a:xfrm>
            <a:off x="9107424" y="5230368"/>
            <a:ext cx="2121408" cy="411480"/>
          </a:xfrm>
          <a:prstGeom prst="rect">
            <a:avLst/>
          </a:prstGeom>
          <a:noFill/>
        </p:spPr>
        <p:txBody>
          <a:bodyPr wrap="square" lIns="0" tIns="0" rIns="0" bIns="0" rtlCol="0" anchor="t">
            <a:noAutofit/>
          </a:bodyPr>
          <a:lstStyle/>
          <a:p>
            <a:pPr algn="ctr" marL="0" indent="0">
              <a:lnSpc>
                <a:spcPct val="120000"/>
              </a:lnSpc>
              <a:spcBef>
                <a:spcPts val="0"/>
              </a:spcBef>
              <a:spcAft>
                <a:spcPts val="0"/>
              </a:spcAft>
              <a:buNone/>
            </a:pPr>
            <a:r>
              <a:rPr lang="ja-JP" altLang="en-US" sz="1100" dirty="0">
                <a:solidFill>
                  <a:srgbClr val="1E2430"/>
                </a:solidFill>
                <a:latin typeface="BIZ UDPゴシック"/>
                <a:ea typeface="BIZ UDPゴシック"/>
                <a:cs typeface="BIZ UDPゴシック"/>
              </a:rPr>
              <a:t>16 本の遅延線で響きを作る</a:t>
            </a:r>
            <a:endParaRPr lang="ja-JP" altLang="en-US" sz="1100" dirty="0"/>
          </a:p>
        </p:txBody>
      </p:sp>
      <p:sp>
        <p:nvSpPr>
          <p:cNvPr id="51" name="テキスト 51"/>
          <p:cNvSpPr txBox="1"/>
          <p:nvPr/>
        </p:nvSpPr>
        <p:spPr>
          <a:xfrm>
            <a:off x="822960" y="5760720"/>
            <a:ext cx="10543032" cy="50292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b="1" dirty="0">
                <a:solidFill>
                  <a:srgbClr val="9A6212"/>
                </a:solidFill>
                <a:latin typeface="BIZ UDPゴシック"/>
                <a:ea typeface="BIZ UDPゴシック"/>
                <a:cs typeface="BIZ UDPゴシック"/>
              </a:rPr>
              <a:t>材質を変えると、響きが追う：</a:t>
            </a:r>
            <a:r>
              <a:rPr lang="ja-JP" altLang="en-US" sz="1200" dirty="0">
                <a:solidFill>
                  <a:srgbClr val="1E2430"/>
                </a:solidFill>
                <a:latin typeface="BIZ UDPゴシック"/>
                <a:ea typeface="BIZ UDPゴシック"/>
                <a:cs typeface="BIZ UDPゴシック"/>
              </a:rPr>
              <a:t>実行中に壁の吸音を上げると、1 kHz の RT60 が 2.38 → 0.34 s。木の部屋・石・洞窟・雪のプリセットも材質で作っている</a:t>
            </a:r>
            <a:endParaRPr lang="ja-JP" altLang="en-US" sz="1200" dirty="0"/>
          </a:p>
        </p:txBody>
      </p:sp>
      <p:sp>
        <p:nvSpPr>
          <p:cNvPr id="52" name="注 52"/>
          <p:cNvSpPr txBox="1"/>
          <p:nvPr/>
        </p:nvSpPr>
        <p:spPr>
          <a:xfrm>
            <a:off x="548640" y="6419088"/>
            <a:ext cx="9875520" cy="256032"/>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5C6677"/>
                </a:solidFill>
                <a:latin typeface="BIZ UDPゴシック"/>
                <a:ea typeface="BIZ UDPゴシック"/>
                <a:cs typeface="BIZ UDPゴシック"/>
              </a:rPr>
              <a:t>※ 図は模式図。数値は 2026-09-18 の回帰テストの実測</a:t>
            </a:r>
            <a:endParaRPr lang="ja-JP" altLang="en-US" sz="950" dirty="0"/>
          </a:p>
        </p:txBody>
      </p:sp>
      <p:sp>
        <p:nvSpPr>
          <p:cNvPr id="53" name="ページ番号 53"/>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26</a:t>
            </a:r>
            <a:endParaRPr lang="ja-JP" alt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部屋での残響感</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扉を動かしても、響きが途切れず遅れないように</a:t>
            </a:r>
            <a:endParaRPr lang="ja-JP" altLang="en-US" sz="2600" dirty="0"/>
          </a:p>
        </p:txBody>
      </p:sp>
      <p:sp>
        <p:nvSpPr>
          <p:cNvPr id="4" name="カード 4"/>
          <p:cNvSpPr/>
          <p:nvPr/>
        </p:nvSpPr>
        <p:spPr>
          <a:xfrm>
            <a:off x="548640" y="1417320"/>
            <a:ext cx="5349240" cy="1600200"/>
          </a:xfrm>
          <a:prstGeom prst="roundRect">
            <a:avLst>
              <a:gd name="adj" fmla="val 4000"/>
            </a:avLst>
          </a:prstGeom>
          <a:solidFill>
            <a:srgbClr val="F0F2F5"/>
          </a:solidFill>
          <a:ln>
            <a:noFill/>
          </a:ln>
        </p:spPr>
      </p:sp>
      <p:sp>
        <p:nvSpPr>
          <p:cNvPr id="5" name="ラベル 5"/>
          <p:cNvSpPr/>
          <p:nvPr/>
        </p:nvSpPr>
        <p:spPr>
          <a:xfrm>
            <a:off x="777240" y="1600200"/>
            <a:ext cx="914400" cy="310896"/>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理由</a:t>
            </a:r>
            <a:endParaRPr lang="ja-JP" altLang="en-US" sz="1300" dirty="0"/>
          </a:p>
        </p:txBody>
      </p:sp>
      <p:sp>
        <p:nvSpPr>
          <p:cNvPr id="6" name="テキスト 6"/>
          <p:cNvSpPr txBox="1"/>
          <p:nvPr/>
        </p:nvSpPr>
        <p:spPr>
          <a:xfrm>
            <a:off x="777240" y="2002536"/>
            <a:ext cx="4892040" cy="941832"/>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300" dirty="0">
                <a:solidFill>
                  <a:srgbClr val="1E2430"/>
                </a:solidFill>
                <a:latin typeface="BIZ UDPゴシック"/>
                <a:ea typeface="BIZ UDPゴシック"/>
                <a:cs typeface="BIZ UDPゴシック"/>
              </a:rPr>
              <a:t>IR（録った響き）の畳み込みだと、部屋や扉が変わるたびに IR を作り直す。作り直しの間は響きが扉に遅れ、差し替えの継ぎ目も出る。</a:t>
            </a:r>
            <a:endParaRPr lang="ja-JP" altLang="en-US" sz="1300" dirty="0"/>
          </a:p>
        </p:txBody>
      </p:sp>
      <p:sp>
        <p:nvSpPr>
          <p:cNvPr id="7" name="矢印 7"/>
          <p:cNvSpPr/>
          <p:nvPr/>
        </p:nvSpPr>
        <p:spPr>
          <a:xfrm>
            <a:off x="5952744" y="2089404"/>
            <a:ext cx="219456" cy="256032"/>
          </a:xfrm>
          <a:prstGeom prst="rightArrow">
            <a:avLst/>
          </a:prstGeom>
          <a:solidFill>
            <a:srgbClr val="E3A33B"/>
          </a:solidFill>
          <a:ln>
            <a:noFill/>
          </a:ln>
        </p:spPr>
      </p:sp>
      <p:sp>
        <p:nvSpPr>
          <p:cNvPr id="8" name="カード 8"/>
          <p:cNvSpPr/>
          <p:nvPr/>
        </p:nvSpPr>
        <p:spPr>
          <a:xfrm>
            <a:off x="6227064" y="1417320"/>
            <a:ext cx="5413248" cy="1600200"/>
          </a:xfrm>
          <a:prstGeom prst="roundRect">
            <a:avLst>
              <a:gd name="adj" fmla="val 4000"/>
            </a:avLst>
          </a:prstGeom>
          <a:solidFill>
            <a:srgbClr val="FBF1DF"/>
          </a:solidFill>
          <a:ln>
            <a:noFill/>
          </a:ln>
        </p:spPr>
      </p:sp>
      <p:sp>
        <p:nvSpPr>
          <p:cNvPr id="9" name="ラベル 9"/>
          <p:cNvSpPr/>
          <p:nvPr/>
        </p:nvSpPr>
        <p:spPr>
          <a:xfrm>
            <a:off x="6455664" y="1600200"/>
            <a:ext cx="1188720" cy="310896"/>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アプローチ</a:t>
            </a:r>
            <a:endParaRPr lang="ja-JP" altLang="en-US" sz="1300" dirty="0"/>
          </a:p>
        </p:txBody>
      </p:sp>
      <p:sp>
        <p:nvSpPr>
          <p:cNvPr id="10" name="テキスト 10"/>
          <p:cNvSpPr txBox="1"/>
          <p:nvPr/>
        </p:nvSpPr>
        <p:spPr>
          <a:xfrm>
            <a:off x="6455664" y="2002536"/>
            <a:ext cx="4956048" cy="941832"/>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300" dirty="0">
                <a:solidFill>
                  <a:srgbClr val="1E2430"/>
                </a:solidFill>
                <a:latin typeface="BIZ UDPゴシック"/>
                <a:ea typeface="BIZ UDPゴシック"/>
                <a:cs typeface="BIZ UDPゴシック"/>
              </a:rPr>
              <a:t>FDN（遅延線を混ぜ返して響きを作る仕組み）にして、減衰の速さだけを数値で動かす。扉の開き具合が変われば、残響時間も隣の部屋への流れも、同じ量で連続に動く。</a:t>
            </a:r>
            <a:endParaRPr lang="ja-JP" altLang="en-US" sz="1300" dirty="0"/>
          </a:p>
        </p:txBody>
      </p:sp>
      <p:sp>
        <p:nvSpPr>
          <p:cNvPr id="11" name="カード 11"/>
          <p:cNvSpPr/>
          <p:nvPr/>
        </p:nvSpPr>
        <p:spPr>
          <a:xfrm>
            <a:off x="548640" y="3200400"/>
            <a:ext cx="5120640" cy="3090672"/>
          </a:xfrm>
          <a:prstGeom prst="roundRect">
            <a:avLst>
              <a:gd name="adj" fmla="val 4000"/>
            </a:avLst>
          </a:prstGeom>
          <a:solidFill>
            <a:srgbClr val="F0F2F5"/>
          </a:solidFill>
          <a:ln>
            <a:noFill/>
          </a:ln>
        </p:spPr>
      </p:sp>
      <p:sp>
        <p:nvSpPr>
          <p:cNvPr id="12" name="テキスト 12"/>
          <p:cNvSpPr txBox="1"/>
          <p:nvPr/>
        </p:nvSpPr>
        <p:spPr>
          <a:xfrm>
            <a:off x="822960" y="3310128"/>
            <a:ext cx="457200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300" b="1" dirty="0">
                <a:solidFill>
                  <a:srgbClr val="1E2430"/>
                </a:solidFill>
                <a:latin typeface="BIZ UDPゴシック"/>
                <a:ea typeface="BIZ UDPゴシック"/>
                <a:cs typeface="BIZ UDPゴシック"/>
              </a:rPr>
              <a:t>FDN のしくみ（模式図）</a:t>
            </a:r>
            <a:endParaRPr lang="ja-JP" altLang="en-US" sz="1300" dirty="0"/>
          </a:p>
        </p:txBody>
      </p:sp>
      <p:sp>
        <p:nvSpPr>
          <p:cNvPr id="13" name="テキスト 13"/>
          <p:cNvSpPr txBox="1"/>
          <p:nvPr/>
        </p:nvSpPr>
        <p:spPr>
          <a:xfrm>
            <a:off x="868680" y="4407408"/>
            <a:ext cx="54864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050" b="1" dirty="0">
                <a:solidFill>
                  <a:srgbClr val="1E2430"/>
                </a:solidFill>
                <a:latin typeface="BIZ UDPゴシック"/>
                <a:ea typeface="BIZ UDPゴシック"/>
                <a:cs typeface="BIZ UDPゴシック"/>
              </a:rPr>
              <a:t>入力</a:t>
            </a:r>
            <a:endParaRPr lang="ja-JP" altLang="en-US" sz="1050" dirty="0"/>
          </a:p>
        </p:txBody>
      </p:sp>
      <p:cxnSp>
        <p:nvCxnSpPr>
          <p:cNvPr id="14" name="線 14"/>
          <p:cNvCxnSpPr/>
          <p:nvPr/>
        </p:nvCxnSpPr>
        <p:spPr>
          <a:xfrm>
            <a:off x="1371600" y="4553712"/>
            <a:ext cx="365760" cy="0"/>
          </a:xfrm>
          <a:prstGeom prst="line">
            <a:avLst/>
          </a:prstGeom>
          <a:ln w="15875">
            <a:solidFill>
              <a:srgbClr val="1E2430"/>
            </a:solidFill>
            <a:tailEnd type="triangle" w="med" len="med"/>
          </a:ln>
        </p:spPr>
      </p:cxnSp>
      <p:sp>
        <p:nvSpPr>
          <p:cNvPr id="15" name="遅延線 15"/>
          <p:cNvSpPr/>
          <p:nvPr/>
        </p:nvSpPr>
        <p:spPr>
          <a:xfrm>
            <a:off x="1783080" y="3840480"/>
            <a:ext cx="1188720" cy="164592"/>
          </a:xfrm>
          <a:prstGeom prst="rect">
            <a:avLst/>
          </a:prstGeom>
          <a:solidFill>
            <a:srgbClr val="2F3A4E"/>
          </a:solidFill>
          <a:ln>
            <a:noFill/>
          </a:ln>
        </p:spPr>
      </p:sp>
      <p:sp>
        <p:nvSpPr>
          <p:cNvPr id="16" name="遅延線 16"/>
          <p:cNvSpPr/>
          <p:nvPr/>
        </p:nvSpPr>
        <p:spPr>
          <a:xfrm>
            <a:off x="1783080" y="4142232"/>
            <a:ext cx="1005840" cy="164592"/>
          </a:xfrm>
          <a:prstGeom prst="rect">
            <a:avLst/>
          </a:prstGeom>
          <a:solidFill>
            <a:srgbClr val="2F3A4E"/>
          </a:solidFill>
          <a:ln>
            <a:noFill/>
          </a:ln>
        </p:spPr>
      </p:sp>
      <p:sp>
        <p:nvSpPr>
          <p:cNvPr id="17" name="遅延線 17"/>
          <p:cNvSpPr/>
          <p:nvPr/>
        </p:nvSpPr>
        <p:spPr>
          <a:xfrm>
            <a:off x="1783080" y="4443984"/>
            <a:ext cx="822960" cy="164592"/>
          </a:xfrm>
          <a:prstGeom prst="rect">
            <a:avLst/>
          </a:prstGeom>
          <a:solidFill>
            <a:srgbClr val="2F3A4E"/>
          </a:solidFill>
          <a:ln>
            <a:noFill/>
          </a:ln>
        </p:spPr>
      </p:sp>
      <p:sp>
        <p:nvSpPr>
          <p:cNvPr id="18" name="遅延線 18"/>
          <p:cNvSpPr/>
          <p:nvPr/>
        </p:nvSpPr>
        <p:spPr>
          <a:xfrm>
            <a:off x="1783080" y="4745736"/>
            <a:ext cx="1188720" cy="164592"/>
          </a:xfrm>
          <a:prstGeom prst="rect">
            <a:avLst/>
          </a:prstGeom>
          <a:solidFill>
            <a:srgbClr val="2F3A4E"/>
          </a:solidFill>
          <a:ln>
            <a:noFill/>
          </a:ln>
        </p:spPr>
      </p:sp>
      <p:sp>
        <p:nvSpPr>
          <p:cNvPr id="19" name="遅延線 19"/>
          <p:cNvSpPr/>
          <p:nvPr/>
        </p:nvSpPr>
        <p:spPr>
          <a:xfrm>
            <a:off x="1783080" y="5047488"/>
            <a:ext cx="1005840" cy="164592"/>
          </a:xfrm>
          <a:prstGeom prst="rect">
            <a:avLst/>
          </a:prstGeom>
          <a:solidFill>
            <a:srgbClr val="2F3A4E"/>
          </a:solidFill>
          <a:ln>
            <a:noFill/>
          </a:ln>
        </p:spPr>
      </p:sp>
      <p:sp>
        <p:nvSpPr>
          <p:cNvPr id="20" name="テキスト 20"/>
          <p:cNvSpPr txBox="1"/>
          <p:nvPr/>
        </p:nvSpPr>
        <p:spPr>
          <a:xfrm>
            <a:off x="1737360" y="5349240"/>
            <a:ext cx="1463040" cy="237744"/>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000" dirty="0">
                <a:solidFill>
                  <a:srgbClr val="5C6677"/>
                </a:solidFill>
                <a:latin typeface="BIZ UDPゴシック"/>
                <a:ea typeface="BIZ UDPゴシック"/>
                <a:cs typeface="BIZ UDPゴシック"/>
              </a:rPr>
              <a:t>遅延線 × 16</a:t>
            </a:r>
            <a:endParaRPr lang="ja-JP" altLang="en-US" sz="1000" dirty="0"/>
          </a:p>
        </p:txBody>
      </p:sp>
      <p:cxnSp>
        <p:nvCxnSpPr>
          <p:cNvPr id="21" name="線 21"/>
          <p:cNvCxnSpPr/>
          <p:nvPr/>
        </p:nvCxnSpPr>
        <p:spPr>
          <a:xfrm>
            <a:off x="3063240" y="4553712"/>
            <a:ext cx="320040" cy="0"/>
          </a:xfrm>
          <a:prstGeom prst="line">
            <a:avLst/>
          </a:prstGeom>
          <a:ln w="15875">
            <a:solidFill>
              <a:srgbClr val="1E2430"/>
            </a:solidFill>
            <a:tailEnd type="triangle" w="med" len="med"/>
          </a:ln>
        </p:spPr>
      </p:cxnSp>
      <p:sp>
        <p:nvSpPr>
          <p:cNvPr id="22" name="図形 22"/>
          <p:cNvSpPr/>
          <p:nvPr/>
        </p:nvSpPr>
        <p:spPr>
          <a:xfrm>
            <a:off x="3429000" y="4160520"/>
            <a:ext cx="914400" cy="786384"/>
          </a:xfrm>
          <a:prstGeom prst="roundRect">
            <a:avLst/>
          </a:prstGeom>
          <a:solidFill>
            <a:srgbClr val="FFFFFF"/>
          </a:solidFill>
          <a:ln w="12700">
            <a:solidFill>
              <a:srgbClr val="8A94A6"/>
            </a:solidFill>
          </a:ln>
        </p:spPr>
        <p:txBody>
          <a:bodyPr wrap="square" lIns="54864" tIns="27432" rIns="54864" bIns="27432" rtlCol="0" anchor="ctr">
            <a:noAutofit/>
          </a:bodyPr>
          <a:lstStyle/>
          <a:p>
            <a:pPr algn="ctr" marL="0" indent="0">
              <a:spcBef>
                <a:spcPts val="0"/>
              </a:spcBef>
              <a:spcAft>
                <a:spcPts val="0"/>
              </a:spcAft>
              <a:buNone/>
            </a:pPr>
            <a:r>
              <a:rPr lang="ja-JP" altLang="en-US" sz="1100" b="1" dirty="0">
                <a:solidFill>
                  <a:srgbClr val="1E2430"/>
                </a:solidFill>
                <a:latin typeface="BIZ UDPゴシック"/>
                <a:ea typeface="BIZ UDPゴシック"/>
                <a:cs typeface="BIZ UDPゴシック"/>
              </a:rPr>
              <a:t>混ぜる</a:t>
            </a:r>
            <a:endParaRPr lang="ja-JP" altLang="en-US" sz="1100" dirty="0"/>
          </a:p>
        </p:txBody>
      </p:sp>
      <p:cxnSp>
        <p:nvCxnSpPr>
          <p:cNvPr id="23" name="線 23"/>
          <p:cNvCxnSpPr/>
          <p:nvPr/>
        </p:nvCxnSpPr>
        <p:spPr>
          <a:xfrm>
            <a:off x="4343400" y="4553712"/>
            <a:ext cx="457200" cy="0"/>
          </a:xfrm>
          <a:prstGeom prst="line">
            <a:avLst/>
          </a:prstGeom>
          <a:ln w="15875">
            <a:solidFill>
              <a:srgbClr val="1E2430"/>
            </a:solidFill>
            <a:tailEnd type="triangle" w="med" len="med"/>
          </a:ln>
        </p:spPr>
      </p:cxnSp>
      <p:sp>
        <p:nvSpPr>
          <p:cNvPr id="24" name="テキスト 24"/>
          <p:cNvSpPr txBox="1"/>
          <p:nvPr/>
        </p:nvSpPr>
        <p:spPr>
          <a:xfrm>
            <a:off x="4800600" y="4407408"/>
            <a:ext cx="64008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050" b="1" dirty="0">
                <a:solidFill>
                  <a:srgbClr val="1E2430"/>
                </a:solidFill>
                <a:latin typeface="BIZ UDPゴシック"/>
                <a:ea typeface="BIZ UDPゴシック"/>
                <a:cs typeface="BIZ UDPゴシック"/>
              </a:rPr>
              <a:t>出力</a:t>
            </a:r>
            <a:endParaRPr lang="ja-JP" altLang="en-US" sz="1050" dirty="0"/>
          </a:p>
        </p:txBody>
      </p:sp>
      <p:sp>
        <p:nvSpPr>
          <p:cNvPr id="25" name="折れ線 25"/>
          <p:cNvSpPr/>
          <p:nvPr/>
        </p:nvSpPr>
        <p:spPr>
          <a:xfrm>
            <a:off x="1600200" y="4663440"/>
            <a:ext cx="2286000" cy="1051560"/>
          </a:xfrm>
          <a:custGeom>
            <a:avLst/>
            <a:gdLst/>
            <a:ahLst/>
            <a:cxnLst/>
            <a:rect l="0" t="0" r="r" b="b"/>
            <a:pathLst>
              <a:path w="2286000" h="1051560" fill="none">
                <a:moveTo>
                  <a:pt x="2286000" y="283464"/>
                </a:moveTo>
                <a:lnTo>
                  <a:pt x="2286000" y="1051560"/>
                </a:lnTo>
                <a:lnTo>
                  <a:pt x="0" y="1051560"/>
                </a:lnTo>
                <a:lnTo>
                  <a:pt x="0" y="0"/>
                </a:lnTo>
                <a:lnTo>
                  <a:pt x="137160" y="0"/>
                </a:lnTo>
              </a:path>
            </a:pathLst>
          </a:custGeom>
          <a:noFill/>
          <a:ln w="22225">
            <a:solidFill>
              <a:srgbClr val="E3A33B"/>
            </a:solidFill>
            <a:tailEnd type="triangle" w="med" len="med"/>
          </a:ln>
        </p:spPr>
      </p:sp>
      <p:sp>
        <p:nvSpPr>
          <p:cNvPr id="26" name="テキスト 26"/>
          <p:cNvSpPr txBox="1"/>
          <p:nvPr/>
        </p:nvSpPr>
        <p:spPr>
          <a:xfrm>
            <a:off x="1691640" y="5742432"/>
            <a:ext cx="2560320" cy="27432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050" b="1" dirty="0">
                <a:solidFill>
                  <a:srgbClr val="9A6212"/>
                </a:solidFill>
                <a:latin typeface="BIZ UDPゴシック"/>
                <a:ea typeface="BIZ UDPゴシック"/>
                <a:cs typeface="BIZ UDPゴシック"/>
              </a:rPr>
              <a:t>× 減衰（RT60 から帯域ごとに）</a:t>
            </a:r>
            <a:endParaRPr lang="ja-JP" altLang="en-US" sz="1050" dirty="0"/>
          </a:p>
        </p:txBody>
      </p:sp>
      <p:sp>
        <p:nvSpPr>
          <p:cNvPr id="27" name="カード 27"/>
          <p:cNvSpPr/>
          <p:nvPr/>
        </p:nvSpPr>
        <p:spPr>
          <a:xfrm>
            <a:off x="5852160" y="3200400"/>
            <a:ext cx="5788152" cy="3090672"/>
          </a:xfrm>
          <a:prstGeom prst="roundRect">
            <a:avLst>
              <a:gd name="adj" fmla="val 4000"/>
            </a:avLst>
          </a:prstGeom>
          <a:solidFill>
            <a:srgbClr val="FBF1DF"/>
          </a:solidFill>
          <a:ln>
            <a:noFill/>
          </a:ln>
        </p:spPr>
      </p:sp>
      <p:sp>
        <p:nvSpPr>
          <p:cNvPr id="28" name="テキスト 28"/>
          <p:cNvSpPr txBox="1"/>
          <p:nvPr/>
        </p:nvSpPr>
        <p:spPr>
          <a:xfrm>
            <a:off x="6080760" y="3310128"/>
            <a:ext cx="539496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300" b="1" dirty="0">
                <a:solidFill>
                  <a:srgbClr val="1E2430"/>
                </a:solidFill>
                <a:latin typeface="BIZ UDPゴシック"/>
                <a:ea typeface="BIZ UDPゴシック"/>
                <a:cs typeface="BIZ UDPゴシック"/>
              </a:rPr>
              <a:t>部屋どうしのつなぎ方（模式図）</a:t>
            </a:r>
            <a:endParaRPr lang="ja-JP" altLang="en-US" sz="1300" dirty="0"/>
          </a:p>
        </p:txBody>
      </p:sp>
      <p:sp>
        <p:nvSpPr>
          <p:cNvPr id="29" name="図形 29"/>
          <p:cNvSpPr/>
          <p:nvPr/>
        </p:nvSpPr>
        <p:spPr>
          <a:xfrm>
            <a:off x="6126480" y="3886200"/>
            <a:ext cx="1463040" cy="914400"/>
          </a:xfrm>
          <a:prstGeom prst="roundRect">
            <a:avLst/>
          </a:prstGeom>
          <a:solidFill>
            <a:srgbClr val="FFFFFF"/>
          </a:solidFill>
          <a:ln w="12700">
            <a:solidFill>
              <a:srgbClr val="8A94A6"/>
            </a:solidFill>
          </a:ln>
        </p:spPr>
        <p:txBody>
          <a:bodyPr wrap="square" lIns="54864" tIns="27432" rIns="54864" bIns="27432" rtlCol="0" anchor="ctr">
            <a:noAutofit/>
          </a:bodyPr>
          <a:lstStyle/>
          <a:p>
            <a:pPr algn="ctr" marL="0" indent="0">
              <a:spcBef>
                <a:spcPts val="0"/>
              </a:spcBef>
              <a:spcAft>
                <a:spcPts val="0"/>
              </a:spcAft>
              <a:buNone/>
            </a:pPr>
            <a:r>
              <a:rPr lang="ja-JP" altLang="en-US" sz="1100" b="1" dirty="0">
                <a:solidFill>
                  <a:srgbClr val="1E2430"/>
                </a:solidFill>
                <a:latin typeface="BIZ UDPゴシック"/>
                <a:ea typeface="BIZ UDPゴシック"/>
                <a:cs typeface="BIZ UDPゴシック"/>
              </a:rPr>
              <a:t>隣の部屋</a:t>
            </a:r>
            <a:endParaRPr lang="ja-JP" altLang="en-US" sz="1100" dirty="0"/>
          </a:p>
          <a:p>
            <a:pPr algn="ctr" marL="0" indent="0">
              <a:spcBef>
                <a:spcPts val="0"/>
              </a:spcBef>
              <a:spcAft>
                <a:spcPts val="0"/>
              </a:spcAft>
              <a:buNone/>
            </a:pPr>
            <a:r>
              <a:rPr lang="ja-JP" altLang="en-US" sz="1000" dirty="0">
                <a:solidFill>
                  <a:srgbClr val="5C6677"/>
                </a:solidFill>
                <a:latin typeface="BIZ UDPゴシック"/>
                <a:ea typeface="BIZ UDPゴシック"/>
                <a:cs typeface="BIZ UDPゴシック"/>
              </a:rPr>
              <a:t>FDN</a:t>
            </a:r>
            <a:endParaRPr lang="ja-JP" altLang="en-US" sz="1000" dirty="0"/>
          </a:p>
        </p:txBody>
      </p:sp>
      <p:sp>
        <p:nvSpPr>
          <p:cNvPr id="30" name="図形 30"/>
          <p:cNvSpPr/>
          <p:nvPr/>
        </p:nvSpPr>
        <p:spPr>
          <a:xfrm>
            <a:off x="8001000" y="4069080"/>
            <a:ext cx="1463040" cy="548640"/>
          </a:xfrm>
          <a:prstGeom prst="roundRect">
            <a:avLst>
              <a:gd name="adj" fmla="val 30000"/>
            </a:avLst>
          </a:prstGeom>
          <a:solidFill>
            <a:srgbClr val="E3A33B"/>
          </a:solidFill>
          <a:ln>
            <a:noFill/>
          </a:ln>
        </p:spPr>
        <p:txBody>
          <a:bodyPr wrap="square" lIns="54864" tIns="27432" rIns="54864" bIns="27432" rtlCol="0" anchor="ctr">
            <a:noAutofit/>
          </a:bodyPr>
          <a:lstStyle/>
          <a:p>
            <a:pPr algn="ctr" marL="0" indent="0">
              <a:spcBef>
                <a:spcPts val="0"/>
              </a:spcBef>
              <a:spcAft>
                <a:spcPts val="0"/>
              </a:spcAft>
              <a:buNone/>
            </a:pPr>
            <a:r>
              <a:rPr lang="ja-JP" altLang="en-US" sz="1050" b="1" dirty="0">
                <a:solidFill>
                  <a:srgbClr val="1E2430"/>
                </a:solidFill>
                <a:latin typeface="BIZ UDPゴシック"/>
                <a:ea typeface="BIZ UDPゴシック"/>
                <a:cs typeface="BIZ UDPゴシック"/>
              </a:rPr>
              <a:t>戸口 × 開き具合</a:t>
            </a:r>
            <a:endParaRPr lang="ja-JP" altLang="en-US" sz="1050" dirty="0"/>
          </a:p>
        </p:txBody>
      </p:sp>
      <p:sp>
        <p:nvSpPr>
          <p:cNvPr id="31" name="図形 31"/>
          <p:cNvSpPr/>
          <p:nvPr/>
        </p:nvSpPr>
        <p:spPr>
          <a:xfrm>
            <a:off x="9875520" y="3886200"/>
            <a:ext cx="1463040" cy="914400"/>
          </a:xfrm>
          <a:prstGeom prst="roundRect">
            <a:avLst/>
          </a:prstGeom>
          <a:solidFill>
            <a:srgbClr val="FFFFFF"/>
          </a:solidFill>
          <a:ln w="12700">
            <a:solidFill>
              <a:srgbClr val="8A94A6"/>
            </a:solidFill>
          </a:ln>
        </p:spPr>
        <p:txBody>
          <a:bodyPr wrap="square" lIns="54864" tIns="27432" rIns="54864" bIns="27432" rtlCol="0" anchor="ctr">
            <a:noAutofit/>
          </a:bodyPr>
          <a:lstStyle/>
          <a:p>
            <a:pPr algn="ctr" marL="0" indent="0">
              <a:spcBef>
                <a:spcPts val="0"/>
              </a:spcBef>
              <a:spcAft>
                <a:spcPts val="0"/>
              </a:spcAft>
              <a:buNone/>
            </a:pPr>
            <a:r>
              <a:rPr lang="ja-JP" altLang="en-US" sz="1100" b="1" dirty="0">
                <a:solidFill>
                  <a:srgbClr val="1E2430"/>
                </a:solidFill>
                <a:latin typeface="BIZ UDPゴシック"/>
                <a:ea typeface="BIZ UDPゴシック"/>
                <a:cs typeface="BIZ UDPゴシック"/>
              </a:rPr>
              <a:t>耳の部屋</a:t>
            </a:r>
            <a:endParaRPr lang="ja-JP" altLang="en-US" sz="1100" dirty="0"/>
          </a:p>
          <a:p>
            <a:pPr algn="ctr" marL="0" indent="0">
              <a:spcBef>
                <a:spcPts val="0"/>
              </a:spcBef>
              <a:spcAft>
                <a:spcPts val="0"/>
              </a:spcAft>
              <a:buNone/>
            </a:pPr>
            <a:r>
              <a:rPr lang="ja-JP" altLang="en-US" sz="1000" dirty="0">
                <a:solidFill>
                  <a:srgbClr val="5C6677"/>
                </a:solidFill>
                <a:latin typeface="BIZ UDPゴシック"/>
                <a:ea typeface="BIZ UDPゴシック"/>
                <a:cs typeface="BIZ UDPゴシック"/>
              </a:rPr>
              <a:t>FDN</a:t>
            </a:r>
            <a:endParaRPr lang="ja-JP" altLang="en-US" sz="1000" dirty="0"/>
          </a:p>
        </p:txBody>
      </p:sp>
      <p:cxnSp>
        <p:nvCxnSpPr>
          <p:cNvPr id="32" name="線 32"/>
          <p:cNvCxnSpPr/>
          <p:nvPr/>
        </p:nvCxnSpPr>
        <p:spPr>
          <a:xfrm>
            <a:off x="7589520" y="4343400"/>
            <a:ext cx="411480" cy="0"/>
          </a:xfrm>
          <a:prstGeom prst="line">
            <a:avLst/>
          </a:prstGeom>
          <a:ln w="19050">
            <a:solidFill>
              <a:srgbClr val="1E2430"/>
            </a:solidFill>
            <a:tailEnd type="triangle" w="med" len="med"/>
          </a:ln>
        </p:spPr>
      </p:cxnSp>
      <p:cxnSp>
        <p:nvCxnSpPr>
          <p:cNvPr id="33" name="線 33"/>
          <p:cNvCxnSpPr/>
          <p:nvPr/>
        </p:nvCxnSpPr>
        <p:spPr>
          <a:xfrm>
            <a:off x="9464040" y="4343400"/>
            <a:ext cx="411480" cy="0"/>
          </a:xfrm>
          <a:prstGeom prst="line">
            <a:avLst/>
          </a:prstGeom>
          <a:ln w="19050">
            <a:solidFill>
              <a:srgbClr val="1E2430"/>
            </a:solidFill>
            <a:tailEnd type="triangle" w="med" len="med"/>
          </a:ln>
        </p:spPr>
      </p:cxnSp>
      <p:sp>
        <p:nvSpPr>
          <p:cNvPr id="34" name="折れ線 34"/>
          <p:cNvSpPr/>
          <p:nvPr/>
        </p:nvSpPr>
        <p:spPr>
          <a:xfrm>
            <a:off x="6858000" y="4800600"/>
            <a:ext cx="3749040" cy="320040"/>
          </a:xfrm>
          <a:custGeom>
            <a:avLst/>
            <a:gdLst/>
            <a:ahLst/>
            <a:cxnLst/>
            <a:rect l="0" t="0" r="r" b="b"/>
            <a:pathLst>
              <a:path w="3749040" h="320040" fill="none">
                <a:moveTo>
                  <a:pt x="3749040" y="0"/>
                </a:moveTo>
                <a:lnTo>
                  <a:pt x="3749040" y="320040"/>
                </a:lnTo>
                <a:lnTo>
                  <a:pt x="0" y="320040"/>
                </a:lnTo>
                <a:lnTo>
                  <a:pt x="0" y="0"/>
                </a:lnTo>
              </a:path>
            </a:pathLst>
          </a:custGeom>
          <a:noFill/>
          <a:ln w="19050">
            <a:solidFill>
              <a:srgbClr val="C9CED6"/>
            </a:solidFill>
            <a:prstDash val="dash"/>
            <a:tailEnd type="triangle" w="med" len="med"/>
          </a:ln>
        </p:spPr>
      </p:sp>
      <p:sp>
        <p:nvSpPr>
          <p:cNvPr id="35" name="テキスト 35"/>
          <p:cNvSpPr txBox="1"/>
          <p:nvPr/>
        </p:nvSpPr>
        <p:spPr>
          <a:xfrm>
            <a:off x="7680960" y="4873752"/>
            <a:ext cx="2286000" cy="237744"/>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050" dirty="0">
                <a:solidFill>
                  <a:srgbClr val="5C6677"/>
                </a:solidFill>
                <a:latin typeface="BIZ UDPゴシック"/>
                <a:ea typeface="BIZ UDPゴシック"/>
                <a:cs typeface="BIZ UDPゴシック"/>
              </a:rPr>
              <a:t>×　結び返さない（前向きだけ）</a:t>
            </a:r>
            <a:endParaRPr lang="ja-JP" altLang="en-US" sz="1050" dirty="0"/>
          </a:p>
        </p:txBody>
      </p:sp>
      <p:sp>
        <p:nvSpPr>
          <p:cNvPr id="36" name="テキスト 36"/>
          <p:cNvSpPr txBox="1"/>
          <p:nvPr/>
        </p:nvSpPr>
        <p:spPr>
          <a:xfrm>
            <a:off x="6126480" y="5367528"/>
            <a:ext cx="5303520" cy="82296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150" dirty="0">
                <a:solidFill>
                  <a:srgbClr val="1E2430"/>
                </a:solidFill>
                <a:latin typeface="BIZ UDPゴシック"/>
                <a:ea typeface="BIZ UDPゴシック"/>
                <a:cs typeface="BIZ UDPゴシック"/>
              </a:rPr>
              <a:t>扉を閉めると戸口が板になり、戸口の流れが減って、部屋の残響時間が伸びる（500 Hz で 0.877 → 0.913 s）。同じ開き具合が、直接音と残響の両方に効く。</a:t>
            </a:r>
            <a:endParaRPr lang="ja-JP" altLang="en-US" sz="1150" dirty="0"/>
          </a:p>
        </p:txBody>
      </p:sp>
      <p:sp>
        <p:nvSpPr>
          <p:cNvPr id="37" name="注 37"/>
          <p:cNvSpPr txBox="1"/>
          <p:nvPr/>
        </p:nvSpPr>
        <p:spPr>
          <a:xfrm>
            <a:off x="548640" y="6419088"/>
            <a:ext cx="9875520" cy="256032"/>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5C6677"/>
                </a:solidFill>
                <a:latin typeface="BIZ UDPゴシック"/>
                <a:ea typeface="BIZ UDPゴシック"/>
                <a:cs typeface="BIZ UDPゴシック"/>
              </a:rPr>
              <a:t>※ 図は模式図。数値は 2026-09-18 の回帰テストの実測</a:t>
            </a:r>
            <a:endParaRPr lang="ja-JP" altLang="en-US" sz="950" dirty="0"/>
          </a:p>
        </p:txBody>
      </p:sp>
      <p:sp>
        <p:nvSpPr>
          <p:cNvPr id="38" name="ページ番号 38"/>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27</a:t>
            </a:r>
            <a:endParaRPr lang="ja-JP" alt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部屋での残響感</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問題点と改善方法</a:t>
            </a:r>
            <a:endParaRPr lang="ja-JP" altLang="en-US" sz="2600" dirty="0"/>
          </a:p>
        </p:txBody>
      </p:sp>
      <p:sp>
        <p:nvSpPr>
          <p:cNvPr id="4" name="テキスト 4"/>
          <p:cNvSpPr txBox="1"/>
          <p:nvPr/>
        </p:nvSpPr>
        <p:spPr>
          <a:xfrm>
            <a:off x="548640" y="1243584"/>
            <a:ext cx="11091672" cy="54864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聞こえた違和感は、回帰テストで再現してから直した。</a:t>
            </a:r>
            <a:endParaRPr lang="ja-JP" altLang="en-US" sz="1450" dirty="0"/>
          </a:p>
        </p:txBody>
      </p:sp>
      <p:sp>
        <p:nvSpPr>
          <p:cNvPr id="5" name="カード 5"/>
          <p:cNvSpPr/>
          <p:nvPr/>
        </p:nvSpPr>
        <p:spPr>
          <a:xfrm>
            <a:off x="548640" y="1965960"/>
            <a:ext cx="3593592" cy="4297680"/>
          </a:xfrm>
          <a:prstGeom prst="roundRect">
            <a:avLst>
              <a:gd name="adj" fmla="val 4000"/>
            </a:avLst>
          </a:prstGeom>
          <a:solidFill>
            <a:srgbClr val="F0F2F5"/>
          </a:solidFill>
          <a:ln>
            <a:noFill/>
          </a:ln>
        </p:spPr>
      </p:sp>
      <p:sp>
        <p:nvSpPr>
          <p:cNvPr id="6" name="図形 6"/>
          <p:cNvSpPr/>
          <p:nvPr/>
        </p:nvSpPr>
        <p:spPr>
          <a:xfrm>
            <a:off x="777240" y="2121408"/>
            <a:ext cx="347472" cy="347472"/>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1</a:t>
            </a:r>
            <a:endParaRPr lang="ja-JP" altLang="en-US" sz="1300" dirty="0"/>
          </a:p>
        </p:txBody>
      </p:sp>
      <p:sp>
        <p:nvSpPr>
          <p:cNvPr id="7" name="テキスト 7"/>
          <p:cNvSpPr txBox="1"/>
          <p:nvPr/>
        </p:nvSpPr>
        <p:spPr>
          <a:xfrm>
            <a:off x="1234440" y="2084832"/>
            <a:ext cx="2724912" cy="685800"/>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350" b="1" dirty="0">
                <a:solidFill>
                  <a:srgbClr val="1E2430"/>
                </a:solidFill>
                <a:latin typeface="BIZ UDPゴシック"/>
                <a:ea typeface="BIZ UDPゴシック"/>
                <a:cs typeface="BIZ UDPゴシック"/>
              </a:rPr>
              <a:t>残響が、最初の反射より先に鳴っていた</a:t>
            </a:r>
            <a:endParaRPr lang="ja-JP" altLang="en-US" sz="1350" dirty="0"/>
          </a:p>
        </p:txBody>
      </p:sp>
      <p:sp>
        <p:nvSpPr>
          <p:cNvPr id="8" name="テキスト 8"/>
          <p:cNvSpPr txBox="1"/>
          <p:nvPr/>
        </p:nvSpPr>
        <p:spPr>
          <a:xfrm>
            <a:off x="777240" y="3035808"/>
            <a:ext cx="365760" cy="21945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000" b="1" dirty="0">
                <a:solidFill>
                  <a:srgbClr val="1E2430"/>
                </a:solidFill>
                <a:latin typeface="BIZ UDPゴシック"/>
                <a:ea typeface="BIZ UDPゴシック"/>
                <a:cs typeface="BIZ UDPゴシック"/>
              </a:rPr>
              <a:t>前</a:t>
            </a:r>
            <a:endParaRPr lang="ja-JP" altLang="en-US" sz="1000" dirty="0"/>
          </a:p>
        </p:txBody>
      </p:sp>
      <p:sp>
        <p:nvSpPr>
          <p:cNvPr id="9" name="残響 9"/>
          <p:cNvSpPr/>
          <p:nvPr/>
        </p:nvSpPr>
        <p:spPr>
          <a:xfrm>
            <a:off x="1778142" y="3127248"/>
            <a:ext cx="2089770" cy="182880"/>
          </a:xfrm>
          <a:prstGeom prst="rect">
            <a:avLst/>
          </a:prstGeom>
          <a:solidFill>
            <a:srgbClr val="2F3A4E">
              <a:alpha val="40000"/>
            </a:srgbClr>
          </a:solidFill>
          <a:ln>
            <a:noFill/>
          </a:ln>
        </p:spPr>
      </p:sp>
      <p:cxnSp>
        <p:nvCxnSpPr>
          <p:cNvPr id="10" name="線 10"/>
          <p:cNvCxnSpPr/>
          <p:nvPr/>
        </p:nvCxnSpPr>
        <p:spPr>
          <a:xfrm>
            <a:off x="1188720" y="3310128"/>
            <a:ext cx="2679192" cy="0"/>
          </a:xfrm>
          <a:prstGeom prst="line">
            <a:avLst/>
          </a:prstGeom>
          <a:ln w="12700">
            <a:solidFill>
              <a:srgbClr val="8A94A6"/>
            </a:solidFill>
          </a:ln>
        </p:spPr>
      </p:cxnSp>
      <p:sp>
        <p:nvSpPr>
          <p:cNvPr id="11" name="到達 11"/>
          <p:cNvSpPr/>
          <p:nvPr/>
        </p:nvSpPr>
        <p:spPr>
          <a:xfrm>
            <a:off x="1335756" y="2980944"/>
            <a:ext cx="27432" cy="329184"/>
          </a:xfrm>
          <a:prstGeom prst="rect">
            <a:avLst/>
          </a:prstGeom>
          <a:solidFill>
            <a:srgbClr val="1E2430"/>
          </a:solidFill>
          <a:ln>
            <a:noFill/>
          </a:ln>
        </p:spPr>
      </p:sp>
      <p:sp>
        <p:nvSpPr>
          <p:cNvPr id="12" name="テキスト 12"/>
          <p:cNvSpPr txBox="1"/>
          <p:nvPr/>
        </p:nvSpPr>
        <p:spPr>
          <a:xfrm>
            <a:off x="1075152" y="2788920"/>
            <a:ext cx="548640" cy="18288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00" dirty="0">
                <a:solidFill>
                  <a:srgbClr val="1E2430"/>
                </a:solidFill>
                <a:latin typeface="BIZ UDPゴシック"/>
                <a:ea typeface="BIZ UDPゴシック"/>
                <a:cs typeface="BIZ UDPゴシック"/>
              </a:rPr>
              <a:t>直接</a:t>
            </a:r>
            <a:endParaRPr lang="ja-JP" altLang="en-US" sz="800" dirty="0"/>
          </a:p>
        </p:txBody>
      </p:sp>
      <p:sp>
        <p:nvSpPr>
          <p:cNvPr id="13" name="到達 13"/>
          <p:cNvSpPr/>
          <p:nvPr/>
        </p:nvSpPr>
        <p:spPr>
          <a:xfrm>
            <a:off x="2380640" y="3035808"/>
            <a:ext cx="27432" cy="274320"/>
          </a:xfrm>
          <a:prstGeom prst="rect">
            <a:avLst/>
          </a:prstGeom>
          <a:solidFill>
            <a:srgbClr val="E3A33B"/>
          </a:solidFill>
          <a:ln>
            <a:noFill/>
          </a:ln>
        </p:spPr>
      </p:sp>
      <p:sp>
        <p:nvSpPr>
          <p:cNvPr id="14" name="テキスト 14"/>
          <p:cNvSpPr txBox="1"/>
          <p:nvPr/>
        </p:nvSpPr>
        <p:spPr>
          <a:xfrm>
            <a:off x="2120036" y="2843784"/>
            <a:ext cx="548640" cy="18288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00" dirty="0">
                <a:solidFill>
                  <a:srgbClr val="1E2430"/>
                </a:solidFill>
                <a:latin typeface="BIZ UDPゴシック"/>
                <a:ea typeface="BIZ UDPゴシック"/>
                <a:cs typeface="BIZ UDPゴシック"/>
              </a:rPr>
              <a:t>反射</a:t>
            </a:r>
            <a:endParaRPr lang="ja-JP" altLang="en-US" sz="800" dirty="0"/>
          </a:p>
        </p:txBody>
      </p:sp>
      <p:sp>
        <p:nvSpPr>
          <p:cNvPr id="15" name="テキスト 15"/>
          <p:cNvSpPr txBox="1"/>
          <p:nvPr/>
        </p:nvSpPr>
        <p:spPr>
          <a:xfrm>
            <a:off x="3117738" y="3127248"/>
            <a:ext cx="750174" cy="182880"/>
          </a:xfrm>
          <a:prstGeom prst="rect">
            <a:avLst/>
          </a:prstGeom>
          <a:noFill/>
        </p:spPr>
        <p:txBody>
          <a:bodyPr wrap="square" lIns="0" tIns="0" rIns="0" bIns="0" rtlCol="0" anchor="ctr">
            <a:noAutofit/>
          </a:bodyPr>
          <a:lstStyle/>
          <a:p>
            <a:pPr algn="ctr" marL="0" indent="0">
              <a:spcBef>
                <a:spcPts val="0"/>
              </a:spcBef>
              <a:spcAft>
                <a:spcPts val="0"/>
              </a:spcAft>
              <a:buNone/>
            </a:pPr>
            <a:r>
              <a:rPr lang="ja-JP" altLang="en-US" sz="800" b="1" dirty="0">
                <a:solidFill>
                  <a:srgbClr val="FFFFFF"/>
                </a:solidFill>
                <a:latin typeface="BIZ UDPゴシック"/>
                <a:ea typeface="BIZ UDPゴシック"/>
                <a:cs typeface="BIZ UDPゴシック"/>
              </a:rPr>
              <a:t>残響</a:t>
            </a:r>
            <a:endParaRPr lang="ja-JP" altLang="en-US" sz="800" dirty="0"/>
          </a:p>
        </p:txBody>
      </p:sp>
      <p:sp>
        <p:nvSpPr>
          <p:cNvPr id="16" name="テキスト 16"/>
          <p:cNvSpPr txBox="1"/>
          <p:nvPr/>
        </p:nvSpPr>
        <p:spPr>
          <a:xfrm>
            <a:off x="777240" y="3630168"/>
            <a:ext cx="365760" cy="21945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000" b="1" dirty="0">
                <a:solidFill>
                  <a:srgbClr val="1E2430"/>
                </a:solidFill>
                <a:latin typeface="BIZ UDPゴシック"/>
                <a:ea typeface="BIZ UDPゴシック"/>
                <a:cs typeface="BIZ UDPゴシック"/>
              </a:rPr>
              <a:t>今</a:t>
            </a:r>
            <a:endParaRPr lang="ja-JP" altLang="en-US" sz="1000" dirty="0"/>
          </a:p>
        </p:txBody>
      </p:sp>
      <p:sp>
        <p:nvSpPr>
          <p:cNvPr id="17" name="残響 17"/>
          <p:cNvSpPr/>
          <p:nvPr/>
        </p:nvSpPr>
        <p:spPr>
          <a:xfrm>
            <a:off x="1992478" y="3721608"/>
            <a:ext cx="1875434" cy="182880"/>
          </a:xfrm>
          <a:prstGeom prst="rect">
            <a:avLst/>
          </a:prstGeom>
          <a:solidFill>
            <a:srgbClr val="2F3A4E">
              <a:alpha val="40000"/>
            </a:srgbClr>
          </a:solidFill>
          <a:ln>
            <a:noFill/>
          </a:ln>
        </p:spPr>
      </p:sp>
      <p:cxnSp>
        <p:nvCxnSpPr>
          <p:cNvPr id="18" name="線 18"/>
          <p:cNvCxnSpPr/>
          <p:nvPr/>
        </p:nvCxnSpPr>
        <p:spPr>
          <a:xfrm>
            <a:off x="1188720" y="3904488"/>
            <a:ext cx="2679192" cy="0"/>
          </a:xfrm>
          <a:prstGeom prst="line">
            <a:avLst/>
          </a:prstGeom>
          <a:ln w="12700">
            <a:solidFill>
              <a:srgbClr val="8A94A6"/>
            </a:solidFill>
          </a:ln>
        </p:spPr>
      </p:cxnSp>
      <p:sp>
        <p:nvSpPr>
          <p:cNvPr id="19" name="到達 19"/>
          <p:cNvSpPr/>
          <p:nvPr/>
        </p:nvSpPr>
        <p:spPr>
          <a:xfrm>
            <a:off x="1335756" y="3575304"/>
            <a:ext cx="27432" cy="329184"/>
          </a:xfrm>
          <a:prstGeom prst="rect">
            <a:avLst/>
          </a:prstGeom>
          <a:solidFill>
            <a:srgbClr val="1E2430"/>
          </a:solidFill>
          <a:ln>
            <a:noFill/>
          </a:ln>
        </p:spPr>
      </p:sp>
      <p:sp>
        <p:nvSpPr>
          <p:cNvPr id="20" name="テキスト 20"/>
          <p:cNvSpPr txBox="1"/>
          <p:nvPr/>
        </p:nvSpPr>
        <p:spPr>
          <a:xfrm>
            <a:off x="1075152" y="3383280"/>
            <a:ext cx="548640" cy="18288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00" dirty="0">
                <a:solidFill>
                  <a:srgbClr val="1E2430"/>
                </a:solidFill>
                <a:latin typeface="BIZ UDPゴシック"/>
                <a:ea typeface="BIZ UDPゴシック"/>
                <a:cs typeface="BIZ UDPゴシック"/>
              </a:rPr>
              <a:t>直接</a:t>
            </a:r>
            <a:endParaRPr lang="ja-JP" altLang="en-US" sz="800" dirty="0"/>
          </a:p>
        </p:txBody>
      </p:sp>
      <p:sp>
        <p:nvSpPr>
          <p:cNvPr id="21" name="到達 21"/>
          <p:cNvSpPr/>
          <p:nvPr/>
        </p:nvSpPr>
        <p:spPr>
          <a:xfrm>
            <a:off x="1978762" y="3630168"/>
            <a:ext cx="27432" cy="274320"/>
          </a:xfrm>
          <a:prstGeom prst="rect">
            <a:avLst/>
          </a:prstGeom>
          <a:solidFill>
            <a:srgbClr val="E3A33B"/>
          </a:solidFill>
          <a:ln>
            <a:noFill/>
          </a:ln>
        </p:spPr>
      </p:sp>
      <p:sp>
        <p:nvSpPr>
          <p:cNvPr id="22" name="テキスト 22"/>
          <p:cNvSpPr txBox="1"/>
          <p:nvPr/>
        </p:nvSpPr>
        <p:spPr>
          <a:xfrm>
            <a:off x="1718158" y="3438144"/>
            <a:ext cx="548640" cy="18288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00" dirty="0">
                <a:solidFill>
                  <a:srgbClr val="1E2430"/>
                </a:solidFill>
                <a:latin typeface="BIZ UDPゴシック"/>
                <a:ea typeface="BIZ UDPゴシック"/>
                <a:cs typeface="BIZ UDPゴシック"/>
              </a:rPr>
              <a:t>反射</a:t>
            </a:r>
            <a:endParaRPr lang="ja-JP" altLang="en-US" sz="800" dirty="0"/>
          </a:p>
        </p:txBody>
      </p:sp>
      <p:sp>
        <p:nvSpPr>
          <p:cNvPr id="23" name="テキスト 23"/>
          <p:cNvSpPr txBox="1"/>
          <p:nvPr/>
        </p:nvSpPr>
        <p:spPr>
          <a:xfrm>
            <a:off x="3117738" y="3721608"/>
            <a:ext cx="750174" cy="182880"/>
          </a:xfrm>
          <a:prstGeom prst="rect">
            <a:avLst/>
          </a:prstGeom>
          <a:noFill/>
        </p:spPr>
        <p:txBody>
          <a:bodyPr wrap="square" lIns="0" tIns="0" rIns="0" bIns="0" rtlCol="0" anchor="ctr">
            <a:noAutofit/>
          </a:bodyPr>
          <a:lstStyle/>
          <a:p>
            <a:pPr algn="ctr" marL="0" indent="0">
              <a:spcBef>
                <a:spcPts val="0"/>
              </a:spcBef>
              <a:spcAft>
                <a:spcPts val="0"/>
              </a:spcAft>
              <a:buNone/>
            </a:pPr>
            <a:r>
              <a:rPr lang="ja-JP" altLang="en-US" sz="800" b="1" dirty="0">
                <a:solidFill>
                  <a:srgbClr val="FFFFFF"/>
                </a:solidFill>
                <a:latin typeface="BIZ UDPゴシック"/>
                <a:ea typeface="BIZ UDPゴシック"/>
                <a:cs typeface="BIZ UDPゴシック"/>
              </a:rPr>
              <a:t>残響</a:t>
            </a:r>
            <a:endParaRPr lang="ja-JP" altLang="en-US" sz="800" dirty="0"/>
          </a:p>
        </p:txBody>
      </p:sp>
      <p:sp>
        <p:nvSpPr>
          <p:cNvPr id="24" name="テキスト 24"/>
          <p:cNvSpPr txBox="1"/>
          <p:nvPr/>
        </p:nvSpPr>
        <p:spPr>
          <a:xfrm>
            <a:off x="1188720" y="3977640"/>
            <a:ext cx="2679192" cy="18288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800" dirty="0">
                <a:solidFill>
                  <a:srgbClr val="5C6677"/>
                </a:solidFill>
                <a:latin typeface="BIZ UDPゴシック"/>
                <a:ea typeface="BIZ UDPゴシック"/>
                <a:cs typeface="BIZ UDPゴシック"/>
              </a:rPr>
              <a:t>時間 →</a:t>
            </a:r>
            <a:endParaRPr lang="ja-JP" altLang="en-US" sz="800" dirty="0"/>
          </a:p>
        </p:txBody>
      </p:sp>
      <p:sp>
        <p:nvSpPr>
          <p:cNvPr id="25" name="テキスト 25"/>
          <p:cNvSpPr txBox="1"/>
          <p:nvPr/>
        </p:nvSpPr>
        <p:spPr>
          <a:xfrm>
            <a:off x="777240" y="4069080"/>
            <a:ext cx="3136392"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5C6677"/>
                </a:solidFill>
                <a:latin typeface="BIZ UDPゴシック"/>
                <a:ea typeface="BIZ UDPゴシック"/>
                <a:cs typeface="BIZ UDPゴシック"/>
              </a:rPr>
              <a:t>原因</a:t>
            </a:r>
            <a:endParaRPr lang="ja-JP" altLang="en-US" sz="1100" dirty="0"/>
          </a:p>
        </p:txBody>
      </p:sp>
      <p:sp>
        <p:nvSpPr>
          <p:cNvPr id="26" name="テキスト 26"/>
          <p:cNvSpPr txBox="1"/>
          <p:nvPr/>
        </p:nvSpPr>
        <p:spPr>
          <a:xfrm>
            <a:off x="777240" y="4297680"/>
            <a:ext cx="3136392" cy="91440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残響の始まりを部屋の体積から決めていて、広い部屋で順番が逆転した（14 m の部屋で 9.3 ms 先）</a:t>
            </a:r>
            <a:endParaRPr lang="ja-JP" altLang="en-US" sz="1200" dirty="0"/>
          </a:p>
        </p:txBody>
      </p:sp>
      <p:sp>
        <p:nvSpPr>
          <p:cNvPr id="27" name="図形 27"/>
          <p:cNvSpPr/>
          <p:nvPr/>
        </p:nvSpPr>
        <p:spPr>
          <a:xfrm>
            <a:off x="731520" y="5212080"/>
            <a:ext cx="3227832" cy="914400"/>
          </a:xfrm>
          <a:prstGeom prst="roundRect">
            <a:avLst>
              <a:gd name="adj" fmla="val 8000"/>
            </a:avLst>
          </a:prstGeom>
          <a:solidFill>
            <a:srgbClr val="FBF1DF"/>
          </a:solidFill>
          <a:ln>
            <a:noFill/>
          </a:ln>
        </p:spPr>
      </p:sp>
      <p:sp>
        <p:nvSpPr>
          <p:cNvPr id="28" name="テキスト 28"/>
          <p:cNvSpPr txBox="1"/>
          <p:nvPr/>
        </p:nvSpPr>
        <p:spPr>
          <a:xfrm>
            <a:off x="914400" y="5266944"/>
            <a:ext cx="2862072"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9A6212"/>
                </a:solidFill>
                <a:latin typeface="BIZ UDPゴシック"/>
                <a:ea typeface="BIZ UDPゴシック"/>
                <a:cs typeface="BIZ UDPゴシック"/>
              </a:rPr>
              <a:t>直し方</a:t>
            </a:r>
            <a:endParaRPr lang="ja-JP" altLang="en-US" sz="1100" dirty="0"/>
          </a:p>
        </p:txBody>
      </p:sp>
      <p:sp>
        <p:nvSpPr>
          <p:cNvPr id="29" name="テキスト 29"/>
          <p:cNvSpPr txBox="1"/>
          <p:nvPr/>
        </p:nvSpPr>
        <p:spPr>
          <a:xfrm>
            <a:off x="914400" y="5504688"/>
            <a:ext cx="2862072" cy="59436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残響は、最初の反射が届いてから始める（今のコアで毎回検査）</a:t>
            </a:r>
            <a:endParaRPr lang="ja-JP" altLang="en-US" sz="1200" dirty="0"/>
          </a:p>
        </p:txBody>
      </p:sp>
      <p:sp>
        <p:nvSpPr>
          <p:cNvPr id="30" name="カード 30"/>
          <p:cNvSpPr/>
          <p:nvPr/>
        </p:nvSpPr>
        <p:spPr>
          <a:xfrm>
            <a:off x="4297680" y="1965960"/>
            <a:ext cx="3593592" cy="4297680"/>
          </a:xfrm>
          <a:prstGeom prst="roundRect">
            <a:avLst>
              <a:gd name="adj" fmla="val 4000"/>
            </a:avLst>
          </a:prstGeom>
          <a:solidFill>
            <a:srgbClr val="F0F2F5"/>
          </a:solidFill>
          <a:ln>
            <a:noFill/>
          </a:ln>
        </p:spPr>
      </p:sp>
      <p:sp>
        <p:nvSpPr>
          <p:cNvPr id="31" name="図形 31"/>
          <p:cNvSpPr/>
          <p:nvPr/>
        </p:nvSpPr>
        <p:spPr>
          <a:xfrm>
            <a:off x="4526280" y="2121408"/>
            <a:ext cx="347472" cy="347472"/>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2</a:t>
            </a:r>
            <a:endParaRPr lang="ja-JP" altLang="en-US" sz="1300" dirty="0"/>
          </a:p>
        </p:txBody>
      </p:sp>
      <p:sp>
        <p:nvSpPr>
          <p:cNvPr id="32" name="テキスト 32"/>
          <p:cNvSpPr txBox="1"/>
          <p:nvPr/>
        </p:nvSpPr>
        <p:spPr>
          <a:xfrm>
            <a:off x="4983480" y="2084832"/>
            <a:ext cx="2724912" cy="685800"/>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350" b="1" dirty="0">
                <a:solidFill>
                  <a:srgbClr val="1E2430"/>
                </a:solidFill>
                <a:latin typeface="BIZ UDPゴシック"/>
                <a:ea typeface="BIZ UDPゴシック"/>
                <a:cs typeface="BIZ UDPゴシック"/>
              </a:rPr>
              <a:t>扉を動かすと「ぷつぷつ」鳴った</a:t>
            </a:r>
            <a:endParaRPr lang="ja-JP" altLang="en-US" sz="1350" dirty="0"/>
          </a:p>
        </p:txBody>
      </p:sp>
      <p:cxnSp>
        <p:nvCxnSpPr>
          <p:cNvPr id="33" name="線 33"/>
          <p:cNvCxnSpPr/>
          <p:nvPr/>
        </p:nvCxnSpPr>
        <p:spPr>
          <a:xfrm>
            <a:off x="4526280" y="3675888"/>
            <a:ext cx="1431036" cy="0"/>
          </a:xfrm>
          <a:prstGeom prst="line">
            <a:avLst/>
          </a:prstGeom>
          <a:ln w="12700">
            <a:solidFill>
              <a:srgbClr val="8A94A6"/>
            </a:solidFill>
          </a:ln>
        </p:spPr>
      </p:cxnSp>
      <p:cxnSp>
        <p:nvCxnSpPr>
          <p:cNvPr id="34" name="線 34"/>
          <p:cNvCxnSpPr/>
          <p:nvPr/>
        </p:nvCxnSpPr>
        <p:spPr>
          <a:xfrm>
            <a:off x="4526280" y="2807208"/>
            <a:ext cx="0" cy="868680"/>
          </a:xfrm>
          <a:prstGeom prst="line">
            <a:avLst/>
          </a:prstGeom>
          <a:ln w="12700">
            <a:solidFill>
              <a:srgbClr val="8A94A6"/>
            </a:solidFill>
          </a:ln>
        </p:spPr>
      </p:cxnSp>
      <p:sp>
        <p:nvSpPr>
          <p:cNvPr id="35" name="折れ線 35"/>
          <p:cNvSpPr/>
          <p:nvPr/>
        </p:nvSpPr>
        <p:spPr>
          <a:xfrm>
            <a:off x="4526280" y="2954884"/>
            <a:ext cx="1431036" cy="590702"/>
          </a:xfrm>
          <a:custGeom>
            <a:avLst/>
            <a:gdLst/>
            <a:ahLst/>
            <a:cxnLst/>
            <a:rect l="0" t="0" r="r" b="b"/>
            <a:pathLst>
              <a:path w="1431036" h="590702" fill="none">
                <a:moveTo>
                  <a:pt x="0" y="590702"/>
                </a:moveTo>
                <a:lnTo>
                  <a:pt x="286207" y="590702"/>
                </a:lnTo>
                <a:lnTo>
                  <a:pt x="286207" y="443027"/>
                </a:lnTo>
                <a:lnTo>
                  <a:pt x="572414" y="443027"/>
                </a:lnTo>
                <a:lnTo>
                  <a:pt x="572414" y="295351"/>
                </a:lnTo>
                <a:lnTo>
                  <a:pt x="858622" y="295351"/>
                </a:lnTo>
                <a:lnTo>
                  <a:pt x="858622" y="147676"/>
                </a:lnTo>
                <a:lnTo>
                  <a:pt x="1144829" y="147676"/>
                </a:lnTo>
                <a:lnTo>
                  <a:pt x="1144829" y="0"/>
                </a:lnTo>
                <a:lnTo>
                  <a:pt x="1431036" y="0"/>
                </a:lnTo>
              </a:path>
            </a:pathLst>
          </a:custGeom>
          <a:noFill/>
          <a:ln w="25400">
            <a:solidFill>
              <a:srgbClr val="5C6677"/>
            </a:solidFill>
          </a:ln>
        </p:spPr>
      </p:sp>
      <p:sp>
        <p:nvSpPr>
          <p:cNvPr id="36" name="テキスト 36"/>
          <p:cNvSpPr txBox="1"/>
          <p:nvPr/>
        </p:nvSpPr>
        <p:spPr>
          <a:xfrm>
            <a:off x="4526280" y="3721608"/>
            <a:ext cx="1431036"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前：段になる</a:t>
            </a:r>
            <a:endParaRPr lang="ja-JP" altLang="en-US" sz="900" dirty="0"/>
          </a:p>
        </p:txBody>
      </p:sp>
      <p:cxnSp>
        <p:nvCxnSpPr>
          <p:cNvPr id="37" name="線 37"/>
          <p:cNvCxnSpPr/>
          <p:nvPr/>
        </p:nvCxnSpPr>
        <p:spPr>
          <a:xfrm>
            <a:off x="6231636" y="3675888"/>
            <a:ext cx="1431036" cy="0"/>
          </a:xfrm>
          <a:prstGeom prst="line">
            <a:avLst/>
          </a:prstGeom>
          <a:ln w="12700">
            <a:solidFill>
              <a:srgbClr val="8A94A6"/>
            </a:solidFill>
          </a:ln>
        </p:spPr>
      </p:cxnSp>
      <p:cxnSp>
        <p:nvCxnSpPr>
          <p:cNvPr id="38" name="線 38"/>
          <p:cNvCxnSpPr/>
          <p:nvPr/>
        </p:nvCxnSpPr>
        <p:spPr>
          <a:xfrm>
            <a:off x="6231636" y="2807208"/>
            <a:ext cx="0" cy="868680"/>
          </a:xfrm>
          <a:prstGeom prst="line">
            <a:avLst/>
          </a:prstGeom>
          <a:ln w="12700">
            <a:solidFill>
              <a:srgbClr val="8A94A6"/>
            </a:solidFill>
          </a:ln>
        </p:spPr>
      </p:cxnSp>
      <p:sp>
        <p:nvSpPr>
          <p:cNvPr id="39" name="折れ線 39"/>
          <p:cNvSpPr/>
          <p:nvPr/>
        </p:nvSpPr>
        <p:spPr>
          <a:xfrm>
            <a:off x="6231636" y="2807208"/>
            <a:ext cx="1431036" cy="738378"/>
          </a:xfrm>
          <a:custGeom>
            <a:avLst/>
            <a:gdLst/>
            <a:ahLst/>
            <a:cxnLst/>
            <a:rect l="0" t="0" r="r" b="b"/>
            <a:pathLst>
              <a:path w="1431036" h="738378" fill="none">
                <a:moveTo>
                  <a:pt x="0" y="738378"/>
                </a:moveTo>
                <a:lnTo>
                  <a:pt x="1431036" y="0"/>
                </a:lnTo>
              </a:path>
            </a:pathLst>
          </a:custGeom>
          <a:noFill/>
          <a:ln w="28575">
            <a:solidFill>
              <a:srgbClr val="E3A33B"/>
            </a:solidFill>
          </a:ln>
        </p:spPr>
      </p:sp>
      <p:sp>
        <p:nvSpPr>
          <p:cNvPr id="40" name="テキスト 40"/>
          <p:cNvSpPr txBox="1"/>
          <p:nvPr/>
        </p:nvSpPr>
        <p:spPr>
          <a:xfrm>
            <a:off x="6231636" y="3721608"/>
            <a:ext cx="1431036"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b="1" dirty="0">
                <a:solidFill>
                  <a:srgbClr val="9A6212"/>
                </a:solidFill>
                <a:latin typeface="BIZ UDPゴシック"/>
                <a:ea typeface="BIZ UDPゴシック"/>
                <a:cs typeface="BIZ UDPゴシック"/>
              </a:rPr>
              <a:t>今：なめらか</a:t>
            </a:r>
            <a:endParaRPr lang="ja-JP" altLang="en-US" sz="900" dirty="0"/>
          </a:p>
        </p:txBody>
      </p:sp>
      <p:sp>
        <p:nvSpPr>
          <p:cNvPr id="41" name="テキスト 41"/>
          <p:cNvSpPr txBox="1"/>
          <p:nvPr/>
        </p:nvSpPr>
        <p:spPr>
          <a:xfrm>
            <a:off x="4526280" y="4069080"/>
            <a:ext cx="3136392"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5C6677"/>
                </a:solidFill>
                <a:latin typeface="BIZ UDPゴシック"/>
                <a:ea typeface="BIZ UDPゴシック"/>
                <a:cs typeface="BIZ UDPゴシック"/>
              </a:rPr>
              <a:t>原因</a:t>
            </a:r>
            <a:endParaRPr lang="ja-JP" altLang="en-US" sz="1100" dirty="0"/>
          </a:p>
        </p:txBody>
      </p:sp>
      <p:sp>
        <p:nvSpPr>
          <p:cNvPr id="42" name="テキスト 42"/>
          <p:cNvSpPr txBox="1"/>
          <p:nvPr/>
        </p:nvSpPr>
        <p:spPr>
          <a:xfrm>
            <a:off x="4526280" y="4297680"/>
            <a:ext cx="3136392" cy="91440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残響の量が 85 ms に 1 回しか変わらず段になっていた。雑音では埋もれ、正弦波で測って見つけた</a:t>
            </a:r>
            <a:endParaRPr lang="ja-JP" altLang="en-US" sz="1200" dirty="0"/>
          </a:p>
        </p:txBody>
      </p:sp>
      <p:sp>
        <p:nvSpPr>
          <p:cNvPr id="43" name="図形 43"/>
          <p:cNvSpPr/>
          <p:nvPr/>
        </p:nvSpPr>
        <p:spPr>
          <a:xfrm>
            <a:off x="4480560" y="5212080"/>
            <a:ext cx="3227832" cy="914400"/>
          </a:xfrm>
          <a:prstGeom prst="roundRect">
            <a:avLst>
              <a:gd name="adj" fmla="val 8000"/>
            </a:avLst>
          </a:prstGeom>
          <a:solidFill>
            <a:srgbClr val="FBF1DF"/>
          </a:solidFill>
          <a:ln>
            <a:noFill/>
          </a:ln>
        </p:spPr>
      </p:sp>
      <p:sp>
        <p:nvSpPr>
          <p:cNvPr id="44" name="テキスト 44"/>
          <p:cNvSpPr txBox="1"/>
          <p:nvPr/>
        </p:nvSpPr>
        <p:spPr>
          <a:xfrm>
            <a:off x="4663440" y="5266944"/>
            <a:ext cx="2862072"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9A6212"/>
                </a:solidFill>
                <a:latin typeface="BIZ UDPゴシック"/>
                <a:ea typeface="BIZ UDPゴシック"/>
                <a:cs typeface="BIZ UDPゴシック"/>
              </a:rPr>
              <a:t>直し方</a:t>
            </a:r>
            <a:endParaRPr lang="ja-JP" altLang="en-US" sz="1100" dirty="0"/>
          </a:p>
        </p:txBody>
      </p:sp>
      <p:sp>
        <p:nvSpPr>
          <p:cNvPr id="45" name="テキスト 45"/>
          <p:cNvSpPr txBox="1"/>
          <p:nvPr/>
        </p:nvSpPr>
        <p:spPr>
          <a:xfrm>
            <a:off x="4663440" y="5504688"/>
            <a:ext cx="2862072" cy="59436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量は必ず時間でなめらかにつなぐ。波形の段差が約 1/7 に</a:t>
            </a:r>
            <a:endParaRPr lang="ja-JP" altLang="en-US" sz="1200" dirty="0"/>
          </a:p>
        </p:txBody>
      </p:sp>
      <p:sp>
        <p:nvSpPr>
          <p:cNvPr id="46" name="カード 46"/>
          <p:cNvSpPr/>
          <p:nvPr/>
        </p:nvSpPr>
        <p:spPr>
          <a:xfrm>
            <a:off x="8046720" y="1965960"/>
            <a:ext cx="3593592" cy="4297680"/>
          </a:xfrm>
          <a:prstGeom prst="roundRect">
            <a:avLst>
              <a:gd name="adj" fmla="val 4000"/>
            </a:avLst>
          </a:prstGeom>
          <a:solidFill>
            <a:srgbClr val="F0F2F5"/>
          </a:solidFill>
          <a:ln>
            <a:noFill/>
          </a:ln>
        </p:spPr>
      </p:sp>
      <p:sp>
        <p:nvSpPr>
          <p:cNvPr id="47" name="図形 47"/>
          <p:cNvSpPr/>
          <p:nvPr/>
        </p:nvSpPr>
        <p:spPr>
          <a:xfrm>
            <a:off x="8275320" y="2121408"/>
            <a:ext cx="347472" cy="347472"/>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3</a:t>
            </a:r>
            <a:endParaRPr lang="ja-JP" altLang="en-US" sz="1300" dirty="0"/>
          </a:p>
        </p:txBody>
      </p:sp>
      <p:sp>
        <p:nvSpPr>
          <p:cNvPr id="48" name="テキスト 48"/>
          <p:cNvSpPr txBox="1"/>
          <p:nvPr/>
        </p:nvSpPr>
        <p:spPr>
          <a:xfrm>
            <a:off x="8732520" y="2084832"/>
            <a:ext cx="2724912" cy="685800"/>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350" b="1" dirty="0">
                <a:solidFill>
                  <a:srgbClr val="1E2430"/>
                </a:solidFill>
                <a:latin typeface="BIZ UDPゴシック"/>
                <a:ea typeface="BIZ UDPゴシック"/>
                <a:cs typeface="BIZ UDPゴシック"/>
              </a:rPr>
              <a:t>部屋どうしの FDN を結び返すと、音が膨らみ続けた</a:t>
            </a:r>
            <a:endParaRPr lang="ja-JP" altLang="en-US" sz="1350" dirty="0"/>
          </a:p>
        </p:txBody>
      </p:sp>
      <p:sp>
        <p:nvSpPr>
          <p:cNvPr id="49" name="図形 49"/>
          <p:cNvSpPr/>
          <p:nvPr/>
        </p:nvSpPr>
        <p:spPr>
          <a:xfrm>
            <a:off x="8412480" y="2990088"/>
            <a:ext cx="914400" cy="548640"/>
          </a:xfrm>
          <a:prstGeom prst="roundRect">
            <a:avLst/>
          </a:prstGeom>
          <a:solidFill>
            <a:srgbClr val="FFFFFF"/>
          </a:solidFill>
          <a:ln w="12700">
            <a:solidFill>
              <a:srgbClr val="8A94A6"/>
            </a:solidFill>
          </a:ln>
        </p:spPr>
        <p:txBody>
          <a:bodyPr wrap="square" lIns="54864" tIns="27432" rIns="54864" bIns="27432" rtlCol="0" anchor="ctr">
            <a:noAutofit/>
          </a:bodyPr>
          <a:lstStyle/>
          <a:p>
            <a:pPr algn="ctr" marL="0" indent="0">
              <a:spcBef>
                <a:spcPts val="0"/>
              </a:spcBef>
              <a:spcAft>
                <a:spcPts val="0"/>
              </a:spcAft>
              <a:buNone/>
            </a:pPr>
            <a:r>
              <a:rPr lang="ja-JP" altLang="en-US" sz="950" b="1" dirty="0">
                <a:solidFill>
                  <a:srgbClr val="1E2430"/>
                </a:solidFill>
                <a:latin typeface="BIZ UDPゴシック"/>
                <a:ea typeface="BIZ UDPゴシック"/>
                <a:cs typeface="BIZ UDPゴシック"/>
              </a:rPr>
              <a:t>部屋 A</a:t>
            </a:r>
            <a:endParaRPr lang="ja-JP" altLang="en-US" sz="950" dirty="0"/>
          </a:p>
          <a:p>
            <a:pPr algn="ctr" marL="0" indent="0">
              <a:spcBef>
                <a:spcPts val="0"/>
              </a:spcBef>
              <a:spcAft>
                <a:spcPts val="0"/>
              </a:spcAft>
              <a:buNone/>
            </a:pPr>
            <a:r>
              <a:rPr lang="ja-JP" altLang="en-US" sz="850" dirty="0">
                <a:solidFill>
                  <a:srgbClr val="5C6677"/>
                </a:solidFill>
                <a:latin typeface="BIZ UDPゴシック"/>
                <a:ea typeface="BIZ UDPゴシック"/>
                <a:cs typeface="BIZ UDPゴシック"/>
              </a:rPr>
              <a:t>FDN</a:t>
            </a:r>
            <a:endParaRPr lang="ja-JP" altLang="en-US" sz="850" dirty="0"/>
          </a:p>
        </p:txBody>
      </p:sp>
      <p:sp>
        <p:nvSpPr>
          <p:cNvPr id="50" name="図形 50"/>
          <p:cNvSpPr/>
          <p:nvPr/>
        </p:nvSpPr>
        <p:spPr>
          <a:xfrm>
            <a:off x="10360152" y="2990088"/>
            <a:ext cx="914400" cy="548640"/>
          </a:xfrm>
          <a:prstGeom prst="roundRect">
            <a:avLst/>
          </a:prstGeom>
          <a:solidFill>
            <a:srgbClr val="FFFFFF"/>
          </a:solidFill>
          <a:ln w="12700">
            <a:solidFill>
              <a:srgbClr val="8A94A6"/>
            </a:solidFill>
          </a:ln>
        </p:spPr>
        <p:txBody>
          <a:bodyPr wrap="square" lIns="54864" tIns="27432" rIns="54864" bIns="27432" rtlCol="0" anchor="ctr">
            <a:noAutofit/>
          </a:bodyPr>
          <a:lstStyle/>
          <a:p>
            <a:pPr algn="ctr" marL="0" indent="0">
              <a:spcBef>
                <a:spcPts val="0"/>
              </a:spcBef>
              <a:spcAft>
                <a:spcPts val="0"/>
              </a:spcAft>
              <a:buNone/>
            </a:pPr>
            <a:r>
              <a:rPr lang="ja-JP" altLang="en-US" sz="950" b="1" dirty="0">
                <a:solidFill>
                  <a:srgbClr val="1E2430"/>
                </a:solidFill>
                <a:latin typeface="BIZ UDPゴシック"/>
                <a:ea typeface="BIZ UDPゴシック"/>
                <a:cs typeface="BIZ UDPゴシック"/>
              </a:rPr>
              <a:t>部屋 B</a:t>
            </a:r>
            <a:endParaRPr lang="ja-JP" altLang="en-US" sz="950" dirty="0"/>
          </a:p>
          <a:p>
            <a:pPr algn="ctr" marL="0" indent="0">
              <a:spcBef>
                <a:spcPts val="0"/>
              </a:spcBef>
              <a:spcAft>
                <a:spcPts val="0"/>
              </a:spcAft>
              <a:buNone/>
            </a:pPr>
            <a:r>
              <a:rPr lang="ja-JP" altLang="en-US" sz="850" dirty="0">
                <a:solidFill>
                  <a:srgbClr val="5C6677"/>
                </a:solidFill>
                <a:latin typeface="BIZ UDPゴシック"/>
                <a:ea typeface="BIZ UDPゴシック"/>
                <a:cs typeface="BIZ UDPゴシック"/>
              </a:rPr>
              <a:t>FDN</a:t>
            </a:r>
            <a:endParaRPr lang="ja-JP" altLang="en-US" sz="850" dirty="0"/>
          </a:p>
        </p:txBody>
      </p:sp>
      <p:cxnSp>
        <p:nvCxnSpPr>
          <p:cNvPr id="51" name="線 51"/>
          <p:cNvCxnSpPr/>
          <p:nvPr/>
        </p:nvCxnSpPr>
        <p:spPr>
          <a:xfrm>
            <a:off x="9326880" y="3264408"/>
            <a:ext cx="1033272" cy="0"/>
          </a:xfrm>
          <a:prstGeom prst="line">
            <a:avLst/>
          </a:prstGeom>
          <a:ln w="19050">
            <a:solidFill>
              <a:srgbClr val="1E2430"/>
            </a:solidFill>
            <a:tailEnd type="triangle" w="med" len="med"/>
          </a:ln>
        </p:spPr>
      </p:cxnSp>
      <p:sp>
        <p:nvSpPr>
          <p:cNvPr id="52" name="折れ線 52"/>
          <p:cNvSpPr/>
          <p:nvPr/>
        </p:nvSpPr>
        <p:spPr>
          <a:xfrm>
            <a:off x="8869680" y="3538728"/>
            <a:ext cx="1947672" cy="292608"/>
          </a:xfrm>
          <a:custGeom>
            <a:avLst/>
            <a:gdLst/>
            <a:ahLst/>
            <a:cxnLst/>
            <a:rect l="0" t="0" r="r" b="b"/>
            <a:pathLst>
              <a:path w="1947672" h="292608" fill="none">
                <a:moveTo>
                  <a:pt x="1947672" y="0"/>
                </a:moveTo>
                <a:lnTo>
                  <a:pt x="1947672" y="292608"/>
                </a:lnTo>
                <a:lnTo>
                  <a:pt x="0" y="292608"/>
                </a:lnTo>
                <a:lnTo>
                  <a:pt x="0" y="18288"/>
                </a:lnTo>
              </a:path>
            </a:pathLst>
          </a:custGeom>
          <a:noFill/>
          <a:ln w="19050">
            <a:solidFill>
              <a:srgbClr val="C9CED6"/>
            </a:solidFill>
            <a:prstDash val="dash"/>
            <a:tailEnd type="triangle" w="med" len="med"/>
          </a:ln>
        </p:spPr>
      </p:sp>
      <p:sp>
        <p:nvSpPr>
          <p:cNvPr id="53" name="テキスト 53"/>
          <p:cNvSpPr txBox="1"/>
          <p:nvPr/>
        </p:nvSpPr>
        <p:spPr>
          <a:xfrm>
            <a:off x="9020556" y="3630168"/>
            <a:ext cx="164592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b="1" dirty="0">
                <a:solidFill>
                  <a:srgbClr val="5C6677"/>
                </a:solidFill>
                <a:latin typeface="BIZ UDPゴシック"/>
                <a:ea typeface="BIZ UDPゴシック"/>
                <a:cs typeface="BIZ UDPゴシック"/>
              </a:rPr>
              <a:t>×　結び返さない</a:t>
            </a:r>
            <a:endParaRPr lang="ja-JP" altLang="en-US" sz="900" dirty="0"/>
          </a:p>
        </p:txBody>
      </p:sp>
      <p:sp>
        <p:nvSpPr>
          <p:cNvPr id="54" name="テキスト 54"/>
          <p:cNvSpPr txBox="1"/>
          <p:nvPr/>
        </p:nvSpPr>
        <p:spPr>
          <a:xfrm>
            <a:off x="8275320" y="4069080"/>
            <a:ext cx="3136392"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5C6677"/>
                </a:solidFill>
                <a:latin typeface="BIZ UDPゴシック"/>
                <a:ea typeface="BIZ UDPゴシック"/>
                <a:cs typeface="BIZ UDPゴシック"/>
              </a:rPr>
              <a:t>原因</a:t>
            </a:r>
            <a:endParaRPr lang="ja-JP" altLang="en-US" sz="1100" dirty="0"/>
          </a:p>
        </p:txBody>
      </p:sp>
      <p:sp>
        <p:nvSpPr>
          <p:cNvPr id="55" name="テキスト 55"/>
          <p:cNvSpPr txBox="1"/>
          <p:nvPr/>
        </p:nvSpPr>
        <p:spPr>
          <a:xfrm>
            <a:off x="8275320" y="4297680"/>
            <a:ext cx="3136392" cy="91440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FDN は響きを作る共振器なので、結び返すと山の周波数で往復のたびに音が増える（数秒で 1 万倍以上）</a:t>
            </a:r>
            <a:endParaRPr lang="ja-JP" altLang="en-US" sz="1200" dirty="0"/>
          </a:p>
        </p:txBody>
      </p:sp>
      <p:sp>
        <p:nvSpPr>
          <p:cNvPr id="56" name="図形 56"/>
          <p:cNvSpPr/>
          <p:nvPr/>
        </p:nvSpPr>
        <p:spPr>
          <a:xfrm>
            <a:off x="8229600" y="5212080"/>
            <a:ext cx="3227832" cy="914400"/>
          </a:xfrm>
          <a:prstGeom prst="roundRect">
            <a:avLst>
              <a:gd name="adj" fmla="val 8000"/>
            </a:avLst>
          </a:prstGeom>
          <a:solidFill>
            <a:srgbClr val="FBF1DF"/>
          </a:solidFill>
          <a:ln>
            <a:noFill/>
          </a:ln>
        </p:spPr>
      </p:sp>
      <p:sp>
        <p:nvSpPr>
          <p:cNvPr id="57" name="テキスト 57"/>
          <p:cNvSpPr txBox="1"/>
          <p:nvPr/>
        </p:nvSpPr>
        <p:spPr>
          <a:xfrm>
            <a:off x="8412480" y="5266944"/>
            <a:ext cx="2862072" cy="237744"/>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00" b="1" dirty="0">
                <a:solidFill>
                  <a:srgbClr val="9A6212"/>
                </a:solidFill>
                <a:latin typeface="BIZ UDPゴシック"/>
                <a:ea typeface="BIZ UDPゴシック"/>
                <a:cs typeface="BIZ UDPゴシック"/>
              </a:rPr>
              <a:t>直し方</a:t>
            </a:r>
            <a:endParaRPr lang="ja-JP" altLang="en-US" sz="1100" dirty="0"/>
          </a:p>
        </p:txBody>
      </p:sp>
      <p:sp>
        <p:nvSpPr>
          <p:cNvPr id="58" name="テキスト 58"/>
          <p:cNvSpPr txBox="1"/>
          <p:nvPr/>
        </p:nvSpPr>
        <p:spPr>
          <a:xfrm>
            <a:off x="8412480" y="5504688"/>
            <a:ext cx="2862072" cy="594360"/>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200" dirty="0">
                <a:solidFill>
                  <a:srgbClr val="1E2430"/>
                </a:solidFill>
                <a:latin typeface="BIZ UDPゴシック"/>
                <a:ea typeface="BIZ UDPゴシック"/>
                <a:cs typeface="BIZ UDPゴシック"/>
              </a:rPr>
              <a:t>音源 → 部屋 → 耳の前向きだけで結ぶ</a:t>
            </a:r>
            <a:endParaRPr lang="ja-JP" altLang="en-US" sz="1200" dirty="0"/>
          </a:p>
        </p:txBody>
      </p:sp>
      <p:sp>
        <p:nvSpPr>
          <p:cNvPr id="59" name="注 59"/>
          <p:cNvSpPr txBox="1"/>
          <p:nvPr/>
        </p:nvSpPr>
        <p:spPr>
          <a:xfrm>
            <a:off x="548640" y="6419088"/>
            <a:ext cx="9875520" cy="256032"/>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5C6677"/>
                </a:solidFill>
                <a:latin typeface="BIZ UDPゴシック"/>
                <a:ea typeface="BIZ UDPゴシック"/>
                <a:cs typeface="BIZ UDPゴシック"/>
              </a:rPr>
              <a:t>※ 1・2 は作り直す前の実装で見つけた問題。1 は今のコアで対策済み（回帰テストで検査）。図は模式図</a:t>
            </a:r>
            <a:endParaRPr lang="ja-JP" altLang="en-US" sz="950" dirty="0"/>
          </a:p>
        </p:txBody>
      </p:sp>
      <p:sp>
        <p:nvSpPr>
          <p:cNvPr id="60" name="ページ番号 60"/>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28</a:t>
            </a:r>
            <a:endParaRPr lang="ja-JP" alt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2"/>
          <p:cNvSpPr txBox="1"/>
          <p:nvPr/>
        </p:nvSpPr>
        <p:spPr>
          <a:xfrm>
            <a:off x="548640" y="2487168"/>
            <a:ext cx="11091672" cy="36576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600" b="1" dirty="0">
                <a:solidFill>
                  <a:srgbClr val="9A6212"/>
                </a:solidFill>
                <a:latin typeface="BIZ UDPゴシック"/>
                <a:ea typeface="BIZ UDPゴシック"/>
                <a:cs typeface="BIZ UDPゴシック"/>
              </a:rPr>
              <a:t>実装内容　5</a:t>
            </a:r>
            <a:endParaRPr lang="ja-JP" altLang="en-US" sz="1600" dirty="0"/>
          </a:p>
        </p:txBody>
      </p:sp>
      <p:sp>
        <p:nvSpPr>
          <p:cNvPr id="3" name="テキスト 3"/>
          <p:cNvSpPr txBox="1"/>
          <p:nvPr/>
        </p:nvSpPr>
        <p:spPr>
          <a:xfrm>
            <a:off x="548640" y="2852928"/>
            <a:ext cx="11091672" cy="822960"/>
          </a:xfrm>
          <a:prstGeom prst="rect">
            <a:avLst/>
          </a:prstGeom>
          <a:noFill/>
        </p:spPr>
        <p:txBody>
          <a:bodyPr wrap="square" lIns="0" tIns="0" rIns="0" bIns="0" rtlCol="0" anchor="ctr">
            <a:noAutofit/>
          </a:bodyPr>
          <a:lstStyle/>
          <a:p>
            <a:pPr algn="ctr" marL="0" indent="0">
              <a:spcBef>
                <a:spcPts val="0"/>
              </a:spcBef>
              <a:spcAft>
                <a:spcPts val="0"/>
              </a:spcAft>
              <a:buNone/>
            </a:pPr>
            <a:r>
              <a:rPr lang="ja-JP" altLang="en-US" sz="4000" b="1" dirty="0">
                <a:solidFill>
                  <a:srgbClr val="1E2430"/>
                </a:solidFill>
                <a:latin typeface="BIZ UDPゴシック"/>
                <a:ea typeface="BIZ UDPゴシック"/>
                <a:cs typeface="BIZ UDPゴシック"/>
              </a:rPr>
              <a:t>隣の部屋でなっている音</a:t>
            </a:r>
            <a:endParaRPr lang="ja-JP" altLang="en-US" sz="4000" dirty="0"/>
          </a:p>
        </p:txBody>
      </p:sp>
      <p:cxnSp>
        <p:nvCxnSpPr>
          <p:cNvPr id="4" name="線 4"/>
          <p:cNvCxnSpPr/>
          <p:nvPr/>
        </p:nvCxnSpPr>
        <p:spPr>
          <a:xfrm>
            <a:off x="3813048" y="3840480"/>
            <a:ext cx="4572000" cy="0"/>
          </a:xfrm>
          <a:prstGeom prst="line">
            <a:avLst/>
          </a:prstGeom>
          <a:ln w="31750">
            <a:solidFill>
              <a:srgbClr val="E3A33B"/>
            </a:solidFill>
          </a:ln>
        </p:spPr>
      </p:cxnSp>
      <p:sp>
        <p:nvSpPr>
          <p:cNvPr id="5" name="ページ番号 5"/>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29</a:t>
            </a:r>
            <a:endParaRPr lang="ja-JP" alt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隣の部屋でなっている音</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隣の部屋の響きはドアから、入ったら包まれるように</a:t>
            </a:r>
            <a:endParaRPr lang="ja-JP" altLang="en-US" sz="2600" dirty="0"/>
          </a:p>
        </p:txBody>
      </p:sp>
      <p:sp>
        <p:nvSpPr>
          <p:cNvPr id="4" name="カード 4"/>
          <p:cNvSpPr/>
          <p:nvPr/>
        </p:nvSpPr>
        <p:spPr>
          <a:xfrm>
            <a:off x="548640" y="1417320"/>
            <a:ext cx="5349240" cy="1600200"/>
          </a:xfrm>
          <a:prstGeom prst="roundRect">
            <a:avLst>
              <a:gd name="adj" fmla="val 4000"/>
            </a:avLst>
          </a:prstGeom>
          <a:solidFill>
            <a:srgbClr val="F0F2F5"/>
          </a:solidFill>
          <a:ln>
            <a:noFill/>
          </a:ln>
        </p:spPr>
      </p:sp>
      <p:sp>
        <p:nvSpPr>
          <p:cNvPr id="5" name="ラベル 5"/>
          <p:cNvSpPr/>
          <p:nvPr/>
        </p:nvSpPr>
        <p:spPr>
          <a:xfrm>
            <a:off x="777240" y="1600200"/>
            <a:ext cx="914400" cy="310896"/>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理由</a:t>
            </a:r>
            <a:endParaRPr lang="ja-JP" altLang="en-US" sz="1300" dirty="0"/>
          </a:p>
        </p:txBody>
      </p:sp>
      <p:sp>
        <p:nvSpPr>
          <p:cNvPr id="6" name="テキスト 6"/>
          <p:cNvSpPr txBox="1"/>
          <p:nvPr/>
        </p:nvSpPr>
        <p:spPr>
          <a:xfrm>
            <a:off x="777240" y="2002536"/>
            <a:ext cx="4892040" cy="941832"/>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300" dirty="0">
                <a:solidFill>
                  <a:srgbClr val="1E2430"/>
                </a:solidFill>
                <a:latin typeface="BIZ UDPゴシック"/>
                <a:ea typeface="BIZ UDPゴシック"/>
                <a:cs typeface="BIZ UDPゴシック"/>
              </a:rPr>
              <a:t>そのままの反響音・残響音にすると、隣の部屋で鳴っている音の方向がわかりにくくなる（制作中に判明）。</a:t>
            </a:r>
            <a:endParaRPr lang="ja-JP" altLang="en-US" sz="1300" dirty="0"/>
          </a:p>
        </p:txBody>
      </p:sp>
      <p:sp>
        <p:nvSpPr>
          <p:cNvPr id="7" name="矢印 7"/>
          <p:cNvSpPr/>
          <p:nvPr/>
        </p:nvSpPr>
        <p:spPr>
          <a:xfrm>
            <a:off x="5952744" y="2089404"/>
            <a:ext cx="219456" cy="256032"/>
          </a:xfrm>
          <a:prstGeom prst="rightArrow">
            <a:avLst/>
          </a:prstGeom>
          <a:solidFill>
            <a:srgbClr val="E3A33B"/>
          </a:solidFill>
          <a:ln>
            <a:noFill/>
          </a:ln>
        </p:spPr>
      </p:sp>
      <p:sp>
        <p:nvSpPr>
          <p:cNvPr id="8" name="カード 8"/>
          <p:cNvSpPr/>
          <p:nvPr/>
        </p:nvSpPr>
        <p:spPr>
          <a:xfrm>
            <a:off x="6227064" y="1417320"/>
            <a:ext cx="5413248" cy="1600200"/>
          </a:xfrm>
          <a:prstGeom prst="roundRect">
            <a:avLst>
              <a:gd name="adj" fmla="val 4000"/>
            </a:avLst>
          </a:prstGeom>
          <a:solidFill>
            <a:srgbClr val="FBF1DF"/>
          </a:solidFill>
          <a:ln>
            <a:noFill/>
          </a:ln>
        </p:spPr>
      </p:sp>
      <p:sp>
        <p:nvSpPr>
          <p:cNvPr id="9" name="ラベル 9"/>
          <p:cNvSpPr/>
          <p:nvPr/>
        </p:nvSpPr>
        <p:spPr>
          <a:xfrm>
            <a:off x="6455664" y="1600200"/>
            <a:ext cx="1188720" cy="310896"/>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アプローチ</a:t>
            </a:r>
            <a:endParaRPr lang="ja-JP" altLang="en-US" sz="1300" dirty="0"/>
          </a:p>
        </p:txBody>
      </p:sp>
      <p:sp>
        <p:nvSpPr>
          <p:cNvPr id="10" name="テキスト 10"/>
          <p:cNvSpPr txBox="1"/>
          <p:nvPr/>
        </p:nvSpPr>
        <p:spPr>
          <a:xfrm>
            <a:off x="6455664" y="2002536"/>
            <a:ext cx="4956048" cy="941832"/>
          </a:xfrm>
          <a:prstGeom prst="rect">
            <a:avLst/>
          </a:prstGeom>
          <a:noFill/>
        </p:spPr>
        <p:txBody>
          <a:bodyPr wrap="square" lIns="0" tIns="0" rIns="0" bIns="0" rtlCol="0" anchor="t">
            <a:noAutofit/>
          </a:bodyPr>
          <a:lstStyle/>
          <a:p>
            <a:pPr algn="l" marL="0" indent="0">
              <a:lnSpc>
                <a:spcPct val="125000"/>
              </a:lnSpc>
              <a:spcBef>
                <a:spcPts val="0"/>
              </a:spcBef>
              <a:spcAft>
                <a:spcPts val="0"/>
              </a:spcAft>
              <a:buNone/>
            </a:pPr>
            <a:r>
              <a:rPr lang="ja-JP" altLang="en-US" sz="1300" dirty="0">
                <a:solidFill>
                  <a:srgbClr val="1E2430"/>
                </a:solidFill>
                <a:latin typeface="BIZ UDPゴシック"/>
                <a:ea typeface="BIZ UDPゴシック"/>
                <a:cs typeface="BIZ UDPゴシック"/>
              </a:rPr>
              <a:t>ドアの地点にリスナープローブを置き、そこで聞こえる反射音・残響音を保存して、音源としてそのまま流す。今いる部屋ではその音に反射・残響を起こさせない。部屋に入ったら LEV 側に回す。</a:t>
            </a:r>
            <a:endParaRPr lang="ja-JP" altLang="en-US" sz="1300" dirty="0"/>
          </a:p>
        </p:txBody>
      </p:sp>
      <p:sp>
        <p:nvSpPr>
          <p:cNvPr id="11" name="カード 11"/>
          <p:cNvSpPr/>
          <p:nvPr/>
        </p:nvSpPr>
        <p:spPr>
          <a:xfrm>
            <a:off x="548640" y="3200400"/>
            <a:ext cx="3593592" cy="3090672"/>
          </a:xfrm>
          <a:prstGeom prst="roundRect">
            <a:avLst>
              <a:gd name="adj" fmla="val 4000"/>
            </a:avLst>
          </a:prstGeom>
          <a:solidFill>
            <a:srgbClr val="F0F2F5"/>
          </a:solidFill>
          <a:ln>
            <a:noFill/>
          </a:ln>
        </p:spPr>
      </p:sp>
      <p:sp>
        <p:nvSpPr>
          <p:cNvPr id="12" name="ラベル 12"/>
          <p:cNvSpPr/>
          <p:nvPr/>
        </p:nvSpPr>
        <p:spPr>
          <a:xfrm>
            <a:off x="731520" y="3319272"/>
            <a:ext cx="548640" cy="292608"/>
          </a:xfrm>
          <a:prstGeom prst="roundRect">
            <a:avLst>
              <a:gd name="adj" fmla="val 50000"/>
            </a:avLst>
          </a:prstGeom>
          <a:solidFill>
            <a:srgbClr val="C9CED6"/>
          </a:solidFill>
          <a:ln>
            <a:noFill/>
          </a:ln>
        </p:spPr>
        <p:txBody>
          <a:bodyPr wrap="square" lIns="0" tIns="0" rIns="0" bIns="0" rtlCol="0" anchor="ctr">
            <a:noAutofit/>
          </a:bodyPr>
          <a:lstStyle/>
          <a:p>
            <a:pPr algn="ctr" marL="0" indent="0">
              <a:spcBef>
                <a:spcPts val="0"/>
              </a:spcBef>
              <a:spcAft>
                <a:spcPts val="0"/>
              </a:spcAft>
              <a:buNone/>
            </a:pPr>
            <a:r>
              <a:rPr lang="ja-JP" altLang="en-US" sz="1200" b="1" dirty="0">
                <a:solidFill>
                  <a:srgbClr val="1E2430"/>
                </a:solidFill>
                <a:latin typeface="BIZ UDPゴシック"/>
                <a:ea typeface="BIZ UDPゴシック"/>
                <a:cs typeface="BIZ UDPゴシック"/>
              </a:rPr>
              <a:t>前</a:t>
            </a:r>
            <a:endParaRPr lang="ja-JP" altLang="en-US" sz="1200" dirty="0"/>
          </a:p>
        </p:txBody>
      </p:sp>
      <p:sp>
        <p:nvSpPr>
          <p:cNvPr id="13" name="テキスト 13"/>
          <p:cNvSpPr txBox="1"/>
          <p:nvPr/>
        </p:nvSpPr>
        <p:spPr>
          <a:xfrm>
            <a:off x="1371600" y="3328416"/>
            <a:ext cx="2404872" cy="31089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50" b="1" dirty="0">
                <a:solidFill>
                  <a:srgbClr val="1E2430"/>
                </a:solidFill>
                <a:latin typeface="BIZ UDPゴシック"/>
                <a:ea typeface="BIZ UDPゴシック"/>
                <a:cs typeface="BIZ UDPゴシック"/>
              </a:rPr>
              <a:t>そのまま響かせる：方向がぼやける</a:t>
            </a:r>
            <a:endParaRPr lang="ja-JP" altLang="en-US" sz="1150" dirty="0"/>
          </a:p>
        </p:txBody>
      </p:sp>
      <p:sp>
        <p:nvSpPr>
          <p:cNvPr id="14" name="部屋 14"/>
          <p:cNvSpPr/>
          <p:nvPr/>
        </p:nvSpPr>
        <p:spPr>
          <a:xfrm>
            <a:off x="731520" y="4069080"/>
            <a:ext cx="1613916" cy="1874520"/>
          </a:xfrm>
          <a:prstGeom prst="rect">
            <a:avLst/>
          </a:prstGeom>
          <a:solidFill>
            <a:srgbClr val="FCF4E6"/>
          </a:solidFill>
          <a:ln w="25400">
            <a:solidFill>
              <a:srgbClr val="8A94A6"/>
            </a:solidFill>
          </a:ln>
        </p:spPr>
      </p:sp>
      <p:sp>
        <p:nvSpPr>
          <p:cNvPr id="15" name="部屋 15"/>
          <p:cNvSpPr/>
          <p:nvPr/>
        </p:nvSpPr>
        <p:spPr>
          <a:xfrm>
            <a:off x="2345436" y="4069080"/>
            <a:ext cx="1613916" cy="1874520"/>
          </a:xfrm>
          <a:prstGeom prst="rect">
            <a:avLst/>
          </a:prstGeom>
          <a:solidFill>
            <a:srgbClr val="FFFFFF"/>
          </a:solidFill>
          <a:ln w="25400">
            <a:solidFill>
              <a:srgbClr val="8A94A6"/>
            </a:solidFill>
          </a:ln>
        </p:spPr>
      </p:sp>
      <p:sp>
        <p:nvSpPr>
          <p:cNvPr id="16" name="開口 16"/>
          <p:cNvSpPr/>
          <p:nvPr/>
        </p:nvSpPr>
        <p:spPr>
          <a:xfrm>
            <a:off x="2318004" y="4781398"/>
            <a:ext cx="54864" cy="449885"/>
          </a:xfrm>
          <a:prstGeom prst="rect">
            <a:avLst/>
          </a:prstGeom>
          <a:solidFill>
            <a:srgbClr val="FFFFFF"/>
          </a:solidFill>
          <a:ln>
            <a:noFill/>
          </a:ln>
        </p:spPr>
      </p:sp>
      <p:sp>
        <p:nvSpPr>
          <p:cNvPr id="17" name="テキスト 17"/>
          <p:cNvSpPr txBox="1"/>
          <p:nvPr/>
        </p:nvSpPr>
        <p:spPr>
          <a:xfrm>
            <a:off x="731520" y="4105656"/>
            <a:ext cx="1613916"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響く部屋</a:t>
            </a:r>
            <a:endParaRPr lang="ja-JP" altLang="en-US" sz="900" dirty="0"/>
          </a:p>
        </p:txBody>
      </p:sp>
      <p:sp>
        <p:nvSpPr>
          <p:cNvPr id="18" name="テキスト 18"/>
          <p:cNvSpPr txBox="1"/>
          <p:nvPr/>
        </p:nvSpPr>
        <p:spPr>
          <a:xfrm>
            <a:off x="2345436" y="4105656"/>
            <a:ext cx="1613916"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今いる部屋</a:t>
            </a:r>
            <a:endParaRPr lang="ja-JP" altLang="en-US" sz="900" dirty="0"/>
          </a:p>
        </p:txBody>
      </p:sp>
      <p:sp>
        <p:nvSpPr>
          <p:cNvPr id="19" name="点 19"/>
          <p:cNvSpPr/>
          <p:nvPr/>
        </p:nvSpPr>
        <p:spPr>
          <a:xfrm>
            <a:off x="1236955" y="4572000"/>
            <a:ext cx="118872" cy="118872"/>
          </a:xfrm>
          <a:prstGeom prst="ellipse">
            <a:avLst/>
          </a:prstGeom>
          <a:solidFill>
            <a:srgbClr val="E3A33B"/>
          </a:solidFill>
          <a:ln>
            <a:noFill/>
          </a:ln>
        </p:spPr>
      </p:sp>
      <p:sp>
        <p:nvSpPr>
          <p:cNvPr id="20" name="テキスト 20"/>
          <p:cNvSpPr txBox="1"/>
          <p:nvPr/>
        </p:nvSpPr>
        <p:spPr>
          <a:xfrm>
            <a:off x="1022071" y="4695444"/>
            <a:ext cx="5486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1E2430"/>
                </a:solidFill>
                <a:latin typeface="BIZ UDPゴシック"/>
                <a:ea typeface="BIZ UDPゴシック"/>
                <a:cs typeface="BIZ UDPゴシック"/>
              </a:rPr>
              <a:t>音源</a:t>
            </a:r>
            <a:endParaRPr lang="ja-JP" altLang="en-US" sz="850" dirty="0"/>
          </a:p>
        </p:txBody>
      </p:sp>
      <p:sp>
        <p:nvSpPr>
          <p:cNvPr id="21" name="弧 21"/>
          <p:cNvSpPr/>
          <p:nvPr/>
        </p:nvSpPr>
        <p:spPr>
          <a:xfrm>
            <a:off x="2639187" y="4521708"/>
            <a:ext cx="219456" cy="219456"/>
          </a:xfrm>
          <a:custGeom>
            <a:avLst/>
            <a:gdLst/>
            <a:ahLst/>
            <a:cxnLst/>
            <a:rect l="0" t="0" r="r" b="b"/>
            <a:pathLst>
              <a:path w="219456" h="219456" fill="none">
                <a:moveTo>
                  <a:pt x="219456" y="109728"/>
                </a:moveTo>
                <a:lnTo>
                  <a:pt x="211103" y="67737"/>
                </a:lnTo>
                <a:lnTo>
                  <a:pt x="187317" y="32139"/>
                </a:lnTo>
                <a:lnTo>
                  <a:pt x="151719" y="8353"/>
                </a:lnTo>
                <a:lnTo>
                  <a:pt x="109728" y="0"/>
                </a:lnTo>
                <a:lnTo>
                  <a:pt x="67737" y="8353"/>
                </a:lnTo>
                <a:lnTo>
                  <a:pt x="32139" y="32139"/>
                </a:lnTo>
                <a:lnTo>
                  <a:pt x="8353" y="67737"/>
                </a:lnTo>
                <a:lnTo>
                  <a:pt x="0" y="109728"/>
                </a:lnTo>
                <a:lnTo>
                  <a:pt x="8353" y="151719"/>
                </a:lnTo>
                <a:lnTo>
                  <a:pt x="32139" y="187317"/>
                </a:lnTo>
                <a:lnTo>
                  <a:pt x="67737" y="211103"/>
                </a:lnTo>
                <a:lnTo>
                  <a:pt x="109728" y="219456"/>
                </a:lnTo>
                <a:lnTo>
                  <a:pt x="151719" y="211103"/>
                </a:lnTo>
                <a:lnTo>
                  <a:pt x="187317" y="187317"/>
                </a:lnTo>
                <a:lnTo>
                  <a:pt x="211103" y="151719"/>
                </a:lnTo>
                <a:lnTo>
                  <a:pt x="219456" y="109728"/>
                </a:lnTo>
              </a:path>
            </a:pathLst>
          </a:custGeom>
          <a:noFill/>
          <a:ln w="12700">
            <a:solidFill>
              <a:srgbClr val="E3A33B"/>
            </a:solidFill>
          </a:ln>
        </p:spPr>
      </p:sp>
      <p:sp>
        <p:nvSpPr>
          <p:cNvPr id="22" name="弧 22"/>
          <p:cNvSpPr/>
          <p:nvPr/>
        </p:nvSpPr>
        <p:spPr>
          <a:xfrm>
            <a:off x="3607537" y="4427982"/>
            <a:ext cx="219456" cy="219456"/>
          </a:xfrm>
          <a:custGeom>
            <a:avLst/>
            <a:gdLst/>
            <a:ahLst/>
            <a:cxnLst/>
            <a:rect l="0" t="0" r="r" b="b"/>
            <a:pathLst>
              <a:path w="219456" h="219456" fill="none">
                <a:moveTo>
                  <a:pt x="219456" y="109728"/>
                </a:moveTo>
                <a:lnTo>
                  <a:pt x="211103" y="67737"/>
                </a:lnTo>
                <a:lnTo>
                  <a:pt x="187317" y="32139"/>
                </a:lnTo>
                <a:lnTo>
                  <a:pt x="151719" y="8353"/>
                </a:lnTo>
                <a:lnTo>
                  <a:pt x="109728" y="0"/>
                </a:lnTo>
                <a:lnTo>
                  <a:pt x="67737" y="8353"/>
                </a:lnTo>
                <a:lnTo>
                  <a:pt x="32139" y="32139"/>
                </a:lnTo>
                <a:lnTo>
                  <a:pt x="8353" y="67737"/>
                </a:lnTo>
                <a:lnTo>
                  <a:pt x="0" y="109728"/>
                </a:lnTo>
                <a:lnTo>
                  <a:pt x="8353" y="151719"/>
                </a:lnTo>
                <a:lnTo>
                  <a:pt x="32139" y="187317"/>
                </a:lnTo>
                <a:lnTo>
                  <a:pt x="67737" y="211103"/>
                </a:lnTo>
                <a:lnTo>
                  <a:pt x="109728" y="219456"/>
                </a:lnTo>
                <a:lnTo>
                  <a:pt x="151719" y="211103"/>
                </a:lnTo>
                <a:lnTo>
                  <a:pt x="187317" y="187317"/>
                </a:lnTo>
                <a:lnTo>
                  <a:pt x="211103" y="151719"/>
                </a:lnTo>
                <a:lnTo>
                  <a:pt x="219456" y="109728"/>
                </a:lnTo>
              </a:path>
            </a:pathLst>
          </a:custGeom>
          <a:noFill/>
          <a:ln w="12700">
            <a:solidFill>
              <a:srgbClr val="E3A33B"/>
            </a:solidFill>
          </a:ln>
        </p:spPr>
      </p:sp>
      <p:sp>
        <p:nvSpPr>
          <p:cNvPr id="23" name="弧 23"/>
          <p:cNvSpPr/>
          <p:nvPr/>
        </p:nvSpPr>
        <p:spPr>
          <a:xfrm>
            <a:off x="3526841" y="5646420"/>
            <a:ext cx="219456" cy="219456"/>
          </a:xfrm>
          <a:custGeom>
            <a:avLst/>
            <a:gdLst/>
            <a:ahLst/>
            <a:cxnLst/>
            <a:rect l="0" t="0" r="r" b="b"/>
            <a:pathLst>
              <a:path w="219456" h="219456" fill="none">
                <a:moveTo>
                  <a:pt x="219456" y="109728"/>
                </a:moveTo>
                <a:lnTo>
                  <a:pt x="211103" y="67737"/>
                </a:lnTo>
                <a:lnTo>
                  <a:pt x="187317" y="32139"/>
                </a:lnTo>
                <a:lnTo>
                  <a:pt x="151719" y="8353"/>
                </a:lnTo>
                <a:lnTo>
                  <a:pt x="109728" y="0"/>
                </a:lnTo>
                <a:lnTo>
                  <a:pt x="67737" y="8353"/>
                </a:lnTo>
                <a:lnTo>
                  <a:pt x="32139" y="32139"/>
                </a:lnTo>
                <a:lnTo>
                  <a:pt x="8353" y="67737"/>
                </a:lnTo>
                <a:lnTo>
                  <a:pt x="0" y="109728"/>
                </a:lnTo>
                <a:lnTo>
                  <a:pt x="8353" y="151719"/>
                </a:lnTo>
                <a:lnTo>
                  <a:pt x="32139" y="187317"/>
                </a:lnTo>
                <a:lnTo>
                  <a:pt x="67737" y="211103"/>
                </a:lnTo>
                <a:lnTo>
                  <a:pt x="109728" y="219456"/>
                </a:lnTo>
                <a:lnTo>
                  <a:pt x="151719" y="211103"/>
                </a:lnTo>
                <a:lnTo>
                  <a:pt x="187317" y="187317"/>
                </a:lnTo>
                <a:lnTo>
                  <a:pt x="211103" y="151719"/>
                </a:lnTo>
                <a:lnTo>
                  <a:pt x="219456" y="109728"/>
                </a:lnTo>
              </a:path>
            </a:pathLst>
          </a:custGeom>
          <a:noFill/>
          <a:ln w="12700">
            <a:solidFill>
              <a:srgbClr val="E3A33B"/>
            </a:solidFill>
          </a:ln>
        </p:spPr>
      </p:sp>
      <p:sp>
        <p:nvSpPr>
          <p:cNvPr id="24" name="弧 24"/>
          <p:cNvSpPr/>
          <p:nvPr/>
        </p:nvSpPr>
        <p:spPr>
          <a:xfrm>
            <a:off x="2558491" y="5608930"/>
            <a:ext cx="219456" cy="219456"/>
          </a:xfrm>
          <a:custGeom>
            <a:avLst/>
            <a:gdLst/>
            <a:ahLst/>
            <a:cxnLst/>
            <a:rect l="0" t="0" r="r" b="b"/>
            <a:pathLst>
              <a:path w="219456" h="219456" fill="none">
                <a:moveTo>
                  <a:pt x="219456" y="109728"/>
                </a:moveTo>
                <a:lnTo>
                  <a:pt x="211103" y="67737"/>
                </a:lnTo>
                <a:lnTo>
                  <a:pt x="187317" y="32139"/>
                </a:lnTo>
                <a:lnTo>
                  <a:pt x="151719" y="8353"/>
                </a:lnTo>
                <a:lnTo>
                  <a:pt x="109728" y="0"/>
                </a:lnTo>
                <a:lnTo>
                  <a:pt x="67737" y="8353"/>
                </a:lnTo>
                <a:lnTo>
                  <a:pt x="32139" y="32139"/>
                </a:lnTo>
                <a:lnTo>
                  <a:pt x="8353" y="67737"/>
                </a:lnTo>
                <a:lnTo>
                  <a:pt x="0" y="109728"/>
                </a:lnTo>
                <a:lnTo>
                  <a:pt x="8353" y="151719"/>
                </a:lnTo>
                <a:lnTo>
                  <a:pt x="32139" y="187317"/>
                </a:lnTo>
                <a:lnTo>
                  <a:pt x="67737" y="211103"/>
                </a:lnTo>
                <a:lnTo>
                  <a:pt x="109728" y="219456"/>
                </a:lnTo>
                <a:lnTo>
                  <a:pt x="151719" y="211103"/>
                </a:lnTo>
                <a:lnTo>
                  <a:pt x="187317" y="187317"/>
                </a:lnTo>
                <a:lnTo>
                  <a:pt x="211103" y="151719"/>
                </a:lnTo>
                <a:lnTo>
                  <a:pt x="219456" y="109728"/>
                </a:lnTo>
              </a:path>
            </a:pathLst>
          </a:custGeom>
          <a:noFill/>
          <a:ln w="12700">
            <a:solidFill>
              <a:srgbClr val="E3A33B"/>
            </a:solidFill>
          </a:ln>
        </p:spPr>
      </p:sp>
      <p:sp>
        <p:nvSpPr>
          <p:cNvPr id="25" name="点 25"/>
          <p:cNvSpPr/>
          <p:nvPr/>
        </p:nvSpPr>
        <p:spPr>
          <a:xfrm>
            <a:off x="3254350" y="5171846"/>
            <a:ext cx="118872" cy="118872"/>
          </a:xfrm>
          <a:prstGeom prst="ellipse">
            <a:avLst/>
          </a:prstGeom>
          <a:solidFill>
            <a:srgbClr val="1E2430"/>
          </a:solidFill>
          <a:ln>
            <a:noFill/>
          </a:ln>
        </p:spPr>
      </p:sp>
      <p:sp>
        <p:nvSpPr>
          <p:cNvPr id="26" name="テキスト 26"/>
          <p:cNvSpPr txBox="1"/>
          <p:nvPr/>
        </p:nvSpPr>
        <p:spPr>
          <a:xfrm>
            <a:off x="2810866" y="5304434"/>
            <a:ext cx="10058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1E2430"/>
                </a:solidFill>
                <a:latin typeface="BIZ UDPゴシック"/>
                <a:ea typeface="BIZ UDPゴシック"/>
                <a:cs typeface="BIZ UDPゴシック"/>
              </a:rPr>
              <a:t>耳：どこから？</a:t>
            </a:r>
            <a:endParaRPr lang="ja-JP" altLang="en-US" sz="850" dirty="0"/>
          </a:p>
        </p:txBody>
      </p:sp>
      <p:sp>
        <p:nvSpPr>
          <p:cNvPr id="27" name="カード 27"/>
          <p:cNvSpPr/>
          <p:nvPr/>
        </p:nvSpPr>
        <p:spPr>
          <a:xfrm>
            <a:off x="4297680" y="3200400"/>
            <a:ext cx="3593592" cy="3090672"/>
          </a:xfrm>
          <a:prstGeom prst="roundRect">
            <a:avLst>
              <a:gd name="adj" fmla="val 4000"/>
            </a:avLst>
          </a:prstGeom>
          <a:solidFill>
            <a:srgbClr val="FBF1DF"/>
          </a:solidFill>
          <a:ln>
            <a:noFill/>
          </a:ln>
        </p:spPr>
      </p:sp>
      <p:sp>
        <p:nvSpPr>
          <p:cNvPr id="28" name="ラベル 28"/>
          <p:cNvSpPr/>
          <p:nvPr/>
        </p:nvSpPr>
        <p:spPr>
          <a:xfrm>
            <a:off x="4480560" y="3319272"/>
            <a:ext cx="548640" cy="292608"/>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200" b="1" dirty="0">
                <a:solidFill>
                  <a:srgbClr val="1E2430"/>
                </a:solidFill>
                <a:latin typeface="BIZ UDPゴシック"/>
                <a:ea typeface="BIZ UDPゴシック"/>
                <a:cs typeface="BIZ UDPゴシック"/>
              </a:rPr>
              <a:t>今</a:t>
            </a:r>
            <a:endParaRPr lang="ja-JP" altLang="en-US" sz="1200" dirty="0"/>
          </a:p>
        </p:txBody>
      </p:sp>
      <p:sp>
        <p:nvSpPr>
          <p:cNvPr id="29" name="テキスト 29"/>
          <p:cNvSpPr txBox="1"/>
          <p:nvPr/>
        </p:nvSpPr>
        <p:spPr>
          <a:xfrm>
            <a:off x="5120640" y="3328416"/>
            <a:ext cx="2404872" cy="31089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50" b="1" dirty="0">
                <a:solidFill>
                  <a:srgbClr val="1E2430"/>
                </a:solidFill>
                <a:latin typeface="BIZ UDPゴシック"/>
                <a:ea typeface="BIZ UDPゴシック"/>
                <a:cs typeface="BIZ UDPゴシック"/>
              </a:rPr>
              <a:t>隣にいる間：ドアから聞こえる</a:t>
            </a:r>
            <a:endParaRPr lang="ja-JP" altLang="en-US" sz="1150" dirty="0"/>
          </a:p>
        </p:txBody>
      </p:sp>
      <p:sp>
        <p:nvSpPr>
          <p:cNvPr id="30" name="部屋 30"/>
          <p:cNvSpPr/>
          <p:nvPr/>
        </p:nvSpPr>
        <p:spPr>
          <a:xfrm>
            <a:off x="4480560" y="4069080"/>
            <a:ext cx="1613916" cy="1874520"/>
          </a:xfrm>
          <a:prstGeom prst="rect">
            <a:avLst/>
          </a:prstGeom>
          <a:solidFill>
            <a:srgbClr val="FCF4E6"/>
          </a:solidFill>
          <a:ln w="25400">
            <a:solidFill>
              <a:srgbClr val="8A94A6"/>
            </a:solidFill>
          </a:ln>
        </p:spPr>
      </p:sp>
      <p:sp>
        <p:nvSpPr>
          <p:cNvPr id="31" name="部屋 31"/>
          <p:cNvSpPr/>
          <p:nvPr/>
        </p:nvSpPr>
        <p:spPr>
          <a:xfrm>
            <a:off x="6094476" y="4069080"/>
            <a:ext cx="1613916" cy="1874520"/>
          </a:xfrm>
          <a:prstGeom prst="rect">
            <a:avLst/>
          </a:prstGeom>
          <a:solidFill>
            <a:srgbClr val="FFFFFF"/>
          </a:solidFill>
          <a:ln w="25400">
            <a:solidFill>
              <a:srgbClr val="8A94A6"/>
            </a:solidFill>
          </a:ln>
        </p:spPr>
      </p:sp>
      <p:sp>
        <p:nvSpPr>
          <p:cNvPr id="32" name="開口 32"/>
          <p:cNvSpPr/>
          <p:nvPr/>
        </p:nvSpPr>
        <p:spPr>
          <a:xfrm>
            <a:off x="6067044" y="4781398"/>
            <a:ext cx="54864" cy="449885"/>
          </a:xfrm>
          <a:prstGeom prst="rect">
            <a:avLst/>
          </a:prstGeom>
          <a:solidFill>
            <a:srgbClr val="FFFFFF"/>
          </a:solidFill>
          <a:ln>
            <a:noFill/>
          </a:ln>
        </p:spPr>
      </p:sp>
      <p:sp>
        <p:nvSpPr>
          <p:cNvPr id="33" name="テキスト 33"/>
          <p:cNvSpPr txBox="1"/>
          <p:nvPr/>
        </p:nvSpPr>
        <p:spPr>
          <a:xfrm>
            <a:off x="4480560" y="4105656"/>
            <a:ext cx="1613916"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響く部屋</a:t>
            </a:r>
            <a:endParaRPr lang="ja-JP" altLang="en-US" sz="900" dirty="0"/>
          </a:p>
        </p:txBody>
      </p:sp>
      <p:sp>
        <p:nvSpPr>
          <p:cNvPr id="34" name="テキスト 34"/>
          <p:cNvSpPr txBox="1"/>
          <p:nvPr/>
        </p:nvSpPr>
        <p:spPr>
          <a:xfrm>
            <a:off x="6094476" y="4105656"/>
            <a:ext cx="1613916"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今いる部屋</a:t>
            </a:r>
            <a:endParaRPr lang="ja-JP" altLang="en-US" sz="900" dirty="0"/>
          </a:p>
        </p:txBody>
      </p:sp>
      <p:sp>
        <p:nvSpPr>
          <p:cNvPr id="35" name="点 35"/>
          <p:cNvSpPr/>
          <p:nvPr/>
        </p:nvSpPr>
        <p:spPr>
          <a:xfrm>
            <a:off x="4985995" y="4572000"/>
            <a:ext cx="118872" cy="118872"/>
          </a:xfrm>
          <a:prstGeom prst="ellipse">
            <a:avLst/>
          </a:prstGeom>
          <a:solidFill>
            <a:srgbClr val="E3A33B"/>
          </a:solidFill>
          <a:ln>
            <a:noFill/>
          </a:ln>
        </p:spPr>
      </p:sp>
      <p:sp>
        <p:nvSpPr>
          <p:cNvPr id="36" name="テキスト 36"/>
          <p:cNvSpPr txBox="1"/>
          <p:nvPr/>
        </p:nvSpPr>
        <p:spPr>
          <a:xfrm>
            <a:off x="4771111" y="4695444"/>
            <a:ext cx="5486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1E2430"/>
                </a:solidFill>
                <a:latin typeface="BIZ UDPゴシック"/>
                <a:ea typeface="BIZ UDPゴシック"/>
                <a:cs typeface="BIZ UDPゴシック"/>
              </a:rPr>
              <a:t>音源</a:t>
            </a:r>
            <a:endParaRPr lang="ja-JP" altLang="en-US" sz="850" dirty="0"/>
          </a:p>
        </p:txBody>
      </p:sp>
      <p:sp>
        <p:nvSpPr>
          <p:cNvPr id="37" name="プローブ 37"/>
          <p:cNvSpPr/>
          <p:nvPr/>
        </p:nvSpPr>
        <p:spPr>
          <a:xfrm>
            <a:off x="6003036" y="4914900"/>
            <a:ext cx="182880" cy="182880"/>
          </a:xfrm>
          <a:prstGeom prst="ellipse">
            <a:avLst/>
          </a:prstGeom>
          <a:solidFill>
            <a:srgbClr val="FFFFFF"/>
          </a:solidFill>
          <a:ln w="22225">
            <a:solidFill>
              <a:srgbClr val="9A6212"/>
            </a:solidFill>
          </a:ln>
        </p:spPr>
      </p:sp>
      <p:cxnSp>
        <p:nvCxnSpPr>
          <p:cNvPr id="38" name="線 38"/>
          <p:cNvCxnSpPr/>
          <p:nvPr/>
        </p:nvCxnSpPr>
        <p:spPr>
          <a:xfrm>
            <a:off x="6185916" y="5033772"/>
            <a:ext cx="884453" cy="301752"/>
          </a:xfrm>
          <a:prstGeom prst="line">
            <a:avLst/>
          </a:prstGeom>
          <a:ln w="22225">
            <a:solidFill>
              <a:srgbClr val="E3A33B"/>
            </a:solidFill>
            <a:tailEnd type="triangle" w="med" len="med"/>
          </a:ln>
        </p:spPr>
      </p:cxnSp>
      <p:sp>
        <p:nvSpPr>
          <p:cNvPr id="39" name="点 39"/>
          <p:cNvSpPr/>
          <p:nvPr/>
        </p:nvSpPr>
        <p:spPr>
          <a:xfrm>
            <a:off x="7084085" y="5321808"/>
            <a:ext cx="118872" cy="118872"/>
          </a:xfrm>
          <a:prstGeom prst="ellipse">
            <a:avLst/>
          </a:prstGeom>
          <a:solidFill>
            <a:srgbClr val="1E2430"/>
          </a:solidFill>
          <a:ln>
            <a:noFill/>
          </a:ln>
        </p:spPr>
      </p:sp>
      <p:sp>
        <p:nvSpPr>
          <p:cNvPr id="40" name="テキスト 40"/>
          <p:cNvSpPr txBox="1"/>
          <p:nvPr/>
        </p:nvSpPr>
        <p:spPr>
          <a:xfrm>
            <a:off x="6640601" y="5454396"/>
            <a:ext cx="10058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1E2430"/>
                </a:solidFill>
                <a:latin typeface="BIZ UDPゴシック"/>
                <a:ea typeface="BIZ UDPゴシック"/>
                <a:cs typeface="BIZ UDPゴシック"/>
              </a:rPr>
              <a:t>耳</a:t>
            </a:r>
            <a:endParaRPr lang="ja-JP" altLang="en-US" sz="850" dirty="0"/>
          </a:p>
        </p:txBody>
      </p:sp>
      <p:sp>
        <p:nvSpPr>
          <p:cNvPr id="41" name="テキスト 41"/>
          <p:cNvSpPr txBox="1"/>
          <p:nvPr/>
        </p:nvSpPr>
        <p:spPr>
          <a:xfrm>
            <a:off x="5545836" y="5116068"/>
            <a:ext cx="109728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b="1" dirty="0">
                <a:solidFill>
                  <a:srgbClr val="9A6212"/>
                </a:solidFill>
                <a:latin typeface="BIZ UDPゴシック"/>
                <a:ea typeface="BIZ UDPゴシック"/>
                <a:cs typeface="BIZ UDPゴシック"/>
              </a:rPr>
              <a:t>プローブ</a:t>
            </a:r>
            <a:endParaRPr lang="ja-JP" altLang="en-US" sz="850" dirty="0"/>
          </a:p>
        </p:txBody>
      </p:sp>
      <p:sp>
        <p:nvSpPr>
          <p:cNvPr id="42" name="カード 42"/>
          <p:cNvSpPr/>
          <p:nvPr/>
        </p:nvSpPr>
        <p:spPr>
          <a:xfrm>
            <a:off x="8046720" y="3200400"/>
            <a:ext cx="3593592" cy="3090672"/>
          </a:xfrm>
          <a:prstGeom prst="roundRect">
            <a:avLst>
              <a:gd name="adj" fmla="val 4000"/>
            </a:avLst>
          </a:prstGeom>
          <a:solidFill>
            <a:srgbClr val="FBF1DF"/>
          </a:solidFill>
          <a:ln>
            <a:noFill/>
          </a:ln>
        </p:spPr>
      </p:sp>
      <p:sp>
        <p:nvSpPr>
          <p:cNvPr id="43" name="ラベル 43"/>
          <p:cNvSpPr/>
          <p:nvPr/>
        </p:nvSpPr>
        <p:spPr>
          <a:xfrm>
            <a:off x="8229600" y="3319272"/>
            <a:ext cx="868680" cy="292608"/>
          </a:xfrm>
          <a:prstGeom prst="roundRect">
            <a:avLst>
              <a:gd name="adj" fmla="val 50000"/>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200" b="1" dirty="0">
                <a:solidFill>
                  <a:srgbClr val="1E2430"/>
                </a:solidFill>
                <a:latin typeface="BIZ UDPゴシック"/>
                <a:ea typeface="BIZ UDPゴシック"/>
                <a:cs typeface="BIZ UDPゴシック"/>
              </a:rPr>
              <a:t>入ったら</a:t>
            </a:r>
            <a:endParaRPr lang="ja-JP" altLang="en-US" sz="1200" dirty="0"/>
          </a:p>
        </p:txBody>
      </p:sp>
      <p:sp>
        <p:nvSpPr>
          <p:cNvPr id="44" name="テキスト 44"/>
          <p:cNvSpPr txBox="1"/>
          <p:nvPr/>
        </p:nvSpPr>
        <p:spPr>
          <a:xfrm>
            <a:off x="9189720" y="3328416"/>
            <a:ext cx="2404872" cy="310896"/>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50" b="1" dirty="0">
                <a:solidFill>
                  <a:srgbClr val="1E2430"/>
                </a:solidFill>
                <a:latin typeface="BIZ UDPゴシック"/>
                <a:ea typeface="BIZ UDPゴシック"/>
                <a:cs typeface="BIZ UDPゴシック"/>
              </a:rPr>
              <a:t>その部屋の響きに包まれる（LEV）</a:t>
            </a:r>
            <a:endParaRPr lang="ja-JP" altLang="en-US" sz="1150" dirty="0"/>
          </a:p>
        </p:txBody>
      </p:sp>
      <p:sp>
        <p:nvSpPr>
          <p:cNvPr id="45" name="部屋 45"/>
          <p:cNvSpPr/>
          <p:nvPr/>
        </p:nvSpPr>
        <p:spPr>
          <a:xfrm>
            <a:off x="8229600" y="4069080"/>
            <a:ext cx="1613916" cy="1874520"/>
          </a:xfrm>
          <a:prstGeom prst="rect">
            <a:avLst/>
          </a:prstGeom>
          <a:solidFill>
            <a:srgbClr val="F6E3BF"/>
          </a:solidFill>
          <a:ln w="25400">
            <a:solidFill>
              <a:srgbClr val="8A94A6"/>
            </a:solidFill>
          </a:ln>
        </p:spPr>
      </p:sp>
      <p:sp>
        <p:nvSpPr>
          <p:cNvPr id="46" name="部屋 46"/>
          <p:cNvSpPr/>
          <p:nvPr/>
        </p:nvSpPr>
        <p:spPr>
          <a:xfrm>
            <a:off x="9843516" y="4069080"/>
            <a:ext cx="1613916" cy="1874520"/>
          </a:xfrm>
          <a:prstGeom prst="rect">
            <a:avLst/>
          </a:prstGeom>
          <a:solidFill>
            <a:srgbClr val="FFFFFF"/>
          </a:solidFill>
          <a:ln w="25400">
            <a:solidFill>
              <a:srgbClr val="8A94A6"/>
            </a:solidFill>
          </a:ln>
        </p:spPr>
      </p:sp>
      <p:sp>
        <p:nvSpPr>
          <p:cNvPr id="47" name="開口 47"/>
          <p:cNvSpPr/>
          <p:nvPr/>
        </p:nvSpPr>
        <p:spPr>
          <a:xfrm>
            <a:off x="9816084" y="4781398"/>
            <a:ext cx="54864" cy="449885"/>
          </a:xfrm>
          <a:prstGeom prst="rect">
            <a:avLst/>
          </a:prstGeom>
          <a:solidFill>
            <a:srgbClr val="FFFFFF"/>
          </a:solidFill>
          <a:ln>
            <a:noFill/>
          </a:ln>
        </p:spPr>
      </p:sp>
      <p:sp>
        <p:nvSpPr>
          <p:cNvPr id="48" name="テキスト 48"/>
          <p:cNvSpPr txBox="1"/>
          <p:nvPr/>
        </p:nvSpPr>
        <p:spPr>
          <a:xfrm>
            <a:off x="8229600" y="4105656"/>
            <a:ext cx="1613916"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響く部屋（今いる）</a:t>
            </a:r>
            <a:endParaRPr lang="ja-JP" altLang="en-US" sz="900" dirty="0"/>
          </a:p>
        </p:txBody>
      </p:sp>
      <p:sp>
        <p:nvSpPr>
          <p:cNvPr id="49" name="テキスト 49"/>
          <p:cNvSpPr txBox="1"/>
          <p:nvPr/>
        </p:nvSpPr>
        <p:spPr>
          <a:xfrm>
            <a:off x="9843516" y="4105656"/>
            <a:ext cx="1613916"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隣の部屋</a:t>
            </a:r>
            <a:endParaRPr lang="ja-JP" altLang="en-US" sz="900" dirty="0"/>
          </a:p>
        </p:txBody>
      </p:sp>
      <p:sp>
        <p:nvSpPr>
          <p:cNvPr id="50" name="点 50"/>
          <p:cNvSpPr/>
          <p:nvPr/>
        </p:nvSpPr>
        <p:spPr>
          <a:xfrm>
            <a:off x="8735035" y="4572000"/>
            <a:ext cx="118872" cy="118872"/>
          </a:xfrm>
          <a:prstGeom prst="ellipse">
            <a:avLst/>
          </a:prstGeom>
          <a:solidFill>
            <a:srgbClr val="E3A33B"/>
          </a:solidFill>
          <a:ln>
            <a:noFill/>
          </a:ln>
        </p:spPr>
      </p:sp>
      <p:sp>
        <p:nvSpPr>
          <p:cNvPr id="51" name="テキスト 51"/>
          <p:cNvSpPr txBox="1"/>
          <p:nvPr/>
        </p:nvSpPr>
        <p:spPr>
          <a:xfrm>
            <a:off x="8520151" y="4695444"/>
            <a:ext cx="5486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1E2430"/>
                </a:solidFill>
                <a:latin typeface="BIZ UDPゴシック"/>
                <a:ea typeface="BIZ UDPゴシック"/>
                <a:cs typeface="BIZ UDPゴシック"/>
              </a:rPr>
              <a:t>音源</a:t>
            </a:r>
            <a:endParaRPr lang="ja-JP" altLang="en-US" sz="850" dirty="0"/>
          </a:p>
        </p:txBody>
      </p:sp>
      <p:sp>
        <p:nvSpPr>
          <p:cNvPr id="52" name="弧 52"/>
          <p:cNvSpPr/>
          <p:nvPr/>
        </p:nvSpPr>
        <p:spPr>
          <a:xfrm>
            <a:off x="9114053" y="5066690"/>
            <a:ext cx="329184" cy="329184"/>
          </a:xfrm>
          <a:custGeom>
            <a:avLst/>
            <a:gdLst/>
            <a:ahLst/>
            <a:cxnLst/>
            <a:rect l="0" t="0" r="r" b="b"/>
            <a:pathLst>
              <a:path w="329184" h="329184" fill="none">
                <a:moveTo>
                  <a:pt x="329184" y="164592"/>
                </a:moveTo>
                <a:lnTo>
                  <a:pt x="321128" y="113730"/>
                </a:lnTo>
                <a:lnTo>
                  <a:pt x="297750" y="67847"/>
                </a:lnTo>
                <a:lnTo>
                  <a:pt x="261337" y="31434"/>
                </a:lnTo>
                <a:lnTo>
                  <a:pt x="215454" y="8056"/>
                </a:lnTo>
                <a:lnTo>
                  <a:pt x="164592" y="0"/>
                </a:lnTo>
                <a:lnTo>
                  <a:pt x="113730" y="8056"/>
                </a:lnTo>
                <a:lnTo>
                  <a:pt x="67847" y="31434"/>
                </a:lnTo>
                <a:lnTo>
                  <a:pt x="31434" y="67847"/>
                </a:lnTo>
                <a:lnTo>
                  <a:pt x="8056" y="113730"/>
                </a:lnTo>
                <a:lnTo>
                  <a:pt x="0" y="164592"/>
                </a:lnTo>
                <a:lnTo>
                  <a:pt x="8056" y="215454"/>
                </a:lnTo>
                <a:lnTo>
                  <a:pt x="31434" y="261337"/>
                </a:lnTo>
                <a:lnTo>
                  <a:pt x="67847" y="297750"/>
                </a:lnTo>
                <a:lnTo>
                  <a:pt x="113730" y="321128"/>
                </a:lnTo>
                <a:lnTo>
                  <a:pt x="164592" y="329184"/>
                </a:lnTo>
                <a:lnTo>
                  <a:pt x="215454" y="321128"/>
                </a:lnTo>
                <a:lnTo>
                  <a:pt x="261337" y="297750"/>
                </a:lnTo>
                <a:lnTo>
                  <a:pt x="297750" y="261337"/>
                </a:lnTo>
                <a:lnTo>
                  <a:pt x="321128" y="215454"/>
                </a:lnTo>
                <a:lnTo>
                  <a:pt x="329184" y="164592"/>
                </a:lnTo>
              </a:path>
            </a:pathLst>
          </a:custGeom>
          <a:noFill/>
          <a:ln w="12700">
            <a:solidFill>
              <a:srgbClr val="E3A33B"/>
            </a:solidFill>
          </a:ln>
        </p:spPr>
      </p:sp>
      <p:sp>
        <p:nvSpPr>
          <p:cNvPr id="53" name="弧 53"/>
          <p:cNvSpPr/>
          <p:nvPr/>
        </p:nvSpPr>
        <p:spPr>
          <a:xfrm>
            <a:off x="9004325" y="4956962"/>
            <a:ext cx="548640" cy="548640"/>
          </a:xfrm>
          <a:custGeom>
            <a:avLst/>
            <a:gdLst/>
            <a:ahLst/>
            <a:cxnLst/>
            <a:rect l="0" t="0" r="r" b="b"/>
            <a:pathLst>
              <a:path w="548640" h="548640" fill="none">
                <a:moveTo>
                  <a:pt x="548640" y="274320"/>
                </a:moveTo>
                <a:lnTo>
                  <a:pt x="535214" y="189550"/>
                </a:lnTo>
                <a:lnTo>
                  <a:pt x="496250" y="113079"/>
                </a:lnTo>
                <a:lnTo>
                  <a:pt x="435561" y="52390"/>
                </a:lnTo>
                <a:lnTo>
                  <a:pt x="359090" y="13426"/>
                </a:lnTo>
                <a:lnTo>
                  <a:pt x="274320" y="0"/>
                </a:lnTo>
                <a:lnTo>
                  <a:pt x="189550" y="13426"/>
                </a:lnTo>
                <a:lnTo>
                  <a:pt x="113079" y="52390"/>
                </a:lnTo>
                <a:lnTo>
                  <a:pt x="52390" y="113079"/>
                </a:lnTo>
                <a:lnTo>
                  <a:pt x="13426" y="189550"/>
                </a:lnTo>
                <a:lnTo>
                  <a:pt x="0" y="274320"/>
                </a:lnTo>
                <a:lnTo>
                  <a:pt x="13426" y="359090"/>
                </a:lnTo>
                <a:lnTo>
                  <a:pt x="52390" y="435561"/>
                </a:lnTo>
                <a:lnTo>
                  <a:pt x="113079" y="496250"/>
                </a:lnTo>
                <a:lnTo>
                  <a:pt x="189550" y="535214"/>
                </a:lnTo>
                <a:lnTo>
                  <a:pt x="274320" y="548640"/>
                </a:lnTo>
                <a:lnTo>
                  <a:pt x="359090" y="535214"/>
                </a:lnTo>
                <a:lnTo>
                  <a:pt x="435561" y="496250"/>
                </a:lnTo>
                <a:lnTo>
                  <a:pt x="496250" y="435561"/>
                </a:lnTo>
                <a:lnTo>
                  <a:pt x="535214" y="359090"/>
                </a:lnTo>
                <a:lnTo>
                  <a:pt x="548640" y="274320"/>
                </a:lnTo>
              </a:path>
            </a:pathLst>
          </a:custGeom>
          <a:noFill/>
          <a:ln w="12700">
            <a:solidFill>
              <a:srgbClr val="E3A33B"/>
            </a:solidFill>
          </a:ln>
        </p:spPr>
      </p:sp>
      <p:sp>
        <p:nvSpPr>
          <p:cNvPr id="54" name="点 54"/>
          <p:cNvSpPr/>
          <p:nvPr/>
        </p:nvSpPr>
        <p:spPr>
          <a:xfrm>
            <a:off x="9219209" y="5171846"/>
            <a:ext cx="118872" cy="118872"/>
          </a:xfrm>
          <a:prstGeom prst="ellipse">
            <a:avLst/>
          </a:prstGeom>
          <a:solidFill>
            <a:srgbClr val="1E2430"/>
          </a:solidFill>
          <a:ln>
            <a:noFill/>
          </a:ln>
        </p:spPr>
      </p:sp>
      <p:sp>
        <p:nvSpPr>
          <p:cNvPr id="55" name="テキスト 55"/>
          <p:cNvSpPr txBox="1"/>
          <p:nvPr/>
        </p:nvSpPr>
        <p:spPr>
          <a:xfrm>
            <a:off x="8775725" y="5542178"/>
            <a:ext cx="10058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1E2430"/>
                </a:solidFill>
                <a:latin typeface="BIZ UDPゴシック"/>
                <a:ea typeface="BIZ UDPゴシック"/>
                <a:cs typeface="BIZ UDPゴシック"/>
              </a:rPr>
              <a:t>耳：包まれる</a:t>
            </a:r>
            <a:endParaRPr lang="ja-JP" altLang="en-US" sz="850" dirty="0"/>
          </a:p>
        </p:txBody>
      </p:sp>
      <p:sp>
        <p:nvSpPr>
          <p:cNvPr id="56" name="注 56"/>
          <p:cNvSpPr txBox="1"/>
          <p:nvPr/>
        </p:nvSpPr>
        <p:spPr>
          <a:xfrm>
            <a:off x="548640" y="6419088"/>
            <a:ext cx="9875520" cy="256032"/>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5C6677"/>
                </a:solidFill>
                <a:latin typeface="BIZ UDPゴシック"/>
                <a:ea typeface="BIZ UDPゴシック"/>
                <a:cs typeface="BIZ UDPゴシック"/>
              </a:rPr>
              <a:t>※ 図は上から見た模式図</a:t>
            </a:r>
            <a:endParaRPr lang="ja-JP" altLang="en-US" sz="950" dirty="0"/>
          </a:p>
        </p:txBody>
      </p:sp>
      <p:sp>
        <p:nvSpPr>
          <p:cNvPr id="57" name="ページ番号 57"/>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30</a:t>
            </a:r>
            <a:endParaRPr lang="ja-JP" alt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隣の部屋でなっている音</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問題点と改善方法</a:t>
            </a:r>
            <a:endParaRPr lang="ja-JP" altLang="en-US" sz="2600" dirty="0"/>
          </a:p>
        </p:txBody>
      </p:sp>
      <p:sp>
        <p:nvSpPr>
          <p:cNvPr id="4" name="カード 4"/>
          <p:cNvSpPr/>
          <p:nvPr/>
        </p:nvSpPr>
        <p:spPr>
          <a:xfrm>
            <a:off x="548640" y="1463040"/>
            <a:ext cx="5486400" cy="4800600"/>
          </a:xfrm>
          <a:prstGeom prst="roundRect">
            <a:avLst>
              <a:gd name="adj" fmla="val 4000"/>
            </a:avLst>
          </a:prstGeom>
          <a:solidFill>
            <a:srgbClr val="F0F2F5"/>
          </a:solidFill>
          <a:ln>
            <a:noFill/>
          </a:ln>
        </p:spPr>
      </p:sp>
      <p:sp>
        <p:nvSpPr>
          <p:cNvPr id="5" name="図形 5"/>
          <p:cNvSpPr/>
          <p:nvPr/>
        </p:nvSpPr>
        <p:spPr>
          <a:xfrm>
            <a:off x="777240" y="1627632"/>
            <a:ext cx="347472" cy="347472"/>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1</a:t>
            </a:r>
            <a:endParaRPr lang="ja-JP" altLang="en-US" sz="1300" dirty="0"/>
          </a:p>
        </p:txBody>
      </p:sp>
      <p:sp>
        <p:nvSpPr>
          <p:cNvPr id="6" name="テキスト 6"/>
          <p:cNvSpPr txBox="1"/>
          <p:nvPr/>
        </p:nvSpPr>
        <p:spPr>
          <a:xfrm>
            <a:off x="1234440" y="1609344"/>
            <a:ext cx="4617720" cy="685800"/>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500" b="1" dirty="0">
                <a:solidFill>
                  <a:srgbClr val="1E2430"/>
                </a:solidFill>
                <a:latin typeface="BIZ UDPゴシック"/>
                <a:ea typeface="BIZ UDPゴシック"/>
                <a:cs typeface="BIZ UDPゴシック"/>
              </a:rPr>
              <a:t>閉じた扉の向こうの響きが、壁を抜けて聞こえていた</a:t>
            </a:r>
            <a:endParaRPr lang="ja-JP" altLang="en-US" sz="1500" dirty="0"/>
          </a:p>
        </p:txBody>
      </p:sp>
      <p:sp>
        <p:nvSpPr>
          <p:cNvPr id="7" name="部屋 7"/>
          <p:cNvSpPr/>
          <p:nvPr/>
        </p:nvSpPr>
        <p:spPr>
          <a:xfrm>
            <a:off x="777240" y="2377440"/>
            <a:ext cx="1097280" cy="1645920"/>
          </a:xfrm>
          <a:prstGeom prst="rect">
            <a:avLst/>
          </a:prstGeom>
          <a:solidFill>
            <a:srgbClr val="FCF4E6"/>
          </a:solidFill>
          <a:ln w="25400">
            <a:solidFill>
              <a:srgbClr val="8A94A6"/>
            </a:solidFill>
          </a:ln>
        </p:spPr>
      </p:sp>
      <p:sp>
        <p:nvSpPr>
          <p:cNvPr id="8" name="部屋 8"/>
          <p:cNvSpPr/>
          <p:nvPr/>
        </p:nvSpPr>
        <p:spPr>
          <a:xfrm>
            <a:off x="1874520" y="2377440"/>
            <a:ext cx="1097280" cy="1645920"/>
          </a:xfrm>
          <a:prstGeom prst="rect">
            <a:avLst/>
          </a:prstGeom>
          <a:solidFill>
            <a:srgbClr val="FFFFFF"/>
          </a:solidFill>
          <a:ln w="25400">
            <a:solidFill>
              <a:srgbClr val="8A94A6"/>
            </a:solidFill>
          </a:ln>
        </p:spPr>
      </p:sp>
      <p:cxnSp>
        <p:nvCxnSpPr>
          <p:cNvPr id="9" name="線 9"/>
          <p:cNvCxnSpPr/>
          <p:nvPr/>
        </p:nvCxnSpPr>
        <p:spPr>
          <a:xfrm>
            <a:off x="1874520" y="3002890"/>
            <a:ext cx="0" cy="395021"/>
          </a:xfrm>
          <a:prstGeom prst="line">
            <a:avLst/>
          </a:prstGeom>
          <a:ln w="44450">
            <a:solidFill>
              <a:srgbClr val="9A6212"/>
            </a:solidFill>
          </a:ln>
        </p:spPr>
      </p:cxnSp>
      <p:sp>
        <p:nvSpPr>
          <p:cNvPr id="10" name="点 10"/>
          <p:cNvSpPr/>
          <p:nvPr/>
        </p:nvSpPr>
        <p:spPr>
          <a:xfrm>
            <a:off x="1216152" y="3310128"/>
            <a:ext cx="109728" cy="109728"/>
          </a:xfrm>
          <a:prstGeom prst="ellipse">
            <a:avLst/>
          </a:prstGeom>
          <a:solidFill>
            <a:srgbClr val="E3A33B"/>
          </a:solidFill>
          <a:ln>
            <a:noFill/>
          </a:ln>
        </p:spPr>
      </p:sp>
      <p:sp>
        <p:nvSpPr>
          <p:cNvPr id="11" name="弧 11"/>
          <p:cNvSpPr/>
          <p:nvPr/>
        </p:nvSpPr>
        <p:spPr>
          <a:xfrm>
            <a:off x="1124712" y="3218688"/>
            <a:ext cx="292608" cy="292608"/>
          </a:xfrm>
          <a:custGeom>
            <a:avLst/>
            <a:gdLst/>
            <a:ahLst/>
            <a:cxnLst/>
            <a:rect l="0" t="0" r="r" b="b"/>
            <a:pathLst>
              <a:path w="292608" h="292608" fill="none">
                <a:moveTo>
                  <a:pt x="292608" y="146304"/>
                </a:moveTo>
                <a:lnTo>
                  <a:pt x="285447" y="101094"/>
                </a:lnTo>
                <a:lnTo>
                  <a:pt x="264666" y="60309"/>
                </a:lnTo>
                <a:lnTo>
                  <a:pt x="232299" y="27942"/>
                </a:lnTo>
                <a:lnTo>
                  <a:pt x="191514" y="7161"/>
                </a:lnTo>
                <a:lnTo>
                  <a:pt x="146304" y="0"/>
                </a:lnTo>
                <a:lnTo>
                  <a:pt x="101094" y="7161"/>
                </a:lnTo>
                <a:lnTo>
                  <a:pt x="60309" y="27942"/>
                </a:lnTo>
                <a:lnTo>
                  <a:pt x="27942" y="60309"/>
                </a:lnTo>
                <a:lnTo>
                  <a:pt x="7161" y="101094"/>
                </a:lnTo>
                <a:lnTo>
                  <a:pt x="0" y="146304"/>
                </a:lnTo>
                <a:lnTo>
                  <a:pt x="7161" y="191514"/>
                </a:lnTo>
                <a:lnTo>
                  <a:pt x="27942" y="232299"/>
                </a:lnTo>
                <a:lnTo>
                  <a:pt x="60309" y="264666"/>
                </a:lnTo>
                <a:lnTo>
                  <a:pt x="101094" y="285447"/>
                </a:lnTo>
                <a:lnTo>
                  <a:pt x="146304" y="292608"/>
                </a:lnTo>
                <a:lnTo>
                  <a:pt x="191514" y="285447"/>
                </a:lnTo>
                <a:lnTo>
                  <a:pt x="232299" y="264666"/>
                </a:lnTo>
                <a:lnTo>
                  <a:pt x="264666" y="232299"/>
                </a:lnTo>
                <a:lnTo>
                  <a:pt x="285447" y="191514"/>
                </a:lnTo>
                <a:lnTo>
                  <a:pt x="292608" y="146304"/>
                </a:lnTo>
              </a:path>
            </a:pathLst>
          </a:custGeom>
          <a:noFill/>
          <a:ln w="12700">
            <a:solidFill>
              <a:srgbClr val="E3A33B"/>
            </a:solidFill>
          </a:ln>
        </p:spPr>
      </p:sp>
      <p:sp>
        <p:nvSpPr>
          <p:cNvPr id="12" name="弧 12"/>
          <p:cNvSpPr/>
          <p:nvPr/>
        </p:nvSpPr>
        <p:spPr>
          <a:xfrm>
            <a:off x="1014984" y="3108960"/>
            <a:ext cx="512064" cy="512064"/>
          </a:xfrm>
          <a:custGeom>
            <a:avLst/>
            <a:gdLst/>
            <a:ahLst/>
            <a:cxnLst/>
            <a:rect l="0" t="0" r="r" b="b"/>
            <a:pathLst>
              <a:path w="512064" h="512064" fill="none">
                <a:moveTo>
                  <a:pt x="512064" y="256032"/>
                </a:moveTo>
                <a:lnTo>
                  <a:pt x="499533" y="176914"/>
                </a:lnTo>
                <a:lnTo>
                  <a:pt x="463166" y="105540"/>
                </a:lnTo>
                <a:lnTo>
                  <a:pt x="406524" y="48898"/>
                </a:lnTo>
                <a:lnTo>
                  <a:pt x="335150" y="12531"/>
                </a:lnTo>
                <a:lnTo>
                  <a:pt x="256032" y="0"/>
                </a:lnTo>
                <a:lnTo>
                  <a:pt x="176914" y="12531"/>
                </a:lnTo>
                <a:lnTo>
                  <a:pt x="105540" y="48898"/>
                </a:lnTo>
                <a:lnTo>
                  <a:pt x="48898" y="105540"/>
                </a:lnTo>
                <a:lnTo>
                  <a:pt x="12531" y="176914"/>
                </a:lnTo>
                <a:lnTo>
                  <a:pt x="0" y="256032"/>
                </a:lnTo>
                <a:lnTo>
                  <a:pt x="12531" y="335150"/>
                </a:lnTo>
                <a:lnTo>
                  <a:pt x="48898" y="406524"/>
                </a:lnTo>
                <a:lnTo>
                  <a:pt x="105540" y="463166"/>
                </a:lnTo>
                <a:lnTo>
                  <a:pt x="176914" y="499533"/>
                </a:lnTo>
                <a:lnTo>
                  <a:pt x="256032" y="512064"/>
                </a:lnTo>
                <a:lnTo>
                  <a:pt x="335150" y="499533"/>
                </a:lnTo>
                <a:lnTo>
                  <a:pt x="406524" y="463166"/>
                </a:lnTo>
                <a:lnTo>
                  <a:pt x="463166" y="406524"/>
                </a:lnTo>
                <a:lnTo>
                  <a:pt x="499533" y="335150"/>
                </a:lnTo>
                <a:lnTo>
                  <a:pt x="512064" y="256032"/>
                </a:lnTo>
              </a:path>
            </a:pathLst>
          </a:custGeom>
          <a:noFill/>
          <a:ln w="12700">
            <a:solidFill>
              <a:srgbClr val="E3A33B"/>
            </a:solidFill>
          </a:ln>
        </p:spPr>
      </p:sp>
      <p:cxnSp>
        <p:nvCxnSpPr>
          <p:cNvPr id="13" name="線 13"/>
          <p:cNvCxnSpPr/>
          <p:nvPr/>
        </p:nvCxnSpPr>
        <p:spPr>
          <a:xfrm>
            <a:off x="1380744" y="2706624"/>
            <a:ext cx="1097280" cy="0"/>
          </a:xfrm>
          <a:prstGeom prst="line">
            <a:avLst/>
          </a:prstGeom>
          <a:ln w="19050">
            <a:solidFill>
              <a:srgbClr val="C9CED6"/>
            </a:solidFill>
            <a:prstDash val="dash"/>
            <a:tailEnd type="triangle" w="med" len="med"/>
          </a:ln>
        </p:spPr>
      </p:cxnSp>
      <p:sp>
        <p:nvSpPr>
          <p:cNvPr id="14" name="テキスト 14"/>
          <p:cNvSpPr txBox="1"/>
          <p:nvPr/>
        </p:nvSpPr>
        <p:spPr>
          <a:xfrm>
            <a:off x="1691640" y="2468880"/>
            <a:ext cx="365760"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1200" b="1" dirty="0">
                <a:solidFill>
                  <a:srgbClr val="5C6677"/>
                </a:solidFill>
                <a:latin typeface="BIZ UDPゴシック"/>
                <a:ea typeface="BIZ UDPゴシック"/>
                <a:cs typeface="BIZ UDPゴシック"/>
              </a:rPr>
              <a:t>×</a:t>
            </a:r>
            <a:endParaRPr lang="ja-JP" altLang="en-US" sz="1200" dirty="0"/>
          </a:p>
        </p:txBody>
      </p:sp>
      <p:sp>
        <p:nvSpPr>
          <p:cNvPr id="15" name="点 15"/>
          <p:cNvSpPr/>
          <p:nvPr/>
        </p:nvSpPr>
        <p:spPr>
          <a:xfrm>
            <a:off x="2423160" y="3343046"/>
            <a:ext cx="109728" cy="109728"/>
          </a:xfrm>
          <a:prstGeom prst="ellipse">
            <a:avLst/>
          </a:prstGeom>
          <a:solidFill>
            <a:srgbClr val="1E2430"/>
          </a:solidFill>
          <a:ln>
            <a:noFill/>
          </a:ln>
        </p:spPr>
      </p:sp>
      <p:sp>
        <p:nvSpPr>
          <p:cNvPr id="16" name="テキスト 16"/>
          <p:cNvSpPr txBox="1"/>
          <p:nvPr/>
        </p:nvSpPr>
        <p:spPr>
          <a:xfrm>
            <a:off x="2203704" y="3471062"/>
            <a:ext cx="548640" cy="18288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1E2430"/>
                </a:solidFill>
                <a:latin typeface="BIZ UDPゴシック"/>
                <a:ea typeface="BIZ UDPゴシック"/>
                <a:cs typeface="BIZ UDPゴシック"/>
              </a:rPr>
              <a:t>耳</a:t>
            </a:r>
            <a:endParaRPr lang="ja-JP" altLang="en-US" sz="850" dirty="0"/>
          </a:p>
        </p:txBody>
      </p:sp>
      <p:sp>
        <p:nvSpPr>
          <p:cNvPr id="17" name="テキスト 17"/>
          <p:cNvSpPr txBox="1"/>
          <p:nvPr/>
        </p:nvSpPr>
        <p:spPr>
          <a:xfrm>
            <a:off x="777240" y="2404872"/>
            <a:ext cx="1097280" cy="18288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5C6677"/>
                </a:solidFill>
                <a:latin typeface="BIZ UDPゴシック"/>
                <a:ea typeface="BIZ UDPゴシック"/>
                <a:cs typeface="BIZ UDPゴシック"/>
              </a:rPr>
              <a:t>隣の部屋</a:t>
            </a:r>
            <a:endParaRPr lang="ja-JP" altLang="en-US" sz="850" dirty="0"/>
          </a:p>
        </p:txBody>
      </p:sp>
      <p:sp>
        <p:nvSpPr>
          <p:cNvPr id="18" name="テキスト 18"/>
          <p:cNvSpPr txBox="1"/>
          <p:nvPr/>
        </p:nvSpPr>
        <p:spPr>
          <a:xfrm>
            <a:off x="1874520" y="2404872"/>
            <a:ext cx="1097280" cy="18288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5C6677"/>
                </a:solidFill>
                <a:latin typeface="BIZ UDPゴシック"/>
                <a:ea typeface="BIZ UDPゴシック"/>
                <a:cs typeface="BIZ UDPゴシック"/>
              </a:rPr>
              <a:t>今いる部屋</a:t>
            </a:r>
            <a:endParaRPr lang="ja-JP" altLang="en-US" sz="850" dirty="0"/>
          </a:p>
        </p:txBody>
      </p:sp>
      <p:sp>
        <p:nvSpPr>
          <p:cNvPr id="19" name="テキスト 19"/>
          <p:cNvSpPr txBox="1"/>
          <p:nvPr/>
        </p:nvSpPr>
        <p:spPr>
          <a:xfrm>
            <a:off x="1325880" y="3416198"/>
            <a:ext cx="1097280" cy="182880"/>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b="1" dirty="0">
                <a:solidFill>
                  <a:srgbClr val="9A6212"/>
                </a:solidFill>
                <a:latin typeface="BIZ UDPゴシック"/>
                <a:ea typeface="BIZ UDPゴシック"/>
                <a:cs typeface="BIZ UDPゴシック"/>
              </a:rPr>
              <a:t>閉じた扉</a:t>
            </a:r>
            <a:endParaRPr lang="ja-JP" altLang="en-US" sz="850" dirty="0"/>
          </a:p>
        </p:txBody>
      </p:sp>
      <p:sp>
        <p:nvSpPr>
          <p:cNvPr id="20" name="テキスト 20"/>
          <p:cNvSpPr txBox="1"/>
          <p:nvPr/>
        </p:nvSpPr>
        <p:spPr>
          <a:xfrm>
            <a:off x="3200400" y="2331720"/>
            <a:ext cx="260604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50" b="1" dirty="0">
                <a:solidFill>
                  <a:srgbClr val="5C6677"/>
                </a:solidFill>
                <a:latin typeface="BIZ UDPゴシック"/>
                <a:ea typeface="BIZ UDPゴシック"/>
                <a:cs typeface="BIZ UDPゴシック"/>
              </a:rPr>
              <a:t>原因</a:t>
            </a:r>
            <a:endParaRPr lang="ja-JP" altLang="en-US" sz="1150" dirty="0"/>
          </a:p>
        </p:txBody>
      </p:sp>
      <p:sp>
        <p:nvSpPr>
          <p:cNvPr id="21" name="テキスト 21"/>
          <p:cNvSpPr txBox="1"/>
          <p:nvPr/>
        </p:nvSpPr>
        <p:spPr>
          <a:xfrm>
            <a:off x="3200400" y="2606040"/>
            <a:ext cx="2606040" cy="1554480"/>
          </a:xfrm>
          <a:prstGeom prst="rect">
            <a:avLst/>
          </a:prstGeom>
          <a:noFill/>
        </p:spPr>
        <p:txBody>
          <a:bodyPr wrap="square" lIns="0" tIns="0" rIns="0" bIns="0" rtlCol="0" anchor="t">
            <a:noAutofit/>
          </a:bodyPr>
          <a:lstStyle/>
          <a:p>
            <a:pPr algn="l" marL="0" indent="0">
              <a:lnSpc>
                <a:spcPct val="135000"/>
              </a:lnSpc>
              <a:spcBef>
                <a:spcPts val="0"/>
              </a:spcBef>
              <a:spcAft>
                <a:spcPts val="0"/>
              </a:spcAft>
              <a:buNone/>
            </a:pPr>
            <a:r>
              <a:rPr lang="ja-JP" altLang="en-US" sz="1250" dirty="0">
                <a:solidFill>
                  <a:srgbClr val="1E2430"/>
                </a:solidFill>
                <a:latin typeface="BIZ UDPゴシック"/>
                <a:ea typeface="BIZ UDPゴシック"/>
                <a:cs typeface="BIZ UDPゴシック"/>
              </a:rPr>
              <a:t>レイが壁を透過して、隣の部屋の反射・残響まで拾っていた。閉じた扉で、直接音の 8 倍の響きが壁越しに届き、二重に聞こえた</a:t>
            </a:r>
            <a:endParaRPr lang="ja-JP" altLang="en-US" sz="1250" dirty="0"/>
          </a:p>
        </p:txBody>
      </p:sp>
      <p:sp>
        <p:nvSpPr>
          <p:cNvPr id="22" name="図形 22"/>
          <p:cNvSpPr/>
          <p:nvPr/>
        </p:nvSpPr>
        <p:spPr>
          <a:xfrm>
            <a:off x="731520" y="4297680"/>
            <a:ext cx="5120640" cy="1783080"/>
          </a:xfrm>
          <a:prstGeom prst="roundRect">
            <a:avLst>
              <a:gd name="adj" fmla="val 6000"/>
            </a:avLst>
          </a:prstGeom>
          <a:solidFill>
            <a:srgbClr val="FBF1DF"/>
          </a:solidFill>
          <a:ln>
            <a:noFill/>
          </a:ln>
        </p:spPr>
      </p:sp>
      <p:sp>
        <p:nvSpPr>
          <p:cNvPr id="23" name="テキスト 23"/>
          <p:cNvSpPr txBox="1"/>
          <p:nvPr/>
        </p:nvSpPr>
        <p:spPr>
          <a:xfrm>
            <a:off x="914400" y="4407408"/>
            <a:ext cx="475488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50" b="1" dirty="0">
                <a:solidFill>
                  <a:srgbClr val="9A6212"/>
                </a:solidFill>
                <a:latin typeface="BIZ UDPゴシック"/>
                <a:ea typeface="BIZ UDPゴシック"/>
                <a:cs typeface="BIZ UDPゴシック"/>
              </a:rPr>
              <a:t>直し方</a:t>
            </a:r>
            <a:endParaRPr lang="ja-JP" altLang="en-US" sz="1150" dirty="0"/>
          </a:p>
        </p:txBody>
      </p:sp>
      <p:sp>
        <p:nvSpPr>
          <p:cNvPr id="24" name="テキスト 24"/>
          <p:cNvSpPr txBox="1"/>
          <p:nvPr/>
        </p:nvSpPr>
        <p:spPr>
          <a:xfrm>
            <a:off x="914400" y="4681728"/>
            <a:ext cx="4754880" cy="1325880"/>
          </a:xfrm>
          <a:prstGeom prst="rect">
            <a:avLst/>
          </a:prstGeom>
          <a:noFill/>
        </p:spPr>
        <p:txBody>
          <a:bodyPr wrap="square" lIns="0" tIns="0" rIns="0" bIns="0" rtlCol="0" anchor="t">
            <a:noAutofit/>
          </a:bodyPr>
          <a:lstStyle/>
          <a:p>
            <a:pPr algn="l" marL="0" indent="0">
              <a:lnSpc>
                <a:spcPct val="135000"/>
              </a:lnSpc>
              <a:spcBef>
                <a:spcPts val="0"/>
              </a:spcBef>
              <a:spcAft>
                <a:spcPts val="0"/>
              </a:spcAft>
              <a:buNone/>
            </a:pPr>
            <a:r>
              <a:rPr lang="ja-JP" altLang="en-US" sz="1300" dirty="0">
                <a:solidFill>
                  <a:srgbClr val="1E2430"/>
                </a:solidFill>
                <a:latin typeface="BIZ UDPゴシック"/>
                <a:ea typeface="BIZ UDPゴシック"/>
                <a:cs typeface="BIZ UDPゴシック"/>
              </a:rPr>
              <a:t>反射と残響は壁を抜けない。壁を通るのは直接音（透過）だけ。閉じた扉（隙間 4 mm）で壁越しの響きは前の 0.1% に。残るのは隙間を通る分だけ</a:t>
            </a:r>
            <a:endParaRPr lang="ja-JP" altLang="en-US" sz="1300" dirty="0"/>
          </a:p>
        </p:txBody>
      </p:sp>
      <p:sp>
        <p:nvSpPr>
          <p:cNvPr id="25" name="カード 25"/>
          <p:cNvSpPr/>
          <p:nvPr/>
        </p:nvSpPr>
        <p:spPr>
          <a:xfrm>
            <a:off x="6153912" y="1463040"/>
            <a:ext cx="5486400" cy="4800600"/>
          </a:xfrm>
          <a:prstGeom prst="roundRect">
            <a:avLst>
              <a:gd name="adj" fmla="val 4000"/>
            </a:avLst>
          </a:prstGeom>
          <a:solidFill>
            <a:srgbClr val="F0F2F5"/>
          </a:solidFill>
          <a:ln>
            <a:noFill/>
          </a:ln>
        </p:spPr>
      </p:sp>
      <p:sp>
        <p:nvSpPr>
          <p:cNvPr id="26" name="図形 26"/>
          <p:cNvSpPr/>
          <p:nvPr/>
        </p:nvSpPr>
        <p:spPr>
          <a:xfrm>
            <a:off x="6382512" y="1627632"/>
            <a:ext cx="347472" cy="347472"/>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300" b="1" dirty="0">
                <a:solidFill>
                  <a:srgbClr val="1E2430"/>
                </a:solidFill>
                <a:latin typeface="BIZ UDPゴシック"/>
                <a:ea typeface="BIZ UDPゴシック"/>
                <a:cs typeface="BIZ UDPゴシック"/>
              </a:rPr>
              <a:t>2</a:t>
            </a:r>
            <a:endParaRPr lang="ja-JP" altLang="en-US" sz="1300" dirty="0"/>
          </a:p>
        </p:txBody>
      </p:sp>
      <p:sp>
        <p:nvSpPr>
          <p:cNvPr id="27" name="テキスト 27"/>
          <p:cNvSpPr txBox="1"/>
          <p:nvPr/>
        </p:nvSpPr>
        <p:spPr>
          <a:xfrm>
            <a:off x="6839712" y="1609344"/>
            <a:ext cx="4617720" cy="685800"/>
          </a:xfrm>
          <a:prstGeom prst="rect">
            <a:avLst/>
          </a:prstGeom>
          <a:noFill/>
        </p:spPr>
        <p:txBody>
          <a:bodyPr wrap="square" lIns="0" tIns="0" rIns="0" bIns="0" rtlCol="0" anchor="t">
            <a:noAutofit/>
          </a:bodyPr>
          <a:lstStyle/>
          <a:p>
            <a:pPr algn="l" marL="0" indent="0">
              <a:lnSpc>
                <a:spcPct val="120000"/>
              </a:lnSpc>
              <a:spcBef>
                <a:spcPts val="0"/>
              </a:spcBef>
              <a:spcAft>
                <a:spcPts val="0"/>
              </a:spcAft>
              <a:buNone/>
            </a:pPr>
            <a:r>
              <a:rPr lang="ja-JP" altLang="en-US" sz="1500" b="1" dirty="0">
                <a:solidFill>
                  <a:srgbClr val="1E2430"/>
                </a:solidFill>
                <a:latin typeface="BIZ UDPゴシック"/>
                <a:ea typeface="BIZ UDPゴシック"/>
                <a:cs typeface="BIZ UDPゴシック"/>
              </a:rPr>
              <a:t>隣の部屋の響きが今いる部屋に広がり、方向がぼやけた</a:t>
            </a:r>
            <a:endParaRPr lang="ja-JP" altLang="en-US" sz="1500" dirty="0"/>
          </a:p>
        </p:txBody>
      </p:sp>
      <p:sp>
        <p:nvSpPr>
          <p:cNvPr id="28" name="部屋 28"/>
          <p:cNvSpPr/>
          <p:nvPr/>
        </p:nvSpPr>
        <p:spPr>
          <a:xfrm>
            <a:off x="6565392" y="2331720"/>
            <a:ext cx="914400" cy="1463040"/>
          </a:xfrm>
          <a:prstGeom prst="rect">
            <a:avLst/>
          </a:prstGeom>
          <a:solidFill>
            <a:srgbClr val="FCF4E6"/>
          </a:solidFill>
          <a:ln w="25400">
            <a:solidFill>
              <a:srgbClr val="8A94A6"/>
            </a:solidFill>
          </a:ln>
        </p:spPr>
      </p:sp>
      <p:sp>
        <p:nvSpPr>
          <p:cNvPr id="29" name="部屋 29"/>
          <p:cNvSpPr/>
          <p:nvPr/>
        </p:nvSpPr>
        <p:spPr>
          <a:xfrm>
            <a:off x="7479792" y="2331720"/>
            <a:ext cx="914400" cy="1463040"/>
          </a:xfrm>
          <a:prstGeom prst="rect">
            <a:avLst/>
          </a:prstGeom>
          <a:solidFill>
            <a:srgbClr val="FFFFFF"/>
          </a:solidFill>
          <a:ln w="25400">
            <a:solidFill>
              <a:srgbClr val="8A94A6"/>
            </a:solidFill>
          </a:ln>
        </p:spPr>
      </p:sp>
      <p:sp>
        <p:nvSpPr>
          <p:cNvPr id="30" name="開口 30"/>
          <p:cNvSpPr/>
          <p:nvPr/>
        </p:nvSpPr>
        <p:spPr>
          <a:xfrm>
            <a:off x="7452360" y="2887675"/>
            <a:ext cx="54864" cy="351130"/>
          </a:xfrm>
          <a:prstGeom prst="rect">
            <a:avLst/>
          </a:prstGeom>
          <a:solidFill>
            <a:srgbClr val="FFFFFF"/>
          </a:solidFill>
          <a:ln>
            <a:noFill/>
          </a:ln>
        </p:spPr>
      </p:sp>
      <p:sp>
        <p:nvSpPr>
          <p:cNvPr id="31" name="テキスト 31"/>
          <p:cNvSpPr txBox="1"/>
          <p:nvPr/>
        </p:nvSpPr>
        <p:spPr>
          <a:xfrm>
            <a:off x="6565392" y="2368296"/>
            <a:ext cx="914400"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響く部屋</a:t>
            </a:r>
            <a:endParaRPr lang="ja-JP" altLang="en-US" sz="900" dirty="0"/>
          </a:p>
        </p:txBody>
      </p:sp>
      <p:sp>
        <p:nvSpPr>
          <p:cNvPr id="32" name="テキスト 32"/>
          <p:cNvSpPr txBox="1"/>
          <p:nvPr/>
        </p:nvSpPr>
        <p:spPr>
          <a:xfrm>
            <a:off x="7479792" y="2368296"/>
            <a:ext cx="914400" cy="219456"/>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900" dirty="0">
                <a:solidFill>
                  <a:srgbClr val="5C6677"/>
                </a:solidFill>
                <a:latin typeface="BIZ UDPゴシック"/>
                <a:ea typeface="BIZ UDPゴシック"/>
                <a:cs typeface="BIZ UDPゴシック"/>
              </a:rPr>
              <a:t>今いる部屋</a:t>
            </a:r>
            <a:endParaRPr lang="ja-JP" altLang="en-US" sz="900" dirty="0"/>
          </a:p>
        </p:txBody>
      </p:sp>
      <p:sp>
        <p:nvSpPr>
          <p:cNvPr id="33" name="点 33"/>
          <p:cNvSpPr/>
          <p:nvPr/>
        </p:nvSpPr>
        <p:spPr>
          <a:xfrm>
            <a:off x="6825996" y="2711196"/>
            <a:ext cx="118872" cy="118872"/>
          </a:xfrm>
          <a:prstGeom prst="ellipse">
            <a:avLst/>
          </a:prstGeom>
          <a:solidFill>
            <a:srgbClr val="E3A33B"/>
          </a:solidFill>
          <a:ln>
            <a:noFill/>
          </a:ln>
        </p:spPr>
      </p:sp>
      <p:sp>
        <p:nvSpPr>
          <p:cNvPr id="34" name="テキスト 34"/>
          <p:cNvSpPr txBox="1"/>
          <p:nvPr/>
        </p:nvSpPr>
        <p:spPr>
          <a:xfrm>
            <a:off x="6611112" y="2834640"/>
            <a:ext cx="5486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1E2430"/>
                </a:solidFill>
                <a:latin typeface="BIZ UDPゴシック"/>
                <a:ea typeface="BIZ UDPゴシック"/>
                <a:cs typeface="BIZ UDPゴシック"/>
              </a:rPr>
              <a:t>音源</a:t>
            </a:r>
            <a:endParaRPr lang="ja-JP" altLang="en-US" sz="850" dirty="0"/>
          </a:p>
        </p:txBody>
      </p:sp>
      <p:sp>
        <p:nvSpPr>
          <p:cNvPr id="35" name="プローブ 35"/>
          <p:cNvSpPr/>
          <p:nvPr/>
        </p:nvSpPr>
        <p:spPr>
          <a:xfrm>
            <a:off x="7388352" y="2971800"/>
            <a:ext cx="182880" cy="182880"/>
          </a:xfrm>
          <a:prstGeom prst="ellipse">
            <a:avLst/>
          </a:prstGeom>
          <a:solidFill>
            <a:srgbClr val="FFFFFF"/>
          </a:solidFill>
          <a:ln w="22225">
            <a:solidFill>
              <a:srgbClr val="9A6212"/>
            </a:solidFill>
          </a:ln>
        </p:spPr>
      </p:sp>
      <p:cxnSp>
        <p:nvCxnSpPr>
          <p:cNvPr id="36" name="線 36"/>
          <p:cNvCxnSpPr/>
          <p:nvPr/>
        </p:nvCxnSpPr>
        <p:spPr>
          <a:xfrm>
            <a:off x="7571232" y="3090672"/>
            <a:ext cx="429768" cy="219456"/>
          </a:xfrm>
          <a:prstGeom prst="line">
            <a:avLst/>
          </a:prstGeom>
          <a:ln w="22225">
            <a:solidFill>
              <a:srgbClr val="E3A33B"/>
            </a:solidFill>
            <a:tailEnd type="triangle" w="med" len="med"/>
          </a:ln>
        </p:spPr>
      </p:cxnSp>
      <p:sp>
        <p:nvSpPr>
          <p:cNvPr id="37" name="点 37"/>
          <p:cNvSpPr/>
          <p:nvPr/>
        </p:nvSpPr>
        <p:spPr>
          <a:xfrm>
            <a:off x="8014716" y="3296412"/>
            <a:ext cx="118872" cy="118872"/>
          </a:xfrm>
          <a:prstGeom prst="ellipse">
            <a:avLst/>
          </a:prstGeom>
          <a:solidFill>
            <a:srgbClr val="1E2430"/>
          </a:solidFill>
          <a:ln>
            <a:noFill/>
          </a:ln>
        </p:spPr>
      </p:sp>
      <p:sp>
        <p:nvSpPr>
          <p:cNvPr id="38" name="テキスト 38"/>
          <p:cNvSpPr txBox="1"/>
          <p:nvPr/>
        </p:nvSpPr>
        <p:spPr>
          <a:xfrm>
            <a:off x="7571232" y="3429000"/>
            <a:ext cx="100584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dirty="0">
                <a:solidFill>
                  <a:srgbClr val="1E2430"/>
                </a:solidFill>
                <a:latin typeface="BIZ UDPゴシック"/>
                <a:ea typeface="BIZ UDPゴシック"/>
                <a:cs typeface="BIZ UDPゴシック"/>
              </a:rPr>
              <a:t>耳</a:t>
            </a:r>
            <a:endParaRPr lang="ja-JP" altLang="en-US" sz="850" dirty="0"/>
          </a:p>
        </p:txBody>
      </p:sp>
      <p:sp>
        <p:nvSpPr>
          <p:cNvPr id="39" name="テキスト 39"/>
          <p:cNvSpPr txBox="1"/>
          <p:nvPr/>
        </p:nvSpPr>
        <p:spPr>
          <a:xfrm>
            <a:off x="6931152" y="3172968"/>
            <a:ext cx="1097280" cy="201168"/>
          </a:xfrm>
          <a:prstGeom prst="rect">
            <a:avLst/>
          </a:prstGeom>
          <a:noFill/>
        </p:spPr>
        <p:txBody>
          <a:bodyPr wrap="square" lIns="0" tIns="0" rIns="0" bIns="0" rtlCol="0" anchor="t">
            <a:noAutofit/>
          </a:bodyPr>
          <a:lstStyle/>
          <a:p>
            <a:pPr algn="ctr" marL="0" indent="0">
              <a:spcBef>
                <a:spcPts val="0"/>
              </a:spcBef>
              <a:spcAft>
                <a:spcPts val="0"/>
              </a:spcAft>
              <a:buNone/>
            </a:pPr>
            <a:r>
              <a:rPr lang="ja-JP" altLang="en-US" sz="850" b="1" dirty="0">
                <a:solidFill>
                  <a:srgbClr val="9A6212"/>
                </a:solidFill>
                <a:latin typeface="BIZ UDPゴシック"/>
                <a:ea typeface="BIZ UDPゴシック"/>
                <a:cs typeface="BIZ UDPゴシック"/>
              </a:rPr>
              <a:t>プローブ</a:t>
            </a:r>
            <a:endParaRPr lang="ja-JP" altLang="en-US" sz="850" dirty="0"/>
          </a:p>
        </p:txBody>
      </p:sp>
      <p:sp>
        <p:nvSpPr>
          <p:cNvPr id="40" name="テキスト 40"/>
          <p:cNvSpPr txBox="1"/>
          <p:nvPr/>
        </p:nvSpPr>
        <p:spPr>
          <a:xfrm>
            <a:off x="8805672" y="2331720"/>
            <a:ext cx="260604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50" b="1" dirty="0">
                <a:solidFill>
                  <a:srgbClr val="5C6677"/>
                </a:solidFill>
                <a:latin typeface="BIZ UDPゴシック"/>
                <a:ea typeface="BIZ UDPゴシック"/>
                <a:cs typeface="BIZ UDPゴシック"/>
              </a:rPr>
              <a:t>原因</a:t>
            </a:r>
            <a:endParaRPr lang="ja-JP" altLang="en-US" sz="1150" dirty="0"/>
          </a:p>
        </p:txBody>
      </p:sp>
      <p:sp>
        <p:nvSpPr>
          <p:cNvPr id="41" name="テキスト 41"/>
          <p:cNvSpPr txBox="1"/>
          <p:nvPr/>
        </p:nvSpPr>
        <p:spPr>
          <a:xfrm>
            <a:off x="8805672" y="2606040"/>
            <a:ext cx="2606040" cy="1554480"/>
          </a:xfrm>
          <a:prstGeom prst="rect">
            <a:avLst/>
          </a:prstGeom>
          <a:noFill/>
        </p:spPr>
        <p:txBody>
          <a:bodyPr wrap="square" lIns="0" tIns="0" rIns="0" bIns="0" rtlCol="0" anchor="t">
            <a:noAutofit/>
          </a:bodyPr>
          <a:lstStyle/>
          <a:p>
            <a:pPr algn="l" marL="0" indent="0">
              <a:lnSpc>
                <a:spcPct val="135000"/>
              </a:lnSpc>
              <a:spcBef>
                <a:spcPts val="0"/>
              </a:spcBef>
              <a:spcAft>
                <a:spcPts val="0"/>
              </a:spcAft>
              <a:buNone/>
            </a:pPr>
            <a:r>
              <a:rPr lang="ja-JP" altLang="en-US" sz="1250" dirty="0">
                <a:solidFill>
                  <a:srgbClr val="1E2430"/>
                </a:solidFill>
                <a:latin typeface="BIZ UDPゴシック"/>
                <a:ea typeface="BIZ UDPゴシック"/>
                <a:cs typeface="BIZ UDPゴシック"/>
              </a:rPr>
              <a:t>隣の部屋から届いた響きを、今いる部屋でもう一度響かせていた。今いる部屋の響きの 79% が、隣の部屋から来た分だった</a:t>
            </a:r>
            <a:endParaRPr lang="ja-JP" altLang="en-US" sz="1250" dirty="0"/>
          </a:p>
        </p:txBody>
      </p:sp>
      <p:sp>
        <p:nvSpPr>
          <p:cNvPr id="42" name="図形 42"/>
          <p:cNvSpPr/>
          <p:nvPr/>
        </p:nvSpPr>
        <p:spPr>
          <a:xfrm>
            <a:off x="6336792" y="4297680"/>
            <a:ext cx="5120640" cy="1783080"/>
          </a:xfrm>
          <a:prstGeom prst="roundRect">
            <a:avLst>
              <a:gd name="adj" fmla="val 6000"/>
            </a:avLst>
          </a:prstGeom>
          <a:solidFill>
            <a:srgbClr val="FBF1DF"/>
          </a:solidFill>
          <a:ln>
            <a:noFill/>
          </a:ln>
        </p:spPr>
      </p:sp>
      <p:sp>
        <p:nvSpPr>
          <p:cNvPr id="43" name="テキスト 43"/>
          <p:cNvSpPr txBox="1"/>
          <p:nvPr/>
        </p:nvSpPr>
        <p:spPr>
          <a:xfrm>
            <a:off x="6519672" y="4407408"/>
            <a:ext cx="4754880"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150" b="1" dirty="0">
                <a:solidFill>
                  <a:srgbClr val="9A6212"/>
                </a:solidFill>
                <a:latin typeface="BIZ UDPゴシック"/>
                <a:ea typeface="BIZ UDPゴシック"/>
                <a:cs typeface="BIZ UDPゴシック"/>
              </a:rPr>
              <a:t>直し方</a:t>
            </a:r>
            <a:endParaRPr lang="ja-JP" altLang="en-US" sz="1150" dirty="0"/>
          </a:p>
        </p:txBody>
      </p:sp>
      <p:sp>
        <p:nvSpPr>
          <p:cNvPr id="44" name="テキスト 44"/>
          <p:cNvSpPr txBox="1"/>
          <p:nvPr/>
        </p:nvSpPr>
        <p:spPr>
          <a:xfrm>
            <a:off x="6519672" y="4681728"/>
            <a:ext cx="4754880" cy="1325880"/>
          </a:xfrm>
          <a:prstGeom prst="rect">
            <a:avLst/>
          </a:prstGeom>
          <a:noFill/>
        </p:spPr>
        <p:txBody>
          <a:bodyPr wrap="square" lIns="0" tIns="0" rIns="0" bIns="0" rtlCol="0" anchor="t">
            <a:noAutofit/>
          </a:bodyPr>
          <a:lstStyle/>
          <a:p>
            <a:pPr algn="l" marL="0" indent="0">
              <a:lnSpc>
                <a:spcPct val="135000"/>
              </a:lnSpc>
              <a:spcBef>
                <a:spcPts val="0"/>
              </a:spcBef>
              <a:spcAft>
                <a:spcPts val="0"/>
              </a:spcAft>
              <a:buNone/>
            </a:pPr>
            <a:r>
              <a:rPr lang="ja-JP" altLang="en-US" sz="1300" dirty="0">
                <a:solidFill>
                  <a:srgbClr val="1E2430"/>
                </a:solidFill>
                <a:latin typeface="BIZ UDPゴシック"/>
                <a:ea typeface="BIZ UDPゴシック"/>
                <a:cs typeface="BIZ UDPゴシック"/>
              </a:rPr>
              <a:t>総量は変えずに、今いる部屋で響く分を 0 にして、戸口から鳴らす（音を消すのではなく、出どころを戸口へ移す）</a:t>
            </a:r>
            <a:endParaRPr lang="ja-JP" altLang="en-US" sz="1300" dirty="0"/>
          </a:p>
        </p:txBody>
      </p:sp>
      <p:sp>
        <p:nvSpPr>
          <p:cNvPr id="45" name="注 45"/>
          <p:cNvSpPr txBox="1"/>
          <p:nvPr/>
        </p:nvSpPr>
        <p:spPr>
          <a:xfrm>
            <a:off x="548640" y="6419088"/>
            <a:ext cx="9875520" cy="256032"/>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950" dirty="0">
                <a:solidFill>
                  <a:srgbClr val="5C6677"/>
                </a:solidFill>
                <a:latin typeface="BIZ UDPゴシック"/>
                <a:ea typeface="BIZ UDPゴシック"/>
                <a:cs typeface="BIZ UDPゴシック"/>
              </a:rPr>
              <a:t>※ 数値は 2026-09-18 の回帰テストの実測（8 倍は直す前の測定）。図は上から見た模式図</a:t>
            </a:r>
            <a:endParaRPr lang="ja-JP" altLang="en-US" sz="950" dirty="0"/>
          </a:p>
        </p:txBody>
      </p:sp>
      <p:sp>
        <p:nvSpPr>
          <p:cNvPr id="46" name="ページ番号 46"/>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31</a:t>
            </a:r>
            <a:endParaRPr lang="ja-JP" alt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見出しラベル 2"/>
          <p:cNvSpPr txBox="1"/>
          <p:nvPr/>
        </p:nvSpPr>
        <p:spPr>
          <a:xfrm>
            <a:off x="548640" y="384048"/>
            <a:ext cx="11091672" cy="27432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200" b="1" dirty="0">
                <a:solidFill>
                  <a:srgbClr val="9A6212"/>
                </a:solidFill>
                <a:latin typeface="BIZ UDPゴシック"/>
                <a:ea typeface="BIZ UDPゴシック"/>
                <a:cs typeface="BIZ UDPゴシック"/>
              </a:rPr>
              <a:t>今後の展望</a:t>
            </a:r>
            <a:endParaRPr lang="ja-JP" altLang="en-US" sz="1200" dirty="0"/>
          </a:p>
        </p:txBody>
      </p:sp>
      <p:sp>
        <p:nvSpPr>
          <p:cNvPr id="3" name="タイトル 3"/>
          <p:cNvSpPr>
            <a:spLocks noGrp="1"/>
          </p:cNvSpPr>
          <p:nvPr>
            <p:ph type="title"/>
          </p:nvPr>
        </p:nvSpPr>
        <p:spPr>
          <a:xfrm>
            <a:off x="548640" y="676656"/>
            <a:ext cx="11091672" cy="566928"/>
          </a:xfrm>
        </p:spPr>
        <p:txBody>
          <a:bodyPr wrap="square" lIns="0" tIns="0" rIns="0" bIns="0" rtlCol="0" anchor="t">
            <a:noAutofit/>
          </a:bodyPr>
          <a:lstStyle/>
          <a:p>
            <a:pPr algn="l" marL="0" indent="0">
              <a:lnSpc>
                <a:spcPct val="100000"/>
              </a:lnSpc>
              <a:spcBef>
                <a:spcPts val="0"/>
              </a:spcBef>
              <a:spcAft>
                <a:spcPts val="0"/>
              </a:spcAft>
              <a:buNone/>
            </a:pPr>
            <a:r>
              <a:rPr lang="ja-JP" altLang="en-US" sz="2600" b="1" dirty="0">
                <a:solidFill>
                  <a:srgbClr val="1E2430"/>
                </a:solidFill>
                <a:latin typeface="BIZ UDPゴシック"/>
                <a:ea typeface="BIZ UDPゴシック"/>
                <a:cs typeface="BIZ UDPゴシック"/>
              </a:rPr>
              <a:t>今後の展望</a:t>
            </a:r>
            <a:endParaRPr lang="ja-JP" altLang="en-US" sz="2600" dirty="0"/>
          </a:p>
        </p:txBody>
      </p:sp>
      <p:sp>
        <p:nvSpPr>
          <p:cNvPr id="4" name="カード 4"/>
          <p:cNvSpPr/>
          <p:nvPr/>
        </p:nvSpPr>
        <p:spPr>
          <a:xfrm>
            <a:off x="548640" y="1600200"/>
            <a:ext cx="11091672" cy="1389888"/>
          </a:xfrm>
          <a:prstGeom prst="roundRect">
            <a:avLst>
              <a:gd name="adj" fmla="val 4000"/>
            </a:avLst>
          </a:prstGeom>
          <a:solidFill>
            <a:srgbClr val="F0F2F5"/>
          </a:solidFill>
          <a:ln>
            <a:noFill/>
          </a:ln>
        </p:spPr>
      </p:sp>
      <p:sp>
        <p:nvSpPr>
          <p:cNvPr id="5" name="図形 5"/>
          <p:cNvSpPr/>
          <p:nvPr/>
        </p:nvSpPr>
        <p:spPr>
          <a:xfrm>
            <a:off x="822960" y="2057400"/>
            <a:ext cx="457200" cy="457200"/>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500" b="1" dirty="0">
                <a:solidFill>
                  <a:srgbClr val="1E2430"/>
                </a:solidFill>
                <a:latin typeface="BIZ UDPゴシック"/>
                <a:ea typeface="BIZ UDPゴシック"/>
                <a:cs typeface="BIZ UDPゴシック"/>
              </a:rPr>
              <a:t>1</a:t>
            </a:r>
            <a:endParaRPr lang="ja-JP" altLang="en-US" sz="1500" dirty="0"/>
          </a:p>
        </p:txBody>
      </p:sp>
      <p:sp>
        <p:nvSpPr>
          <p:cNvPr id="6" name="テキスト 6"/>
          <p:cNvSpPr txBox="1"/>
          <p:nvPr/>
        </p:nvSpPr>
        <p:spPr>
          <a:xfrm>
            <a:off x="1554480" y="1801368"/>
            <a:ext cx="9784080" cy="36576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700" b="1" dirty="0">
                <a:solidFill>
                  <a:srgbClr val="1E2430"/>
                </a:solidFill>
                <a:latin typeface="BIZ UDPゴシック"/>
                <a:ea typeface="BIZ UDPゴシック"/>
                <a:cs typeface="BIZ UDPゴシック"/>
              </a:rPr>
              <a:t>DirectX＋Wwise に載せる</a:t>
            </a:r>
            <a:endParaRPr lang="ja-JP" altLang="en-US" sz="1700" dirty="0"/>
          </a:p>
        </p:txBody>
      </p:sp>
      <p:sp>
        <p:nvSpPr>
          <p:cNvPr id="7" name="テキスト 7"/>
          <p:cNvSpPr txBox="1"/>
          <p:nvPr/>
        </p:nvSpPr>
        <p:spPr>
          <a:xfrm>
            <a:off x="1554480" y="2240280"/>
            <a:ext cx="9784080" cy="68580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300" dirty="0">
                <a:solidFill>
                  <a:srgbClr val="1E2430"/>
                </a:solidFill>
                <a:latin typeface="BIZ UDPゴシック"/>
                <a:ea typeface="BIZ UDPゴシック"/>
                <a:cs typeface="BIZ UDPゴシック"/>
              </a:rPr>
              <a:t>エンジンは Unity に依存しない C++ の DLL。Wwise のオブジェクト処理のプラグインから鳴らし、まず DirectX の窓とドア 1 枚で通す</a:t>
            </a:r>
            <a:endParaRPr lang="ja-JP" altLang="en-US" sz="1300" dirty="0"/>
          </a:p>
        </p:txBody>
      </p:sp>
      <p:sp>
        <p:nvSpPr>
          <p:cNvPr id="8" name="カード 8"/>
          <p:cNvSpPr/>
          <p:nvPr/>
        </p:nvSpPr>
        <p:spPr>
          <a:xfrm>
            <a:off x="548640" y="3172968"/>
            <a:ext cx="11091672" cy="1389888"/>
          </a:xfrm>
          <a:prstGeom prst="roundRect">
            <a:avLst>
              <a:gd name="adj" fmla="val 4000"/>
            </a:avLst>
          </a:prstGeom>
          <a:solidFill>
            <a:srgbClr val="F0F2F5"/>
          </a:solidFill>
          <a:ln>
            <a:noFill/>
          </a:ln>
        </p:spPr>
      </p:sp>
      <p:sp>
        <p:nvSpPr>
          <p:cNvPr id="9" name="図形 9"/>
          <p:cNvSpPr/>
          <p:nvPr/>
        </p:nvSpPr>
        <p:spPr>
          <a:xfrm>
            <a:off x="822960" y="3630168"/>
            <a:ext cx="457200" cy="457200"/>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500" b="1" dirty="0">
                <a:solidFill>
                  <a:srgbClr val="1E2430"/>
                </a:solidFill>
                <a:latin typeface="BIZ UDPゴシック"/>
                <a:ea typeface="BIZ UDPゴシック"/>
                <a:cs typeface="BIZ UDPゴシック"/>
              </a:rPr>
              <a:t>2</a:t>
            </a:r>
            <a:endParaRPr lang="ja-JP" altLang="en-US" sz="1500" dirty="0"/>
          </a:p>
        </p:txBody>
      </p:sp>
      <p:sp>
        <p:nvSpPr>
          <p:cNvPr id="10" name="テキスト 10"/>
          <p:cNvSpPr txBox="1"/>
          <p:nvPr/>
        </p:nvSpPr>
        <p:spPr>
          <a:xfrm>
            <a:off x="1554480" y="3374136"/>
            <a:ext cx="9784080" cy="36576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700" b="1" dirty="0">
                <a:solidFill>
                  <a:srgbClr val="1E2430"/>
                </a:solidFill>
                <a:latin typeface="BIZ UDPゴシック"/>
                <a:ea typeface="BIZ UDPゴシック"/>
                <a:cs typeface="BIZ UDPゴシック"/>
              </a:rPr>
              <a:t>残っている問題を直す</a:t>
            </a:r>
            <a:endParaRPr lang="ja-JP" altLang="en-US" sz="1700" dirty="0"/>
          </a:p>
        </p:txBody>
      </p:sp>
      <p:sp>
        <p:nvSpPr>
          <p:cNvPr id="11" name="テキスト 11"/>
          <p:cNvSpPr txBox="1"/>
          <p:nvPr/>
        </p:nvSpPr>
        <p:spPr>
          <a:xfrm>
            <a:off x="1554480" y="3813048"/>
            <a:ext cx="9784080" cy="68580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300" dirty="0">
                <a:solidFill>
                  <a:srgbClr val="1E2430"/>
                </a:solidFill>
                <a:latin typeface="BIZ UDPゴシック"/>
                <a:ea typeface="BIZ UDPゴシック"/>
                <a:cs typeface="BIZ UDPゴシック"/>
              </a:rPr>
              <a:t>開き始めの 0〜2°、壁越しの透過、蝶番側の回折の途切れ。同じ格子で測り直し、直す前と後を数字で比べる</a:t>
            </a:r>
            <a:endParaRPr lang="ja-JP" altLang="en-US" sz="1300" dirty="0"/>
          </a:p>
        </p:txBody>
      </p:sp>
      <p:sp>
        <p:nvSpPr>
          <p:cNvPr id="12" name="カード 12"/>
          <p:cNvSpPr/>
          <p:nvPr/>
        </p:nvSpPr>
        <p:spPr>
          <a:xfrm>
            <a:off x="548640" y="4745736"/>
            <a:ext cx="11091672" cy="1389888"/>
          </a:xfrm>
          <a:prstGeom prst="roundRect">
            <a:avLst>
              <a:gd name="adj" fmla="val 4000"/>
            </a:avLst>
          </a:prstGeom>
          <a:solidFill>
            <a:srgbClr val="F0F2F5"/>
          </a:solidFill>
          <a:ln>
            <a:noFill/>
          </a:ln>
        </p:spPr>
      </p:sp>
      <p:sp>
        <p:nvSpPr>
          <p:cNvPr id="13" name="図形 13"/>
          <p:cNvSpPr/>
          <p:nvPr/>
        </p:nvSpPr>
        <p:spPr>
          <a:xfrm>
            <a:off x="822960" y="5202936"/>
            <a:ext cx="457200" cy="457200"/>
          </a:xfrm>
          <a:prstGeom prst="ellipse">
            <a:avLst/>
          </a:prstGeom>
          <a:solidFill>
            <a:srgbClr val="E3A33B"/>
          </a:solidFill>
          <a:ln>
            <a:noFill/>
          </a:ln>
        </p:spPr>
        <p:txBody>
          <a:bodyPr wrap="square" lIns="0" tIns="0" rIns="0" bIns="0" rtlCol="0" anchor="ctr">
            <a:noAutofit/>
          </a:bodyPr>
          <a:lstStyle/>
          <a:p>
            <a:pPr algn="ctr" marL="0" indent="0">
              <a:spcBef>
                <a:spcPts val="0"/>
              </a:spcBef>
              <a:spcAft>
                <a:spcPts val="0"/>
              </a:spcAft>
              <a:buNone/>
            </a:pPr>
            <a:r>
              <a:rPr lang="ja-JP" altLang="en-US" sz="1500" b="1" dirty="0">
                <a:solidFill>
                  <a:srgbClr val="1E2430"/>
                </a:solidFill>
                <a:latin typeface="BIZ UDPゴシック"/>
                <a:ea typeface="BIZ UDPゴシック"/>
                <a:cs typeface="BIZ UDPゴシック"/>
              </a:rPr>
              <a:t>3</a:t>
            </a:r>
            <a:endParaRPr lang="ja-JP" altLang="en-US" sz="1500" dirty="0"/>
          </a:p>
        </p:txBody>
      </p:sp>
      <p:sp>
        <p:nvSpPr>
          <p:cNvPr id="14" name="テキスト 14"/>
          <p:cNvSpPr txBox="1"/>
          <p:nvPr/>
        </p:nvSpPr>
        <p:spPr>
          <a:xfrm>
            <a:off x="1554480" y="4946904"/>
            <a:ext cx="9784080" cy="365760"/>
          </a:xfrm>
          <a:prstGeom prst="rect">
            <a:avLst/>
          </a:prstGeom>
          <a:noFill/>
        </p:spPr>
        <p:txBody>
          <a:bodyPr wrap="square" lIns="0" tIns="0" rIns="0" bIns="0" rtlCol="0" anchor="t">
            <a:noAutofit/>
          </a:bodyPr>
          <a:lstStyle/>
          <a:p>
            <a:pPr algn="l" marL="0" indent="0">
              <a:spcBef>
                <a:spcPts val="0"/>
              </a:spcBef>
              <a:spcAft>
                <a:spcPts val="0"/>
              </a:spcAft>
              <a:buNone/>
            </a:pPr>
            <a:r>
              <a:rPr lang="ja-JP" altLang="en-US" sz="1700" b="1" dirty="0">
                <a:solidFill>
                  <a:srgbClr val="1E2430"/>
                </a:solidFill>
                <a:latin typeface="BIZ UDPゴシック"/>
                <a:ea typeface="BIZ UDPゴシック"/>
                <a:cs typeface="BIZ UDPゴシック"/>
              </a:rPr>
              <a:t>デザイナが調整できる形に</a:t>
            </a:r>
            <a:endParaRPr lang="ja-JP" altLang="en-US" sz="1700" dirty="0"/>
          </a:p>
        </p:txBody>
      </p:sp>
      <p:sp>
        <p:nvSpPr>
          <p:cNvPr id="15" name="テキスト 15"/>
          <p:cNvSpPr txBox="1"/>
          <p:nvPr/>
        </p:nvSpPr>
        <p:spPr>
          <a:xfrm>
            <a:off x="1554480" y="5385816"/>
            <a:ext cx="9784080" cy="685800"/>
          </a:xfrm>
          <a:prstGeom prst="rect">
            <a:avLst/>
          </a:prstGeom>
          <a:noFill/>
        </p:spPr>
        <p:txBody>
          <a:bodyPr wrap="square" lIns="0" tIns="0" rIns="0" bIns="0" rtlCol="0" anchor="t">
            <a:noAutofit/>
          </a:bodyPr>
          <a:lstStyle/>
          <a:p>
            <a:pPr algn="l" marL="0" indent="0">
              <a:lnSpc>
                <a:spcPct val="130000"/>
              </a:lnSpc>
              <a:spcBef>
                <a:spcPts val="0"/>
              </a:spcBef>
              <a:spcAft>
                <a:spcPts val="0"/>
              </a:spcAft>
              <a:buNone/>
            </a:pPr>
            <a:r>
              <a:rPr lang="ja-JP" altLang="en-US" sz="1300" dirty="0">
                <a:solidFill>
                  <a:srgbClr val="1E2430"/>
                </a:solidFill>
                <a:latin typeface="BIZ UDPゴシック"/>
                <a:ea typeface="BIZ UDPゴシック"/>
                <a:cs typeface="BIZ UDPゴシック"/>
              </a:rPr>
              <a:t>演出の値（最初に届く音の重み、隣の部屋の閉じ込めなど）は載せる側が持ち、エンジンは物理の量を変えない</a:t>
            </a:r>
            <a:endParaRPr lang="ja-JP" altLang="en-US" sz="1300" dirty="0"/>
          </a:p>
        </p:txBody>
      </p:sp>
      <p:sp>
        <p:nvSpPr>
          <p:cNvPr id="16" name="ページ番号 16"/>
          <p:cNvSpPr txBox="1"/>
          <p:nvPr/>
        </p:nvSpPr>
        <p:spPr>
          <a:xfrm>
            <a:off x="11183112" y="6464808"/>
            <a:ext cx="731520" cy="274320"/>
          </a:xfrm>
          <a:prstGeom prst="rect">
            <a:avLst/>
          </a:prstGeom>
          <a:noFill/>
        </p:spPr>
        <p:txBody>
          <a:bodyPr wrap="square" lIns="0" tIns="0" rIns="0" bIns="0" rtlCol="0" anchor="t">
            <a:noAutofit/>
          </a:bodyPr>
          <a:lstStyle/>
          <a:p>
            <a:pPr algn="r" marL="0" indent="0">
              <a:spcBef>
                <a:spcPts val="0"/>
              </a:spcBef>
              <a:spcAft>
                <a:spcPts val="0"/>
              </a:spcAft>
              <a:buNone/>
            </a:pPr>
            <a:r>
              <a:rPr lang="ja-JP" altLang="en-US" sz="1000" dirty="0">
                <a:solidFill>
                  <a:srgbClr val="5C6677"/>
                </a:solidFill>
                <a:latin typeface="BIZ UDPゴシック"/>
                <a:ea typeface="BIZ UDPゴシック"/>
                <a:cs typeface="BIZ UDPゴシック"/>
              </a:rPr>
              <a:t>32</a:t>
            </a:r>
            <a:endParaRPr lang="ja-JP" altLang="en-US" sz="10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139D93495F2624C917EEF16A9DA3E1A" ma:contentTypeVersion="14" ma:contentTypeDescription="新しいドキュメントを作成します。" ma:contentTypeScope="" ma:versionID="712b043f39acaa843b47ce0ff47cdb14">
  <xsd:schema xmlns:xsd="http://www.w3.org/2001/XMLSchema" xmlns:xs="http://www.w3.org/2001/XMLSchema" xmlns:p="http://schemas.microsoft.com/office/2006/metadata/properties" xmlns:ns3="fa551098-4004-44fe-a016-5407d130625c" xmlns:ns4="e4463ffd-d7ab-4e4f-a3b1-de7144f98700" targetNamespace="http://schemas.microsoft.com/office/2006/metadata/properties" ma:root="true" ma:fieldsID="55eca7160f1be1aed6532e21a6912db8" ns3:_="" ns4:_="">
    <xsd:import namespace="fa551098-4004-44fe-a016-5407d130625c"/>
    <xsd:import namespace="e4463ffd-d7ab-4e4f-a3b1-de7144f98700"/>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_activity" minOccurs="0"/>
                <xsd:element ref="ns4:SharedWithUsers" minOccurs="0"/>
                <xsd:element ref="ns4:SharedWithDetails" minOccurs="0"/>
                <xsd:element ref="ns4:SharingHintHash"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551098-4004-44fe-a016-5407d130625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_activity" ma:index="17" nillable="true" ma:displayName="_activity" ma:hidden="true" ma:internalName="_activity">
      <xsd:simpleType>
        <xsd:restriction base="dms:Note"/>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463ffd-d7ab-4e4f-a3b1-de7144f98700"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SharingHintHash" ma:index="20" nillable="true" ma:displayName="共有のヒントのハッシュ"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fa551098-4004-44fe-a016-5407d130625c" xsi:nil="true"/>
  </documentManagement>
</p:properties>
</file>

<file path=customXml/itemProps1.xml><?xml version="1.0" encoding="utf-8"?>
<ds:datastoreItem xmlns:ds="http://schemas.openxmlformats.org/officeDocument/2006/customXml" ds:itemID="{97E42505-7A29-44B9-875B-02E46D6E4B6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a551098-4004-44fe-a016-5407d130625c"/>
    <ds:schemaRef ds:uri="e4463ffd-d7ab-4e4f-a3b1-de7144f987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DB041D7-CB89-4ED4-BE62-442EEFCDC849}">
  <ds:schemaRefs>
    <ds:schemaRef ds:uri="http://schemas.microsoft.com/sharepoint/v3/contenttype/forms"/>
  </ds:schemaRefs>
</ds:datastoreItem>
</file>

<file path=customXml/itemProps3.xml><?xml version="1.0" encoding="utf-8"?>
<ds:datastoreItem xmlns:ds="http://schemas.openxmlformats.org/officeDocument/2006/customXml" ds:itemID="{6D1CE89B-2CA6-4D15-B5CD-0C4761464D49}">
  <ds:schemaRefs>
    <ds:schemaRef ds:uri="http://schemas.microsoft.com/office/2006/documentManagement/types"/>
    <ds:schemaRef ds:uri="http://purl.org/dc/terms/"/>
    <ds:schemaRef ds:uri="http://schemas.microsoft.com/office/infopath/2007/PartnerControls"/>
    <ds:schemaRef ds:uri="http://schemas.microsoft.com/office/2006/metadata/properties"/>
    <ds:schemaRef ds:uri="http://www.w3.org/XML/1998/namespace"/>
    <ds:schemaRef ds:uri="fa551098-4004-44fe-a016-5407d130625c"/>
    <ds:schemaRef ds:uri="http://schemas.openxmlformats.org/package/2006/metadata/core-properties"/>
    <ds:schemaRef ds:uri="e4463ffd-d7ab-4e4f-a3b1-de7144f98700"/>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147</TotalTime>
  <Words>755</Words>
  <Application>Microsoft Office PowerPoint</Application>
  <PresentationFormat>ワイド画面</PresentationFormat>
  <Paragraphs>127</Paragraphs>
  <Slides>9</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9</vt:i4>
      </vt:variant>
    </vt:vector>
  </HeadingPairs>
  <TitlesOfParts>
    <vt:vector size="14" baseType="lpstr">
      <vt:lpstr>BIZ UDPゴシック</vt:lpstr>
      <vt:lpstr>游ゴシック</vt:lpstr>
      <vt:lpstr>游ゴシック Light</vt:lpstr>
      <vt:lpstr>Arial</vt:lpstr>
      <vt:lpstr>Office テーマ</vt:lpstr>
      <vt:lpstr>就職作品資料</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ドアの開けた感の伝え方</vt:lpstr>
      <vt:lpstr>ドアが開いたことが伝わるように</vt:lpstr>
      <vt:lpstr>音がドアの裏側にあるのが伝わるように</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OHAT13B60714 竹内寛登</dc:creator>
  <cp:lastModifiedBy>OHAT13B60714 竹内寛登</cp:lastModifiedBy>
  <cp:revision>2</cp:revision>
  <dcterms:created xsi:type="dcterms:W3CDTF">2026-09-18T05:41:46Z</dcterms:created>
  <dcterms:modified xsi:type="dcterms:W3CDTF">2026-09-18T08:09:14Z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0x0101006139D93495F2624C917EEF16A9DA3E1A</vt:lpwstr>
  </property>
</Properties>
</file>