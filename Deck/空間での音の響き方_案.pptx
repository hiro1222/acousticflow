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6712DA-5B6D-5616-002B-1F222F3366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529874C-E5B8-D980-D068-ECC26D8C9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06695A-2ED9-E5B2-3DF6-45CB3BE2A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BB96-82F6-4FE3-8405-3EB8188653A2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7F3AE9-84E0-79EB-D167-24E9D89E9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F3C369-7481-0BA0-02A1-896A94365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679-CBAE-4693-BD66-A90DB8F4F7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2738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9774AE-8B68-9883-A2CC-31162050A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17B3F9-553A-5A32-B9D6-95E33266C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A1FEAC-B7A8-23E2-0078-C2690D50D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BB96-82F6-4FE3-8405-3EB8188653A2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86367E-7BE6-01E8-68B6-1BA34EFEF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ECDF49-0A88-63BB-E5E2-68EB8AFFF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679-CBAE-4693-BD66-A90DB8F4F7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0269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492F80-4BC8-82C4-F40E-85497C895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1FFA23-B158-2D06-5042-97168D0C3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CAC9F7-11E5-5CDE-E137-31F51AA7C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BB96-82F6-4FE3-8405-3EB8188653A2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5EEAEE-EBBE-1528-9564-0DB49F27A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FA5D81-59AF-4998-7637-20C06EE8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679-CBAE-4693-BD66-A90DB8F4F7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3608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5841E3-C652-A23A-9F26-E01A538C7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FFA0CA-809A-7AB5-8ACC-67E2B3BA28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2E91FA6-4FE6-2E31-BEE0-AD2E472E0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E6EFE22-09D8-4406-EAD2-CEC01C63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BB96-82F6-4FE3-8405-3EB8188653A2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51DBC3D-39A2-E6B7-A7B7-360A2789D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9755343-C505-31DD-2AD2-0206C7A93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679-CBAE-4693-BD66-A90DB8F4F7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7765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18018D-BDC8-87F5-9828-6FC072381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14E178-8BB6-1B36-58B8-104E5D980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42C1F57-8AED-A971-8F79-BA9BB7A2A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4FB345F-AE67-3469-5AA1-45E6292C95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B2E0CF4-2758-AA56-F208-6D393AEFA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D35CDB0-5C67-8EAC-9F4A-D933953A4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BB96-82F6-4FE3-8405-3EB8188653A2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297D312-A596-1421-5B07-B8BAC0A4D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B757199-0172-4393-FF06-389905088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679-CBAE-4693-BD66-A90DB8F4F7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1256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5A4C13-426E-DF71-166D-7C8683773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CC146DE-11AC-CC3D-6049-8B959D484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BB96-82F6-4FE3-8405-3EB8188653A2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8746F9E-812E-2E83-544A-92C689529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D24A249-B5FE-6337-89A2-AF920F6D3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679-CBAE-4693-BD66-A90DB8F4F7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2335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6E993CD-F100-886F-5488-3953C399B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BB96-82F6-4FE3-8405-3EB8188653A2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A677702-4999-8166-DBAC-95D25F4DE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C2D6BA5-52EC-B396-A4AE-D47E9516B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679-CBAE-4693-BD66-A90DB8F4F7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2489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8F6DCC-55B8-19C0-E658-A7AEF55B2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73105B-0AE2-63CF-6125-F8FABC867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4685E7F-3F9E-D445-3607-BE351B2E70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F94971B-DFB7-BFB4-9CB9-630DC31D4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BB96-82F6-4FE3-8405-3EB8188653A2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25E085-0B53-2BAA-77F4-3BF5CC21B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65469F-8A3F-9965-B91B-818A68AC6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679-CBAE-4693-BD66-A90DB8F4F7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5723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2288F6-312E-D4A5-FC4A-1A8EAD7F1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EE032E6-4E7A-2231-EDD9-03EC7CD476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F5FA411-3F34-EBC8-F818-2F63403E9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AF6014-C569-256D-558B-88F6B7DB6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BB96-82F6-4FE3-8405-3EB8188653A2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387EC94-E04E-7388-1D2D-BC5DE2790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468B1FC-7ED2-A8C3-0AD3-0DA55801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679-CBAE-4693-BD66-A90DB8F4F7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7912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A84079-E397-4FBA-DE18-82BAAE9D0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2D96A29-09D4-A611-0B85-C0249DE6B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0A9523-55D5-3259-B333-1265CE631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BB96-82F6-4FE3-8405-3EB8188653A2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C20CA3-0165-573A-00E3-45260A17E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2052A4-CBF2-C5AC-A31D-1AFD86F20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679-CBAE-4693-BD66-A90DB8F4F7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3998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50D2533-0F6C-A813-38A2-97F0FEF90C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4FC123F-F27E-6C31-932C-649711C21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478A57-C800-57C2-1B9F-9CDC177A5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BB96-82F6-4FE3-8405-3EB8188653A2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7FF58B-2436-7DF6-9773-1F2E99B0C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53A979-56F8-B651-87A0-65AE2054F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4679-CBAE-4693-BD66-A90DB8F4F7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381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6B3D89C-97FD-C6F6-47D6-91C184AA6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E868BE-3DA8-F5BC-1686-BE1134641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EBD407-55C7-C99D-60E1-0DEB699DCC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ABB96-82F6-4FE3-8405-3EB8188653A2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3D8012-5313-EAB8-73ED-21570EFD2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BB40A7-FB87-4B62-A52E-F3C57068A3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504679-CBAE-4693-BD66-A90DB8F4F7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5339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6307505-7216-5566-4B90-813F940FDCA1}"/>
              </a:ext>
            </a:extLst>
          </p:cNvPr>
          <p:cNvSpPr txBox="1"/>
          <p:nvPr/>
        </p:nvSpPr>
        <p:spPr>
          <a:xfrm>
            <a:off x="355600" y="1778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6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・技術選定　部屋で聞こえる音の響き方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316F463-92E9-21D9-707C-7360EB03ABED}"/>
              </a:ext>
            </a:extLst>
          </p:cNvPr>
          <p:cNvSpPr txBox="1"/>
          <p:nvPr/>
        </p:nvSpPr>
        <p:spPr>
          <a:xfrm>
            <a:off x="736600" y="5588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34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空間での音の響き方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5285F78-A0F9-9EA7-A925-ACF771BBC908}"/>
              </a:ext>
            </a:extLst>
          </p:cNvPr>
          <p:cNvSpPr/>
          <p:nvPr/>
        </p:nvSpPr>
        <p:spPr>
          <a:xfrm>
            <a:off x="655320" y="1310640"/>
            <a:ext cx="3192780" cy="22860"/>
          </a:xfrm>
          <a:prstGeom prst="rect">
            <a:avLst/>
          </a:prstGeom>
          <a:solidFill>
            <a:srgbClr val="D86E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5EBCA10-1867-F207-0AEF-8947F1799770}"/>
              </a:ext>
            </a:extLst>
          </p:cNvPr>
          <p:cNvSpPr/>
          <p:nvPr/>
        </p:nvSpPr>
        <p:spPr>
          <a:xfrm>
            <a:off x="3863340" y="1315720"/>
            <a:ext cx="7937500" cy="7620"/>
          </a:xfrm>
          <a:prstGeom prst="rect">
            <a:avLst/>
          </a:prstGeom>
          <a:solidFill>
            <a:srgbClr val="E2E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17387EE-7489-A2D7-61BF-D5F7029BAF9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42900"/>
            <a:ext cx="838200" cy="4572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14575CF8-9ABE-C162-1D02-920436B2CF1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4600"/>
            <a:ext cx="12192000" cy="5334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0CFC531-27AD-7C41-9B52-07509B06013D}"/>
              </a:ext>
            </a:extLst>
          </p:cNvPr>
          <p:cNvSpPr txBox="1"/>
          <p:nvPr/>
        </p:nvSpPr>
        <p:spPr>
          <a:xfrm>
            <a:off x="889000" y="1549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16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ドアの次は、ドアの先にある「部屋の響き」。</a:t>
            </a:r>
          </a:p>
          <a:p>
            <a:pPr>
              <a:lnSpc>
                <a:spcPct val="120000"/>
              </a:lnSpc>
            </a:pPr>
            <a:r>
              <a:rPr kumimoji="1" lang="ja-JP" altLang="en-US" sz="16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部屋そのものの聞こえ方・音源の奥行き感・隣の部屋の聞こえ方の </a:t>
            </a:r>
            <a:r>
              <a:rPr kumimoji="1" lang="en-US" altLang="ja-JP" sz="16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 </a:t>
            </a:r>
            <a:r>
              <a:rPr kumimoji="1" lang="ja-JP" altLang="en-US" sz="16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つに分けて、</a:t>
            </a:r>
          </a:p>
          <a:p>
            <a:pPr>
              <a:lnSpc>
                <a:spcPct val="120000"/>
              </a:lnSpc>
            </a:pPr>
            <a:r>
              <a:rPr kumimoji="1" lang="ja-JP" altLang="en-US" sz="16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どれも「</a:t>
            </a:r>
            <a:r>
              <a:rPr kumimoji="1" lang="en-US" altLang="ja-JP" sz="16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 </a:t>
            </a:r>
            <a:r>
              <a:rPr kumimoji="1" lang="ja-JP" altLang="en-US" sz="16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つの響きを配り分ける」考え方で作りました。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29FC74A4-FEB6-FED3-5FE9-5CBD4F240CA9}"/>
              </a:ext>
            </a:extLst>
          </p:cNvPr>
          <p:cNvSpPr/>
          <p:nvPr/>
        </p:nvSpPr>
        <p:spPr>
          <a:xfrm>
            <a:off x="546100" y="2692400"/>
            <a:ext cx="3543300" cy="3556000"/>
          </a:xfrm>
          <a:prstGeom prst="roundRect">
            <a:avLst>
              <a:gd name="adj" fmla="val 6000"/>
            </a:avLst>
          </a:prstGeom>
          <a:solidFill>
            <a:srgbClr val="F0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C7AEEBCF-6BC7-B8EE-A7BD-87183C611901}"/>
              </a:ext>
            </a:extLst>
          </p:cNvPr>
          <p:cNvSpPr/>
          <p:nvPr/>
        </p:nvSpPr>
        <p:spPr>
          <a:xfrm>
            <a:off x="762000" y="2844800"/>
            <a:ext cx="3111500" cy="121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AF87548C-0323-DB43-2407-96F354B352F7}"/>
              </a:ext>
            </a:extLst>
          </p:cNvPr>
          <p:cNvSpPr/>
          <p:nvPr/>
        </p:nvSpPr>
        <p:spPr>
          <a:xfrm>
            <a:off x="762000" y="42418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部屋の聞こえ方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944C697-9254-A191-2E51-5F5C0DD7224A}"/>
              </a:ext>
            </a:extLst>
          </p:cNvPr>
          <p:cNvSpPr txBox="1"/>
          <p:nvPr/>
        </p:nvSpPr>
        <p:spPr>
          <a:xfrm>
            <a:off x="787400" y="4775200"/>
            <a:ext cx="3086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12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立っている場所で、壁の近さと部屋の広さが伝わるように。近い壁の側ははっきり早く、遠い側は響いて聞こえるようにする。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00B64D23-E5D5-2EEC-EA1F-F1355C58843E}"/>
              </a:ext>
            </a:extLst>
          </p:cNvPr>
          <p:cNvSpPr/>
          <p:nvPr/>
        </p:nvSpPr>
        <p:spPr>
          <a:xfrm>
            <a:off x="4324350" y="2692400"/>
            <a:ext cx="3543300" cy="3556000"/>
          </a:xfrm>
          <a:prstGeom prst="roundRect">
            <a:avLst>
              <a:gd name="adj" fmla="val 6000"/>
            </a:avLst>
          </a:prstGeom>
          <a:solidFill>
            <a:srgbClr val="F0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2FAD6680-B406-DC8D-2BDC-FD94C965BA7C}"/>
              </a:ext>
            </a:extLst>
          </p:cNvPr>
          <p:cNvSpPr/>
          <p:nvPr/>
        </p:nvSpPr>
        <p:spPr>
          <a:xfrm>
            <a:off x="4540250" y="2844800"/>
            <a:ext cx="3111500" cy="121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38B98D99-7C08-3896-82B5-7E7718866981}"/>
              </a:ext>
            </a:extLst>
          </p:cNvPr>
          <p:cNvSpPr/>
          <p:nvPr/>
        </p:nvSpPr>
        <p:spPr>
          <a:xfrm>
            <a:off x="4540250" y="42418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音源の奥行き感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0257998-33D3-04D7-2A45-DABE5ABF2C04}"/>
              </a:ext>
            </a:extLst>
          </p:cNvPr>
          <p:cNvSpPr txBox="1"/>
          <p:nvPr/>
        </p:nvSpPr>
        <p:spPr>
          <a:xfrm>
            <a:off x="4565650" y="4775200"/>
            <a:ext cx="3086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12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音源が手前か奥かが伝わるように。壁の向こうの虚像をつないだ面で鳴らして、音源の幅と近さを出す。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DA8DAA12-399C-1E50-2C1A-F94725E24DE9}"/>
              </a:ext>
            </a:extLst>
          </p:cNvPr>
          <p:cNvSpPr/>
          <p:nvPr/>
        </p:nvSpPr>
        <p:spPr>
          <a:xfrm>
            <a:off x="8102600" y="2692400"/>
            <a:ext cx="3543300" cy="3556000"/>
          </a:xfrm>
          <a:prstGeom prst="roundRect">
            <a:avLst>
              <a:gd name="adj" fmla="val 6000"/>
            </a:avLst>
          </a:prstGeom>
          <a:solidFill>
            <a:srgbClr val="F0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DFB22A57-1D08-6B47-87DD-1E33C5C6995E}"/>
              </a:ext>
            </a:extLst>
          </p:cNvPr>
          <p:cNvSpPr/>
          <p:nvPr/>
        </p:nvSpPr>
        <p:spPr>
          <a:xfrm>
            <a:off x="8318500" y="2844800"/>
            <a:ext cx="3111500" cy="121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2F557379-563F-1AD7-ED89-7FC5EF62B6FA}"/>
              </a:ext>
            </a:extLst>
          </p:cNvPr>
          <p:cNvSpPr/>
          <p:nvPr/>
        </p:nvSpPr>
        <p:spPr>
          <a:xfrm>
            <a:off x="8318500" y="42418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4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隣の部屋の聞こえ方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6F85062-F929-0F88-B832-6A55BFF409AE}"/>
              </a:ext>
            </a:extLst>
          </p:cNvPr>
          <p:cNvSpPr txBox="1"/>
          <p:nvPr/>
        </p:nvSpPr>
        <p:spPr>
          <a:xfrm>
            <a:off x="8343900" y="4775200"/>
            <a:ext cx="3086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12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隣の部屋の音がどこから聞こえるかが伝わるように。響きは壁全体からではなく、戸口から鳴らす。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AA69EF6-1515-858F-71A5-2212F7ECCDD4}"/>
              </a:ext>
            </a:extLst>
          </p:cNvPr>
          <p:cNvSpPr/>
          <p:nvPr/>
        </p:nvSpPr>
        <p:spPr>
          <a:xfrm>
            <a:off x="1270000" y="2997200"/>
            <a:ext cx="2095500" cy="914400"/>
          </a:xfrm>
          <a:prstGeom prst="rect">
            <a:avLst/>
          </a:prstGeom>
          <a:noFill/>
          <a:ln w="15875" cap="flat" cmpd="sng" algn="ctr">
            <a:solidFill>
              <a:srgbClr val="9AA3B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FA4A8B4-EC0B-1523-A6F4-1C369FEDD030}"/>
              </a:ext>
            </a:extLst>
          </p:cNvPr>
          <p:cNvCxnSpPr/>
          <p:nvPr/>
        </p:nvCxnSpPr>
        <p:spPr>
          <a:xfrm flipH="1">
            <a:off x="1282700" y="3454400"/>
            <a:ext cx="215900" cy="0"/>
          </a:xfrm>
          <a:prstGeom prst="line">
            <a:avLst/>
          </a:prstGeom>
          <a:ln w="63500">
            <a:solidFill>
              <a:srgbClr val="E3A33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CFA990F7-A36C-9999-0F70-B027DF840F69}"/>
              </a:ext>
            </a:extLst>
          </p:cNvPr>
          <p:cNvCxnSpPr/>
          <p:nvPr/>
        </p:nvCxnSpPr>
        <p:spPr>
          <a:xfrm flipH="1" flipV="1">
            <a:off x="1282700" y="3225800"/>
            <a:ext cx="215900" cy="228600"/>
          </a:xfrm>
          <a:prstGeom prst="line">
            <a:avLst/>
          </a:prstGeom>
          <a:ln w="38100">
            <a:solidFill>
              <a:srgbClr val="E3A33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C3E2FA4A-C2FF-5C3F-B845-1F68A9455536}"/>
              </a:ext>
            </a:extLst>
          </p:cNvPr>
          <p:cNvCxnSpPr/>
          <p:nvPr/>
        </p:nvCxnSpPr>
        <p:spPr>
          <a:xfrm flipH="1">
            <a:off x="1282700" y="3454400"/>
            <a:ext cx="215900" cy="228600"/>
          </a:xfrm>
          <a:prstGeom prst="line">
            <a:avLst/>
          </a:prstGeom>
          <a:ln w="38100">
            <a:solidFill>
              <a:srgbClr val="E3A33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DEC78EFA-BC6E-DE61-F1E3-0E5092821BA8}"/>
              </a:ext>
            </a:extLst>
          </p:cNvPr>
          <p:cNvCxnSpPr/>
          <p:nvPr/>
        </p:nvCxnSpPr>
        <p:spPr>
          <a:xfrm>
            <a:off x="1574800" y="3454400"/>
            <a:ext cx="1778000" cy="0"/>
          </a:xfrm>
          <a:prstGeom prst="line">
            <a:avLst/>
          </a:prstGeom>
          <a:ln w="19050">
            <a:solidFill>
              <a:srgbClr val="9AA3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B9F72981-CF7B-A230-540F-FEF8D6DE59A2}"/>
              </a:ext>
            </a:extLst>
          </p:cNvPr>
          <p:cNvCxnSpPr/>
          <p:nvPr/>
        </p:nvCxnSpPr>
        <p:spPr>
          <a:xfrm flipV="1">
            <a:off x="1562100" y="3009900"/>
            <a:ext cx="1358900" cy="393700"/>
          </a:xfrm>
          <a:prstGeom prst="line">
            <a:avLst/>
          </a:prstGeom>
          <a:ln w="15875">
            <a:solidFill>
              <a:srgbClr val="9AA3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楕円 28">
            <a:extLst>
              <a:ext uri="{FF2B5EF4-FFF2-40B4-BE49-F238E27FC236}">
                <a16:creationId xmlns:a16="http://schemas.microsoft.com/office/drawing/2014/main" id="{D789F857-B78C-5CEE-4C36-5534FED4E7C9}"/>
              </a:ext>
            </a:extLst>
          </p:cNvPr>
          <p:cNvSpPr/>
          <p:nvPr/>
        </p:nvSpPr>
        <p:spPr>
          <a:xfrm>
            <a:off x="1428750" y="3384550"/>
            <a:ext cx="139700" cy="139700"/>
          </a:xfrm>
          <a:prstGeom prst="ellipse">
            <a:avLst/>
          </a:prstGeom>
          <a:solidFill>
            <a:srgbClr val="1E2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8DBCA09-03A0-7197-BF22-670A14E443B7}"/>
              </a:ext>
            </a:extLst>
          </p:cNvPr>
          <p:cNvSpPr txBox="1"/>
          <p:nvPr/>
        </p:nvSpPr>
        <p:spPr>
          <a:xfrm>
            <a:off x="1574800" y="35814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850" b="1">
                <a:solidFill>
                  <a:srgbClr val="9A621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近い壁：はっきり・早く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5B963925-045F-1E4D-ED55-82D360B4A96C}"/>
              </a:ext>
            </a:extLst>
          </p:cNvPr>
          <p:cNvSpPr txBox="1"/>
          <p:nvPr/>
        </p:nvSpPr>
        <p:spPr>
          <a:xfrm>
            <a:off x="2540000" y="3276600"/>
            <a:ext cx="81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850" b="1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遠い壁：響く</a:t>
            </a: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0EB44FB6-2B8A-D2C9-2B9F-9E4086D99C86}"/>
              </a:ext>
            </a:extLst>
          </p:cNvPr>
          <p:cNvCxnSpPr/>
          <p:nvPr/>
        </p:nvCxnSpPr>
        <p:spPr>
          <a:xfrm>
            <a:off x="5810250" y="2946400"/>
            <a:ext cx="0" cy="1041400"/>
          </a:xfrm>
          <a:prstGeom prst="line">
            <a:avLst/>
          </a:prstGeom>
          <a:ln w="31750">
            <a:solidFill>
              <a:srgbClr val="1E243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フリーフォーム: 図形 32">
            <a:extLst>
              <a:ext uri="{FF2B5EF4-FFF2-40B4-BE49-F238E27FC236}">
                <a16:creationId xmlns:a16="http://schemas.microsoft.com/office/drawing/2014/main" id="{D0143595-6C04-FD13-59C3-77F05C0ABB57}"/>
              </a:ext>
            </a:extLst>
          </p:cNvPr>
          <p:cNvSpPr/>
          <p:nvPr/>
        </p:nvSpPr>
        <p:spPr>
          <a:xfrm>
            <a:off x="4921250" y="3098800"/>
            <a:ext cx="1524001" cy="736601"/>
          </a:xfrm>
          <a:custGeom>
            <a:avLst/>
            <a:gdLst/>
            <a:ahLst/>
            <a:cxnLst/>
            <a:rect l="0" t="0" r="0" b="0"/>
            <a:pathLst>
              <a:path w="1524001" h="736601">
                <a:moveTo>
                  <a:pt x="1524000" y="736600"/>
                </a:moveTo>
                <a:lnTo>
                  <a:pt x="0" y="0"/>
                </a:lnTo>
                <a:lnTo>
                  <a:pt x="228600" y="660400"/>
                </a:lnTo>
                <a:close/>
              </a:path>
            </a:pathLst>
          </a:custGeom>
          <a:solidFill>
            <a:srgbClr val="E3A33B">
              <a:alpha val="2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7671DCC8-9F1D-FDAA-0ED4-8E8646CF536C}"/>
              </a:ext>
            </a:extLst>
          </p:cNvPr>
          <p:cNvCxnSpPr/>
          <p:nvPr/>
        </p:nvCxnSpPr>
        <p:spPr>
          <a:xfrm>
            <a:off x="4946650" y="3124200"/>
            <a:ext cx="330200" cy="279400"/>
          </a:xfrm>
          <a:prstGeom prst="line">
            <a:avLst/>
          </a:prstGeom>
          <a:ln w="101600" cap="flat" cmpd="sng" algn="ctr">
            <a:solidFill>
              <a:srgbClr val="E3A33B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DF51BDD4-9AF1-47A3-FB3C-9519DD8D994E}"/>
              </a:ext>
            </a:extLst>
          </p:cNvPr>
          <p:cNvCxnSpPr/>
          <p:nvPr/>
        </p:nvCxnSpPr>
        <p:spPr>
          <a:xfrm flipH="1">
            <a:off x="5124450" y="3403600"/>
            <a:ext cx="152400" cy="330200"/>
          </a:xfrm>
          <a:prstGeom prst="line">
            <a:avLst/>
          </a:prstGeom>
          <a:ln w="101600" cap="flat" cmpd="sng" algn="ctr">
            <a:solidFill>
              <a:srgbClr val="E3A33B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楕円 35">
            <a:extLst>
              <a:ext uri="{FF2B5EF4-FFF2-40B4-BE49-F238E27FC236}">
                <a16:creationId xmlns:a16="http://schemas.microsoft.com/office/drawing/2014/main" id="{74EA035E-7B5D-6ADD-1ED6-5D3C581051F4}"/>
              </a:ext>
            </a:extLst>
          </p:cNvPr>
          <p:cNvSpPr/>
          <p:nvPr/>
        </p:nvSpPr>
        <p:spPr>
          <a:xfrm>
            <a:off x="4895850" y="3073400"/>
            <a:ext cx="101600" cy="10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3A3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3BF8A237-8F89-F3E1-19F8-BCD9840066D9}"/>
              </a:ext>
            </a:extLst>
          </p:cNvPr>
          <p:cNvSpPr/>
          <p:nvPr/>
        </p:nvSpPr>
        <p:spPr>
          <a:xfrm>
            <a:off x="5200650" y="3327400"/>
            <a:ext cx="152400" cy="152400"/>
          </a:xfrm>
          <a:prstGeom prst="ellipse">
            <a:avLst/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75A1D62D-983A-1893-229F-516557A0812A}"/>
              </a:ext>
            </a:extLst>
          </p:cNvPr>
          <p:cNvSpPr/>
          <p:nvPr/>
        </p:nvSpPr>
        <p:spPr>
          <a:xfrm>
            <a:off x="5073650" y="3683000"/>
            <a:ext cx="101600" cy="10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3A3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DB703611-26D6-B2B0-59E8-FF64EE29DF17}"/>
              </a:ext>
            </a:extLst>
          </p:cNvPr>
          <p:cNvSpPr/>
          <p:nvPr/>
        </p:nvSpPr>
        <p:spPr>
          <a:xfrm>
            <a:off x="6692900" y="3155950"/>
            <a:ext cx="139700" cy="139700"/>
          </a:xfrm>
          <a:prstGeom prst="ellipse">
            <a:avLst/>
          </a:prstGeom>
          <a:solidFill>
            <a:srgbClr val="1E2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9E8C9497-4283-769C-5469-6FACF12898E0}"/>
              </a:ext>
            </a:extLst>
          </p:cNvPr>
          <p:cNvSpPr txBox="1"/>
          <p:nvPr/>
        </p:nvSpPr>
        <p:spPr>
          <a:xfrm>
            <a:off x="6877050" y="31369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900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音源</a:t>
            </a: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934F4266-8C48-16DB-B5B4-F875062B3388}"/>
              </a:ext>
            </a:extLst>
          </p:cNvPr>
          <p:cNvSpPr/>
          <p:nvPr/>
        </p:nvSpPr>
        <p:spPr>
          <a:xfrm>
            <a:off x="6375400" y="3765550"/>
            <a:ext cx="139700" cy="139700"/>
          </a:xfrm>
          <a:prstGeom prst="ellipse">
            <a:avLst/>
          </a:prstGeom>
          <a:solidFill>
            <a:srgbClr val="1E2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04EEB576-900F-B402-4119-3DA303AACBD3}"/>
              </a:ext>
            </a:extLst>
          </p:cNvPr>
          <p:cNvSpPr txBox="1"/>
          <p:nvPr/>
        </p:nvSpPr>
        <p:spPr>
          <a:xfrm>
            <a:off x="6559550" y="37465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900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耳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D344F4B-3408-6D57-BE39-B64AC21AE134}"/>
              </a:ext>
            </a:extLst>
          </p:cNvPr>
          <p:cNvSpPr txBox="1"/>
          <p:nvPr/>
        </p:nvSpPr>
        <p:spPr>
          <a:xfrm>
            <a:off x="5886450" y="34036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850" b="1">
                <a:solidFill>
                  <a:srgbClr val="9A621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虚像をつないだ面＝幅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AD11A21A-B626-DDB3-FCB2-EF79EB63899A}"/>
              </a:ext>
            </a:extLst>
          </p:cNvPr>
          <p:cNvSpPr/>
          <p:nvPr/>
        </p:nvSpPr>
        <p:spPr>
          <a:xfrm>
            <a:off x="8470900" y="2997200"/>
            <a:ext cx="1371600" cy="965200"/>
          </a:xfrm>
          <a:prstGeom prst="rect">
            <a:avLst/>
          </a:prstGeom>
          <a:noFill/>
          <a:ln w="15875" cap="flat" cmpd="sng" algn="ctr">
            <a:solidFill>
              <a:srgbClr val="9AA3B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C896E6D7-0B74-6A6F-1E1A-D76A529F69EA}"/>
              </a:ext>
            </a:extLst>
          </p:cNvPr>
          <p:cNvSpPr/>
          <p:nvPr/>
        </p:nvSpPr>
        <p:spPr>
          <a:xfrm>
            <a:off x="9842500" y="2997200"/>
            <a:ext cx="1371600" cy="965200"/>
          </a:xfrm>
          <a:prstGeom prst="rect">
            <a:avLst/>
          </a:prstGeom>
          <a:noFill/>
          <a:ln w="15875" cap="flat" cmpd="sng" algn="ctr">
            <a:solidFill>
              <a:srgbClr val="9AA3B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DE777864-EAA3-B515-EBAF-D91FF7BCB12F}"/>
              </a:ext>
            </a:extLst>
          </p:cNvPr>
          <p:cNvSpPr/>
          <p:nvPr/>
        </p:nvSpPr>
        <p:spPr>
          <a:xfrm>
            <a:off x="9817100" y="3302000"/>
            <a:ext cx="50800" cy="330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7FCFA9C9-3259-D6B7-026B-2650C197E760}"/>
              </a:ext>
            </a:extLst>
          </p:cNvPr>
          <p:cNvSpPr/>
          <p:nvPr/>
        </p:nvSpPr>
        <p:spPr>
          <a:xfrm>
            <a:off x="9814560" y="3312160"/>
            <a:ext cx="55880" cy="55880"/>
          </a:xfrm>
          <a:prstGeom prst="ellipse">
            <a:avLst/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FE135B14-D570-3DF1-2AA6-A967C46D9228}"/>
              </a:ext>
            </a:extLst>
          </p:cNvPr>
          <p:cNvSpPr/>
          <p:nvPr/>
        </p:nvSpPr>
        <p:spPr>
          <a:xfrm>
            <a:off x="9814560" y="3375660"/>
            <a:ext cx="55880" cy="55880"/>
          </a:xfrm>
          <a:prstGeom prst="ellipse">
            <a:avLst/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4EE680B2-D683-3220-256A-53CFFCEE18AD}"/>
              </a:ext>
            </a:extLst>
          </p:cNvPr>
          <p:cNvSpPr/>
          <p:nvPr/>
        </p:nvSpPr>
        <p:spPr>
          <a:xfrm>
            <a:off x="9814560" y="3439160"/>
            <a:ext cx="55880" cy="55880"/>
          </a:xfrm>
          <a:prstGeom prst="ellipse">
            <a:avLst/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A3E95663-1264-D469-B92A-D4060F87BD66}"/>
              </a:ext>
            </a:extLst>
          </p:cNvPr>
          <p:cNvSpPr/>
          <p:nvPr/>
        </p:nvSpPr>
        <p:spPr>
          <a:xfrm>
            <a:off x="9814560" y="3502660"/>
            <a:ext cx="55880" cy="55880"/>
          </a:xfrm>
          <a:prstGeom prst="ellipse">
            <a:avLst/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F48B0619-131E-B830-91BF-4B7699D574D5}"/>
              </a:ext>
            </a:extLst>
          </p:cNvPr>
          <p:cNvSpPr/>
          <p:nvPr/>
        </p:nvSpPr>
        <p:spPr>
          <a:xfrm>
            <a:off x="9814560" y="3566160"/>
            <a:ext cx="55880" cy="55880"/>
          </a:xfrm>
          <a:prstGeom prst="ellipse">
            <a:avLst/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F3C4F024-3877-17D2-EB59-9E0A36D11472}"/>
              </a:ext>
            </a:extLst>
          </p:cNvPr>
          <p:cNvCxnSpPr/>
          <p:nvPr/>
        </p:nvCxnSpPr>
        <p:spPr>
          <a:xfrm flipH="1">
            <a:off x="9029700" y="3467100"/>
            <a:ext cx="749300" cy="12700"/>
          </a:xfrm>
          <a:prstGeom prst="line">
            <a:avLst/>
          </a:prstGeom>
          <a:ln w="25400">
            <a:solidFill>
              <a:srgbClr val="E3A33B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楕円 52">
            <a:extLst>
              <a:ext uri="{FF2B5EF4-FFF2-40B4-BE49-F238E27FC236}">
                <a16:creationId xmlns:a16="http://schemas.microsoft.com/office/drawing/2014/main" id="{696C1683-8183-D2D5-2D45-23B2BA6CB3B9}"/>
              </a:ext>
            </a:extLst>
          </p:cNvPr>
          <p:cNvSpPr/>
          <p:nvPr/>
        </p:nvSpPr>
        <p:spPr>
          <a:xfrm>
            <a:off x="8858250" y="3409950"/>
            <a:ext cx="139700" cy="139700"/>
          </a:xfrm>
          <a:prstGeom prst="ellipse">
            <a:avLst/>
          </a:prstGeom>
          <a:solidFill>
            <a:srgbClr val="1E2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B7911B2B-2707-721F-A81B-A9C906991C33}"/>
              </a:ext>
            </a:extLst>
          </p:cNvPr>
          <p:cNvSpPr txBox="1"/>
          <p:nvPr/>
        </p:nvSpPr>
        <p:spPr>
          <a:xfrm>
            <a:off x="8864600" y="35814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900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耳</a:t>
            </a:r>
          </a:p>
        </p:txBody>
      </p:sp>
      <p:sp>
        <p:nvSpPr>
          <p:cNvPr id="55" name="楕円 54">
            <a:extLst>
              <a:ext uri="{FF2B5EF4-FFF2-40B4-BE49-F238E27FC236}">
                <a16:creationId xmlns:a16="http://schemas.microsoft.com/office/drawing/2014/main" id="{A18D1DF9-4D83-F122-32B9-CC758D477DE2}"/>
              </a:ext>
            </a:extLst>
          </p:cNvPr>
          <p:cNvSpPr/>
          <p:nvPr/>
        </p:nvSpPr>
        <p:spPr>
          <a:xfrm>
            <a:off x="10737850" y="3181350"/>
            <a:ext cx="139700" cy="139700"/>
          </a:xfrm>
          <a:prstGeom prst="ellipse">
            <a:avLst/>
          </a:prstGeom>
          <a:solidFill>
            <a:srgbClr val="1E2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63671044-E1FE-9CB8-E2A4-FAC8CBB16A9F}"/>
              </a:ext>
            </a:extLst>
          </p:cNvPr>
          <p:cNvSpPr txBox="1"/>
          <p:nvPr/>
        </p:nvSpPr>
        <p:spPr>
          <a:xfrm>
            <a:off x="10731500" y="33528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900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音源</a:t>
            </a:r>
          </a:p>
        </p:txBody>
      </p: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3865D579-C3B3-7CB6-C05E-41EA15E59AD5}"/>
              </a:ext>
            </a:extLst>
          </p:cNvPr>
          <p:cNvCxnSpPr/>
          <p:nvPr/>
        </p:nvCxnSpPr>
        <p:spPr>
          <a:xfrm flipH="1">
            <a:off x="9918700" y="3302000"/>
            <a:ext cx="812800" cy="431800"/>
          </a:xfrm>
          <a:prstGeom prst="line">
            <a:avLst/>
          </a:prstGeom>
          <a:ln w="15875">
            <a:solidFill>
              <a:srgbClr val="9AA3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6530D515-9FBC-F8C2-E616-5E365AB6ACA6}"/>
              </a:ext>
            </a:extLst>
          </p:cNvPr>
          <p:cNvSpPr txBox="1"/>
          <p:nvPr/>
        </p:nvSpPr>
        <p:spPr>
          <a:xfrm>
            <a:off x="9740900" y="3683000"/>
            <a:ext cx="203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ja-JP" sz="1200" b="1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</a:t>
            </a:r>
            <a:endParaRPr kumimoji="1" lang="ja-JP" altLang="en-US" sz="1200" b="1">
              <a:solidFill>
                <a:srgbClr val="5C6677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566D3B81-97F8-A829-68CE-85972EBB5CBF}"/>
              </a:ext>
            </a:extLst>
          </p:cNvPr>
          <p:cNvSpPr txBox="1"/>
          <p:nvPr/>
        </p:nvSpPr>
        <p:spPr>
          <a:xfrm>
            <a:off x="8521700" y="30353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80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今いる部屋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69F76EF6-BFF1-BB0A-20AD-EFFAD1F707B7}"/>
              </a:ext>
            </a:extLst>
          </p:cNvPr>
          <p:cNvSpPr txBox="1"/>
          <p:nvPr/>
        </p:nvSpPr>
        <p:spPr>
          <a:xfrm>
            <a:off x="10579100" y="37846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80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隣の部屋</a:t>
            </a:r>
          </a:p>
        </p:txBody>
      </p:sp>
    </p:spTree>
    <p:extLst>
      <p:ext uri="{BB962C8B-B14F-4D97-AF65-F5344CB8AC3E}">
        <p14:creationId xmlns:p14="http://schemas.microsoft.com/office/powerpoint/2010/main" val="3499725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0C270ED-DD08-EC1B-84C0-DA3F3EFD8059}"/>
              </a:ext>
            </a:extLst>
          </p:cNvPr>
          <p:cNvSpPr txBox="1"/>
          <p:nvPr/>
        </p:nvSpPr>
        <p:spPr>
          <a:xfrm>
            <a:off x="355600" y="1778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6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・技術選定　部屋で聞こえる音の響き方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10788FC-DF2E-51E3-CF7E-79A44C05E5C2}"/>
              </a:ext>
            </a:extLst>
          </p:cNvPr>
          <p:cNvSpPr txBox="1"/>
          <p:nvPr/>
        </p:nvSpPr>
        <p:spPr>
          <a:xfrm>
            <a:off x="736600" y="5588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34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部屋の広さと壁の近さが伝わるように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5617248-67E1-8094-127C-5BFFF064EFC6}"/>
              </a:ext>
            </a:extLst>
          </p:cNvPr>
          <p:cNvSpPr/>
          <p:nvPr/>
        </p:nvSpPr>
        <p:spPr>
          <a:xfrm>
            <a:off x="655320" y="1310640"/>
            <a:ext cx="3192780" cy="22860"/>
          </a:xfrm>
          <a:prstGeom prst="rect">
            <a:avLst/>
          </a:prstGeom>
          <a:solidFill>
            <a:srgbClr val="D86E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D20A04F-790F-DFEA-52FF-A15FAF83750D}"/>
              </a:ext>
            </a:extLst>
          </p:cNvPr>
          <p:cNvSpPr/>
          <p:nvPr/>
        </p:nvSpPr>
        <p:spPr>
          <a:xfrm>
            <a:off x="3863340" y="1315720"/>
            <a:ext cx="7937500" cy="7620"/>
          </a:xfrm>
          <a:prstGeom prst="rect">
            <a:avLst/>
          </a:prstGeom>
          <a:solidFill>
            <a:srgbClr val="E2E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215756F-3909-5F7B-3609-D77198E2D59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42900"/>
            <a:ext cx="838200" cy="4572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A9F1D77-123D-9D90-B74A-0BE88102AF5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4600"/>
            <a:ext cx="12192000" cy="533400"/>
          </a:xfrm>
          <a:prstGeom prst="rect">
            <a:avLst/>
          </a:prstGeom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1C23C93-3038-39C0-8B41-8DBAB13F0842}"/>
              </a:ext>
            </a:extLst>
          </p:cNvPr>
          <p:cNvSpPr/>
          <p:nvPr/>
        </p:nvSpPr>
        <p:spPr>
          <a:xfrm>
            <a:off x="546100" y="1549400"/>
            <a:ext cx="5397500" cy="317500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67018C2-AD95-0054-EC47-CC4D9E85B47F}"/>
              </a:ext>
            </a:extLst>
          </p:cNvPr>
          <p:cNvSpPr txBox="1"/>
          <p:nvPr/>
        </p:nvSpPr>
        <p:spPr>
          <a:xfrm>
            <a:off x="762000" y="16891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上から見た図（耳のまわりの </a:t>
            </a:r>
            <a:r>
              <a:rPr kumimoji="1" lang="en-US" altLang="ja-JP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 </a:t>
            </a:r>
            <a:r>
              <a:rPr kumimoji="1" lang="ja-JP" altLang="en-US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方位＋上下）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2E6C6FE-550E-DA47-020F-4146694709A3}"/>
              </a:ext>
            </a:extLst>
          </p:cNvPr>
          <p:cNvSpPr/>
          <p:nvPr/>
        </p:nvSpPr>
        <p:spPr>
          <a:xfrm>
            <a:off x="1206500" y="2133600"/>
            <a:ext cx="4191000" cy="2184400"/>
          </a:xfrm>
          <a:prstGeom prst="rect">
            <a:avLst/>
          </a:prstGeom>
          <a:noFill/>
          <a:ln w="19050" cap="flat" cmpd="sng" algn="ctr">
            <a:solidFill>
              <a:srgbClr val="9AA3B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7C200AD-BDE3-DEE9-7860-3FAB0CA29B0E}"/>
              </a:ext>
            </a:extLst>
          </p:cNvPr>
          <p:cNvSpPr/>
          <p:nvPr/>
        </p:nvSpPr>
        <p:spPr>
          <a:xfrm>
            <a:off x="4191000" y="2108200"/>
            <a:ext cx="508000" cy="50800"/>
          </a:xfrm>
          <a:prstGeom prst="rect">
            <a:avLst/>
          </a:prstGeom>
          <a:solidFill>
            <a:srgbClr val="F0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A381BC8E-B551-FFDB-C445-6A8F23401052}"/>
              </a:ext>
            </a:extLst>
          </p:cNvPr>
          <p:cNvCxnSpPr/>
          <p:nvPr/>
        </p:nvCxnSpPr>
        <p:spPr>
          <a:xfrm flipV="1">
            <a:off x="4191000" y="1854200"/>
            <a:ext cx="279400" cy="279400"/>
          </a:xfrm>
          <a:prstGeom prst="line">
            <a:avLst/>
          </a:prstGeom>
          <a:ln w="31750">
            <a:solidFill>
              <a:srgbClr val="1E243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54FB2D68-3518-BED9-BC17-5E937DDF036B}"/>
              </a:ext>
            </a:extLst>
          </p:cNvPr>
          <p:cNvCxnSpPr/>
          <p:nvPr/>
        </p:nvCxnSpPr>
        <p:spPr>
          <a:xfrm flipH="1">
            <a:off x="1219200" y="3251200"/>
            <a:ext cx="355600" cy="0"/>
          </a:xfrm>
          <a:prstGeom prst="line">
            <a:avLst/>
          </a:prstGeom>
          <a:ln w="76200">
            <a:solidFill>
              <a:srgbClr val="E3A33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255DABF-DEF0-BCDA-DE3B-7A733B9E463F}"/>
              </a:ext>
            </a:extLst>
          </p:cNvPr>
          <p:cNvCxnSpPr/>
          <p:nvPr/>
        </p:nvCxnSpPr>
        <p:spPr>
          <a:xfrm flipH="1" flipV="1">
            <a:off x="1219200" y="2895600"/>
            <a:ext cx="355600" cy="355600"/>
          </a:xfrm>
          <a:prstGeom prst="line">
            <a:avLst/>
          </a:prstGeom>
          <a:ln w="50800">
            <a:solidFill>
              <a:srgbClr val="E3A33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AF8F5BE2-9D14-7B6F-D53C-45B40EFEE5BB}"/>
              </a:ext>
            </a:extLst>
          </p:cNvPr>
          <p:cNvCxnSpPr/>
          <p:nvPr/>
        </p:nvCxnSpPr>
        <p:spPr>
          <a:xfrm flipH="1">
            <a:off x="1219200" y="3251200"/>
            <a:ext cx="355600" cy="355600"/>
          </a:xfrm>
          <a:prstGeom prst="line">
            <a:avLst/>
          </a:prstGeom>
          <a:ln w="50800">
            <a:solidFill>
              <a:srgbClr val="E3A33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9B2DB65E-FB9C-2344-94ED-DB13D22B0365}"/>
              </a:ext>
            </a:extLst>
          </p:cNvPr>
          <p:cNvCxnSpPr/>
          <p:nvPr/>
        </p:nvCxnSpPr>
        <p:spPr>
          <a:xfrm flipV="1">
            <a:off x="1574800" y="2146300"/>
            <a:ext cx="0" cy="1104900"/>
          </a:xfrm>
          <a:prstGeom prst="line">
            <a:avLst/>
          </a:prstGeom>
          <a:ln w="31750">
            <a:solidFill>
              <a:srgbClr val="F2C27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76F954B9-0517-A189-199B-CF51C581B477}"/>
              </a:ext>
            </a:extLst>
          </p:cNvPr>
          <p:cNvCxnSpPr/>
          <p:nvPr/>
        </p:nvCxnSpPr>
        <p:spPr>
          <a:xfrm>
            <a:off x="1574800" y="3251200"/>
            <a:ext cx="0" cy="1054100"/>
          </a:xfrm>
          <a:prstGeom prst="line">
            <a:avLst/>
          </a:prstGeom>
          <a:ln w="31750">
            <a:solidFill>
              <a:srgbClr val="F2C27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B130B969-F663-8A01-0DBE-2E5C6731A3FC}"/>
              </a:ext>
            </a:extLst>
          </p:cNvPr>
          <p:cNvCxnSpPr/>
          <p:nvPr/>
        </p:nvCxnSpPr>
        <p:spPr>
          <a:xfrm flipV="1">
            <a:off x="1638300" y="2146300"/>
            <a:ext cx="1041400" cy="1041400"/>
          </a:xfrm>
          <a:prstGeom prst="line">
            <a:avLst/>
          </a:prstGeom>
          <a:ln w="15875">
            <a:solidFill>
              <a:srgbClr val="9AA3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19327FF6-D162-29AA-E026-7EF2D1EBDC0E}"/>
              </a:ext>
            </a:extLst>
          </p:cNvPr>
          <p:cNvCxnSpPr/>
          <p:nvPr/>
        </p:nvCxnSpPr>
        <p:spPr>
          <a:xfrm>
            <a:off x="1638300" y="3314700"/>
            <a:ext cx="990600" cy="990600"/>
          </a:xfrm>
          <a:prstGeom prst="line">
            <a:avLst/>
          </a:prstGeom>
          <a:ln w="15875">
            <a:solidFill>
              <a:srgbClr val="9AA3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38C1E42E-4424-F661-7251-D159C261E7B6}"/>
              </a:ext>
            </a:extLst>
          </p:cNvPr>
          <p:cNvCxnSpPr/>
          <p:nvPr/>
        </p:nvCxnSpPr>
        <p:spPr>
          <a:xfrm>
            <a:off x="1676400" y="3251200"/>
            <a:ext cx="3708400" cy="0"/>
          </a:xfrm>
          <a:prstGeom prst="line">
            <a:avLst/>
          </a:prstGeom>
          <a:ln w="19050">
            <a:solidFill>
              <a:srgbClr val="9AA3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86845194-AEC9-E1DC-7EA5-46F7D14AB824}"/>
              </a:ext>
            </a:extLst>
          </p:cNvPr>
          <p:cNvCxnSpPr/>
          <p:nvPr/>
        </p:nvCxnSpPr>
        <p:spPr>
          <a:xfrm flipV="1">
            <a:off x="1651000" y="1905000"/>
            <a:ext cx="2997200" cy="1295400"/>
          </a:xfrm>
          <a:prstGeom prst="line">
            <a:avLst/>
          </a:prstGeom>
          <a:ln w="15875" cap="rnd">
            <a:solidFill>
              <a:srgbClr val="9AA3B0"/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楕円 23">
            <a:extLst>
              <a:ext uri="{FF2B5EF4-FFF2-40B4-BE49-F238E27FC236}">
                <a16:creationId xmlns:a16="http://schemas.microsoft.com/office/drawing/2014/main" id="{C0007AB3-1E53-7577-C9A5-53BA3916F4F2}"/>
              </a:ext>
            </a:extLst>
          </p:cNvPr>
          <p:cNvSpPr/>
          <p:nvPr/>
        </p:nvSpPr>
        <p:spPr>
          <a:xfrm>
            <a:off x="1485900" y="3162300"/>
            <a:ext cx="177800" cy="177800"/>
          </a:xfrm>
          <a:prstGeom prst="ellipse">
            <a:avLst/>
          </a:prstGeom>
          <a:solidFill>
            <a:srgbClr val="1E2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309E795-C90E-33BE-8138-8B46EE6467BC}"/>
              </a:ext>
            </a:extLst>
          </p:cNvPr>
          <p:cNvSpPr txBox="1"/>
          <p:nvPr/>
        </p:nvSpPr>
        <p:spPr>
          <a:xfrm>
            <a:off x="1651000" y="33528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000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耳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1AC8DFB-E9C6-2205-76F6-B29093F0C30C}"/>
              </a:ext>
            </a:extLst>
          </p:cNvPr>
          <p:cNvSpPr txBox="1"/>
          <p:nvPr/>
        </p:nvSpPr>
        <p:spPr>
          <a:xfrm>
            <a:off x="1727200" y="37084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050" b="1">
                <a:solidFill>
                  <a:srgbClr val="9A621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近い壁の側：はっきり・早く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D981F187-CBE6-99B8-961D-AA1E9061D58E}"/>
              </a:ext>
            </a:extLst>
          </p:cNvPr>
          <p:cNvSpPr txBox="1"/>
          <p:nvPr/>
        </p:nvSpPr>
        <p:spPr>
          <a:xfrm>
            <a:off x="4191000" y="33274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050" b="1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遠い側：響く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6E441A6-0AF3-DF1B-765F-1C1B2B559938}"/>
              </a:ext>
            </a:extLst>
          </p:cNvPr>
          <p:cNvSpPr txBox="1"/>
          <p:nvPr/>
        </p:nvSpPr>
        <p:spPr>
          <a:xfrm>
            <a:off x="3276600" y="22352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95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開いた扉の向き：響きが抜ける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C6767F1E-F54D-8BE5-4F15-1C5F76834A5D}"/>
              </a:ext>
            </a:extLst>
          </p:cNvPr>
          <p:cNvSpPr txBox="1"/>
          <p:nvPr/>
        </p:nvSpPr>
        <p:spPr>
          <a:xfrm>
            <a:off x="762000" y="4419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00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壁から </a:t>
            </a:r>
            <a:r>
              <a:rPr kumimoji="1" lang="en-US" altLang="ja-JP" sz="100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0.3 m</a:t>
            </a:r>
            <a:r>
              <a:rPr kumimoji="1" lang="ja-JP" altLang="en-US" sz="100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：壁側 </a:t>
            </a:r>
            <a:r>
              <a:rPr kumimoji="1" lang="en-US" altLang="ja-JP" sz="100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31%</a:t>
            </a:r>
            <a:r>
              <a:rPr kumimoji="1" lang="ja-JP" altLang="en-US" sz="100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・反対側 </a:t>
            </a:r>
            <a:r>
              <a:rPr kumimoji="1" lang="en-US" altLang="ja-JP" sz="100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1%</a:t>
            </a:r>
            <a:r>
              <a:rPr kumimoji="1" lang="ja-JP" altLang="en-US" sz="100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／　扉 </a:t>
            </a:r>
            <a:r>
              <a:rPr kumimoji="1" lang="en-US" altLang="ja-JP" sz="100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0°→90°</a:t>
            </a:r>
            <a:r>
              <a:rPr kumimoji="1" lang="ja-JP" altLang="en-US" sz="100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：戸口の向き </a:t>
            </a:r>
            <a:r>
              <a:rPr kumimoji="1" lang="en-US" altLang="ja-JP" sz="100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15%→6%</a:t>
            </a:r>
            <a:endParaRPr kumimoji="1" lang="ja-JP" altLang="en-US" sz="1000">
              <a:solidFill>
                <a:srgbClr val="5C6677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A531FCF4-937E-40BB-1F1D-0FBC1F2651FE}"/>
              </a:ext>
            </a:extLst>
          </p:cNvPr>
          <p:cNvSpPr/>
          <p:nvPr/>
        </p:nvSpPr>
        <p:spPr>
          <a:xfrm>
            <a:off x="546100" y="4851400"/>
            <a:ext cx="5397500" cy="1397000"/>
          </a:xfrm>
          <a:prstGeom prst="roundRect">
            <a:avLst>
              <a:gd name="adj" fmla="val 8000"/>
            </a:avLst>
          </a:prstGeom>
          <a:solidFill>
            <a:srgbClr val="FBF1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81BFD1F8-8F48-F7B3-7BB0-DAB4A50BE455}"/>
              </a:ext>
            </a:extLst>
          </p:cNvPr>
          <p:cNvSpPr/>
          <p:nvPr/>
        </p:nvSpPr>
        <p:spPr>
          <a:xfrm>
            <a:off x="723900" y="5041900"/>
            <a:ext cx="965200" cy="3302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連続性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DC68C82-06A2-BB74-F4CF-85BD522D2E7F}"/>
              </a:ext>
            </a:extLst>
          </p:cNvPr>
          <p:cNvSpPr txBox="1"/>
          <p:nvPr/>
        </p:nvSpPr>
        <p:spPr>
          <a:xfrm>
            <a:off x="1841500" y="49911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en-US" altLang="ja-JP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 </a:t>
            </a:r>
            <a:r>
              <a:rPr kumimoji="1" lang="ja-JP" altLang="en-US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方位を </a:t>
            </a:r>
            <a:r>
              <a:rPr kumimoji="1" lang="en-US" altLang="ja-JP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 </a:t>
            </a:r>
            <a:r>
              <a:rPr kumimoji="1" lang="ja-JP" altLang="en-US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本のレイの円錐で平均し、</a:t>
            </a:r>
            <a:r>
              <a:rPr kumimoji="1" lang="en-US" altLang="ja-JP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0.1 </a:t>
            </a:r>
            <a:r>
              <a:rPr kumimoji="1" lang="ja-JP" altLang="en-US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秒で追う。歩いても配り方が跳ばない（</a:t>
            </a:r>
            <a:r>
              <a:rPr kumimoji="1" lang="en-US" altLang="ja-JP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 cm </a:t>
            </a:r>
            <a:r>
              <a:rPr kumimoji="1" lang="ja-JP" altLang="en-US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 </a:t>
            </a:r>
            <a:r>
              <a:rPr kumimoji="1" lang="en-US" altLang="ja-JP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0.16%</a:t>
            </a:r>
            <a:r>
              <a:rPr kumimoji="1" lang="ja-JP" altLang="en-US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0CD266D0-6736-FECB-1F25-9E13B5F8E04E}"/>
              </a:ext>
            </a:extLst>
          </p:cNvPr>
          <p:cNvSpPr/>
          <p:nvPr/>
        </p:nvSpPr>
        <p:spPr>
          <a:xfrm>
            <a:off x="723900" y="5638800"/>
            <a:ext cx="965200" cy="3302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即時性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A17C99B-342A-B842-B28C-B0727A5EE1D0}"/>
              </a:ext>
            </a:extLst>
          </p:cNvPr>
          <p:cNvSpPr txBox="1"/>
          <p:nvPr/>
        </p:nvSpPr>
        <p:spPr>
          <a:xfrm>
            <a:off x="1841500" y="55880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焼いた測りではなく毎フレームのレイで測る。扉を動かしたフレームから響きの向きが変わる</a:t>
            </a: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69179F36-6298-9926-14CD-CA352D92B05E}"/>
              </a:ext>
            </a:extLst>
          </p:cNvPr>
          <p:cNvSpPr/>
          <p:nvPr/>
        </p:nvSpPr>
        <p:spPr>
          <a:xfrm>
            <a:off x="6159500" y="1549400"/>
            <a:ext cx="5486400" cy="1498600"/>
          </a:xfrm>
          <a:prstGeom prst="roundRect">
            <a:avLst>
              <a:gd name="adj" fmla="val 6000"/>
            </a:avLst>
          </a:prstGeom>
          <a:solidFill>
            <a:srgbClr val="F0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11EF555B-0C5B-942D-7524-9F700F4C63B3}"/>
              </a:ext>
            </a:extLst>
          </p:cNvPr>
          <p:cNvSpPr/>
          <p:nvPr/>
        </p:nvSpPr>
        <p:spPr>
          <a:xfrm>
            <a:off x="6362700" y="17145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300" b="1">
              <a:solidFill>
                <a:srgbClr val="1E243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83AF8188-C481-69A3-9105-2F11731DADB9}"/>
              </a:ext>
            </a:extLst>
          </p:cNvPr>
          <p:cNvSpPr txBox="1"/>
          <p:nvPr/>
        </p:nvSpPr>
        <p:spPr>
          <a:xfrm>
            <a:off x="6819900" y="17526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55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響きは部屋ごとに </a:t>
            </a:r>
            <a:r>
              <a:rPr kumimoji="1" lang="en-US" altLang="ja-JP" sz="155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 </a:t>
            </a:r>
            <a:r>
              <a:rPr kumimoji="1" lang="ja-JP" altLang="en-US" sz="155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</a:t>
            </a: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733076B9-C759-6955-C4B7-550079A86A81}"/>
              </a:ext>
            </a:extLst>
          </p:cNvPr>
          <p:cNvSpPr/>
          <p:nvPr/>
        </p:nvSpPr>
        <p:spPr>
          <a:xfrm>
            <a:off x="10718800" y="1739900"/>
            <a:ext cx="723900" cy="279400"/>
          </a:xfrm>
          <a:prstGeom prst="roundRect">
            <a:avLst>
              <a:gd name="adj" fmla="val 50000"/>
            </a:avLst>
          </a:prstGeom>
          <a:solidFill>
            <a:srgbClr val="DDE1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1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FDN</a:t>
            </a:r>
            <a:endParaRPr kumimoji="1" lang="ja-JP" altLang="en-US" sz="1100" b="1">
              <a:solidFill>
                <a:srgbClr val="1E243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6E027E30-0616-F5AC-3D04-3664C316A684}"/>
              </a:ext>
            </a:extLst>
          </p:cNvPr>
          <p:cNvSpPr txBox="1"/>
          <p:nvPr/>
        </p:nvSpPr>
        <p:spPr>
          <a:xfrm>
            <a:off x="6388100" y="2184400"/>
            <a:ext cx="5054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部屋の形と材質から、響きの長さと色（帯域ごとの残響時間）を出す。部屋ごとに </a:t>
            </a:r>
            <a:r>
              <a:rPr kumimoji="1" lang="en-US" altLang="ja-JP" sz="120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 </a:t>
            </a:r>
            <a:r>
              <a:rPr kumimoji="1" lang="ja-JP" altLang="en-US" sz="120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つの残響器を、全部の音で共有する。</a:t>
            </a: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B9C523E7-79E7-3BF5-D800-487D9AF16F0E}"/>
              </a:ext>
            </a:extLst>
          </p:cNvPr>
          <p:cNvSpPr/>
          <p:nvPr/>
        </p:nvSpPr>
        <p:spPr>
          <a:xfrm>
            <a:off x="6159500" y="3149600"/>
            <a:ext cx="5486400" cy="1498600"/>
          </a:xfrm>
          <a:prstGeom prst="roundRect">
            <a:avLst>
              <a:gd name="adj" fmla="val 6000"/>
            </a:avLst>
          </a:prstGeom>
          <a:solidFill>
            <a:srgbClr val="FBF1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EC0C7DE1-82EB-6433-6687-19B6FE763320}"/>
              </a:ext>
            </a:extLst>
          </p:cNvPr>
          <p:cNvSpPr/>
          <p:nvPr/>
        </p:nvSpPr>
        <p:spPr>
          <a:xfrm>
            <a:off x="6362700" y="33147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300" b="1">
              <a:solidFill>
                <a:srgbClr val="1E243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1330292-6D38-D9FF-89F4-CB304E7D87D6}"/>
              </a:ext>
            </a:extLst>
          </p:cNvPr>
          <p:cNvSpPr txBox="1"/>
          <p:nvPr/>
        </p:nvSpPr>
        <p:spPr>
          <a:xfrm>
            <a:off x="6819900" y="33528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55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壁までの距離で配る</a:t>
            </a: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C5547DFF-24A3-ABEA-687C-E3112F3F3336}"/>
              </a:ext>
            </a:extLst>
          </p:cNvPr>
          <p:cNvSpPr/>
          <p:nvPr/>
        </p:nvSpPr>
        <p:spPr>
          <a:xfrm>
            <a:off x="10223500" y="3340100"/>
            <a:ext cx="1219200" cy="2794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1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</a:t>
            </a:r>
            <a:r>
              <a:rPr kumimoji="1" lang="ja-JP" altLang="en-US" sz="11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方位＋上下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9C2324B-7807-8A53-B604-047318233E95}"/>
              </a:ext>
            </a:extLst>
          </p:cNvPr>
          <p:cNvSpPr txBox="1"/>
          <p:nvPr/>
        </p:nvSpPr>
        <p:spPr>
          <a:xfrm>
            <a:off x="6388100" y="3784600"/>
            <a:ext cx="5054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耳のまわりの </a:t>
            </a:r>
            <a:r>
              <a:rPr kumimoji="1" lang="en-US" altLang="ja-JP" sz="120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 </a:t>
            </a:r>
            <a:r>
              <a:rPr kumimoji="1" lang="ja-JP" altLang="en-US" sz="120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方位と上下へレイを飛ばし、壁までの距離で響きを配る。近い壁の側ははっきり早く、遠い側は響いて聞こえるように。</a:t>
            </a:r>
            <a:r>
              <a:rPr kumimoji="1" lang="en-US" altLang="ja-JP" sz="120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kumimoji="1" lang="ja-JP" altLang="en-US" sz="120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向きごとの鳴り始めの早さは作り中</a:t>
            </a: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D9AC40A4-077E-1928-1D77-6DA8AB29F475}"/>
              </a:ext>
            </a:extLst>
          </p:cNvPr>
          <p:cNvSpPr/>
          <p:nvPr/>
        </p:nvSpPr>
        <p:spPr>
          <a:xfrm>
            <a:off x="6159500" y="4749800"/>
            <a:ext cx="5486400" cy="1498600"/>
          </a:xfrm>
          <a:prstGeom prst="roundRect">
            <a:avLst>
              <a:gd name="adj" fmla="val 6000"/>
            </a:avLst>
          </a:prstGeom>
          <a:solidFill>
            <a:srgbClr val="F0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1B82F14C-E1B4-5A06-117F-70BAD2067AE3}"/>
              </a:ext>
            </a:extLst>
          </p:cNvPr>
          <p:cNvSpPr/>
          <p:nvPr/>
        </p:nvSpPr>
        <p:spPr>
          <a:xfrm>
            <a:off x="6362700" y="49149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sz="1300" b="1">
              <a:solidFill>
                <a:srgbClr val="1E243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59137D6B-0FBF-0122-E95D-854A9DCBF2C2}"/>
              </a:ext>
            </a:extLst>
          </p:cNvPr>
          <p:cNvSpPr txBox="1"/>
          <p:nvPr/>
        </p:nvSpPr>
        <p:spPr>
          <a:xfrm>
            <a:off x="6819900" y="49530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55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扉が開くと響きが抜ける</a:t>
            </a:r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ACE7DE57-6564-4540-6AE9-4F1ACC235476}"/>
              </a:ext>
            </a:extLst>
          </p:cNvPr>
          <p:cNvSpPr/>
          <p:nvPr/>
        </p:nvSpPr>
        <p:spPr>
          <a:xfrm>
            <a:off x="10782300" y="4940300"/>
            <a:ext cx="660400" cy="279400"/>
          </a:xfrm>
          <a:prstGeom prst="roundRect">
            <a:avLst>
              <a:gd name="adj" fmla="val 50000"/>
            </a:avLst>
          </a:prstGeom>
          <a:solidFill>
            <a:srgbClr val="DDE1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1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開口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351C7F0B-239D-CEF6-93F7-8AF3A5DF7299}"/>
              </a:ext>
            </a:extLst>
          </p:cNvPr>
          <p:cNvSpPr txBox="1"/>
          <p:nvPr/>
        </p:nvSpPr>
        <p:spPr>
          <a:xfrm>
            <a:off x="6388100" y="5384800"/>
            <a:ext cx="5054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扉が開いた向きはレイが隣の部屋まで抜けるので、その向きから返る響きが薄くなる。開きかけも連続に変わる。</a:t>
            </a:r>
          </a:p>
        </p:txBody>
      </p:sp>
    </p:spTree>
    <p:extLst>
      <p:ext uri="{BB962C8B-B14F-4D97-AF65-F5344CB8AC3E}">
        <p14:creationId xmlns:p14="http://schemas.microsoft.com/office/powerpoint/2010/main" val="355097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64AEF59-8AF3-C0A9-F080-F6B21CDF460F}"/>
              </a:ext>
            </a:extLst>
          </p:cNvPr>
          <p:cNvSpPr txBox="1"/>
          <p:nvPr/>
        </p:nvSpPr>
        <p:spPr>
          <a:xfrm>
            <a:off x="355600" y="1778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6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・技術選定　部屋で聞こえる音の響き方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F8C3D6A-4F13-E8E5-EEF4-369DF3B1234F}"/>
              </a:ext>
            </a:extLst>
          </p:cNvPr>
          <p:cNvSpPr txBox="1"/>
          <p:nvPr/>
        </p:nvSpPr>
        <p:spPr>
          <a:xfrm>
            <a:off x="736600" y="5588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34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音源の奥行きが伝わるように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4856BF5-D141-54F8-043B-48584163B34B}"/>
              </a:ext>
            </a:extLst>
          </p:cNvPr>
          <p:cNvSpPr/>
          <p:nvPr/>
        </p:nvSpPr>
        <p:spPr>
          <a:xfrm>
            <a:off x="655320" y="1310640"/>
            <a:ext cx="3192780" cy="22860"/>
          </a:xfrm>
          <a:prstGeom prst="rect">
            <a:avLst/>
          </a:prstGeom>
          <a:solidFill>
            <a:srgbClr val="D86E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67A3BF8-910F-576A-86C8-BB8DE41A89ED}"/>
              </a:ext>
            </a:extLst>
          </p:cNvPr>
          <p:cNvSpPr/>
          <p:nvPr/>
        </p:nvSpPr>
        <p:spPr>
          <a:xfrm>
            <a:off x="3863340" y="1315720"/>
            <a:ext cx="7937500" cy="7620"/>
          </a:xfrm>
          <a:prstGeom prst="rect">
            <a:avLst/>
          </a:prstGeom>
          <a:solidFill>
            <a:srgbClr val="E2E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45959E0-AE43-1B17-19FA-7A985C27AF9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42900"/>
            <a:ext cx="838200" cy="4572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4D8707E-7BAD-993E-E887-D8D163D9C60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4600"/>
            <a:ext cx="12192000" cy="533400"/>
          </a:xfrm>
          <a:prstGeom prst="rect">
            <a:avLst/>
          </a:prstGeom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72C17CD-F335-5B29-021E-C982AB51E1E8}"/>
              </a:ext>
            </a:extLst>
          </p:cNvPr>
          <p:cNvSpPr/>
          <p:nvPr/>
        </p:nvSpPr>
        <p:spPr>
          <a:xfrm>
            <a:off x="546100" y="1549400"/>
            <a:ext cx="5397500" cy="317500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8EB2DB4-0B6D-80F6-5155-E11E8FF12BDD}"/>
              </a:ext>
            </a:extLst>
          </p:cNvPr>
          <p:cNvSpPr txBox="1"/>
          <p:nvPr/>
        </p:nvSpPr>
        <p:spPr>
          <a:xfrm>
            <a:off x="762000" y="16891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上から見た図（壁の向こうの虚像をつなぐ）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6201419D-A1CE-C7E8-0262-078FB2F7BD0C}"/>
              </a:ext>
            </a:extLst>
          </p:cNvPr>
          <p:cNvCxnSpPr/>
          <p:nvPr/>
        </p:nvCxnSpPr>
        <p:spPr>
          <a:xfrm>
            <a:off x="2603500" y="2082800"/>
            <a:ext cx="0" cy="2260600"/>
          </a:xfrm>
          <a:prstGeom prst="line">
            <a:avLst/>
          </a:prstGeom>
          <a:ln w="38100">
            <a:solidFill>
              <a:srgbClr val="1E243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29934E9-E59A-8991-A6C7-72978378D96C}"/>
              </a:ext>
            </a:extLst>
          </p:cNvPr>
          <p:cNvSpPr txBox="1"/>
          <p:nvPr/>
        </p:nvSpPr>
        <p:spPr>
          <a:xfrm>
            <a:off x="2679700" y="20828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000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壁</a:t>
            </a:r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E8AAE20F-2ADD-328D-1D4A-751F619D677E}"/>
              </a:ext>
            </a:extLst>
          </p:cNvPr>
          <p:cNvSpPr/>
          <p:nvPr/>
        </p:nvSpPr>
        <p:spPr>
          <a:xfrm>
            <a:off x="1168400" y="2336800"/>
            <a:ext cx="3022601" cy="1701801"/>
          </a:xfrm>
          <a:custGeom>
            <a:avLst/>
            <a:gdLst/>
            <a:ahLst/>
            <a:cxnLst/>
            <a:rect l="0" t="0" r="0" b="0"/>
            <a:pathLst>
              <a:path w="3022601" h="1701801">
                <a:moveTo>
                  <a:pt x="3022600" y="1701800"/>
                </a:moveTo>
                <a:lnTo>
                  <a:pt x="0" y="0"/>
                </a:lnTo>
                <a:lnTo>
                  <a:pt x="736600" y="1549400"/>
                </a:lnTo>
                <a:close/>
              </a:path>
            </a:pathLst>
          </a:custGeom>
          <a:solidFill>
            <a:srgbClr val="E3A33B">
              <a:alpha val="1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8CCD15C1-E0D3-0865-9CB1-7BA481666E07}"/>
              </a:ext>
            </a:extLst>
          </p:cNvPr>
          <p:cNvCxnSpPr/>
          <p:nvPr/>
        </p:nvCxnSpPr>
        <p:spPr>
          <a:xfrm>
            <a:off x="1193800" y="2362200"/>
            <a:ext cx="482600" cy="482600"/>
          </a:xfrm>
          <a:prstGeom prst="line">
            <a:avLst/>
          </a:prstGeom>
          <a:ln w="139700" cap="flat" cmpd="sng" algn="ctr">
            <a:solidFill>
              <a:srgbClr val="E3A33B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07BEDA2A-2C0F-13A3-19DA-0E06E71A1788}"/>
              </a:ext>
            </a:extLst>
          </p:cNvPr>
          <p:cNvCxnSpPr/>
          <p:nvPr/>
        </p:nvCxnSpPr>
        <p:spPr>
          <a:xfrm flipH="1">
            <a:off x="1371600" y="2844800"/>
            <a:ext cx="304800" cy="533400"/>
          </a:xfrm>
          <a:prstGeom prst="line">
            <a:avLst/>
          </a:prstGeom>
          <a:ln w="139700" cap="flat" cmpd="sng" algn="ctr">
            <a:solidFill>
              <a:srgbClr val="E3A33B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E2F9759-DDBD-0266-ACF6-2451E9638FEA}"/>
              </a:ext>
            </a:extLst>
          </p:cNvPr>
          <p:cNvCxnSpPr/>
          <p:nvPr/>
        </p:nvCxnSpPr>
        <p:spPr>
          <a:xfrm>
            <a:off x="1371600" y="3378200"/>
            <a:ext cx="533400" cy="482600"/>
          </a:xfrm>
          <a:prstGeom prst="line">
            <a:avLst/>
          </a:prstGeom>
          <a:ln w="139700" cap="flat" cmpd="sng" algn="ctr">
            <a:solidFill>
              <a:srgbClr val="E3A33B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楕円 17">
            <a:extLst>
              <a:ext uri="{FF2B5EF4-FFF2-40B4-BE49-F238E27FC236}">
                <a16:creationId xmlns:a16="http://schemas.microsoft.com/office/drawing/2014/main" id="{98A64AB4-3C58-D7E7-C88F-D79B4099ECF4}"/>
              </a:ext>
            </a:extLst>
          </p:cNvPr>
          <p:cNvSpPr/>
          <p:nvPr/>
        </p:nvSpPr>
        <p:spPr>
          <a:xfrm>
            <a:off x="1130300" y="2298700"/>
            <a:ext cx="127000" cy="1270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3A3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DDC5ECBE-1924-94E0-948D-ED67B8BE79AB}"/>
              </a:ext>
            </a:extLst>
          </p:cNvPr>
          <p:cNvSpPr/>
          <p:nvPr/>
        </p:nvSpPr>
        <p:spPr>
          <a:xfrm>
            <a:off x="1568450" y="2736850"/>
            <a:ext cx="215900" cy="215900"/>
          </a:xfrm>
          <a:prstGeom prst="ellipse">
            <a:avLst/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54EF54BD-4F05-4064-F4CF-7B1C212A7837}"/>
              </a:ext>
            </a:extLst>
          </p:cNvPr>
          <p:cNvSpPr/>
          <p:nvPr/>
        </p:nvSpPr>
        <p:spPr>
          <a:xfrm>
            <a:off x="1308100" y="3314700"/>
            <a:ext cx="127000" cy="1270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3A3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EB07A7B9-B6AB-46EC-6473-988E2B75BB74}"/>
              </a:ext>
            </a:extLst>
          </p:cNvPr>
          <p:cNvSpPr/>
          <p:nvPr/>
        </p:nvSpPr>
        <p:spPr>
          <a:xfrm>
            <a:off x="1841500" y="3797300"/>
            <a:ext cx="127000" cy="1270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3A3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58C2D7D3-88C7-260F-3FCC-A7718DDEA224}"/>
              </a:ext>
            </a:extLst>
          </p:cNvPr>
          <p:cNvCxnSpPr/>
          <p:nvPr/>
        </p:nvCxnSpPr>
        <p:spPr>
          <a:xfrm flipH="1">
            <a:off x="4267200" y="2667000"/>
            <a:ext cx="304800" cy="1219200"/>
          </a:xfrm>
          <a:prstGeom prst="line">
            <a:avLst/>
          </a:prstGeom>
          <a:ln w="15875">
            <a:solidFill>
              <a:srgbClr val="9AA3B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楕円 22">
            <a:extLst>
              <a:ext uri="{FF2B5EF4-FFF2-40B4-BE49-F238E27FC236}">
                <a16:creationId xmlns:a16="http://schemas.microsoft.com/office/drawing/2014/main" id="{84387FE8-4955-A50C-F55B-E23BE1F507F6}"/>
              </a:ext>
            </a:extLst>
          </p:cNvPr>
          <p:cNvSpPr/>
          <p:nvPr/>
        </p:nvSpPr>
        <p:spPr>
          <a:xfrm>
            <a:off x="4533900" y="2451100"/>
            <a:ext cx="177800" cy="177800"/>
          </a:xfrm>
          <a:prstGeom prst="ellipse">
            <a:avLst/>
          </a:prstGeom>
          <a:solidFill>
            <a:srgbClr val="1E2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4C838D9-3EE8-7796-0B1D-BDDD36D3F314}"/>
              </a:ext>
            </a:extLst>
          </p:cNvPr>
          <p:cNvSpPr txBox="1"/>
          <p:nvPr/>
        </p:nvSpPr>
        <p:spPr>
          <a:xfrm>
            <a:off x="4762500" y="24511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000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音源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DC4AE8B8-253E-D012-52FF-5E2643301E27}"/>
              </a:ext>
            </a:extLst>
          </p:cNvPr>
          <p:cNvSpPr/>
          <p:nvPr/>
        </p:nvSpPr>
        <p:spPr>
          <a:xfrm>
            <a:off x="4102100" y="3949700"/>
            <a:ext cx="177800" cy="177800"/>
          </a:xfrm>
          <a:prstGeom prst="ellipse">
            <a:avLst/>
          </a:prstGeom>
          <a:solidFill>
            <a:srgbClr val="1E2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501F65A-979B-AC00-DEE9-F313A36553F8}"/>
              </a:ext>
            </a:extLst>
          </p:cNvPr>
          <p:cNvSpPr txBox="1"/>
          <p:nvPr/>
        </p:nvSpPr>
        <p:spPr>
          <a:xfrm>
            <a:off x="4330700" y="39624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000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耳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226E053-117D-366F-4A95-74C37D86C2DE}"/>
              </a:ext>
            </a:extLst>
          </p:cNvPr>
          <p:cNvSpPr txBox="1"/>
          <p:nvPr/>
        </p:nvSpPr>
        <p:spPr>
          <a:xfrm>
            <a:off x="762000" y="2286000"/>
            <a:ext cx="38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950">
                <a:solidFill>
                  <a:srgbClr val="9A621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虚像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DBC8BB2-0DC4-8F1E-C8FE-F631A528446F}"/>
              </a:ext>
            </a:extLst>
          </p:cNvPr>
          <p:cNvSpPr txBox="1"/>
          <p:nvPr/>
        </p:nvSpPr>
        <p:spPr>
          <a:xfrm>
            <a:off x="762000" y="40640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950" b="1">
                <a:solidFill>
                  <a:srgbClr val="9A621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近い・集まった所を重く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7BF33D1-D05F-1DC4-B8EF-D2C83326F542}"/>
              </a:ext>
            </a:extLst>
          </p:cNvPr>
          <p:cNvSpPr txBox="1"/>
          <p:nvPr/>
        </p:nvSpPr>
        <p:spPr>
          <a:xfrm>
            <a:off x="2743200" y="33274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000" b="1">
                <a:solidFill>
                  <a:srgbClr val="9A621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つないだ面の広がり＝音源の幅（</a:t>
            </a:r>
            <a:r>
              <a:rPr kumimoji="1" lang="en-US" altLang="ja-JP" sz="1000" b="1">
                <a:solidFill>
                  <a:srgbClr val="9A621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ASW</a:t>
            </a:r>
            <a:r>
              <a:rPr kumimoji="1" lang="ja-JP" altLang="en-US" sz="1000" b="1">
                <a:solidFill>
                  <a:srgbClr val="9A621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838596B-B641-A4C8-665A-D6F8B3CBB14D}"/>
              </a:ext>
            </a:extLst>
          </p:cNvPr>
          <p:cNvSpPr txBox="1"/>
          <p:nvPr/>
        </p:nvSpPr>
        <p:spPr>
          <a:xfrm>
            <a:off x="762000" y="4419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00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高い帯域の左右の相関 </a:t>
            </a:r>
            <a:r>
              <a:rPr kumimoji="1" lang="en-US" altLang="ja-JP" sz="100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0.201 → 0.147</a:t>
            </a:r>
            <a:r>
              <a:rPr kumimoji="1" lang="ja-JP" altLang="en-US" sz="100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（広がる）／近い虚像の取り分 </a:t>
            </a:r>
            <a:r>
              <a:rPr kumimoji="1" lang="en-US" altLang="ja-JP" sz="100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10% → 21%</a:t>
            </a:r>
            <a:endParaRPr kumimoji="1" lang="ja-JP" altLang="en-US" sz="1000">
              <a:solidFill>
                <a:srgbClr val="5C6677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99A4C4DE-3A61-A51D-2277-E1CDFF70B9AE}"/>
              </a:ext>
            </a:extLst>
          </p:cNvPr>
          <p:cNvSpPr/>
          <p:nvPr/>
        </p:nvSpPr>
        <p:spPr>
          <a:xfrm>
            <a:off x="546100" y="4851400"/>
            <a:ext cx="5397500" cy="1397000"/>
          </a:xfrm>
          <a:prstGeom prst="roundRect">
            <a:avLst>
              <a:gd name="adj" fmla="val 8000"/>
            </a:avLst>
          </a:prstGeom>
          <a:solidFill>
            <a:srgbClr val="FBF1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8448D354-A0D2-2698-C6D7-3DAB0E3DC4F0}"/>
              </a:ext>
            </a:extLst>
          </p:cNvPr>
          <p:cNvSpPr/>
          <p:nvPr/>
        </p:nvSpPr>
        <p:spPr>
          <a:xfrm>
            <a:off x="723900" y="5041900"/>
            <a:ext cx="965200" cy="3302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連続性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CE80A148-0497-F734-806D-C6019C5ED2EC}"/>
              </a:ext>
            </a:extLst>
          </p:cNvPr>
          <p:cNvSpPr txBox="1"/>
          <p:nvPr/>
        </p:nvSpPr>
        <p:spPr>
          <a:xfrm>
            <a:off x="1841500" y="49911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つなぐ・つながないの境目を置かない。歩いても面の向きの動きは </a:t>
            </a:r>
            <a:r>
              <a:rPr kumimoji="1" lang="en-US" altLang="ja-JP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 cm </a:t>
            </a:r>
            <a:r>
              <a:rPr kumimoji="1" lang="ja-JP" altLang="en-US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 </a:t>
            </a:r>
            <a:r>
              <a:rPr kumimoji="1" lang="en-US" altLang="ja-JP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0.14°</a:t>
            </a:r>
            <a:endParaRPr kumimoji="1" lang="ja-JP" altLang="en-US" sz="1150">
              <a:solidFill>
                <a:srgbClr val="3A425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99D5E500-AE85-DF6E-5197-A077B2CC56E8}"/>
              </a:ext>
            </a:extLst>
          </p:cNvPr>
          <p:cNvSpPr/>
          <p:nvPr/>
        </p:nvSpPr>
        <p:spPr>
          <a:xfrm>
            <a:off x="723900" y="5638800"/>
            <a:ext cx="965200" cy="3302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方向性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35B397A-A07C-69CF-79FB-75F5AEF3C825}"/>
              </a:ext>
            </a:extLst>
          </p:cNvPr>
          <p:cNvSpPr txBox="1"/>
          <p:nvPr/>
        </p:nvSpPr>
        <p:spPr>
          <a:xfrm>
            <a:off x="1841500" y="55880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反射 </a:t>
            </a:r>
            <a:r>
              <a:rPr kumimoji="1" lang="en-US" altLang="ja-JP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 </a:t>
            </a:r>
            <a:r>
              <a:rPr kumimoji="1" lang="ja-JP" altLang="en-US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本ずつに正確な向きと届く時刻がある。先に届く音を重くして定位を保つ</a:t>
            </a: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62D21C44-323B-757D-6A94-688DE402B41A}"/>
              </a:ext>
            </a:extLst>
          </p:cNvPr>
          <p:cNvSpPr/>
          <p:nvPr/>
        </p:nvSpPr>
        <p:spPr>
          <a:xfrm>
            <a:off x="6159500" y="1549400"/>
            <a:ext cx="5486400" cy="1498600"/>
          </a:xfrm>
          <a:prstGeom prst="roundRect">
            <a:avLst>
              <a:gd name="adj" fmla="val 6000"/>
            </a:avLst>
          </a:prstGeom>
          <a:solidFill>
            <a:srgbClr val="F0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D840176A-AC65-BB63-2EE7-A1DA92D71BF5}"/>
              </a:ext>
            </a:extLst>
          </p:cNvPr>
          <p:cNvSpPr/>
          <p:nvPr/>
        </p:nvSpPr>
        <p:spPr>
          <a:xfrm>
            <a:off x="6362700" y="17145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300" b="1">
              <a:solidFill>
                <a:srgbClr val="1E243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383EAC93-4A05-CE2D-8B9B-AC52E3698F22}"/>
              </a:ext>
            </a:extLst>
          </p:cNvPr>
          <p:cNvSpPr txBox="1"/>
          <p:nvPr/>
        </p:nvSpPr>
        <p:spPr>
          <a:xfrm>
            <a:off x="6819900" y="17526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55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虚像をつないで面にする</a:t>
            </a: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907FF55B-EDBC-F51A-0A6D-BEEF69608CB7}"/>
              </a:ext>
            </a:extLst>
          </p:cNvPr>
          <p:cNvSpPr/>
          <p:nvPr/>
        </p:nvSpPr>
        <p:spPr>
          <a:xfrm>
            <a:off x="10718800" y="1739900"/>
            <a:ext cx="723900" cy="279400"/>
          </a:xfrm>
          <a:prstGeom prst="roundRect">
            <a:avLst>
              <a:gd name="adj" fmla="val 50000"/>
            </a:avLst>
          </a:prstGeom>
          <a:solidFill>
            <a:srgbClr val="DDE1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1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面音源</a:t>
            </a: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FBCAA647-674C-8F48-DB22-82DA96DF2B8A}"/>
              </a:ext>
            </a:extLst>
          </p:cNvPr>
          <p:cNvSpPr/>
          <p:nvPr/>
        </p:nvSpPr>
        <p:spPr>
          <a:xfrm>
            <a:off x="9918700" y="1739900"/>
            <a:ext cx="723900" cy="279400"/>
          </a:xfrm>
          <a:prstGeom prst="roundRect">
            <a:avLst>
              <a:gd name="adj" fmla="val 50000"/>
            </a:avLst>
          </a:prstGeom>
          <a:solidFill>
            <a:srgbClr val="DDE1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1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ISM</a:t>
            </a:r>
            <a:endParaRPr kumimoji="1" lang="ja-JP" altLang="en-US" sz="1100" b="1">
              <a:solidFill>
                <a:srgbClr val="1E243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DB2CA262-DE40-6D61-1462-D190E8303910}"/>
              </a:ext>
            </a:extLst>
          </p:cNvPr>
          <p:cNvSpPr txBox="1"/>
          <p:nvPr/>
        </p:nvSpPr>
        <p:spPr>
          <a:xfrm>
            <a:off x="6388100" y="2184400"/>
            <a:ext cx="5054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壁で鏡に映した虚像のうち、耳から見て向きと届く時刻が近いものほど強くつなぐ。つながりの広がりが音源の幅になる。</a:t>
            </a: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F0CCF7C1-68CD-2D61-A06B-7BAF22EF42A3}"/>
              </a:ext>
            </a:extLst>
          </p:cNvPr>
          <p:cNvSpPr/>
          <p:nvPr/>
        </p:nvSpPr>
        <p:spPr>
          <a:xfrm>
            <a:off x="6159500" y="3149600"/>
            <a:ext cx="5486400" cy="1498600"/>
          </a:xfrm>
          <a:prstGeom prst="roundRect">
            <a:avLst>
              <a:gd name="adj" fmla="val 6000"/>
            </a:avLst>
          </a:prstGeom>
          <a:solidFill>
            <a:srgbClr val="FBF1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054F4664-2E7F-9273-E2AF-2B45D1F1BE6D}"/>
              </a:ext>
            </a:extLst>
          </p:cNvPr>
          <p:cNvSpPr/>
          <p:nvPr/>
        </p:nvSpPr>
        <p:spPr>
          <a:xfrm>
            <a:off x="6362700" y="33147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300" b="1">
              <a:solidFill>
                <a:srgbClr val="1E243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A2C20A55-63B7-25AC-5EBB-266C4586C7FF}"/>
              </a:ext>
            </a:extLst>
          </p:cNvPr>
          <p:cNvSpPr txBox="1"/>
          <p:nvPr/>
        </p:nvSpPr>
        <p:spPr>
          <a:xfrm>
            <a:off x="6819900" y="33528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55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集まり・近さで重みを付ける</a:t>
            </a: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E21DACA1-CDB8-5B2B-D477-EA45DD1490F5}"/>
              </a:ext>
            </a:extLst>
          </p:cNvPr>
          <p:cNvSpPr/>
          <p:nvPr/>
        </p:nvSpPr>
        <p:spPr>
          <a:xfrm>
            <a:off x="10782300" y="3340100"/>
            <a:ext cx="660400" cy="2794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1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演出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65A37C99-98A5-C929-A1A8-0FB413080BE8}"/>
              </a:ext>
            </a:extLst>
          </p:cNvPr>
          <p:cNvSpPr txBox="1"/>
          <p:nvPr/>
        </p:nvSpPr>
        <p:spPr>
          <a:xfrm>
            <a:off x="6388100" y="3784600"/>
            <a:ext cx="5054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虚像が集まった所と、経路が短い所を重くして、手前・奥を伝える。初期反射の総量は変えない。</a:t>
            </a: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9836EDBF-CE1C-EFBF-ACBA-E7DF67490094}"/>
              </a:ext>
            </a:extLst>
          </p:cNvPr>
          <p:cNvSpPr/>
          <p:nvPr/>
        </p:nvSpPr>
        <p:spPr>
          <a:xfrm>
            <a:off x="6159500" y="4749800"/>
            <a:ext cx="5486400" cy="1498600"/>
          </a:xfrm>
          <a:prstGeom prst="roundRect">
            <a:avLst>
              <a:gd name="adj" fmla="val 6000"/>
            </a:avLst>
          </a:prstGeom>
          <a:solidFill>
            <a:srgbClr val="F0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CAFAA711-2081-B6C0-AC20-67AA2FB80956}"/>
              </a:ext>
            </a:extLst>
          </p:cNvPr>
          <p:cNvSpPr/>
          <p:nvPr/>
        </p:nvSpPr>
        <p:spPr>
          <a:xfrm>
            <a:off x="6362700" y="49149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sz="1300" b="1">
              <a:solidFill>
                <a:srgbClr val="1E243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91D1B11E-8CB3-42E3-15C0-2AC93C02A581}"/>
              </a:ext>
            </a:extLst>
          </p:cNvPr>
          <p:cNvSpPr txBox="1"/>
          <p:nvPr/>
        </p:nvSpPr>
        <p:spPr>
          <a:xfrm>
            <a:off x="6819900" y="49530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55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遠い音源ほど響きが勝つ</a:t>
            </a:r>
          </a:p>
        </p:txBody>
      </p:sp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20B1E0B4-962B-7F6B-7052-E4CD30C0917A}"/>
              </a:ext>
            </a:extLst>
          </p:cNvPr>
          <p:cNvSpPr/>
          <p:nvPr/>
        </p:nvSpPr>
        <p:spPr>
          <a:xfrm>
            <a:off x="10782300" y="4940300"/>
            <a:ext cx="660400" cy="279400"/>
          </a:xfrm>
          <a:prstGeom prst="roundRect">
            <a:avLst>
              <a:gd name="adj" fmla="val 50000"/>
            </a:avLst>
          </a:prstGeom>
          <a:solidFill>
            <a:srgbClr val="DDE1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1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配分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4003864-503E-1E80-2AB7-1749221D4583}"/>
              </a:ext>
            </a:extLst>
          </p:cNvPr>
          <p:cNvSpPr txBox="1"/>
          <p:nvPr/>
        </p:nvSpPr>
        <p:spPr>
          <a:xfrm>
            <a:off x="6388100" y="5384800"/>
            <a:ext cx="5054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直接音は距離で下がり、部屋の響きは部屋ごとに一定。遠い音源ほど響きの割合が増えて奥に聞こえる。幅は優先の音源だけに付ける。</a:t>
            </a:r>
          </a:p>
        </p:txBody>
      </p:sp>
    </p:spTree>
    <p:extLst>
      <p:ext uri="{BB962C8B-B14F-4D97-AF65-F5344CB8AC3E}">
        <p14:creationId xmlns:p14="http://schemas.microsoft.com/office/powerpoint/2010/main" val="2614147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62D5E50-1B00-652A-A749-CAE9520F4E8E}"/>
              </a:ext>
            </a:extLst>
          </p:cNvPr>
          <p:cNvSpPr txBox="1"/>
          <p:nvPr/>
        </p:nvSpPr>
        <p:spPr>
          <a:xfrm>
            <a:off x="355600" y="1778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6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・技術選定　部屋で聞こえる音の響き方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039D650-5F76-8B24-C24D-CD702B23227E}"/>
              </a:ext>
            </a:extLst>
          </p:cNvPr>
          <p:cNvSpPr txBox="1"/>
          <p:nvPr/>
        </p:nvSpPr>
        <p:spPr>
          <a:xfrm>
            <a:off x="736600" y="5588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34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隣の部屋の音は戸口から聞こえるように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763DC5B-A857-25A7-DEBF-E20E0FFAC86B}"/>
              </a:ext>
            </a:extLst>
          </p:cNvPr>
          <p:cNvSpPr/>
          <p:nvPr/>
        </p:nvSpPr>
        <p:spPr>
          <a:xfrm>
            <a:off x="655320" y="1310640"/>
            <a:ext cx="3192780" cy="22860"/>
          </a:xfrm>
          <a:prstGeom prst="rect">
            <a:avLst/>
          </a:prstGeom>
          <a:solidFill>
            <a:srgbClr val="D86E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90D4EED-FA84-35F0-5149-0F81EADFA580}"/>
              </a:ext>
            </a:extLst>
          </p:cNvPr>
          <p:cNvSpPr/>
          <p:nvPr/>
        </p:nvSpPr>
        <p:spPr>
          <a:xfrm>
            <a:off x="3863340" y="1315720"/>
            <a:ext cx="7937500" cy="7620"/>
          </a:xfrm>
          <a:prstGeom prst="rect">
            <a:avLst/>
          </a:prstGeom>
          <a:solidFill>
            <a:srgbClr val="E2E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5385708-4AF1-6255-4B37-453F5DF3130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42900"/>
            <a:ext cx="838200" cy="4572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D479DA9-8796-1809-6E92-B09EB27DF77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4600"/>
            <a:ext cx="12192000" cy="533400"/>
          </a:xfrm>
          <a:prstGeom prst="rect">
            <a:avLst/>
          </a:prstGeom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8A7B416-D797-35A0-A9DC-9209AA1D6616}"/>
              </a:ext>
            </a:extLst>
          </p:cNvPr>
          <p:cNvSpPr/>
          <p:nvPr/>
        </p:nvSpPr>
        <p:spPr>
          <a:xfrm>
            <a:off x="546100" y="1549400"/>
            <a:ext cx="5397500" cy="317500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0DEFFDF-6C5D-59BF-A38D-DE0EEB1B6BF4}"/>
              </a:ext>
            </a:extLst>
          </p:cNvPr>
          <p:cNvSpPr txBox="1"/>
          <p:nvPr/>
        </p:nvSpPr>
        <p:spPr>
          <a:xfrm>
            <a:off x="762000" y="16891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上から見た図（今いる部屋と隣の部屋）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C948834-0C39-F43A-B991-38FB31621C4C}"/>
              </a:ext>
            </a:extLst>
          </p:cNvPr>
          <p:cNvSpPr/>
          <p:nvPr/>
        </p:nvSpPr>
        <p:spPr>
          <a:xfrm>
            <a:off x="889000" y="2159000"/>
            <a:ext cx="2286000" cy="2159000"/>
          </a:xfrm>
          <a:prstGeom prst="rect">
            <a:avLst/>
          </a:prstGeom>
          <a:noFill/>
          <a:ln w="19050" cap="flat" cmpd="sng" algn="ctr">
            <a:solidFill>
              <a:srgbClr val="9AA3B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3560912-A3AC-2D6E-1C2A-4A553726B69A}"/>
              </a:ext>
            </a:extLst>
          </p:cNvPr>
          <p:cNvSpPr/>
          <p:nvPr/>
        </p:nvSpPr>
        <p:spPr>
          <a:xfrm>
            <a:off x="3175000" y="2159000"/>
            <a:ext cx="2413000" cy="2159000"/>
          </a:xfrm>
          <a:prstGeom prst="rect">
            <a:avLst/>
          </a:prstGeom>
          <a:noFill/>
          <a:ln w="19050" cap="flat" cmpd="sng" algn="ctr">
            <a:solidFill>
              <a:srgbClr val="9AA3B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CA1CD00-81A9-ACFA-2EF6-9455348F943A}"/>
              </a:ext>
            </a:extLst>
          </p:cNvPr>
          <p:cNvSpPr/>
          <p:nvPr/>
        </p:nvSpPr>
        <p:spPr>
          <a:xfrm>
            <a:off x="3136900" y="2946400"/>
            <a:ext cx="76200" cy="635000"/>
          </a:xfrm>
          <a:prstGeom prst="rect">
            <a:avLst/>
          </a:prstGeom>
          <a:solidFill>
            <a:srgbClr val="F0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09857887-08C8-8449-2E65-7316D6E6E88F}"/>
              </a:ext>
            </a:extLst>
          </p:cNvPr>
          <p:cNvCxnSpPr/>
          <p:nvPr/>
        </p:nvCxnSpPr>
        <p:spPr>
          <a:xfrm flipV="1">
            <a:off x="3175000" y="2692400"/>
            <a:ext cx="381000" cy="254000"/>
          </a:xfrm>
          <a:prstGeom prst="line">
            <a:avLst/>
          </a:prstGeom>
          <a:ln w="31750">
            <a:solidFill>
              <a:srgbClr val="1E243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楕円 15">
            <a:extLst>
              <a:ext uri="{FF2B5EF4-FFF2-40B4-BE49-F238E27FC236}">
                <a16:creationId xmlns:a16="http://schemas.microsoft.com/office/drawing/2014/main" id="{FC401DBE-3594-D894-8CC5-1AD0EB8890B6}"/>
              </a:ext>
            </a:extLst>
          </p:cNvPr>
          <p:cNvSpPr/>
          <p:nvPr/>
        </p:nvSpPr>
        <p:spPr>
          <a:xfrm>
            <a:off x="3130550" y="2978150"/>
            <a:ext cx="88900" cy="88900"/>
          </a:xfrm>
          <a:prstGeom prst="ellipse">
            <a:avLst/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491593DE-5397-265F-512D-CB8DA119D618}"/>
              </a:ext>
            </a:extLst>
          </p:cNvPr>
          <p:cNvSpPr/>
          <p:nvPr/>
        </p:nvSpPr>
        <p:spPr>
          <a:xfrm>
            <a:off x="3130550" y="3098800"/>
            <a:ext cx="88900" cy="88900"/>
          </a:xfrm>
          <a:prstGeom prst="ellipse">
            <a:avLst/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586A640F-C53A-15F2-8A33-E63398FC7507}"/>
              </a:ext>
            </a:extLst>
          </p:cNvPr>
          <p:cNvSpPr/>
          <p:nvPr/>
        </p:nvSpPr>
        <p:spPr>
          <a:xfrm>
            <a:off x="3130550" y="3219450"/>
            <a:ext cx="88900" cy="88900"/>
          </a:xfrm>
          <a:prstGeom prst="ellipse">
            <a:avLst/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904B8B69-0B5B-EE6B-4E6E-B0F798498205}"/>
              </a:ext>
            </a:extLst>
          </p:cNvPr>
          <p:cNvSpPr/>
          <p:nvPr/>
        </p:nvSpPr>
        <p:spPr>
          <a:xfrm>
            <a:off x="3130550" y="3340100"/>
            <a:ext cx="88900" cy="88900"/>
          </a:xfrm>
          <a:prstGeom prst="ellipse">
            <a:avLst/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9295C59F-B8BF-D46C-477E-6E78BB0D6C70}"/>
              </a:ext>
            </a:extLst>
          </p:cNvPr>
          <p:cNvSpPr/>
          <p:nvPr/>
        </p:nvSpPr>
        <p:spPr>
          <a:xfrm>
            <a:off x="3130550" y="3460750"/>
            <a:ext cx="88900" cy="88900"/>
          </a:xfrm>
          <a:prstGeom prst="ellipse">
            <a:avLst/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920D9AE1-6215-0DF3-E1D6-5DB27405EDAD}"/>
              </a:ext>
            </a:extLst>
          </p:cNvPr>
          <p:cNvCxnSpPr/>
          <p:nvPr/>
        </p:nvCxnSpPr>
        <p:spPr>
          <a:xfrm flipH="1">
            <a:off x="1778000" y="3073400"/>
            <a:ext cx="1320800" cy="190500"/>
          </a:xfrm>
          <a:prstGeom prst="line">
            <a:avLst/>
          </a:prstGeom>
          <a:ln w="25400">
            <a:solidFill>
              <a:srgbClr val="E3A33B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D4EBD7FA-5D01-3DBD-A625-9FAB3DDE7E10}"/>
              </a:ext>
            </a:extLst>
          </p:cNvPr>
          <p:cNvCxnSpPr/>
          <p:nvPr/>
        </p:nvCxnSpPr>
        <p:spPr>
          <a:xfrm flipH="1">
            <a:off x="1778000" y="3263900"/>
            <a:ext cx="1320800" cy="38100"/>
          </a:xfrm>
          <a:prstGeom prst="line">
            <a:avLst/>
          </a:prstGeom>
          <a:ln w="25400">
            <a:solidFill>
              <a:srgbClr val="E3A33B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041C382B-41C7-D9E2-683B-E26F2E26B326}"/>
              </a:ext>
            </a:extLst>
          </p:cNvPr>
          <p:cNvCxnSpPr/>
          <p:nvPr/>
        </p:nvCxnSpPr>
        <p:spPr>
          <a:xfrm flipH="1" flipV="1">
            <a:off x="1778000" y="3340100"/>
            <a:ext cx="1320800" cy="165100"/>
          </a:xfrm>
          <a:prstGeom prst="line">
            <a:avLst/>
          </a:prstGeom>
          <a:ln w="25400">
            <a:solidFill>
              <a:srgbClr val="E3A33B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楕円 23">
            <a:extLst>
              <a:ext uri="{FF2B5EF4-FFF2-40B4-BE49-F238E27FC236}">
                <a16:creationId xmlns:a16="http://schemas.microsoft.com/office/drawing/2014/main" id="{BDEA9DB3-FEAA-0845-2DD6-D8AC01423ED7}"/>
              </a:ext>
            </a:extLst>
          </p:cNvPr>
          <p:cNvSpPr/>
          <p:nvPr/>
        </p:nvSpPr>
        <p:spPr>
          <a:xfrm>
            <a:off x="1562100" y="3213100"/>
            <a:ext cx="177800" cy="177800"/>
          </a:xfrm>
          <a:prstGeom prst="ellipse">
            <a:avLst/>
          </a:prstGeom>
          <a:solidFill>
            <a:srgbClr val="1E2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5D474B8-0C1E-F72E-827C-4E665136D70B}"/>
              </a:ext>
            </a:extLst>
          </p:cNvPr>
          <p:cNvSpPr txBox="1"/>
          <p:nvPr/>
        </p:nvSpPr>
        <p:spPr>
          <a:xfrm>
            <a:off x="1524000" y="34290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000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耳</a:t>
            </a: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D6F771E6-F5F8-B7FD-F552-BF1A1191B455}"/>
              </a:ext>
            </a:extLst>
          </p:cNvPr>
          <p:cNvSpPr/>
          <p:nvPr/>
        </p:nvSpPr>
        <p:spPr>
          <a:xfrm>
            <a:off x="4800600" y="2578100"/>
            <a:ext cx="177800" cy="177800"/>
          </a:xfrm>
          <a:prstGeom prst="ellipse">
            <a:avLst/>
          </a:prstGeom>
          <a:solidFill>
            <a:srgbClr val="1E2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2F7A779-F580-6CE2-5173-5D0A390E779C}"/>
              </a:ext>
            </a:extLst>
          </p:cNvPr>
          <p:cNvSpPr txBox="1"/>
          <p:nvPr/>
        </p:nvSpPr>
        <p:spPr>
          <a:xfrm>
            <a:off x="5029200" y="25781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000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音源</a:t>
            </a:r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21073F3D-C59A-644A-58BE-02DC48872641}"/>
              </a:ext>
            </a:extLst>
          </p:cNvPr>
          <p:cNvCxnSpPr/>
          <p:nvPr/>
        </p:nvCxnSpPr>
        <p:spPr>
          <a:xfrm flipH="1" flipV="1">
            <a:off x="3251200" y="2413000"/>
            <a:ext cx="1549400" cy="304800"/>
          </a:xfrm>
          <a:prstGeom prst="line">
            <a:avLst/>
          </a:prstGeom>
          <a:ln w="15875">
            <a:solidFill>
              <a:srgbClr val="9AA3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3980692F-8FC0-D8EF-0731-0E287D867847}"/>
              </a:ext>
            </a:extLst>
          </p:cNvPr>
          <p:cNvCxnSpPr/>
          <p:nvPr/>
        </p:nvCxnSpPr>
        <p:spPr>
          <a:xfrm flipH="1">
            <a:off x="3251200" y="2743200"/>
            <a:ext cx="1549400" cy="1295400"/>
          </a:xfrm>
          <a:prstGeom prst="line">
            <a:avLst/>
          </a:prstGeom>
          <a:ln w="15875">
            <a:solidFill>
              <a:srgbClr val="9AA3B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6A4D296-9BE5-8426-DFB1-8127A0CE54C7}"/>
              </a:ext>
            </a:extLst>
          </p:cNvPr>
          <p:cNvSpPr txBox="1"/>
          <p:nvPr/>
        </p:nvSpPr>
        <p:spPr>
          <a:xfrm>
            <a:off x="2997200" y="2286000"/>
            <a:ext cx="228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ja-JP" sz="1400" b="1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</a:t>
            </a:r>
            <a:endParaRPr kumimoji="1" lang="ja-JP" altLang="en-US" sz="1400" b="1">
              <a:solidFill>
                <a:srgbClr val="5C6677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1F60282-A2D4-CC4E-48F3-22B6F393406E}"/>
              </a:ext>
            </a:extLst>
          </p:cNvPr>
          <p:cNvSpPr txBox="1"/>
          <p:nvPr/>
        </p:nvSpPr>
        <p:spPr>
          <a:xfrm>
            <a:off x="2997200" y="3911600"/>
            <a:ext cx="228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ja-JP" sz="1400" b="1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×</a:t>
            </a:r>
            <a:endParaRPr kumimoji="1" lang="ja-JP" altLang="en-US" sz="1400" b="1">
              <a:solidFill>
                <a:srgbClr val="5C6677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9FA6848A-A001-A724-555D-9E12EE39A8FE}"/>
              </a:ext>
            </a:extLst>
          </p:cNvPr>
          <p:cNvSpPr txBox="1"/>
          <p:nvPr/>
        </p:nvSpPr>
        <p:spPr>
          <a:xfrm>
            <a:off x="965200" y="22225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95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今いる部屋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75AE8B12-B54E-3203-0374-740B3FE2699A}"/>
              </a:ext>
            </a:extLst>
          </p:cNvPr>
          <p:cNvSpPr txBox="1"/>
          <p:nvPr/>
        </p:nvSpPr>
        <p:spPr>
          <a:xfrm>
            <a:off x="4851400" y="4089400"/>
            <a:ext cx="71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95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隣の部屋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F1D9CA02-8882-FE7A-F788-4F37BCCB2807}"/>
              </a:ext>
            </a:extLst>
          </p:cNvPr>
          <p:cNvSpPr txBox="1"/>
          <p:nvPr/>
        </p:nvSpPr>
        <p:spPr>
          <a:xfrm>
            <a:off x="1803400" y="28194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950" b="1">
                <a:solidFill>
                  <a:srgbClr val="9A621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響きは戸口の横幅から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2AEA3A32-D65E-8462-2C1A-45A607E96377}"/>
              </a:ext>
            </a:extLst>
          </p:cNvPr>
          <p:cNvSpPr txBox="1"/>
          <p:nvPr/>
        </p:nvSpPr>
        <p:spPr>
          <a:xfrm>
            <a:off x="3784600" y="37846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95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壁越しには抜けない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409BD5A6-D3D6-809D-96C9-C06EBC960436}"/>
              </a:ext>
            </a:extLst>
          </p:cNvPr>
          <p:cNvSpPr txBox="1"/>
          <p:nvPr/>
        </p:nvSpPr>
        <p:spPr>
          <a:xfrm>
            <a:off x="762000" y="4419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00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戸口から直接届く響き </a:t>
            </a:r>
            <a:r>
              <a:rPr kumimoji="1" lang="en-US" altLang="ja-JP" sz="100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10% → 66%</a:t>
            </a:r>
            <a:r>
              <a:rPr kumimoji="1" lang="ja-JP" altLang="en-US" sz="100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／響きのうち向きを持つ分 </a:t>
            </a:r>
            <a:r>
              <a:rPr kumimoji="1" lang="en-US" altLang="ja-JP" sz="100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16% → 100%</a:t>
            </a:r>
            <a:endParaRPr kumimoji="1" lang="ja-JP" altLang="en-US" sz="1000">
              <a:solidFill>
                <a:srgbClr val="5C6677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F3867E16-B142-2D49-0B1B-78F291B285A2}"/>
              </a:ext>
            </a:extLst>
          </p:cNvPr>
          <p:cNvSpPr/>
          <p:nvPr/>
        </p:nvSpPr>
        <p:spPr>
          <a:xfrm>
            <a:off x="546100" y="4851400"/>
            <a:ext cx="5397500" cy="1397000"/>
          </a:xfrm>
          <a:prstGeom prst="roundRect">
            <a:avLst>
              <a:gd name="adj" fmla="val 8000"/>
            </a:avLst>
          </a:prstGeom>
          <a:solidFill>
            <a:srgbClr val="FBF1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D3B77C18-0687-AF1B-AF0B-B57CC26F82D8}"/>
              </a:ext>
            </a:extLst>
          </p:cNvPr>
          <p:cNvSpPr/>
          <p:nvPr/>
        </p:nvSpPr>
        <p:spPr>
          <a:xfrm>
            <a:off x="723900" y="5041900"/>
            <a:ext cx="965200" cy="3302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方向性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CE3D359-4102-F3B8-3922-113F26EAA9AC}"/>
              </a:ext>
            </a:extLst>
          </p:cNvPr>
          <p:cNvSpPr txBox="1"/>
          <p:nvPr/>
        </p:nvSpPr>
        <p:spPr>
          <a:xfrm>
            <a:off x="1841500" y="49911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隣の部屋の響きは戸口の向きから。向こうの部屋で鳴っていることが伝わる</a:t>
            </a: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945A4E51-D461-2AF8-465C-3FC7461612A7}"/>
              </a:ext>
            </a:extLst>
          </p:cNvPr>
          <p:cNvSpPr/>
          <p:nvPr/>
        </p:nvSpPr>
        <p:spPr>
          <a:xfrm>
            <a:off x="723900" y="5638800"/>
            <a:ext cx="965200" cy="3302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連続性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80D9B2C7-79E1-6D7B-F92C-3B9F166CE059}"/>
              </a:ext>
            </a:extLst>
          </p:cNvPr>
          <p:cNvSpPr txBox="1"/>
          <p:nvPr/>
        </p:nvSpPr>
        <p:spPr>
          <a:xfrm>
            <a:off x="1841500" y="55880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壁越しの二重をやめて、鳴っている音の段差 </a:t>
            </a:r>
            <a:r>
              <a:rPr kumimoji="1" lang="en-US" altLang="ja-JP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2.37 → 1.68 dB</a:t>
            </a:r>
            <a:r>
              <a:rPr kumimoji="1" lang="ja-JP" altLang="en-US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。扉の開き具合で戸口の量を連続に変える</a:t>
            </a: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8ECB6476-023E-7FCD-5044-1272C58C5F62}"/>
              </a:ext>
            </a:extLst>
          </p:cNvPr>
          <p:cNvSpPr/>
          <p:nvPr/>
        </p:nvSpPr>
        <p:spPr>
          <a:xfrm>
            <a:off x="6159500" y="1549400"/>
            <a:ext cx="5486400" cy="1498600"/>
          </a:xfrm>
          <a:prstGeom prst="roundRect">
            <a:avLst>
              <a:gd name="adj" fmla="val 6000"/>
            </a:avLst>
          </a:prstGeom>
          <a:solidFill>
            <a:srgbClr val="F0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D621A6AA-9F87-1A64-F43C-D413EEB08858}"/>
              </a:ext>
            </a:extLst>
          </p:cNvPr>
          <p:cNvSpPr/>
          <p:nvPr/>
        </p:nvSpPr>
        <p:spPr>
          <a:xfrm>
            <a:off x="6362700" y="17145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300" b="1">
              <a:solidFill>
                <a:srgbClr val="1E243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79A54C78-7D34-4A1E-A9C2-A83F35619C96}"/>
              </a:ext>
            </a:extLst>
          </p:cNvPr>
          <p:cNvSpPr txBox="1"/>
          <p:nvPr/>
        </p:nvSpPr>
        <p:spPr>
          <a:xfrm>
            <a:off x="6819900" y="17526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55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壁を抜けるのは直接音の透過だけ</a:t>
            </a: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1287A3FA-F5DF-457D-1F3B-2034DFDE798A}"/>
              </a:ext>
            </a:extLst>
          </p:cNvPr>
          <p:cNvSpPr/>
          <p:nvPr/>
        </p:nvSpPr>
        <p:spPr>
          <a:xfrm>
            <a:off x="10782300" y="1739900"/>
            <a:ext cx="660400" cy="279400"/>
          </a:xfrm>
          <a:prstGeom prst="roundRect">
            <a:avLst>
              <a:gd name="adj" fmla="val 50000"/>
            </a:avLst>
          </a:prstGeom>
          <a:solidFill>
            <a:srgbClr val="DDE1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1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透過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01460728-3022-D548-1F97-5BA48FCDA93C}"/>
              </a:ext>
            </a:extLst>
          </p:cNvPr>
          <p:cNvSpPr txBox="1"/>
          <p:nvPr/>
        </p:nvSpPr>
        <p:spPr>
          <a:xfrm>
            <a:off x="6388100" y="2184400"/>
            <a:ext cx="5054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反射や残響は壁を抜けない。閉じた扉の向こうの響きが、壁越しに二重に聞こえていたのを止めた。</a:t>
            </a: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A6A8F24F-3E4F-8B91-2833-EBB79EB98187}"/>
              </a:ext>
            </a:extLst>
          </p:cNvPr>
          <p:cNvSpPr/>
          <p:nvPr/>
        </p:nvSpPr>
        <p:spPr>
          <a:xfrm>
            <a:off x="6159500" y="3149600"/>
            <a:ext cx="5486400" cy="1498600"/>
          </a:xfrm>
          <a:prstGeom prst="roundRect">
            <a:avLst>
              <a:gd name="adj" fmla="val 6000"/>
            </a:avLst>
          </a:prstGeom>
          <a:solidFill>
            <a:srgbClr val="FBF1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13E3BA98-4099-04A4-9EC5-2AEDF4858612}"/>
              </a:ext>
            </a:extLst>
          </p:cNvPr>
          <p:cNvSpPr/>
          <p:nvPr/>
        </p:nvSpPr>
        <p:spPr>
          <a:xfrm>
            <a:off x="6362700" y="33147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300" b="1">
              <a:solidFill>
                <a:srgbClr val="1E243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1C107308-A2E4-CD37-1C92-399EC81B1F8C}"/>
              </a:ext>
            </a:extLst>
          </p:cNvPr>
          <p:cNvSpPr txBox="1"/>
          <p:nvPr/>
        </p:nvSpPr>
        <p:spPr>
          <a:xfrm>
            <a:off x="6819900" y="33528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55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隣の響きは戸口の横幅から</a:t>
            </a:r>
          </a:p>
        </p:txBody>
      </p:sp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587A6387-7FAC-0C6D-EB6E-B6A9AEA541A9}"/>
              </a:ext>
            </a:extLst>
          </p:cNvPr>
          <p:cNvSpPr/>
          <p:nvPr/>
        </p:nvSpPr>
        <p:spPr>
          <a:xfrm>
            <a:off x="10782300" y="3340100"/>
            <a:ext cx="660400" cy="2794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1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戸口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6467CEBD-F520-0B1D-80F6-13D2B9501373}"/>
              </a:ext>
            </a:extLst>
          </p:cNvPr>
          <p:cNvSpPr txBox="1"/>
          <p:nvPr/>
        </p:nvSpPr>
        <p:spPr>
          <a:xfrm>
            <a:off x="6388100" y="3784600"/>
            <a:ext cx="5054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隣の部屋の響きを、戸口の横幅に並べた </a:t>
            </a:r>
            <a:r>
              <a:rPr kumimoji="1" lang="en-US" altLang="ja-JP" sz="120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 </a:t>
            </a:r>
            <a:r>
              <a:rPr kumimoji="1" lang="ja-JP" altLang="en-US" sz="120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点から両耳の聞こえ方付きで鳴らす。低い帯域を揃えて、近づいても戸口の向きが消えないように。</a:t>
            </a:r>
          </a:p>
        </p:txBody>
      </p:sp>
      <p:sp>
        <p:nvSpPr>
          <p:cNvPr id="52" name="四角形: 角を丸くする 51">
            <a:extLst>
              <a:ext uri="{FF2B5EF4-FFF2-40B4-BE49-F238E27FC236}">
                <a16:creationId xmlns:a16="http://schemas.microsoft.com/office/drawing/2014/main" id="{FC231FBA-B336-B2D0-2C31-70E2F16F4960}"/>
              </a:ext>
            </a:extLst>
          </p:cNvPr>
          <p:cNvSpPr/>
          <p:nvPr/>
        </p:nvSpPr>
        <p:spPr>
          <a:xfrm>
            <a:off x="6159500" y="4749800"/>
            <a:ext cx="5486400" cy="1498600"/>
          </a:xfrm>
          <a:prstGeom prst="roundRect">
            <a:avLst>
              <a:gd name="adj" fmla="val 6000"/>
            </a:avLst>
          </a:prstGeom>
          <a:solidFill>
            <a:srgbClr val="F0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CAC969D8-7323-52A4-4938-AF4CE906820C}"/>
              </a:ext>
            </a:extLst>
          </p:cNvPr>
          <p:cNvSpPr/>
          <p:nvPr/>
        </p:nvSpPr>
        <p:spPr>
          <a:xfrm>
            <a:off x="6362700" y="49149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sz="1300" b="1">
              <a:solidFill>
                <a:srgbClr val="1E243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B0001159-E351-2FAF-7F3A-D78C61B6F3C7}"/>
              </a:ext>
            </a:extLst>
          </p:cNvPr>
          <p:cNvSpPr txBox="1"/>
          <p:nvPr/>
        </p:nvSpPr>
        <p:spPr>
          <a:xfrm>
            <a:off x="6819900" y="49530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55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今いる部屋では響かせない</a:t>
            </a:r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8892B519-C332-9868-1802-5F53DEEE0969}"/>
              </a:ext>
            </a:extLst>
          </p:cNvPr>
          <p:cNvSpPr/>
          <p:nvPr/>
        </p:nvSpPr>
        <p:spPr>
          <a:xfrm>
            <a:off x="10553700" y="4940300"/>
            <a:ext cx="889000" cy="279400"/>
          </a:xfrm>
          <a:prstGeom prst="roundRect">
            <a:avLst>
              <a:gd name="adj" fmla="val 50000"/>
            </a:avLst>
          </a:prstGeom>
          <a:solidFill>
            <a:srgbClr val="DDE1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1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閉じ込め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870D1FA7-A606-5D4B-8497-33C86127B26F}"/>
              </a:ext>
            </a:extLst>
          </p:cNvPr>
          <p:cNvSpPr txBox="1"/>
          <p:nvPr/>
        </p:nvSpPr>
        <p:spPr>
          <a:xfrm>
            <a:off x="6388100" y="5384800"/>
            <a:ext cx="5054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隣の部屋の響き・反射を今いる部屋では響かせず、戸口からだけ鳴らす。どの部屋で鳴っているかが伝わる。</a:t>
            </a:r>
          </a:p>
        </p:txBody>
      </p:sp>
    </p:spTree>
    <p:extLst>
      <p:ext uri="{BB962C8B-B14F-4D97-AF65-F5344CB8AC3E}">
        <p14:creationId xmlns:p14="http://schemas.microsoft.com/office/powerpoint/2010/main" val="802737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958</Words>
  <Application>Microsoft Office PowerPoint</Application>
  <PresentationFormat>ユーザー設定</PresentationFormat>
  <Paragraphs>100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BIZ UDPゴシック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OHAT13B60714 竹内寛登</dc:creator>
  <cp:lastModifiedBy>OHAT13B60714 竹内寛登</cp:lastModifiedBy>
  <cp:revision>1</cp:revision>
  <dcterms:created xsi:type="dcterms:W3CDTF">2026-09-19T12:49:07Z</dcterms:created>
  <dcterms:modified xsi:type="dcterms:W3CDTF">2026-09-19T12:49:07Z</dcterms:modified>
</cp:coreProperties>
</file>