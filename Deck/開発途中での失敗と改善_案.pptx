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E1116F-9497-3251-8B03-D4AB22767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004120-63D2-9317-17E4-665973F67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A6E6D0-9647-79F8-E419-207E1C2A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FEABA8D-4A12-6BA1-8BF8-1C2CD3DB5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1F20573-4D5C-5C88-4422-3FEDD135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01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A673C2-6623-B32E-708A-8D46239C9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595CD6-6165-DEC1-73D3-267302C56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EC7463-5972-A9E6-E09E-BBB6AD6D2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837002-D68B-2E67-5A45-19055A413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E0FD42-EF79-B134-9D04-F82BFE548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4108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243361-8BC9-4CD2-7F2D-15302A0B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6E8D9A-77CE-CEA3-9029-9A309EA64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40320-DA8E-9A64-B315-B53A4C6E8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82C732-0C23-4BE4-643A-0D020B1DA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94B4A80-1E14-F43D-A2BF-6FCE742D2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3640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5C9D82-FE23-46CF-304B-E4DD9C8C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6EC93C-78E2-009B-752D-FFDE2B56A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3C3D8D3-851E-F02A-D5CD-EBF217847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DE7DCF-4D9A-86D0-A1B5-16E67470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BBB6FC-AAA4-BADC-10A7-D7644A2E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F50BE1A-AC49-292A-F625-B9BAB659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01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92EBB7-CDDC-2F96-93BE-45D60C0DB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E8C301-CDFE-7374-B190-F079BC237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3AB508-F267-A49B-F9D4-6CD4AB4C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003E796-1CB3-DB35-6C1A-7DA379E80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D74C99-F507-5BFE-2B65-F63E76C502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B2339E0-C5A0-3AF8-9358-BD6D82BA9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6B5DC1-A19B-3367-86D5-E56C1E65A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CAE469-240E-0774-5325-B9D5F6BC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738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49BC54-BC28-D1BF-AC36-2021BAE5D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434624F-3B1C-8F87-C19E-6FA908E18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50F9A95-C7CE-8786-62B1-AA2FC64FC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A7075FB-D9BF-0D07-FD10-95257EBB5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956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D5AC6A4-8BF7-8D2E-4E8D-AB9BC88C2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108BF58-C64C-2064-43EF-87524416E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326418D-4503-A54F-25FE-06392F9E0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513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19419B-F56C-EE92-DB16-3713CDDF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CE5F00-5CE0-FDB0-1CD0-56E6194E8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FBC2C1-C91B-AAE8-5E29-41D97A4C8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4196DD-3228-C0C7-2ADE-2789F6272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65DE96-FC44-6EAB-0953-AFA29775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D1F2BF5-2168-CF98-1188-05930F50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393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E4FBC3-DB17-B040-9D3D-52BC8C1E3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074B22-A6CE-F4B9-1EEA-DA710EF57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FA06B26-6E1E-9E32-4D0C-12EF419CD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895C1F9-6FBB-182B-C133-E9AB18FE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00B7B2-977F-5166-307F-A92C1D2A5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07BA7C-25E8-D362-7D7D-459054F39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4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CC8AC8-6B31-3716-3171-141B077C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E8E1741-9097-CC66-8872-CD483421BA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F6B8A0-C717-A0DE-7AF1-CF792B57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CD4516-8A4E-CF99-3126-093FDFE1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903F4A-5130-6486-A399-C77CE2D6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8274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B9D062-6F35-D0DE-EBFA-D2B5BFEF4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C2E04E5-D041-AB41-ABBE-A30DEA944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550C72-9343-999E-69F4-24E4079DE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F2B37D-B92D-504B-83A3-D0EAC3CC6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7CA4B3-E52C-0A77-A305-709A8319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8157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908E63F-8356-563F-430F-24A1FA860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31DEB5-718E-595F-9B48-052079C00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442508-8326-2091-0D99-0108BA6030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2F580-7501-4F4F-B029-F0E1494EA3D9}" type="datetimeFigureOut">
              <a:rPr kumimoji="1" lang="ja-JP" altLang="en-US" smtClean="0"/>
              <a:t>2026/9/20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6DFFED-4ABD-C65E-3438-C3310FBE44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DF266-D6B0-B171-C667-98A3F3477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12076-4EA5-4C44-9426-AF6A731E7A4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951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F171D79-BB6A-6F54-537A-C08C8906137F}"/>
              </a:ext>
            </a:extLst>
          </p:cNvPr>
          <p:cNvSpPr txBox="1"/>
          <p:nvPr/>
        </p:nvSpPr>
        <p:spPr>
          <a:xfrm>
            <a:off x="355600" y="177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・技術選定　開発途中での失敗と改善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91EAF9A-CC04-501D-8AD5-DDC4786D8D6C}"/>
              </a:ext>
            </a:extLst>
          </p:cNvPr>
          <p:cNvSpPr txBox="1"/>
          <p:nvPr/>
        </p:nvSpPr>
        <p:spPr>
          <a:xfrm>
            <a:off x="736600" y="558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部屋の響きを </a:t>
            </a:r>
            <a:r>
              <a:rPr kumimoji="1" lang="en-US" altLang="ja-JP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IR </a:t>
            </a:r>
            <a:r>
              <a:rPr kumimoji="1" lang="ja-JP" altLang="en-US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 </a:t>
            </a:r>
            <a:r>
              <a:rPr kumimoji="1" lang="en-US" altLang="ja-JP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FDN </a:t>
            </a:r>
            <a:r>
              <a:rPr kumimoji="1" lang="ja-JP" altLang="en-US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33DD33-B597-B002-5312-824C3DE91CBA}"/>
              </a:ext>
            </a:extLst>
          </p:cNvPr>
          <p:cNvSpPr/>
          <p:nvPr/>
        </p:nvSpPr>
        <p:spPr>
          <a:xfrm>
            <a:off x="655320" y="1310640"/>
            <a:ext cx="3192780" cy="22860"/>
          </a:xfrm>
          <a:prstGeom prst="rect">
            <a:avLst/>
          </a:prstGeom>
          <a:solidFill>
            <a:srgbClr val="F2AA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85FC33-6427-F04F-45B5-ADA85E8781E3}"/>
              </a:ext>
            </a:extLst>
          </p:cNvPr>
          <p:cNvSpPr/>
          <p:nvPr/>
        </p:nvSpPr>
        <p:spPr>
          <a:xfrm>
            <a:off x="3848100" y="1315720"/>
            <a:ext cx="7952740" cy="7620"/>
          </a:xfrm>
          <a:prstGeom prst="rect">
            <a:avLst/>
          </a:prstGeom>
          <a:solidFill>
            <a:srgbClr val="E2E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2E00B98-8EED-E4F4-D45F-DD87B17109D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42900"/>
            <a:ext cx="838200" cy="457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2C873F9-8B43-1B8D-528D-93466F3A508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4600"/>
            <a:ext cx="12192000" cy="5334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57A34C6-EF7A-190A-69B6-7CFC6B594B5B}"/>
              </a:ext>
            </a:extLst>
          </p:cNvPr>
          <p:cNvSpPr txBox="1"/>
          <p:nvPr/>
        </p:nvSpPr>
        <p:spPr>
          <a:xfrm>
            <a:off x="889000" y="1524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最初はレイから響きの波形（</a:t>
            </a:r>
            <a:r>
              <a:rPr kumimoji="1" lang="en-US" altLang="ja-JP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IR</a:t>
            </a:r>
            <a:r>
              <a:rPr kumimoji="1" lang="ja-JP" altLang="en-US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）を組み立てて畳み込んでいましたが、扉の動きに響きが付いてこず、</a:t>
            </a:r>
          </a:p>
          <a:p>
            <a:pPr>
              <a:lnSpc>
                <a:spcPct val="120000"/>
              </a:lnSpc>
            </a:pPr>
            <a:r>
              <a:rPr kumimoji="1" lang="ja-JP" altLang="en-US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響きを部屋の形から作り続ける </a:t>
            </a:r>
            <a:r>
              <a:rPr kumimoji="1" lang="en-US" altLang="ja-JP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FDN </a:t>
            </a:r>
            <a:r>
              <a:rPr kumimoji="1" lang="ja-JP" altLang="en-US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に作り直しました。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BFE191E-0CA7-4095-681A-374EF8DC0181}"/>
              </a:ext>
            </a:extLst>
          </p:cNvPr>
          <p:cNvSpPr/>
          <p:nvPr/>
        </p:nvSpPr>
        <p:spPr>
          <a:xfrm>
            <a:off x="546100" y="2184400"/>
            <a:ext cx="5308600" cy="34036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D8FA4C5-35B8-2678-3681-78F8505A7717}"/>
              </a:ext>
            </a:extLst>
          </p:cNvPr>
          <p:cNvSpPr/>
          <p:nvPr/>
        </p:nvSpPr>
        <p:spPr>
          <a:xfrm>
            <a:off x="6337300" y="2184400"/>
            <a:ext cx="5308600" cy="3403600"/>
          </a:xfrm>
          <a:prstGeom prst="roundRect">
            <a:avLst>
              <a:gd name="adj" fmla="val 5000"/>
            </a:avLst>
          </a:prstGeom>
          <a:solidFill>
            <a:srgbClr val="FBF1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6324B0D3-8A5A-FB95-3054-D763AA0B1AA2}"/>
              </a:ext>
            </a:extLst>
          </p:cNvPr>
          <p:cNvSpPr/>
          <p:nvPr/>
        </p:nvSpPr>
        <p:spPr>
          <a:xfrm>
            <a:off x="749300" y="2362200"/>
            <a:ext cx="2260600" cy="330200"/>
          </a:xfrm>
          <a:prstGeom prst="roundRect">
            <a:avLst>
              <a:gd name="adj" fmla="val 50000"/>
            </a:avLst>
          </a:prstGeom>
          <a:solidFill>
            <a:srgbClr val="C9CE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失敗：</a:t>
            </a:r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IR </a:t>
            </a:r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の畳み込み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CB127B2-D487-B050-0CA2-8E02123A6C79}"/>
              </a:ext>
            </a:extLst>
          </p:cNvPr>
          <p:cNvSpPr/>
          <p:nvPr/>
        </p:nvSpPr>
        <p:spPr>
          <a:xfrm>
            <a:off x="6540500" y="23622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改善：</a:t>
            </a:r>
            <a:r>
              <a:rPr kumimoji="1" lang="en-US" altLang="ja-JP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FDN</a:t>
            </a:r>
            <a:endParaRPr kumimoji="1" lang="ja-JP" altLang="en-US" sz="13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2825633-91A7-39A4-F8F1-86C022A02474}"/>
              </a:ext>
            </a:extLst>
          </p:cNvPr>
          <p:cNvSpPr txBox="1"/>
          <p:nvPr/>
        </p:nvSpPr>
        <p:spPr>
          <a:xfrm>
            <a:off x="774700" y="2819400"/>
            <a:ext cx="487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響きを「出来上がった波形」で持っていた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A2E37EC-1838-99F7-AF40-CED6AA728939}"/>
              </a:ext>
            </a:extLst>
          </p:cNvPr>
          <p:cNvSpPr txBox="1"/>
          <p:nvPr/>
        </p:nvSpPr>
        <p:spPr>
          <a:xfrm>
            <a:off x="6565900" y="2819400"/>
            <a:ext cx="487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響きを部屋の形から作り続ける</a:t>
            </a:r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F0A74208-35FC-459E-C530-A265F208A14A}"/>
              </a:ext>
            </a:extLst>
          </p:cNvPr>
          <p:cNvSpPr/>
          <p:nvPr/>
        </p:nvSpPr>
        <p:spPr>
          <a:xfrm>
            <a:off x="6007100" y="3733800"/>
            <a:ext cx="190501" cy="304801"/>
          </a:xfrm>
          <a:custGeom>
            <a:avLst/>
            <a:gdLst/>
            <a:ahLst/>
            <a:cxnLst/>
            <a:rect l="0" t="0" r="0" b="0"/>
            <a:pathLst>
              <a:path w="190501" h="304801">
                <a:moveTo>
                  <a:pt x="0" y="0"/>
                </a:moveTo>
                <a:lnTo>
                  <a:pt x="190500" y="152400"/>
                </a:lnTo>
                <a:lnTo>
                  <a:pt x="0" y="304800"/>
                </a:lnTo>
                <a:close/>
              </a:path>
            </a:pathLst>
          </a:cu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120C214-38BF-F4AB-88F1-3780E19A0F8F}"/>
              </a:ext>
            </a:extLst>
          </p:cNvPr>
          <p:cNvCxnSpPr/>
          <p:nvPr/>
        </p:nvCxnSpPr>
        <p:spPr>
          <a:xfrm>
            <a:off x="914400" y="4216400"/>
            <a:ext cx="4673600" cy="0"/>
          </a:xfrm>
          <a:prstGeom prst="line">
            <a:avLst/>
          </a:prstGeom>
          <a:ln w="12700">
            <a:solidFill>
              <a:srgbClr val="9AA3B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DA0F717-1E29-2090-0C17-237B630B9445}"/>
              </a:ext>
            </a:extLst>
          </p:cNvPr>
          <p:cNvSpPr txBox="1"/>
          <p:nvPr/>
        </p:nvSpPr>
        <p:spPr>
          <a:xfrm>
            <a:off x="5257800" y="40132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時間</a:t>
            </a:r>
          </a:p>
        </p:txBody>
      </p:sp>
      <p:sp>
        <p:nvSpPr>
          <p:cNvPr id="20" name="フリーフォーム: 図形 19">
            <a:extLst>
              <a:ext uri="{FF2B5EF4-FFF2-40B4-BE49-F238E27FC236}">
                <a16:creationId xmlns:a16="http://schemas.microsoft.com/office/drawing/2014/main" id="{501F9D0D-AB7E-7131-87B0-6284A6B33BE7}"/>
              </a:ext>
            </a:extLst>
          </p:cNvPr>
          <p:cNvSpPr/>
          <p:nvPr/>
        </p:nvSpPr>
        <p:spPr>
          <a:xfrm>
            <a:off x="914400" y="3454400"/>
            <a:ext cx="4165601" cy="736601"/>
          </a:xfrm>
          <a:custGeom>
            <a:avLst/>
            <a:gdLst/>
            <a:ahLst/>
            <a:cxnLst/>
            <a:rect l="0" t="0" r="0" b="0"/>
            <a:pathLst>
              <a:path w="4165601" h="736601">
                <a:moveTo>
                  <a:pt x="0" y="736600"/>
                </a:moveTo>
                <a:lnTo>
                  <a:pt x="173567" y="732870"/>
                </a:lnTo>
                <a:lnTo>
                  <a:pt x="347133" y="722107"/>
                </a:lnTo>
                <a:lnTo>
                  <a:pt x="520700" y="704949"/>
                </a:lnTo>
                <a:lnTo>
                  <a:pt x="694267" y="682037"/>
                </a:lnTo>
                <a:lnTo>
                  <a:pt x="867833" y="654010"/>
                </a:lnTo>
                <a:lnTo>
                  <a:pt x="1041400" y="621506"/>
                </a:lnTo>
                <a:lnTo>
                  <a:pt x="1214967" y="585167"/>
                </a:lnTo>
                <a:lnTo>
                  <a:pt x="1388533" y="545629"/>
                </a:lnTo>
                <a:lnTo>
                  <a:pt x="1562100" y="503535"/>
                </a:lnTo>
                <a:lnTo>
                  <a:pt x="1735667" y="459522"/>
                </a:lnTo>
                <a:lnTo>
                  <a:pt x="1909233" y="414231"/>
                </a:lnTo>
                <a:lnTo>
                  <a:pt x="2082800" y="368300"/>
                </a:lnTo>
                <a:lnTo>
                  <a:pt x="2256367" y="322369"/>
                </a:lnTo>
                <a:lnTo>
                  <a:pt x="2429933" y="277078"/>
                </a:lnTo>
                <a:lnTo>
                  <a:pt x="2603500" y="233065"/>
                </a:lnTo>
                <a:lnTo>
                  <a:pt x="2777067" y="190971"/>
                </a:lnTo>
                <a:lnTo>
                  <a:pt x="2950633" y="151433"/>
                </a:lnTo>
                <a:lnTo>
                  <a:pt x="3124200" y="115094"/>
                </a:lnTo>
                <a:lnTo>
                  <a:pt x="3297767" y="82590"/>
                </a:lnTo>
                <a:lnTo>
                  <a:pt x="3471333" y="54563"/>
                </a:lnTo>
                <a:lnTo>
                  <a:pt x="3644900" y="31651"/>
                </a:lnTo>
                <a:lnTo>
                  <a:pt x="3818467" y="14493"/>
                </a:lnTo>
                <a:lnTo>
                  <a:pt x="3992033" y="3730"/>
                </a:lnTo>
                <a:lnTo>
                  <a:pt x="4165600" y="0"/>
                </a:lnTo>
              </a:path>
            </a:pathLst>
          </a:custGeom>
          <a:ln w="25400">
            <a:solidFill>
              <a:srgbClr val="1E24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フリーフォーム: 図形 20">
            <a:extLst>
              <a:ext uri="{FF2B5EF4-FFF2-40B4-BE49-F238E27FC236}">
                <a16:creationId xmlns:a16="http://schemas.microsoft.com/office/drawing/2014/main" id="{5D7FEB8C-7735-7459-5947-11AF90046116}"/>
              </a:ext>
            </a:extLst>
          </p:cNvPr>
          <p:cNvSpPr/>
          <p:nvPr/>
        </p:nvSpPr>
        <p:spPr>
          <a:xfrm>
            <a:off x="914400" y="3569494"/>
            <a:ext cx="4165601" cy="621507"/>
          </a:xfrm>
          <a:custGeom>
            <a:avLst/>
            <a:gdLst/>
            <a:ahLst/>
            <a:cxnLst/>
            <a:rect l="0" t="0" r="0" b="0"/>
            <a:pathLst>
              <a:path w="4165601" h="621507">
                <a:moveTo>
                  <a:pt x="0" y="621506"/>
                </a:moveTo>
                <a:lnTo>
                  <a:pt x="711200" y="621506"/>
                </a:lnTo>
                <a:lnTo>
                  <a:pt x="711200" y="612009"/>
                </a:lnTo>
                <a:lnTo>
                  <a:pt x="1422400" y="612009"/>
                </a:lnTo>
                <a:lnTo>
                  <a:pt x="1422400" y="516351"/>
                </a:lnTo>
                <a:lnTo>
                  <a:pt x="2133600" y="516351"/>
                </a:lnTo>
                <a:lnTo>
                  <a:pt x="2133600" y="353137"/>
                </a:lnTo>
                <a:lnTo>
                  <a:pt x="2844800" y="353137"/>
                </a:lnTo>
                <a:lnTo>
                  <a:pt x="2844800" y="166356"/>
                </a:lnTo>
                <a:lnTo>
                  <a:pt x="3556000" y="166356"/>
                </a:lnTo>
                <a:lnTo>
                  <a:pt x="3556000" y="0"/>
                </a:lnTo>
                <a:lnTo>
                  <a:pt x="4165600" y="0"/>
                </a:lnTo>
              </a:path>
            </a:pathLst>
          </a:custGeom>
          <a:ln w="38100">
            <a:solidFill>
              <a:srgbClr val="E3A3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6325AFE-14C9-F8D6-469D-E4FCFD018A58}"/>
              </a:ext>
            </a:extLst>
          </p:cNvPr>
          <p:cNvSpPr txBox="1"/>
          <p:nvPr/>
        </p:nvSpPr>
        <p:spPr>
          <a:xfrm>
            <a:off x="4267200" y="32766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扉の開き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00B3ECE-1F56-4034-FC45-713B8745510A}"/>
              </a:ext>
            </a:extLst>
          </p:cNvPr>
          <p:cNvSpPr txBox="1"/>
          <p:nvPr/>
        </p:nvSpPr>
        <p:spPr>
          <a:xfrm>
            <a:off x="1016000" y="33782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響き：</a:t>
            </a:r>
            <a:r>
              <a:rPr kumimoji="1" lang="en-US" altLang="ja-JP" sz="9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 </a:t>
            </a:r>
            <a:r>
              <a:rPr kumimoji="1" lang="ja-JP" altLang="en-US" sz="9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フレームごとに作り直して差し替え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E4CA74C-C122-8929-D6DF-385A886348DC}"/>
              </a:ext>
            </a:extLst>
          </p:cNvPr>
          <p:cNvSpPr txBox="1"/>
          <p:nvPr/>
        </p:nvSpPr>
        <p:spPr>
          <a:xfrm>
            <a:off x="774700" y="4445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−0.20 dB</a:t>
            </a:r>
            <a:endParaRPr kumimoji="1" lang="ja-JP" altLang="en-US" sz="14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5EC44D7-D2F3-DC47-6F1F-BB4615CD35A9}"/>
              </a:ext>
            </a:extLst>
          </p:cNvPr>
          <p:cNvSpPr txBox="1"/>
          <p:nvPr/>
        </p:nvSpPr>
        <p:spPr>
          <a:xfrm>
            <a:off x="2400300" y="4419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扉を開けても響きの量がほぼ動かない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（直接音は 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+20.9 dB 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動くのに）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A7F1B229-0D9E-7EBD-070A-DE41D4459E59}"/>
              </a:ext>
            </a:extLst>
          </p:cNvPr>
          <p:cNvCxnSpPr/>
          <p:nvPr/>
        </p:nvCxnSpPr>
        <p:spPr>
          <a:xfrm>
            <a:off x="749300" y="4737100"/>
            <a:ext cx="4902200" cy="0"/>
          </a:xfrm>
          <a:prstGeom prst="line">
            <a:avLst/>
          </a:prstGeom>
          <a:ln w="9525">
            <a:solidFill>
              <a:srgbClr val="D9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EEF45F0-01A1-0DC0-2A99-31491A9AE97D}"/>
              </a:ext>
            </a:extLst>
          </p:cNvPr>
          <p:cNvSpPr txBox="1"/>
          <p:nvPr/>
        </p:nvSpPr>
        <p:spPr>
          <a:xfrm>
            <a:off x="774700" y="4826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250〜317 ms</a:t>
            </a:r>
            <a:endParaRPr kumimoji="1" lang="ja-JP" altLang="en-US" sz="14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2364687-CCB9-BD77-8A2E-0E4578F00051}"/>
              </a:ext>
            </a:extLst>
          </p:cNvPr>
          <p:cNvSpPr txBox="1"/>
          <p:nvPr/>
        </p:nvSpPr>
        <p:spPr>
          <a:xfrm>
            <a:off x="2400300" y="4800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作り直しは約 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133 ms 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刻み。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響きの向きが扉より遅れて付いてくる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AFDDC503-983C-7293-7D15-F3CB75289792}"/>
              </a:ext>
            </a:extLst>
          </p:cNvPr>
          <p:cNvCxnSpPr/>
          <p:nvPr/>
        </p:nvCxnSpPr>
        <p:spPr>
          <a:xfrm>
            <a:off x="749300" y="5118100"/>
            <a:ext cx="4902200" cy="0"/>
          </a:xfrm>
          <a:prstGeom prst="line">
            <a:avLst/>
          </a:prstGeom>
          <a:ln w="9525">
            <a:solidFill>
              <a:srgbClr val="D9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0467075-1A46-CDAA-19B3-2AD3479BDC49}"/>
              </a:ext>
            </a:extLst>
          </p:cNvPr>
          <p:cNvSpPr txBox="1"/>
          <p:nvPr/>
        </p:nvSpPr>
        <p:spPr>
          <a:xfrm>
            <a:off x="774700" y="5207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+1.97 dB</a:t>
            </a:r>
            <a:endParaRPr kumimoji="1" lang="ja-JP" altLang="en-US" sz="14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943875F-FEBE-3E4D-A01C-48174C65647F}"/>
              </a:ext>
            </a:extLst>
          </p:cNvPr>
          <p:cNvSpPr txBox="1"/>
          <p:nvPr/>
        </p:nvSpPr>
        <p:spPr>
          <a:xfrm>
            <a:off x="2400300" y="5181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差し替えるたびのふくらみ（へこみ −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3.26 dB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）。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量の段でぷつぷつも鳴った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2CA1FEDC-E984-E434-9F25-1CA97D211DA5}"/>
              </a:ext>
            </a:extLst>
          </p:cNvPr>
          <p:cNvSpPr txBox="1"/>
          <p:nvPr/>
        </p:nvSpPr>
        <p:spPr>
          <a:xfrm>
            <a:off x="7467600" y="3175000"/>
            <a:ext cx="317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扉の開き → 帯域ごとの残響時間（毎フレーム）</a:t>
            </a:r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88A244E1-3862-07D1-FF51-5FEBFAC2F341}"/>
              </a:ext>
            </a:extLst>
          </p:cNvPr>
          <p:cNvCxnSpPr/>
          <p:nvPr/>
        </p:nvCxnSpPr>
        <p:spPr>
          <a:xfrm>
            <a:off x="8610600" y="3378200"/>
            <a:ext cx="0" cy="127000"/>
          </a:xfrm>
          <a:prstGeom prst="line">
            <a:avLst/>
          </a:prstGeom>
          <a:ln w="19050">
            <a:solidFill>
              <a:srgbClr val="E3A33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D3C514E6-1D3D-0DFE-D1A7-789CF49C7564}"/>
              </a:ext>
            </a:extLst>
          </p:cNvPr>
          <p:cNvCxnSpPr/>
          <p:nvPr/>
        </p:nvCxnSpPr>
        <p:spPr>
          <a:xfrm>
            <a:off x="6731000" y="3771900"/>
            <a:ext cx="939800" cy="0"/>
          </a:xfrm>
          <a:prstGeom prst="line">
            <a:avLst/>
          </a:prstGeom>
          <a:ln w="19050">
            <a:solidFill>
              <a:srgbClr val="9AA3B0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743A3479-AEC6-0C9E-3A57-94BE6386F8DF}"/>
              </a:ext>
            </a:extLst>
          </p:cNvPr>
          <p:cNvSpPr txBox="1"/>
          <p:nvPr/>
        </p:nvSpPr>
        <p:spPr>
          <a:xfrm>
            <a:off x="6654800" y="35941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音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9AF65125-AA03-CBD6-2DDA-5AEBB482F585}"/>
              </a:ext>
            </a:extLst>
          </p:cNvPr>
          <p:cNvSpPr/>
          <p:nvPr/>
        </p:nvSpPr>
        <p:spPr>
          <a:xfrm>
            <a:off x="7747000" y="3556000"/>
            <a:ext cx="17272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四角形: 角を丸くする 36">
            <a:extLst>
              <a:ext uri="{FF2B5EF4-FFF2-40B4-BE49-F238E27FC236}">
                <a16:creationId xmlns:a16="http://schemas.microsoft.com/office/drawing/2014/main" id="{73C8BDD1-8E31-FCF2-F7CC-C7ACA1A0D38F}"/>
              </a:ext>
            </a:extLst>
          </p:cNvPr>
          <p:cNvSpPr/>
          <p:nvPr/>
        </p:nvSpPr>
        <p:spPr>
          <a:xfrm>
            <a:off x="7747000" y="3708400"/>
            <a:ext cx="17272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四角形: 角を丸くする 37">
            <a:extLst>
              <a:ext uri="{FF2B5EF4-FFF2-40B4-BE49-F238E27FC236}">
                <a16:creationId xmlns:a16="http://schemas.microsoft.com/office/drawing/2014/main" id="{C45AAC97-39D8-34C3-F3B7-87E28511E689}"/>
              </a:ext>
            </a:extLst>
          </p:cNvPr>
          <p:cNvSpPr/>
          <p:nvPr/>
        </p:nvSpPr>
        <p:spPr>
          <a:xfrm>
            <a:off x="7747000" y="3860800"/>
            <a:ext cx="1727200" cy="101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8DAB0200-25C5-5358-9D7D-0699AEF645AB}"/>
              </a:ext>
            </a:extLst>
          </p:cNvPr>
          <p:cNvSpPr txBox="1"/>
          <p:nvPr/>
        </p:nvSpPr>
        <p:spPr>
          <a:xfrm>
            <a:off x="7772400" y="33782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遅延線</a:t>
            </a:r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DA89E0B5-49FA-8394-EAE4-1EF442E12E10}"/>
              </a:ext>
            </a:extLst>
          </p:cNvPr>
          <p:cNvSpPr/>
          <p:nvPr/>
        </p:nvSpPr>
        <p:spPr>
          <a:xfrm>
            <a:off x="9652000" y="3505200"/>
            <a:ext cx="787400" cy="533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3A3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B82644A-9777-2944-B6AF-BEF8720DF138}"/>
              </a:ext>
            </a:extLst>
          </p:cNvPr>
          <p:cNvSpPr txBox="1"/>
          <p:nvPr/>
        </p:nvSpPr>
        <p:spPr>
          <a:xfrm>
            <a:off x="9728200" y="3695700"/>
            <a:ext cx="63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9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混ぜる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EF70E684-0844-52A8-AB24-B7A0461256C5}"/>
              </a:ext>
            </a:extLst>
          </p:cNvPr>
          <p:cNvCxnSpPr/>
          <p:nvPr/>
        </p:nvCxnSpPr>
        <p:spPr>
          <a:xfrm>
            <a:off x="9486900" y="3771900"/>
            <a:ext cx="152400" cy="0"/>
          </a:xfrm>
          <a:prstGeom prst="line">
            <a:avLst/>
          </a:prstGeom>
          <a:ln w="19050">
            <a:solidFill>
              <a:srgbClr val="9AA3B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CB0D8A83-7CF1-4683-B918-325681302BE6}"/>
              </a:ext>
            </a:extLst>
          </p:cNvPr>
          <p:cNvCxnSpPr/>
          <p:nvPr/>
        </p:nvCxnSpPr>
        <p:spPr>
          <a:xfrm>
            <a:off x="10452100" y="3771900"/>
            <a:ext cx="622300" cy="0"/>
          </a:xfrm>
          <a:prstGeom prst="line">
            <a:avLst/>
          </a:prstGeom>
          <a:ln w="25400">
            <a:solidFill>
              <a:srgbClr val="E3A33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31D889D-D111-6111-AD51-B59D210B9FC6}"/>
              </a:ext>
            </a:extLst>
          </p:cNvPr>
          <p:cNvSpPr txBox="1"/>
          <p:nvPr/>
        </p:nvSpPr>
        <p:spPr>
          <a:xfrm>
            <a:off x="11125200" y="3695700"/>
            <a:ext cx="38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5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響き</a:t>
            </a:r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A0E000A9-0F71-32AD-9359-DB79F3457413}"/>
              </a:ext>
            </a:extLst>
          </p:cNvPr>
          <p:cNvSpPr/>
          <p:nvPr/>
        </p:nvSpPr>
        <p:spPr>
          <a:xfrm>
            <a:off x="7518400" y="3860800"/>
            <a:ext cx="2527301" cy="381001"/>
          </a:xfrm>
          <a:custGeom>
            <a:avLst/>
            <a:gdLst/>
            <a:ahLst/>
            <a:cxnLst/>
            <a:rect l="0" t="0" r="0" b="0"/>
            <a:pathLst>
              <a:path w="2527301" h="381001">
                <a:moveTo>
                  <a:pt x="2527300" y="177800"/>
                </a:moveTo>
                <a:lnTo>
                  <a:pt x="2527300" y="381000"/>
                </a:lnTo>
                <a:lnTo>
                  <a:pt x="0" y="381000"/>
                </a:lnTo>
                <a:lnTo>
                  <a:pt x="0" y="0"/>
                </a:lnTo>
              </a:path>
            </a:pathLst>
          </a:custGeom>
          <a:ln w="19050">
            <a:solidFill>
              <a:srgbClr val="E3A3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ED58B448-1DF6-4252-B1E0-3404F87C50E4}"/>
              </a:ext>
            </a:extLst>
          </p:cNvPr>
          <p:cNvCxnSpPr/>
          <p:nvPr/>
        </p:nvCxnSpPr>
        <p:spPr>
          <a:xfrm>
            <a:off x="7518400" y="3873500"/>
            <a:ext cx="152400" cy="0"/>
          </a:xfrm>
          <a:prstGeom prst="line">
            <a:avLst/>
          </a:prstGeom>
          <a:ln w="19050">
            <a:solidFill>
              <a:srgbClr val="E3A33B"/>
            </a:solidFill>
            <a:prstDash val="soli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7FF95D8-813C-45AC-5AC1-13A719731D85}"/>
              </a:ext>
            </a:extLst>
          </p:cNvPr>
          <p:cNvSpPr txBox="1"/>
          <p:nvPr/>
        </p:nvSpPr>
        <p:spPr>
          <a:xfrm>
            <a:off x="8102600" y="40894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戻す（響きが続く）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7ED9D833-BF67-C2EA-1F93-B6EE49DF1363}"/>
              </a:ext>
            </a:extLst>
          </p:cNvPr>
          <p:cNvSpPr txBox="1"/>
          <p:nvPr/>
        </p:nvSpPr>
        <p:spPr>
          <a:xfrm>
            <a:off x="6565900" y="4445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0.11 → 0.98 s</a:t>
            </a:r>
            <a:endParaRPr kumimoji="1" lang="ja-JP" altLang="en-US" sz="1400" b="1">
              <a:solidFill>
                <a:srgbClr val="9A621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A5561CC2-7820-4C8C-86D7-311D58CB1950}"/>
              </a:ext>
            </a:extLst>
          </p:cNvPr>
          <p:cNvSpPr txBox="1"/>
          <p:nvPr/>
        </p:nvSpPr>
        <p:spPr>
          <a:xfrm>
            <a:off x="8191500" y="4419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扉の開き具合から、響きの長さが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そのまま伸び縮みする（閉 → 開）</a:t>
            </a:r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079D387F-F849-A963-1E2B-719F16C8C0F9}"/>
              </a:ext>
            </a:extLst>
          </p:cNvPr>
          <p:cNvCxnSpPr/>
          <p:nvPr/>
        </p:nvCxnSpPr>
        <p:spPr>
          <a:xfrm>
            <a:off x="6540500" y="4737100"/>
            <a:ext cx="4902200" cy="0"/>
          </a:xfrm>
          <a:prstGeom prst="line">
            <a:avLst/>
          </a:prstGeom>
          <a:ln w="9525">
            <a:solidFill>
              <a:srgbClr val="D9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EAF215F-8B64-EC52-3A9E-6C234DF57BEE}"/>
              </a:ext>
            </a:extLst>
          </p:cNvPr>
          <p:cNvSpPr txBox="1"/>
          <p:nvPr/>
        </p:nvSpPr>
        <p:spPr>
          <a:xfrm>
            <a:off x="6565900" y="4826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2.13 → 1.16 </a:t>
            </a:r>
            <a:r>
              <a:rPr kumimoji="1" lang="ja-JP" altLang="en-US" sz="14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倍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C995C5C-5C46-109A-CDA1-A93E59DA4F9C}"/>
              </a:ext>
            </a:extLst>
          </p:cNvPr>
          <p:cNvSpPr txBox="1"/>
          <p:nvPr/>
        </p:nvSpPr>
        <p:spPr>
          <a:xfrm>
            <a:off x="8191500" y="4800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扉を動かしたときの段差。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差し替えが無いので継ぎ目が無い</a:t>
            </a:r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6AAEB0F4-13CB-35AE-46E4-F384398F0A7B}"/>
              </a:ext>
            </a:extLst>
          </p:cNvPr>
          <p:cNvCxnSpPr/>
          <p:nvPr/>
        </p:nvCxnSpPr>
        <p:spPr>
          <a:xfrm>
            <a:off x="6540500" y="5118100"/>
            <a:ext cx="4902200" cy="0"/>
          </a:xfrm>
          <a:prstGeom prst="line">
            <a:avLst/>
          </a:prstGeom>
          <a:ln w="9525">
            <a:solidFill>
              <a:srgbClr val="D9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4262633C-8D43-B38C-AE02-EE19BB9D2645}"/>
              </a:ext>
            </a:extLst>
          </p:cNvPr>
          <p:cNvSpPr txBox="1"/>
          <p:nvPr/>
        </p:nvSpPr>
        <p:spPr>
          <a:xfrm>
            <a:off x="6565900" y="5207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2.81 → 1.51 </a:t>
            </a:r>
            <a:r>
              <a:rPr kumimoji="1" lang="ja-JP" altLang="en-US" sz="14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倍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E2F144A0-5CA3-5EFF-CB9B-AF015E0395BC}"/>
              </a:ext>
            </a:extLst>
          </p:cNvPr>
          <p:cNvSpPr txBox="1"/>
          <p:nvPr/>
        </p:nvSpPr>
        <p:spPr>
          <a:xfrm>
            <a:off x="8191500" y="5181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歩いたときの段差。部屋どうしは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前向きにだけ流す（戻すと発散）</a:t>
            </a: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3727D31B-2678-89EF-58B7-4D82E241C18E}"/>
              </a:ext>
            </a:extLst>
          </p:cNvPr>
          <p:cNvSpPr/>
          <p:nvPr/>
        </p:nvSpPr>
        <p:spPr>
          <a:xfrm>
            <a:off x="546100" y="5689600"/>
            <a:ext cx="11099800" cy="533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927BC4F2-C0A2-D954-D9B4-FAE6CED4B5B1}"/>
              </a:ext>
            </a:extLst>
          </p:cNvPr>
          <p:cNvSpPr/>
          <p:nvPr/>
        </p:nvSpPr>
        <p:spPr>
          <a:xfrm>
            <a:off x="723900" y="5791200"/>
            <a:ext cx="13208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気付いたこと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B4D05615-3110-B6A9-30AC-4305A0B1DEDB}"/>
              </a:ext>
            </a:extLst>
          </p:cNvPr>
          <p:cNvSpPr txBox="1"/>
          <p:nvPr/>
        </p:nvSpPr>
        <p:spPr>
          <a:xfrm>
            <a:off x="2222500" y="5715000"/>
            <a:ext cx="927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悪かったのは継ぎ目の繕い方ではなく「出来上がった波形を差し替える」作りそのもの。開けた 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IR 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から閉めた分は引けない。継ぎ目が生まれない仕組みに変えた。</a:t>
            </a:r>
          </a:p>
        </p:txBody>
      </p:sp>
    </p:spTree>
    <p:extLst>
      <p:ext uri="{BB962C8B-B14F-4D97-AF65-F5344CB8AC3E}">
        <p14:creationId xmlns:p14="http://schemas.microsoft.com/office/powerpoint/2010/main" val="75355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43918D4-25C9-8784-18F2-D0F8B1285627}"/>
              </a:ext>
            </a:extLst>
          </p:cNvPr>
          <p:cNvSpPr txBox="1"/>
          <p:nvPr/>
        </p:nvSpPr>
        <p:spPr>
          <a:xfrm>
            <a:off x="355600" y="177800"/>
            <a:ext cx="812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・技術選定　開発途中での失敗と改善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B4BC60-7E9A-9D6C-4EBC-DAA88E076AC9}"/>
              </a:ext>
            </a:extLst>
          </p:cNvPr>
          <p:cNvSpPr txBox="1"/>
          <p:nvPr/>
        </p:nvSpPr>
        <p:spPr>
          <a:xfrm>
            <a:off x="736600" y="5588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扉の取り方を角度から板の影へ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314F692-72E8-F5F1-C02C-24C1684C64E6}"/>
              </a:ext>
            </a:extLst>
          </p:cNvPr>
          <p:cNvSpPr/>
          <p:nvPr/>
        </p:nvSpPr>
        <p:spPr>
          <a:xfrm>
            <a:off x="655320" y="1310640"/>
            <a:ext cx="3192780" cy="22860"/>
          </a:xfrm>
          <a:prstGeom prst="rect">
            <a:avLst/>
          </a:prstGeom>
          <a:solidFill>
            <a:srgbClr val="F2AA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A0DB9C3-5C92-7713-EB89-861B11C30A97}"/>
              </a:ext>
            </a:extLst>
          </p:cNvPr>
          <p:cNvSpPr/>
          <p:nvPr/>
        </p:nvSpPr>
        <p:spPr>
          <a:xfrm>
            <a:off x="3848100" y="1315720"/>
            <a:ext cx="7952740" cy="7620"/>
          </a:xfrm>
          <a:prstGeom prst="rect">
            <a:avLst/>
          </a:prstGeom>
          <a:solidFill>
            <a:srgbClr val="E2E5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D79970B-E555-CA37-4946-62B80329725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342900"/>
            <a:ext cx="838200" cy="45720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FBCDFAA-75CD-800E-A5BB-3BE08AD42CF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24600"/>
            <a:ext cx="12192000" cy="533400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92687E-0510-6DE6-6874-7AD6DC3BDE80}"/>
              </a:ext>
            </a:extLst>
          </p:cNvPr>
          <p:cNvSpPr txBox="1"/>
          <p:nvPr/>
        </p:nvSpPr>
        <p:spPr>
          <a:xfrm>
            <a:off x="889000" y="15240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ja-JP" altLang="en-US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最初は扉を「何度開いたか」という </a:t>
            </a:r>
            <a:r>
              <a:rPr kumimoji="1" lang="en-US" altLang="ja-JP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つの数で扱っていましたが、音源の位置で聞こえ方が変わらず、</a:t>
            </a:r>
          </a:p>
          <a:p>
            <a:pPr>
              <a:lnSpc>
                <a:spcPct val="120000"/>
              </a:lnSpc>
            </a:pPr>
            <a:r>
              <a:rPr kumimoji="1" lang="ja-JP" altLang="en-US" sz="15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扉を板として置き、耳から見た板の影で解くように直しました。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E616537A-2FB8-2C93-C0A2-5E0D33F03B5E}"/>
              </a:ext>
            </a:extLst>
          </p:cNvPr>
          <p:cNvSpPr/>
          <p:nvPr/>
        </p:nvSpPr>
        <p:spPr>
          <a:xfrm>
            <a:off x="546100" y="2184400"/>
            <a:ext cx="5308600" cy="3403600"/>
          </a:xfrm>
          <a:prstGeom prst="roundRect">
            <a:avLst>
              <a:gd name="adj" fmla="val 5000"/>
            </a:avLst>
          </a:prstGeom>
          <a:solidFill>
            <a:srgbClr val="F0F2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0F61C90-78EB-9332-A084-980D241556C1}"/>
              </a:ext>
            </a:extLst>
          </p:cNvPr>
          <p:cNvSpPr/>
          <p:nvPr/>
        </p:nvSpPr>
        <p:spPr>
          <a:xfrm>
            <a:off x="6337300" y="2184400"/>
            <a:ext cx="5308600" cy="3403600"/>
          </a:xfrm>
          <a:prstGeom prst="roundRect">
            <a:avLst>
              <a:gd name="adj" fmla="val 5000"/>
            </a:avLst>
          </a:prstGeom>
          <a:solidFill>
            <a:srgbClr val="FBF1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ED5EF19-763A-A391-9D4C-23AF0461D4AF}"/>
              </a:ext>
            </a:extLst>
          </p:cNvPr>
          <p:cNvSpPr/>
          <p:nvPr/>
        </p:nvSpPr>
        <p:spPr>
          <a:xfrm>
            <a:off x="749300" y="2362200"/>
            <a:ext cx="1905000" cy="330200"/>
          </a:xfrm>
          <a:prstGeom prst="roundRect">
            <a:avLst>
              <a:gd name="adj" fmla="val 50000"/>
            </a:avLst>
          </a:prstGeom>
          <a:solidFill>
            <a:srgbClr val="C9CED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失敗：角度・開き幅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06BB53D-FADA-5929-B34F-ABAF7E43532A}"/>
              </a:ext>
            </a:extLst>
          </p:cNvPr>
          <p:cNvSpPr/>
          <p:nvPr/>
        </p:nvSpPr>
        <p:spPr>
          <a:xfrm>
            <a:off x="6540500" y="2362200"/>
            <a:ext cx="15240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3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改善：板の影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54C9583-F6C0-CA44-20BF-DC7802D52A4D}"/>
              </a:ext>
            </a:extLst>
          </p:cNvPr>
          <p:cNvSpPr txBox="1"/>
          <p:nvPr/>
        </p:nvSpPr>
        <p:spPr>
          <a:xfrm>
            <a:off x="774700" y="2819400"/>
            <a:ext cx="487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扉を </a:t>
            </a:r>
            <a:r>
              <a:rPr kumimoji="1" lang="en-US" altLang="ja-JP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つの数で持っていた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2A7D3E6-0E16-DD91-4CF5-78C9EFB28E76}"/>
              </a:ext>
            </a:extLst>
          </p:cNvPr>
          <p:cNvSpPr txBox="1"/>
          <p:nvPr/>
        </p:nvSpPr>
        <p:spPr>
          <a:xfrm>
            <a:off x="6565900" y="2819400"/>
            <a:ext cx="487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扉を板として置き、影で解く</a:t>
            </a:r>
          </a:p>
        </p:txBody>
      </p:sp>
      <p:sp>
        <p:nvSpPr>
          <p:cNvPr id="17" name="フリーフォーム: 図形 16">
            <a:extLst>
              <a:ext uri="{FF2B5EF4-FFF2-40B4-BE49-F238E27FC236}">
                <a16:creationId xmlns:a16="http://schemas.microsoft.com/office/drawing/2014/main" id="{7FB82178-0A8F-FC35-A6AA-9E5CDE1CE170}"/>
              </a:ext>
            </a:extLst>
          </p:cNvPr>
          <p:cNvSpPr/>
          <p:nvPr/>
        </p:nvSpPr>
        <p:spPr>
          <a:xfrm>
            <a:off x="6007100" y="3733800"/>
            <a:ext cx="190501" cy="304801"/>
          </a:xfrm>
          <a:custGeom>
            <a:avLst/>
            <a:gdLst/>
            <a:ahLst/>
            <a:cxnLst/>
            <a:rect l="0" t="0" r="0" b="0"/>
            <a:pathLst>
              <a:path w="190501" h="304801">
                <a:moveTo>
                  <a:pt x="0" y="0"/>
                </a:moveTo>
                <a:lnTo>
                  <a:pt x="190500" y="152400"/>
                </a:lnTo>
                <a:lnTo>
                  <a:pt x="0" y="304800"/>
                </a:lnTo>
                <a:close/>
              </a:path>
            </a:pathLst>
          </a:cu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5A08A85-234D-5F91-EA26-B9E79A356D4D}"/>
              </a:ext>
            </a:extLst>
          </p:cNvPr>
          <p:cNvCxnSpPr/>
          <p:nvPr/>
        </p:nvCxnSpPr>
        <p:spPr>
          <a:xfrm>
            <a:off x="838200" y="3886200"/>
            <a:ext cx="1041400" cy="0"/>
          </a:xfrm>
          <a:prstGeom prst="line">
            <a:avLst/>
          </a:prstGeom>
          <a:ln w="3810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B430DC32-4DD6-B986-0610-ED24144583DF}"/>
              </a:ext>
            </a:extLst>
          </p:cNvPr>
          <p:cNvCxnSpPr/>
          <p:nvPr/>
        </p:nvCxnSpPr>
        <p:spPr>
          <a:xfrm>
            <a:off x="2590800" y="3886200"/>
            <a:ext cx="1092200" cy="0"/>
          </a:xfrm>
          <a:prstGeom prst="line">
            <a:avLst/>
          </a:prstGeom>
          <a:ln w="3810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E7B45A3-949B-588B-269B-5D6DCEFB8279}"/>
              </a:ext>
            </a:extLst>
          </p:cNvPr>
          <p:cNvCxnSpPr/>
          <p:nvPr/>
        </p:nvCxnSpPr>
        <p:spPr>
          <a:xfrm flipV="1">
            <a:off x="1879600" y="3532819"/>
            <a:ext cx="617193" cy="353381"/>
          </a:xfrm>
          <a:prstGeom prst="line">
            <a:avLst/>
          </a:prstGeom>
          <a:ln w="4445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楕円 20">
            <a:extLst>
              <a:ext uri="{FF2B5EF4-FFF2-40B4-BE49-F238E27FC236}">
                <a16:creationId xmlns:a16="http://schemas.microsoft.com/office/drawing/2014/main" id="{8A7750AA-8F9F-CBAF-DB4C-94C524E405CF}"/>
              </a:ext>
            </a:extLst>
          </p:cNvPr>
          <p:cNvSpPr/>
          <p:nvPr/>
        </p:nvSpPr>
        <p:spPr>
          <a:xfrm>
            <a:off x="2165350" y="4121150"/>
            <a:ext cx="139700" cy="1397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5973AC6-194B-BFA3-772D-BC7630B21803}"/>
              </a:ext>
            </a:extLst>
          </p:cNvPr>
          <p:cNvSpPr txBox="1"/>
          <p:nvPr/>
        </p:nvSpPr>
        <p:spPr>
          <a:xfrm>
            <a:off x="2349500" y="41148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耳</a:t>
            </a: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5201E8F2-8CFC-A4C5-76C3-2806908B832C}"/>
              </a:ext>
            </a:extLst>
          </p:cNvPr>
          <p:cNvSpPr/>
          <p:nvPr/>
        </p:nvSpPr>
        <p:spPr>
          <a:xfrm>
            <a:off x="1244600" y="3302000"/>
            <a:ext cx="152400" cy="152400"/>
          </a:xfrm>
          <a:prstGeom prst="ellipse">
            <a:avLst/>
          </a:prstGeom>
          <a:solidFill>
            <a:srgbClr val="9AA3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31DC5091-7F92-AAB2-B24F-80BBF1CF465E}"/>
              </a:ext>
            </a:extLst>
          </p:cNvPr>
          <p:cNvSpPr/>
          <p:nvPr/>
        </p:nvSpPr>
        <p:spPr>
          <a:xfrm>
            <a:off x="2921000" y="3251200"/>
            <a:ext cx="152400" cy="152400"/>
          </a:xfrm>
          <a:prstGeom prst="ellipse">
            <a:avLst/>
          </a:prstGeom>
          <a:solidFill>
            <a:srgbClr val="9AA3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AD54E27-45AE-7DA7-748D-F470E65D44C3}"/>
              </a:ext>
            </a:extLst>
          </p:cNvPr>
          <p:cNvSpPr txBox="1"/>
          <p:nvPr/>
        </p:nvSpPr>
        <p:spPr>
          <a:xfrm>
            <a:off x="939800" y="35052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蝶番の側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0616AC8-1249-3D92-1647-CDE4D20658A4}"/>
              </a:ext>
            </a:extLst>
          </p:cNvPr>
          <p:cNvSpPr txBox="1"/>
          <p:nvPr/>
        </p:nvSpPr>
        <p:spPr>
          <a:xfrm>
            <a:off x="3124200" y="34290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8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自由端の側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20E29F9-7F4B-B525-BDF4-AD5834C80243}"/>
              </a:ext>
            </a:extLst>
          </p:cNvPr>
          <p:cNvSpPr txBox="1"/>
          <p:nvPr/>
        </p:nvSpPr>
        <p:spPr>
          <a:xfrm>
            <a:off x="1727200" y="3175000"/>
            <a:ext cx="114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どちらも同じ音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451D852-3CBE-6D22-056C-7D6533467D5D}"/>
              </a:ext>
            </a:extLst>
          </p:cNvPr>
          <p:cNvSpPr txBox="1"/>
          <p:nvPr/>
        </p:nvSpPr>
        <p:spPr>
          <a:xfrm>
            <a:off x="4216400" y="3327400"/>
            <a:ext cx="76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開き具合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D43E6A1F-E358-0DDD-D28E-B40D4A2B53D3}"/>
              </a:ext>
            </a:extLst>
          </p:cNvPr>
          <p:cNvCxnSpPr/>
          <p:nvPr/>
        </p:nvCxnSpPr>
        <p:spPr>
          <a:xfrm>
            <a:off x="4216400" y="3683000"/>
            <a:ext cx="1270000" cy="0"/>
          </a:xfrm>
          <a:prstGeom prst="line">
            <a:avLst/>
          </a:prstGeom>
          <a:ln w="50800">
            <a:solidFill>
              <a:srgbClr val="C9CED6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D7AE1D1A-5249-12B6-63B6-68190F71BBC8}"/>
              </a:ext>
            </a:extLst>
          </p:cNvPr>
          <p:cNvCxnSpPr/>
          <p:nvPr/>
        </p:nvCxnSpPr>
        <p:spPr>
          <a:xfrm>
            <a:off x="4216400" y="3683000"/>
            <a:ext cx="419100" cy="0"/>
          </a:xfrm>
          <a:prstGeom prst="line">
            <a:avLst/>
          </a:prstGeom>
          <a:ln w="5080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楕円 30">
            <a:extLst>
              <a:ext uri="{FF2B5EF4-FFF2-40B4-BE49-F238E27FC236}">
                <a16:creationId xmlns:a16="http://schemas.microsoft.com/office/drawing/2014/main" id="{12399C94-DD85-92A6-7602-78F16889E5FF}"/>
              </a:ext>
            </a:extLst>
          </p:cNvPr>
          <p:cNvSpPr/>
          <p:nvPr/>
        </p:nvSpPr>
        <p:spPr>
          <a:xfrm>
            <a:off x="4552950" y="3600450"/>
            <a:ext cx="165100" cy="1651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4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0CA99E7-CD83-6A23-D185-22A737532C57}"/>
              </a:ext>
            </a:extLst>
          </p:cNvPr>
          <p:cNvSpPr txBox="1"/>
          <p:nvPr/>
        </p:nvSpPr>
        <p:spPr>
          <a:xfrm>
            <a:off x="4178300" y="3810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</a:t>
            </a:r>
            <a:endParaRPr kumimoji="1" lang="ja-JP" altLang="en-US" sz="850">
              <a:solidFill>
                <a:srgbClr val="5C667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A94FE9C-0796-D01B-FF85-2B6A2B9F4CC1}"/>
              </a:ext>
            </a:extLst>
          </p:cNvPr>
          <p:cNvSpPr txBox="1"/>
          <p:nvPr/>
        </p:nvSpPr>
        <p:spPr>
          <a:xfrm>
            <a:off x="5435600" y="3810000"/>
            <a:ext cx="12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8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endParaRPr kumimoji="1" lang="ja-JP" altLang="en-US" sz="850">
              <a:solidFill>
                <a:srgbClr val="5C6677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93F4DDF-2A95-9D93-742D-F9A339C79C20}"/>
              </a:ext>
            </a:extLst>
          </p:cNvPr>
          <p:cNvSpPr txBox="1"/>
          <p:nvPr/>
        </p:nvSpPr>
        <p:spPr>
          <a:xfrm>
            <a:off x="774700" y="4445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差 </a:t>
            </a:r>
            <a:r>
              <a:rPr kumimoji="1" lang="en-US" altLang="ja-JP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0 dB</a:t>
            </a:r>
            <a:endParaRPr kumimoji="1" lang="ja-JP" altLang="en-US" sz="14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AB1CC793-C3D0-8E5A-D444-5BC30E65081C}"/>
              </a:ext>
            </a:extLst>
          </p:cNvPr>
          <p:cNvSpPr txBox="1"/>
          <p:nvPr/>
        </p:nvSpPr>
        <p:spPr>
          <a:xfrm>
            <a:off x="2400300" y="4419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開き具合が同じなら、蝶番の側も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自由端の側も同じ音になる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17681071-6E25-3455-575F-3D723039145A}"/>
              </a:ext>
            </a:extLst>
          </p:cNvPr>
          <p:cNvCxnSpPr/>
          <p:nvPr/>
        </p:nvCxnSpPr>
        <p:spPr>
          <a:xfrm>
            <a:off x="749300" y="4737100"/>
            <a:ext cx="4902200" cy="0"/>
          </a:xfrm>
          <a:prstGeom prst="line">
            <a:avLst/>
          </a:prstGeom>
          <a:ln w="9525">
            <a:solidFill>
              <a:srgbClr val="D9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00294511-348E-5788-E3D4-D390C8F8CDAC}"/>
              </a:ext>
            </a:extLst>
          </p:cNvPr>
          <p:cNvSpPr txBox="1"/>
          <p:nvPr/>
        </p:nvSpPr>
        <p:spPr>
          <a:xfrm>
            <a:off x="774700" y="4826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1.5% / 17%</a:t>
            </a:r>
            <a:endParaRPr kumimoji="1" lang="ja-JP" altLang="en-US" sz="14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BB358CD8-73ED-B909-0C6C-B4D5ECCA2C1E}"/>
              </a:ext>
            </a:extLst>
          </p:cNvPr>
          <p:cNvSpPr txBox="1"/>
          <p:nvPr/>
        </p:nvSpPr>
        <p:spPr>
          <a:xfrm>
            <a:off x="2400300" y="4800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開き幅をどの式で出すかで答えが割れる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10°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：射影 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1.5%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・弦 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17%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14CA5E8-CB4B-9B75-DEC5-A59EA7994060}"/>
              </a:ext>
            </a:extLst>
          </p:cNvPr>
          <p:cNvCxnSpPr/>
          <p:nvPr/>
        </p:nvCxnSpPr>
        <p:spPr>
          <a:xfrm>
            <a:off x="749300" y="5118100"/>
            <a:ext cx="4902200" cy="0"/>
          </a:xfrm>
          <a:prstGeom prst="line">
            <a:avLst/>
          </a:prstGeom>
          <a:ln w="9525">
            <a:solidFill>
              <a:srgbClr val="D9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637AF19-CB0C-D398-F7DF-47D3AE97F035}"/>
              </a:ext>
            </a:extLst>
          </p:cNvPr>
          <p:cNvSpPr txBox="1"/>
          <p:nvPr/>
        </p:nvSpPr>
        <p:spPr>
          <a:xfrm>
            <a:off x="774700" y="5207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−37 → −12 dB</a:t>
            </a:r>
            <a:endParaRPr kumimoji="1" lang="ja-JP" altLang="en-US" sz="1400" b="1">
              <a:solidFill>
                <a:srgbClr val="1E243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7BBB34B-21F9-5CAE-107D-B4341199BCD2}"/>
              </a:ext>
            </a:extLst>
          </p:cNvPr>
          <p:cNvSpPr txBox="1"/>
          <p:nvPr/>
        </p:nvSpPr>
        <p:spPr>
          <a:xfrm>
            <a:off x="2400300" y="5181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影を 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 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点で数えると、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1° 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ごとに段で跳ぶ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（−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37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／−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28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／−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16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／−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 dB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</p:txBody>
      </p:sp>
      <p:sp>
        <p:nvSpPr>
          <p:cNvPr id="42" name="フリーフォーム: 図形 41">
            <a:extLst>
              <a:ext uri="{FF2B5EF4-FFF2-40B4-BE49-F238E27FC236}">
                <a16:creationId xmlns:a16="http://schemas.microsoft.com/office/drawing/2014/main" id="{8D6387E4-EA3B-74A3-C444-1417BE310079}"/>
              </a:ext>
            </a:extLst>
          </p:cNvPr>
          <p:cNvSpPr/>
          <p:nvPr/>
        </p:nvSpPr>
        <p:spPr>
          <a:xfrm>
            <a:off x="9202393" y="3200400"/>
            <a:ext cx="832562" cy="685801"/>
          </a:xfrm>
          <a:custGeom>
            <a:avLst/>
            <a:gdLst/>
            <a:ahLst/>
            <a:cxnLst/>
            <a:rect l="0" t="0" r="0" b="0"/>
            <a:pathLst>
              <a:path w="832562" h="685801">
                <a:moveTo>
                  <a:pt x="0" y="332419"/>
                </a:moveTo>
                <a:lnTo>
                  <a:pt x="127210" y="0"/>
                </a:lnTo>
                <a:lnTo>
                  <a:pt x="832561" y="0"/>
                </a:lnTo>
                <a:lnTo>
                  <a:pt x="94007" y="685800"/>
                </a:lnTo>
                <a:close/>
              </a:path>
            </a:pathLst>
          </a:custGeom>
          <a:solidFill>
            <a:srgbClr val="E3A33B">
              <a:alpha val="2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651E8D27-AEE3-BFEB-EC79-0469268F8DE7}"/>
              </a:ext>
            </a:extLst>
          </p:cNvPr>
          <p:cNvSpPr/>
          <p:nvPr/>
        </p:nvSpPr>
        <p:spPr>
          <a:xfrm>
            <a:off x="9131300" y="3276600"/>
            <a:ext cx="254000" cy="254000"/>
          </a:xfrm>
          <a:prstGeom prst="ellipse">
            <a:avLst/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7677AEB0-09D5-7A51-E053-D0A24E876324}"/>
              </a:ext>
            </a:extLst>
          </p:cNvPr>
          <p:cNvSpPr/>
          <p:nvPr/>
        </p:nvSpPr>
        <p:spPr>
          <a:xfrm>
            <a:off x="8191500" y="3416300"/>
            <a:ext cx="177800" cy="177800"/>
          </a:xfrm>
          <a:prstGeom prst="ellipse">
            <a:avLst/>
          </a:prstGeom>
          <a:solidFill>
            <a:srgbClr val="5C667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: 図形 44">
            <a:extLst>
              <a:ext uri="{FF2B5EF4-FFF2-40B4-BE49-F238E27FC236}">
                <a16:creationId xmlns:a16="http://schemas.microsoft.com/office/drawing/2014/main" id="{62B482C4-40B7-6392-9C7E-DC90DBFDA940}"/>
              </a:ext>
            </a:extLst>
          </p:cNvPr>
          <p:cNvSpPr/>
          <p:nvPr/>
        </p:nvSpPr>
        <p:spPr>
          <a:xfrm>
            <a:off x="7846646" y="3200400"/>
            <a:ext cx="1482958" cy="685801"/>
          </a:xfrm>
          <a:custGeom>
            <a:avLst/>
            <a:gdLst/>
            <a:ahLst/>
            <a:cxnLst/>
            <a:rect l="0" t="0" r="0" b="0"/>
            <a:pathLst>
              <a:path w="1482958" h="685801">
                <a:moveTo>
                  <a:pt x="738554" y="685800"/>
                </a:moveTo>
                <a:lnTo>
                  <a:pt x="0" y="0"/>
                </a:lnTo>
                <a:lnTo>
                  <a:pt x="1482957" y="0"/>
                </a:lnTo>
                <a:lnTo>
                  <a:pt x="1355747" y="332419"/>
                </a:lnTo>
                <a:close/>
              </a:path>
            </a:pathLst>
          </a:custGeom>
          <a:solidFill>
            <a:srgbClr val="7C8594">
              <a:alpha val="4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030FC577-6F62-AAA5-02B6-93E1D0346D4D}"/>
              </a:ext>
            </a:extLst>
          </p:cNvPr>
          <p:cNvCxnSpPr/>
          <p:nvPr/>
        </p:nvCxnSpPr>
        <p:spPr>
          <a:xfrm>
            <a:off x="6959600" y="3886200"/>
            <a:ext cx="1625600" cy="0"/>
          </a:xfrm>
          <a:prstGeom prst="line">
            <a:avLst/>
          </a:prstGeom>
          <a:ln w="3810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00EFCEF9-7526-F276-FDBA-FA58DA477356}"/>
              </a:ext>
            </a:extLst>
          </p:cNvPr>
          <p:cNvCxnSpPr/>
          <p:nvPr/>
        </p:nvCxnSpPr>
        <p:spPr>
          <a:xfrm>
            <a:off x="9296400" y="3886200"/>
            <a:ext cx="1498600" cy="0"/>
          </a:xfrm>
          <a:prstGeom prst="line">
            <a:avLst/>
          </a:prstGeom>
          <a:ln w="3810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31909B81-838F-3DC6-92A3-90EE94959ACA}"/>
              </a:ext>
            </a:extLst>
          </p:cNvPr>
          <p:cNvCxnSpPr/>
          <p:nvPr/>
        </p:nvCxnSpPr>
        <p:spPr>
          <a:xfrm flipV="1">
            <a:off x="8585200" y="3532819"/>
            <a:ext cx="617193" cy="353381"/>
          </a:xfrm>
          <a:prstGeom prst="line">
            <a:avLst/>
          </a:prstGeom>
          <a:ln w="44450">
            <a:solidFill>
              <a:srgbClr val="1E243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楕円 48">
            <a:extLst>
              <a:ext uri="{FF2B5EF4-FFF2-40B4-BE49-F238E27FC236}">
                <a16:creationId xmlns:a16="http://schemas.microsoft.com/office/drawing/2014/main" id="{497CC063-16B1-F929-C78A-CAD6AC77BA07}"/>
              </a:ext>
            </a:extLst>
          </p:cNvPr>
          <p:cNvSpPr/>
          <p:nvPr/>
        </p:nvSpPr>
        <p:spPr>
          <a:xfrm>
            <a:off x="8870950" y="4146550"/>
            <a:ext cx="139700" cy="139700"/>
          </a:xfrm>
          <a:prstGeom prst="ellipse">
            <a:avLst/>
          </a:prstGeom>
          <a:solidFill>
            <a:srgbClr val="1E24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4E53B479-91FA-D1D4-8676-CD727F7EC5DC}"/>
              </a:ext>
            </a:extLst>
          </p:cNvPr>
          <p:cNvSpPr txBox="1"/>
          <p:nvPr/>
        </p:nvSpPr>
        <p:spPr>
          <a:xfrm>
            <a:off x="9055100" y="41402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耳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FCD38547-BAB1-91CA-BCB0-DAF7E1F8B016}"/>
              </a:ext>
            </a:extLst>
          </p:cNvPr>
          <p:cNvSpPr txBox="1"/>
          <p:nvPr/>
        </p:nvSpPr>
        <p:spPr>
          <a:xfrm>
            <a:off x="8534400" y="3225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 b="1">
                <a:solidFill>
                  <a:srgbClr val="FFFFFF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板の影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0930D66F-6B7F-05F0-F882-DB38710C425C}"/>
              </a:ext>
            </a:extLst>
          </p:cNvPr>
          <p:cNvSpPr txBox="1"/>
          <p:nvPr/>
        </p:nvSpPr>
        <p:spPr>
          <a:xfrm>
            <a:off x="6553200" y="3429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ja-JP" altLang="en-US" sz="850">
                <a:solidFill>
                  <a:srgbClr val="5C6677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蝶番の側の音源：影の中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A8F3614E-E5F8-9FE2-31F4-3A3C4559570E}"/>
              </a:ext>
            </a:extLst>
          </p:cNvPr>
          <p:cNvSpPr txBox="1"/>
          <p:nvPr/>
        </p:nvSpPr>
        <p:spPr>
          <a:xfrm>
            <a:off x="10111154" y="3327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9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見える割合＝音の通り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E937234-DB1E-3DB1-D458-2A1541153AB5}"/>
              </a:ext>
            </a:extLst>
          </p:cNvPr>
          <p:cNvSpPr txBox="1"/>
          <p:nvPr/>
        </p:nvSpPr>
        <p:spPr>
          <a:xfrm>
            <a:off x="6565900" y="4445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12.8 dB</a:t>
            </a:r>
            <a:endParaRPr kumimoji="1" lang="ja-JP" altLang="en-US" sz="1400" b="1">
              <a:solidFill>
                <a:srgbClr val="9A621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7553F249-8597-6B52-ED95-69F4B2791F36}"/>
              </a:ext>
            </a:extLst>
          </p:cNvPr>
          <p:cNvSpPr txBox="1"/>
          <p:nvPr/>
        </p:nvSpPr>
        <p:spPr>
          <a:xfrm>
            <a:off x="8191500" y="4419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蝶番の非対称が式を足さずに出る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20°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：自由端の側 −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2.9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／蝶番の側 −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15.7 dB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72357A4C-D711-A1D3-CFD9-BAC4B5BF42E0}"/>
              </a:ext>
            </a:extLst>
          </p:cNvPr>
          <p:cNvCxnSpPr/>
          <p:nvPr/>
        </p:nvCxnSpPr>
        <p:spPr>
          <a:xfrm>
            <a:off x="6540500" y="4737100"/>
            <a:ext cx="4902200" cy="0"/>
          </a:xfrm>
          <a:prstGeom prst="line">
            <a:avLst/>
          </a:prstGeom>
          <a:ln w="9525">
            <a:solidFill>
              <a:srgbClr val="D9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43FE74C9-B14F-0894-3C7C-74EE17A786BE}"/>
              </a:ext>
            </a:extLst>
          </p:cNvPr>
          <p:cNvSpPr txBox="1"/>
          <p:nvPr/>
        </p:nvSpPr>
        <p:spPr>
          <a:xfrm>
            <a:off x="6565900" y="4826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+21 → +3.4 dB</a:t>
            </a:r>
            <a:endParaRPr kumimoji="1" lang="ja-JP" altLang="en-US" sz="1400" b="1">
              <a:solidFill>
                <a:srgbClr val="9A621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2E901D06-1FD9-1763-45BB-FFC172BA4B37}"/>
              </a:ext>
            </a:extLst>
          </p:cNvPr>
          <p:cNvSpPr txBox="1"/>
          <p:nvPr/>
        </p:nvSpPr>
        <p:spPr>
          <a:xfrm>
            <a:off x="8191500" y="4800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正面の音源のこもり（低−高）が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開くほどほどける（閉 → </a:t>
            </a:r>
            <a:r>
              <a:rPr kumimoji="1" lang="en-US" altLang="ja-JP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30°</a:t>
            </a: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）</a:t>
            </a:r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FC7133A3-4D6D-F8F0-E41D-A4F7FDCAAF66}"/>
              </a:ext>
            </a:extLst>
          </p:cNvPr>
          <p:cNvCxnSpPr/>
          <p:nvPr/>
        </p:nvCxnSpPr>
        <p:spPr>
          <a:xfrm>
            <a:off x="6540500" y="5118100"/>
            <a:ext cx="4902200" cy="0"/>
          </a:xfrm>
          <a:prstGeom prst="line">
            <a:avLst/>
          </a:prstGeom>
          <a:ln w="9525">
            <a:solidFill>
              <a:srgbClr val="D9DDE3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8633BF7-1177-5A2D-A25D-30764947857E}"/>
              </a:ext>
            </a:extLst>
          </p:cNvPr>
          <p:cNvSpPr txBox="1"/>
          <p:nvPr/>
        </p:nvSpPr>
        <p:spPr>
          <a:xfrm>
            <a:off x="6565900" y="5207000"/>
            <a:ext cx="157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9A621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/ 65536</a:t>
            </a:r>
            <a:endParaRPr kumimoji="1" lang="ja-JP" altLang="en-US" sz="1400" b="1">
              <a:solidFill>
                <a:srgbClr val="9A6212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6050C54-0E6D-9C9E-048C-20BA40B94735}"/>
              </a:ext>
            </a:extLst>
          </p:cNvPr>
          <p:cNvSpPr txBox="1"/>
          <p:nvPr/>
        </p:nvSpPr>
        <p:spPr>
          <a:xfrm>
            <a:off x="8191500" y="5181600"/>
            <a:ext cx="3251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影の境目を解析で詰める。</a:t>
            </a:r>
          </a:p>
          <a:p>
            <a:pPr>
              <a:lnSpc>
                <a:spcPct val="110000"/>
              </a:lnSpc>
            </a:pPr>
            <a:r>
              <a:rPr kumimoji="1" lang="ja-JP" altLang="en-US" sz="10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扉の縁が動いても値が跳ばない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F424C271-B642-BA34-8A75-632EE54B8730}"/>
              </a:ext>
            </a:extLst>
          </p:cNvPr>
          <p:cNvSpPr/>
          <p:nvPr/>
        </p:nvSpPr>
        <p:spPr>
          <a:xfrm>
            <a:off x="546100" y="5689600"/>
            <a:ext cx="11099800" cy="533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四角形: 角を丸くする 62">
            <a:extLst>
              <a:ext uri="{FF2B5EF4-FFF2-40B4-BE49-F238E27FC236}">
                <a16:creationId xmlns:a16="http://schemas.microsoft.com/office/drawing/2014/main" id="{F3C3F531-9530-7280-D9B7-918E1DFA1CB1}"/>
              </a:ext>
            </a:extLst>
          </p:cNvPr>
          <p:cNvSpPr/>
          <p:nvPr/>
        </p:nvSpPr>
        <p:spPr>
          <a:xfrm>
            <a:off x="723900" y="5791200"/>
            <a:ext cx="1320800" cy="330200"/>
          </a:xfrm>
          <a:prstGeom prst="roundRect">
            <a:avLst>
              <a:gd name="adj" fmla="val 50000"/>
            </a:avLst>
          </a:prstGeom>
          <a:solidFill>
            <a:srgbClr val="E3A3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kumimoji="1" lang="ja-JP" altLang="en-US" sz="1250" b="1">
                <a:solidFill>
                  <a:srgbClr val="1E243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気付いたこと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4BFDFDF4-25E1-2E61-8043-3FA394BAEFC6}"/>
              </a:ext>
            </a:extLst>
          </p:cNvPr>
          <p:cNvSpPr txBox="1"/>
          <p:nvPr/>
        </p:nvSpPr>
        <p:spPr>
          <a:xfrm>
            <a:off x="2222500" y="5715000"/>
            <a:ext cx="9271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15000"/>
              </a:lnSpc>
            </a:pP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開き具合は扉の「結果」でしかなかった。板そのものを置けば、蝶番の向きも音源の位置も </a:t>
            </a:r>
            <a:r>
              <a:rPr kumimoji="1" lang="en-US" altLang="ja-JP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 </a:t>
            </a:r>
            <a:r>
              <a:rPr kumimoji="1" lang="ja-JP" altLang="en-US" sz="1150">
                <a:solidFill>
                  <a:srgbClr val="3A42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つの式に入る。押した箱も同じ式で遮れる。</a:t>
            </a:r>
          </a:p>
        </p:txBody>
      </p:sp>
    </p:spTree>
    <p:extLst>
      <p:ext uri="{BB962C8B-B14F-4D97-AF65-F5344CB8AC3E}">
        <p14:creationId xmlns:p14="http://schemas.microsoft.com/office/powerpoint/2010/main" val="1331361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594</Words>
  <Application>Microsoft Office PowerPoint</Application>
  <PresentationFormat>ユーザー設定</PresentationFormat>
  <Paragraphs>76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BIZ UDPゴシック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OHAT13B60714 竹内寛登</dc:creator>
  <cp:lastModifiedBy>OHAT13B60714 竹内寛登</cp:lastModifiedBy>
  <cp:revision>1</cp:revision>
  <dcterms:created xsi:type="dcterms:W3CDTF">2026-09-19T16:24:17Z</dcterms:created>
  <dcterms:modified xsi:type="dcterms:W3CDTF">2026-09-19T16:24:17Z</dcterms:modified>
</cp:coreProperties>
</file>