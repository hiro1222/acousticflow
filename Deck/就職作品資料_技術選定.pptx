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9" r:id="rId3"/>
    <p:sldId id="260" r:id="rId4"/>
    <p:sldId id="258" r:id="rId5"/>
    <p:sldId id="261" r:id="rId6"/>
    <p:sldId id="259" r:id="rId7"/>
    <p:sldId id="262" r:id="rId8"/>
    <p:sldId id="263" r:id="rId9"/>
    <p:sldId id="270" r:id="rId10"/>
    <p:sldId id="272" r:id="rId11"/>
    <p:sldId id="266" r:id="rId12"/>
    <p:sldId id="275" r:id="rId13"/>
    <p:sldId id="264" r:id="rId14"/>
    <p:sldId id="265" r:id="rId15"/>
    <p:sldId id="276" r:id="rId16"/>
    <p:sldId id="267" r:id="rId17"/>
    <p:sldId id="268" r:id="rId1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7" autoAdjust="0"/>
    <p:restoredTop sz="94660"/>
  </p:normalViewPr>
  <p:slideViewPr>
    <p:cSldViewPr snapToGrid="0">
      <p:cViewPr varScale="1">
        <p:scale>
          <a:sx n="156" d="100"/>
          <a:sy n="156" d="100"/>
        </p:scale>
        <p:origin x="42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468552-3B7C-CB8F-37D7-7EE872B0B5C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1D45EDF-5BDE-98B9-1E8A-AF39AB6622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2A72EDD-38F5-7995-5C9D-EFE3F228F66A}"/>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5" name="フッター プレースホルダー 4">
            <a:extLst>
              <a:ext uri="{FF2B5EF4-FFF2-40B4-BE49-F238E27FC236}">
                <a16:creationId xmlns:a16="http://schemas.microsoft.com/office/drawing/2014/main" id="{F15C4322-995F-049C-6D8E-E19FEA22BB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A58D8D5-B062-26BC-23BE-A59DFDAAA528}"/>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722300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99BA9C-F4CC-E79D-39E2-98D242CF82E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AB70B4D-1D8D-A167-36F0-8BC2F84920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FB53091-3AF6-70C0-4A33-1F7480EC3DB9}"/>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5" name="フッター プレースホルダー 4">
            <a:extLst>
              <a:ext uri="{FF2B5EF4-FFF2-40B4-BE49-F238E27FC236}">
                <a16:creationId xmlns:a16="http://schemas.microsoft.com/office/drawing/2014/main" id="{C7E5D943-6AF9-FF10-BE7E-E22E6CD6FF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B96755E-2C5C-F8E5-6803-D2F2063326B8}"/>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2482278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A3754A-2E0F-0270-4C9B-D524564E13F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CB4684F-6E5A-41A7-ADB3-542A8151B1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4410328-050C-58E6-7DC7-1A0EB781687B}"/>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5" name="フッター プレースホルダー 4">
            <a:extLst>
              <a:ext uri="{FF2B5EF4-FFF2-40B4-BE49-F238E27FC236}">
                <a16:creationId xmlns:a16="http://schemas.microsoft.com/office/drawing/2014/main" id="{C65AAFA7-F918-5412-B5F1-1C8B946CF2E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F9DF146-3294-3249-86C1-D453A4E53ED2}"/>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3772034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62B80D-88A1-C565-8247-C6A67227985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B009295-6C08-C0E6-4EDE-6536998CD76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88DB837-7F5F-FF05-1984-B1F8B3DD3CB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995F40B-BB1D-34C5-43F2-10C9CBE0DF55}"/>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6" name="フッター プレースホルダー 5">
            <a:extLst>
              <a:ext uri="{FF2B5EF4-FFF2-40B4-BE49-F238E27FC236}">
                <a16:creationId xmlns:a16="http://schemas.microsoft.com/office/drawing/2014/main" id="{24F7BF47-E759-5322-FC77-857756222CE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9E44C5-A6BB-8BAB-BF33-50CD69A9557C}"/>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70489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E09ED6-B0CA-02A3-9C34-8302B1622C7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CC8C532-8CBE-BF89-0D61-744B63A08E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663B457-C275-04F6-E1CF-2307944F58A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E6678BC-4C2E-DBAC-B90A-46AFE05F47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09CF1F2-1B16-89DE-84E9-5EE4E7EFF3B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531DD53-5447-27C9-98C4-FB4A25F74423}"/>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8" name="フッター プレースホルダー 7">
            <a:extLst>
              <a:ext uri="{FF2B5EF4-FFF2-40B4-BE49-F238E27FC236}">
                <a16:creationId xmlns:a16="http://schemas.microsoft.com/office/drawing/2014/main" id="{3D0D00F3-BCB7-9256-E5FD-AE634BEE137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174791A-B22C-389E-4496-DDA0BD90896A}"/>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3662723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77BDF5-2C4F-534A-122C-C6082B37331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96BC6DD-FC47-D65F-851A-7655353FC4CB}"/>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4" name="フッター プレースホルダー 3">
            <a:extLst>
              <a:ext uri="{FF2B5EF4-FFF2-40B4-BE49-F238E27FC236}">
                <a16:creationId xmlns:a16="http://schemas.microsoft.com/office/drawing/2014/main" id="{A5A45A27-B8A5-38ED-3C50-D36DD4D2CFC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65F1CF3-C405-6272-A373-7EB21D2D6311}"/>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213953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3D3D7F8-F5DC-5B47-1FE4-8647B44FF1BE}"/>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3" name="フッター プレースホルダー 2">
            <a:extLst>
              <a:ext uri="{FF2B5EF4-FFF2-40B4-BE49-F238E27FC236}">
                <a16:creationId xmlns:a16="http://schemas.microsoft.com/office/drawing/2014/main" id="{C2BB2803-7FF6-537D-59A7-C9451D8890F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B034CE4-DD28-0CA9-3338-6B4ACE3219BD}"/>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1544991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C06761-9CD5-6942-21BE-A1B6DBCCC08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C48C08E-5723-2089-B57A-413428C85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4BB35E2-FA0C-5209-C965-534A2BEAA4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1A0A51C-64A2-59B0-9147-91A15E6B0E50}"/>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6" name="フッター プレースホルダー 5">
            <a:extLst>
              <a:ext uri="{FF2B5EF4-FFF2-40B4-BE49-F238E27FC236}">
                <a16:creationId xmlns:a16="http://schemas.microsoft.com/office/drawing/2014/main" id="{3A8C1425-90B4-3204-B20A-7F5AD8EF135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79CB3C4-2357-C00C-D167-02C991E80B86}"/>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1816086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FE6636-C06B-1C24-BECB-E4F0BA4A31C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FEFBE5E-85EF-5259-12D7-7C86EC85DF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18B7FAB-A017-1802-E564-10C44C012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7938475-6E72-0111-A5AF-03D2A5346B4C}"/>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6" name="フッター プレースホルダー 5">
            <a:extLst>
              <a:ext uri="{FF2B5EF4-FFF2-40B4-BE49-F238E27FC236}">
                <a16:creationId xmlns:a16="http://schemas.microsoft.com/office/drawing/2014/main" id="{8F5541A5-2A93-B841-33AF-BD482171656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9DE463B-6E16-226B-2BA3-41B72FC034F8}"/>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1713952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3AE1B8-8CD1-0D01-FCA0-231A4A42E0C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08AE3FC-C324-D16A-5F91-5BA4517DD2B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5995444-3314-6DD2-DB6A-267D7E88E923}"/>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5" name="フッター プレースホルダー 4">
            <a:extLst>
              <a:ext uri="{FF2B5EF4-FFF2-40B4-BE49-F238E27FC236}">
                <a16:creationId xmlns:a16="http://schemas.microsoft.com/office/drawing/2014/main" id="{E151A372-4819-2E78-B390-95226DB4E07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E12945-7ACC-37DB-748C-B69791A819CD}"/>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1235286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4CE3F8D-5474-13FB-7087-72E52E310A3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89EED4E-8819-8C8A-5765-539773BB8C6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AC48879-D3CC-D9D6-4489-A325BA424833}"/>
              </a:ext>
            </a:extLst>
          </p:cNvPr>
          <p:cNvSpPr>
            <a:spLocks noGrp="1"/>
          </p:cNvSpPr>
          <p:nvPr>
            <p:ph type="dt" sz="half" idx="10"/>
          </p:nvPr>
        </p:nvSpPr>
        <p:spPr/>
        <p:txBody>
          <a:bodyPr/>
          <a:lstStyle/>
          <a:p>
            <a:fld id="{330B332E-F52C-4A8C-BBE1-88D62C80ABB2}" type="datetimeFigureOut">
              <a:rPr kumimoji="1" lang="ja-JP" altLang="en-US" smtClean="0"/>
              <a:t>2026/9/14</a:t>
            </a:fld>
            <a:endParaRPr kumimoji="1" lang="ja-JP" altLang="en-US"/>
          </a:p>
        </p:txBody>
      </p:sp>
      <p:sp>
        <p:nvSpPr>
          <p:cNvPr id="5" name="フッター プレースホルダー 4">
            <a:extLst>
              <a:ext uri="{FF2B5EF4-FFF2-40B4-BE49-F238E27FC236}">
                <a16:creationId xmlns:a16="http://schemas.microsoft.com/office/drawing/2014/main" id="{253EEA23-C15A-9543-0916-3D4C2956FA0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5EF55A-2B24-EE3A-C5B2-1AE2D2C745A2}"/>
              </a:ext>
            </a:extLst>
          </p:cNvPr>
          <p:cNvSpPr>
            <a:spLocks noGrp="1"/>
          </p:cNvSpPr>
          <p:nvPr>
            <p:ph type="sldNum" sz="quarter" idx="12"/>
          </p:nvPr>
        </p:nvSpPr>
        <p:spPr/>
        <p:txBody>
          <a:body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4084558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E92AB16-13D0-F547-B2C7-C5A1BF186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582AC44-2B96-369B-31FD-FF97E1C90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3A8BEC9-BC3A-155A-C4E7-2E32823171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0B332E-F52C-4A8C-BBE1-88D62C80ABB2}" type="datetimeFigureOut">
              <a:rPr kumimoji="1" lang="ja-JP" altLang="en-US" smtClean="0"/>
              <a:t>2026/9/14</a:t>
            </a:fld>
            <a:endParaRPr kumimoji="1" lang="ja-JP" altLang="en-US"/>
          </a:p>
        </p:txBody>
      </p:sp>
      <p:sp>
        <p:nvSpPr>
          <p:cNvPr id="5" name="フッター プレースホルダー 4">
            <a:extLst>
              <a:ext uri="{FF2B5EF4-FFF2-40B4-BE49-F238E27FC236}">
                <a16:creationId xmlns:a16="http://schemas.microsoft.com/office/drawing/2014/main" id="{3514E224-B951-813F-3176-9515EC35C7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E544FA5-326E-7987-F541-7993118563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C053B1-ADA3-462B-9A3B-0EE133E5A921}" type="slidenum">
              <a:rPr kumimoji="1" lang="ja-JP" altLang="en-US" smtClean="0"/>
              <a:t>‹#›</a:t>
            </a:fld>
            <a:endParaRPr kumimoji="1" lang="ja-JP" altLang="en-US"/>
          </a:p>
        </p:txBody>
      </p:sp>
    </p:spTree>
    <p:extLst>
      <p:ext uri="{BB962C8B-B14F-4D97-AF65-F5344CB8AC3E}">
        <p14:creationId xmlns:p14="http://schemas.microsoft.com/office/powerpoint/2010/main" val="2497033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B26"/>
        </a:solidFill>
        <a:effectLst/>
      </p:bgPr>
    </p:bg>
    <p:spTree>
      <p:nvGrpSpPr>
        <p:cNvPr id="1" name=""/>
        <p:cNvGrpSpPr/>
        <p:nvPr/>
      </p:nvGrpSpPr>
      <p:grpSpPr>
        <a:xfrm>
          <a:off x="0" y="0"/>
          <a:ext cx="0" cy="0"/>
          <a:chOff x="0" y="0"/>
          <a:chExt cx="0" cy="0"/>
        </a:xfrm>
      </p:grpSpPr>
      <p:cxnSp>
        <p:nvCxnSpPr>
          <p:cNvPr id="2" name="線 2"/>
          <p:cNvCxnSpPr/>
          <p:nvPr/>
        </p:nvCxnSpPr>
        <p:spPr>
          <a:xfrm>
            <a:off x="7498080" y="5029200"/>
            <a:ext cx="4693615" cy="0"/>
          </a:xfrm>
          <a:prstGeom prst="line">
            <a:avLst/>
          </a:prstGeom>
          <a:ln w="15875">
            <a:solidFill>
              <a:srgbClr val="3B4456"/>
            </a:solidFill>
          </a:ln>
        </p:spPr>
      </p:cxnSp>
      <p:sp>
        <p:nvSpPr>
          <p:cNvPr id="3" name="光 3"/>
          <p:cNvSpPr/>
          <p:nvPr/>
        </p:nvSpPr>
        <p:spPr>
          <a:xfrm>
            <a:off x="9281160" y="5029200"/>
            <a:ext cx="2910535" cy="1828800"/>
          </a:xfrm>
          <a:custGeom>
            <a:avLst/>
            <a:gdLst/>
            <a:ahLst/>
            <a:cxnLst/>
            <a:rect l="0" t="0" r="r" b="b"/>
            <a:pathLst>
              <a:path w="2910535" h="1828800">
                <a:moveTo>
                  <a:pt x="914400" y="0"/>
                </a:moveTo>
                <a:lnTo>
                  <a:pt x="1417320" y="0"/>
                </a:lnTo>
                <a:lnTo>
                  <a:pt x="2910535" y="1828800"/>
                </a:lnTo>
                <a:lnTo>
                  <a:pt x="0" y="1828800"/>
                </a:lnTo>
                <a:close/>
              </a:path>
            </a:pathLst>
          </a:custGeom>
          <a:solidFill>
            <a:srgbClr val="E3A33B">
              <a:alpha val="16000"/>
            </a:srgbClr>
          </a:solidFill>
          <a:ln>
            <a:noFill/>
          </a:ln>
        </p:spPr>
        <p:txBody>
          <a:bodyPr/>
          <a:lstStyle/>
          <a:p>
            <a:endParaRPr lang="ja-JP" altLang="en-US"/>
          </a:p>
        </p:txBody>
      </p:sp>
      <p:sp>
        <p:nvSpPr>
          <p:cNvPr id="4" name="隙間の光 4"/>
          <p:cNvSpPr/>
          <p:nvPr/>
        </p:nvSpPr>
        <p:spPr>
          <a:xfrm>
            <a:off x="10195560" y="1234440"/>
            <a:ext cx="502920" cy="3794760"/>
          </a:xfrm>
          <a:prstGeom prst="rect">
            <a:avLst/>
          </a:prstGeom>
          <a:solidFill>
            <a:srgbClr val="E3A33B"/>
          </a:solidFill>
          <a:ln>
            <a:noFill/>
          </a:ln>
        </p:spPr>
        <p:txBody>
          <a:bodyPr/>
          <a:lstStyle/>
          <a:p>
            <a:endParaRPr lang="ja-JP" altLang="en-US"/>
          </a:p>
        </p:txBody>
      </p:sp>
      <p:sp>
        <p:nvSpPr>
          <p:cNvPr id="5" name="扉 5"/>
          <p:cNvSpPr/>
          <p:nvPr/>
        </p:nvSpPr>
        <p:spPr>
          <a:xfrm>
            <a:off x="8549640" y="1234440"/>
            <a:ext cx="1645920" cy="3794760"/>
          </a:xfrm>
          <a:prstGeom prst="rect">
            <a:avLst/>
          </a:prstGeom>
          <a:solidFill>
            <a:srgbClr val="232A39"/>
          </a:solidFill>
          <a:ln>
            <a:noFill/>
          </a:ln>
        </p:spPr>
        <p:txBody>
          <a:bodyPr/>
          <a:lstStyle/>
          <a:p>
            <a:endParaRPr lang="ja-JP" altLang="en-US"/>
          </a:p>
        </p:txBody>
      </p:sp>
      <p:sp>
        <p:nvSpPr>
          <p:cNvPr id="6" name="枠 6"/>
          <p:cNvSpPr/>
          <p:nvPr/>
        </p:nvSpPr>
        <p:spPr>
          <a:xfrm>
            <a:off x="8549640" y="1234440"/>
            <a:ext cx="2148840" cy="3794760"/>
          </a:xfrm>
          <a:prstGeom prst="rect">
            <a:avLst/>
          </a:prstGeom>
          <a:noFill/>
          <a:ln w="25400">
            <a:solidFill>
              <a:srgbClr val="3B4456"/>
            </a:solidFill>
          </a:ln>
        </p:spPr>
        <p:txBody>
          <a:bodyPr/>
          <a:lstStyle/>
          <a:p>
            <a:endParaRPr lang="ja-JP" altLang="en-US"/>
          </a:p>
        </p:txBody>
      </p:sp>
      <p:sp>
        <p:nvSpPr>
          <p:cNvPr id="7" name="タイトル 7"/>
          <p:cNvSpPr>
            <a:spLocks noGrp="1"/>
          </p:cNvSpPr>
          <p:nvPr>
            <p:ph type="title"/>
          </p:nvPr>
        </p:nvSpPr>
        <p:spPr>
          <a:xfrm>
            <a:off x="822960" y="2240280"/>
            <a:ext cx="7132320" cy="411480"/>
          </a:xfrm>
        </p:spPr>
        <p:txBody>
          <a:bodyPr wrap="square" lIns="0" tIns="0" rIns="0" bIns="0" rtlCol="0" anchor="t">
            <a:noAutofit/>
          </a:bodyPr>
          <a:lstStyle/>
          <a:p>
            <a:pPr marL="0" indent="0" algn="l">
              <a:spcBef>
                <a:spcPts val="0"/>
              </a:spcBef>
              <a:spcAft>
                <a:spcPts val="0"/>
              </a:spcAft>
              <a:buNone/>
            </a:pPr>
            <a:r>
              <a:rPr lang="ja-JP" altLang="en-US" sz="1600" b="1" dirty="0">
                <a:solidFill>
                  <a:srgbClr val="E3A33B"/>
                </a:solidFill>
                <a:latin typeface="BIZ UDPゴシック"/>
                <a:ea typeface="BIZ UDPゴシック"/>
                <a:cs typeface="BIZ UDPゴシック"/>
              </a:rPr>
              <a:t>01　作りたい物</a:t>
            </a:r>
            <a:endParaRPr lang="ja-JP" altLang="en-US" sz="1600" dirty="0"/>
          </a:p>
        </p:txBody>
      </p:sp>
      <p:sp>
        <p:nvSpPr>
          <p:cNvPr id="8" name="テキスト 8"/>
          <p:cNvSpPr txBox="1"/>
          <p:nvPr/>
        </p:nvSpPr>
        <p:spPr>
          <a:xfrm>
            <a:off x="822960" y="2697480"/>
            <a:ext cx="7315200" cy="109728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6000" b="1" dirty="0">
                <a:solidFill>
                  <a:srgbClr val="F4F1EA"/>
                </a:solidFill>
                <a:latin typeface="BIZ UDPゴシック"/>
                <a:ea typeface="BIZ UDPゴシック"/>
                <a:cs typeface="BIZ UDPゴシック"/>
              </a:rPr>
              <a:t>空間が伝わる音</a:t>
            </a:r>
            <a:endParaRPr lang="ja-JP" alt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200" b="1" dirty="0">
                <a:solidFill>
                  <a:srgbClr val="9A6212"/>
                </a:solidFill>
                <a:latin typeface="BIZ UDPゴシック"/>
                <a:ea typeface="BIZ UDPゴシック"/>
                <a:cs typeface="BIZ UDPゴシック"/>
              </a:rPr>
              <a:t>01　作りたい物　｜　空間が伝わる音</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latin typeface="BIZ UDPゴシック" panose="020B0400000000000000" pitchFamily="50" charset="-128"/>
                <a:ea typeface="BIZ UDPゴシック" panose="020B0400000000000000" pitchFamily="50" charset="-128"/>
              </a:rPr>
              <a:t>どんなものが作りたい？</a:t>
            </a:r>
          </a:p>
        </p:txBody>
      </p:sp>
      <p:sp>
        <p:nvSpPr>
          <p:cNvPr id="4" name="テキスト 4"/>
          <p:cNvSpPr txBox="1"/>
          <p:nvPr/>
        </p:nvSpPr>
        <p:spPr>
          <a:xfrm>
            <a:off x="548640" y="1417320"/>
            <a:ext cx="11091672" cy="96012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600" b="1" dirty="0"/>
              <a:t>昔から同じ音でも場所に寄って聞こえ方が変わったり、周りの伝わる音としての魅力が大好き、</a:t>
            </a:r>
            <a:br>
              <a:rPr lang="en-US" altLang="ja-JP" sz="1600" b="1" dirty="0"/>
            </a:br>
            <a:r>
              <a:rPr lang="ja-JP" altLang="en-US" sz="1600" b="1" dirty="0"/>
              <a:t>それを自分の好きなゲームだからこそできる事として、物理に忠実ではなくより「伝わる」ような表現を作りたい。</a:t>
            </a:r>
          </a:p>
        </p:txBody>
      </p:sp>
      <p:sp>
        <p:nvSpPr>
          <p:cNvPr id="5" name="テキスト 5"/>
          <p:cNvSpPr txBox="1"/>
          <p:nvPr/>
        </p:nvSpPr>
        <p:spPr>
          <a:xfrm>
            <a:off x="548640" y="2606040"/>
            <a:ext cx="5486400" cy="36576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800" b="1" dirty="0">
                <a:solidFill>
                  <a:srgbClr val="1E2430"/>
                </a:solidFill>
                <a:latin typeface="BIZ UDPゴシック"/>
                <a:ea typeface="BIZ UDPゴシック"/>
                <a:cs typeface="BIZ UDPゴシック"/>
              </a:rPr>
              <a:t>例えばどんな？</a:t>
            </a:r>
            <a:endParaRPr lang="ja-JP" altLang="en-US" sz="1800" dirty="0"/>
          </a:p>
        </p:txBody>
      </p:sp>
      <p:sp>
        <p:nvSpPr>
          <p:cNvPr id="6" name="カード 6"/>
          <p:cNvSpPr/>
          <p:nvPr/>
        </p:nvSpPr>
        <p:spPr>
          <a:xfrm>
            <a:off x="548640" y="3063240"/>
            <a:ext cx="5440680" cy="914400"/>
          </a:xfrm>
          <a:prstGeom prst="roundRect">
            <a:avLst>
              <a:gd name="adj" fmla="val 9000"/>
            </a:avLst>
          </a:prstGeom>
          <a:solidFill>
            <a:srgbClr val="F0F2F5"/>
          </a:solidFill>
          <a:ln>
            <a:noFill/>
          </a:ln>
        </p:spPr>
        <p:txBody>
          <a:bodyPr/>
          <a:lstStyle/>
          <a:p>
            <a:endParaRPr lang="ja-JP" altLang="en-US"/>
          </a:p>
        </p:txBody>
      </p:sp>
      <p:sp>
        <p:nvSpPr>
          <p:cNvPr id="7" name="番号 7"/>
          <p:cNvSpPr/>
          <p:nvPr/>
        </p:nvSpPr>
        <p:spPr>
          <a:xfrm>
            <a:off x="777240" y="3328416"/>
            <a:ext cx="384048" cy="384048"/>
          </a:xfrm>
          <a:prstGeom prst="ellipse">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400" b="1" dirty="0">
                <a:solidFill>
                  <a:srgbClr val="1E2430"/>
                </a:solidFill>
                <a:latin typeface="BIZ UDPゴシック"/>
                <a:ea typeface="BIZ UDPゴシック"/>
                <a:cs typeface="BIZ UDPゴシック"/>
              </a:rPr>
              <a:t>1</a:t>
            </a:r>
            <a:endParaRPr lang="ja-JP" altLang="en-US" sz="1400" dirty="0"/>
          </a:p>
        </p:txBody>
      </p:sp>
      <p:sp>
        <p:nvSpPr>
          <p:cNvPr id="8" name="テキスト 8"/>
          <p:cNvSpPr txBox="1"/>
          <p:nvPr/>
        </p:nvSpPr>
        <p:spPr>
          <a:xfrm>
            <a:off x="1325880" y="3154680"/>
            <a:ext cx="4434840" cy="731520"/>
          </a:xfrm>
          <a:prstGeom prst="rect">
            <a:avLst/>
          </a:prstGeom>
          <a:noFill/>
        </p:spPr>
        <p:txBody>
          <a:bodyPr wrap="square" lIns="0" tIns="0" rIns="0" bIns="0" rtlCol="0" anchor="ctr">
            <a:noAutofit/>
          </a:bodyPr>
          <a:lstStyle/>
          <a:p>
            <a:pPr marL="0" indent="0" algn="l">
              <a:lnSpc>
                <a:spcPct val="115000"/>
              </a:lnSpc>
              <a:spcBef>
                <a:spcPts val="0"/>
              </a:spcBef>
              <a:spcAft>
                <a:spcPts val="0"/>
              </a:spcAft>
              <a:buNone/>
            </a:pPr>
            <a:r>
              <a:rPr lang="ja-JP" altLang="en-US" sz="1500" dirty="0">
                <a:solidFill>
                  <a:srgbClr val="1E2430"/>
                </a:solidFill>
                <a:latin typeface="BIZ UDPゴシック"/>
                <a:ea typeface="BIZ UDPゴシック"/>
                <a:cs typeface="BIZ UDPゴシック"/>
              </a:rPr>
              <a:t>ドアを開けるとき音源の位置とかに合わせて音色が変化する</a:t>
            </a:r>
            <a:endParaRPr lang="ja-JP" altLang="en-US" sz="1500" dirty="0"/>
          </a:p>
        </p:txBody>
      </p:sp>
      <p:sp>
        <p:nvSpPr>
          <p:cNvPr id="9" name="カード 9"/>
          <p:cNvSpPr/>
          <p:nvPr/>
        </p:nvSpPr>
        <p:spPr>
          <a:xfrm>
            <a:off x="6199632" y="3063240"/>
            <a:ext cx="5440680" cy="914400"/>
          </a:xfrm>
          <a:prstGeom prst="roundRect">
            <a:avLst>
              <a:gd name="adj" fmla="val 9000"/>
            </a:avLst>
          </a:prstGeom>
          <a:solidFill>
            <a:srgbClr val="F0F2F5"/>
          </a:solidFill>
          <a:ln>
            <a:noFill/>
          </a:ln>
        </p:spPr>
        <p:txBody>
          <a:bodyPr/>
          <a:lstStyle/>
          <a:p>
            <a:endParaRPr lang="ja-JP" altLang="en-US"/>
          </a:p>
        </p:txBody>
      </p:sp>
      <p:sp>
        <p:nvSpPr>
          <p:cNvPr id="10" name="番号 10"/>
          <p:cNvSpPr/>
          <p:nvPr/>
        </p:nvSpPr>
        <p:spPr>
          <a:xfrm>
            <a:off x="6428232" y="3328416"/>
            <a:ext cx="384048" cy="384048"/>
          </a:xfrm>
          <a:prstGeom prst="ellipse">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400" b="1" dirty="0">
                <a:solidFill>
                  <a:srgbClr val="1E2430"/>
                </a:solidFill>
                <a:latin typeface="BIZ UDPゴシック"/>
                <a:ea typeface="BIZ UDPゴシック"/>
                <a:cs typeface="BIZ UDPゴシック"/>
              </a:rPr>
              <a:t>2</a:t>
            </a:r>
            <a:endParaRPr lang="ja-JP" altLang="en-US" sz="1400" dirty="0"/>
          </a:p>
        </p:txBody>
      </p:sp>
      <p:sp>
        <p:nvSpPr>
          <p:cNvPr id="11" name="テキスト 11"/>
          <p:cNvSpPr txBox="1"/>
          <p:nvPr/>
        </p:nvSpPr>
        <p:spPr>
          <a:xfrm>
            <a:off x="6976872" y="3154680"/>
            <a:ext cx="4434840" cy="731520"/>
          </a:xfrm>
          <a:prstGeom prst="rect">
            <a:avLst/>
          </a:prstGeom>
          <a:noFill/>
        </p:spPr>
        <p:txBody>
          <a:bodyPr wrap="square" lIns="0" tIns="0" rIns="0" bIns="0" rtlCol="0" anchor="ctr">
            <a:noAutofit/>
          </a:bodyPr>
          <a:lstStyle/>
          <a:p>
            <a:pPr marL="0" indent="0" algn="l">
              <a:lnSpc>
                <a:spcPct val="115000"/>
              </a:lnSpc>
              <a:spcBef>
                <a:spcPts val="0"/>
              </a:spcBef>
              <a:spcAft>
                <a:spcPts val="0"/>
              </a:spcAft>
              <a:buNone/>
            </a:pPr>
            <a:r>
              <a:rPr lang="ja-JP" altLang="en-US" sz="1500" dirty="0">
                <a:solidFill>
                  <a:srgbClr val="1E2430"/>
                </a:solidFill>
                <a:latin typeface="BIZ UDPゴシック"/>
                <a:ea typeface="BIZ UDPゴシック"/>
                <a:cs typeface="BIZ UDPゴシック"/>
              </a:rPr>
              <a:t>音源の近くに壁があれば奥行感が変化する</a:t>
            </a:r>
            <a:endParaRPr lang="ja-JP" altLang="en-US" sz="1500" dirty="0"/>
          </a:p>
        </p:txBody>
      </p:sp>
      <p:sp>
        <p:nvSpPr>
          <p:cNvPr id="12" name="カード 12"/>
          <p:cNvSpPr/>
          <p:nvPr/>
        </p:nvSpPr>
        <p:spPr>
          <a:xfrm>
            <a:off x="548640" y="4160520"/>
            <a:ext cx="5440680" cy="914400"/>
          </a:xfrm>
          <a:prstGeom prst="roundRect">
            <a:avLst>
              <a:gd name="adj" fmla="val 9000"/>
            </a:avLst>
          </a:prstGeom>
          <a:solidFill>
            <a:srgbClr val="F0F2F5"/>
          </a:solidFill>
          <a:ln>
            <a:noFill/>
          </a:ln>
        </p:spPr>
        <p:txBody>
          <a:bodyPr/>
          <a:lstStyle/>
          <a:p>
            <a:endParaRPr lang="ja-JP" altLang="en-US"/>
          </a:p>
        </p:txBody>
      </p:sp>
      <p:sp>
        <p:nvSpPr>
          <p:cNvPr id="13" name="番号 13"/>
          <p:cNvSpPr/>
          <p:nvPr/>
        </p:nvSpPr>
        <p:spPr>
          <a:xfrm>
            <a:off x="777240" y="4425696"/>
            <a:ext cx="384048" cy="384048"/>
          </a:xfrm>
          <a:prstGeom prst="ellipse">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400" b="1" dirty="0">
                <a:solidFill>
                  <a:srgbClr val="1E2430"/>
                </a:solidFill>
                <a:latin typeface="BIZ UDPゴシック"/>
                <a:ea typeface="BIZ UDPゴシック"/>
                <a:cs typeface="BIZ UDPゴシック"/>
              </a:rPr>
              <a:t>3</a:t>
            </a:r>
            <a:endParaRPr lang="ja-JP" altLang="en-US" sz="1400" dirty="0"/>
          </a:p>
        </p:txBody>
      </p:sp>
      <p:sp>
        <p:nvSpPr>
          <p:cNvPr id="14" name="テキスト 14"/>
          <p:cNvSpPr txBox="1"/>
          <p:nvPr/>
        </p:nvSpPr>
        <p:spPr>
          <a:xfrm>
            <a:off x="1325880" y="4251960"/>
            <a:ext cx="4434840" cy="731520"/>
          </a:xfrm>
          <a:prstGeom prst="rect">
            <a:avLst/>
          </a:prstGeom>
          <a:noFill/>
        </p:spPr>
        <p:txBody>
          <a:bodyPr wrap="square" lIns="0" tIns="0" rIns="0" bIns="0" rtlCol="0" anchor="ctr">
            <a:noAutofit/>
          </a:bodyPr>
          <a:lstStyle/>
          <a:p>
            <a:pPr marL="0" indent="0" algn="l">
              <a:lnSpc>
                <a:spcPct val="115000"/>
              </a:lnSpc>
              <a:spcBef>
                <a:spcPts val="0"/>
              </a:spcBef>
              <a:spcAft>
                <a:spcPts val="0"/>
              </a:spcAft>
              <a:buNone/>
            </a:pPr>
            <a:r>
              <a:rPr lang="ja-JP" altLang="en-US" sz="1500" dirty="0">
                <a:solidFill>
                  <a:srgbClr val="1E2430"/>
                </a:solidFill>
                <a:latin typeface="BIZ UDPゴシック"/>
                <a:ea typeface="BIZ UDPゴシック"/>
                <a:cs typeface="BIZ UDPゴシック"/>
              </a:rPr>
              <a:t>窓とかが全開だと音のこもりが若干薄れる</a:t>
            </a:r>
            <a:endParaRPr lang="ja-JP" altLang="en-US" sz="1500" dirty="0"/>
          </a:p>
        </p:txBody>
      </p:sp>
      <p:sp>
        <p:nvSpPr>
          <p:cNvPr id="15" name="カード 15"/>
          <p:cNvSpPr/>
          <p:nvPr/>
        </p:nvSpPr>
        <p:spPr>
          <a:xfrm>
            <a:off x="6199632" y="4160520"/>
            <a:ext cx="5440680" cy="914400"/>
          </a:xfrm>
          <a:prstGeom prst="roundRect">
            <a:avLst>
              <a:gd name="adj" fmla="val 9000"/>
            </a:avLst>
          </a:prstGeom>
          <a:solidFill>
            <a:srgbClr val="F0F2F5"/>
          </a:solidFill>
          <a:ln>
            <a:noFill/>
          </a:ln>
        </p:spPr>
        <p:txBody>
          <a:bodyPr/>
          <a:lstStyle/>
          <a:p>
            <a:endParaRPr lang="ja-JP" altLang="en-US"/>
          </a:p>
        </p:txBody>
      </p:sp>
      <p:sp>
        <p:nvSpPr>
          <p:cNvPr id="16" name="番号 16"/>
          <p:cNvSpPr/>
          <p:nvPr/>
        </p:nvSpPr>
        <p:spPr>
          <a:xfrm>
            <a:off x="6428232" y="4425696"/>
            <a:ext cx="384048" cy="384048"/>
          </a:xfrm>
          <a:prstGeom prst="ellipse">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400" b="1" dirty="0">
                <a:solidFill>
                  <a:srgbClr val="1E2430"/>
                </a:solidFill>
                <a:latin typeface="BIZ UDPゴシック"/>
                <a:ea typeface="BIZ UDPゴシック"/>
                <a:cs typeface="BIZ UDPゴシック"/>
              </a:rPr>
              <a:t>4</a:t>
            </a:r>
            <a:endParaRPr lang="ja-JP" altLang="en-US" sz="1400" dirty="0"/>
          </a:p>
        </p:txBody>
      </p:sp>
      <p:sp>
        <p:nvSpPr>
          <p:cNvPr id="17" name="テキスト 17"/>
          <p:cNvSpPr txBox="1"/>
          <p:nvPr/>
        </p:nvSpPr>
        <p:spPr>
          <a:xfrm>
            <a:off x="6976872" y="4251960"/>
            <a:ext cx="4434840" cy="731520"/>
          </a:xfrm>
          <a:prstGeom prst="rect">
            <a:avLst/>
          </a:prstGeom>
          <a:noFill/>
        </p:spPr>
        <p:txBody>
          <a:bodyPr wrap="square" lIns="0" tIns="0" rIns="0" bIns="0" rtlCol="0" anchor="ctr">
            <a:noAutofit/>
          </a:bodyPr>
          <a:lstStyle/>
          <a:p>
            <a:pPr marL="0" indent="0" algn="l">
              <a:lnSpc>
                <a:spcPct val="115000"/>
              </a:lnSpc>
              <a:spcBef>
                <a:spcPts val="0"/>
              </a:spcBef>
              <a:spcAft>
                <a:spcPts val="0"/>
              </a:spcAft>
              <a:buNone/>
            </a:pPr>
            <a:r>
              <a:rPr lang="ja-JP" altLang="en-US" sz="1500" dirty="0">
                <a:solidFill>
                  <a:srgbClr val="1E2430"/>
                </a:solidFill>
                <a:latin typeface="BIZ UDPゴシック"/>
                <a:ea typeface="BIZ UDPゴシック"/>
                <a:cs typeface="BIZ UDPゴシック"/>
              </a:rPr>
              <a:t>トンネルの中からちょっと響いた電車の音が聞こえる</a:t>
            </a:r>
            <a:endParaRPr lang="ja-JP" altLang="en-US" sz="1500" dirty="0"/>
          </a:p>
        </p:txBody>
      </p:sp>
      <p:sp>
        <p:nvSpPr>
          <p:cNvPr id="18" name="まとめ 18"/>
          <p:cNvSpPr/>
          <p:nvPr/>
        </p:nvSpPr>
        <p:spPr>
          <a:xfrm>
            <a:off x="548640" y="5349240"/>
            <a:ext cx="11091672" cy="868680"/>
          </a:xfrm>
          <a:prstGeom prst="roundRect">
            <a:avLst>
              <a:gd name="adj" fmla="val 12000"/>
            </a:avLst>
          </a:prstGeom>
          <a:solidFill>
            <a:srgbClr val="FBF1DF"/>
          </a:solidFill>
          <a:ln>
            <a:noFill/>
          </a:ln>
        </p:spPr>
        <p:txBody>
          <a:bodyPr wrap="square" lIns="365760" tIns="91440" rIns="365760" bIns="91440" rtlCol="0" anchor="ctr">
            <a:noAutofit/>
          </a:bodyPr>
          <a:lstStyle/>
          <a:p>
            <a:pPr marL="0" indent="0" algn="l">
              <a:spcBef>
                <a:spcPts val="0"/>
              </a:spcBef>
              <a:spcAft>
                <a:spcPts val="0"/>
              </a:spcAft>
              <a:buNone/>
            </a:pPr>
            <a:r>
              <a:rPr lang="ja-JP" altLang="en-US" sz="1700" b="1" dirty="0">
                <a:solidFill>
                  <a:srgbClr val="1E2430"/>
                </a:solidFill>
                <a:latin typeface="BIZ UDPゴシック"/>
                <a:ea typeface="BIZ UDPゴシック"/>
                <a:cs typeface="BIZ UDPゴシック"/>
              </a:rPr>
              <a:t>これらは自分の視界の範囲の情報の質も上げれるし見えない部分を想像しやすくもなる、これを作りたい！</a:t>
            </a:r>
            <a:endParaRPr lang="ja-JP" alt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200" b="1" dirty="0">
                <a:solidFill>
                  <a:srgbClr val="9A6212"/>
                </a:solidFill>
                <a:latin typeface="BIZ UDPゴシック"/>
                <a:ea typeface="BIZ UDPゴシック"/>
                <a:cs typeface="BIZ UDPゴシック"/>
              </a:rPr>
              <a:t>01　作りたい物　｜　空間が伝わる音</a:t>
            </a:r>
            <a:endParaRPr lang="ja-JP" altLang="en-US" sz="1200" dirty="0"/>
          </a:p>
        </p:txBody>
      </p:sp>
      <p:sp>
        <p:nvSpPr>
          <p:cNvPr id="4" name="答え 4"/>
          <p:cNvSpPr/>
          <p:nvPr/>
        </p:nvSpPr>
        <p:spPr>
          <a:xfrm>
            <a:off x="548640" y="1243584"/>
            <a:ext cx="11091672" cy="960120"/>
          </a:xfrm>
          <a:prstGeom prst="roundRect">
            <a:avLst>
              <a:gd name="adj" fmla="val 12000"/>
            </a:avLst>
          </a:prstGeom>
          <a:solidFill>
            <a:srgbClr val="FBF1DF"/>
          </a:solidFill>
          <a:ln>
            <a:noFill/>
          </a:ln>
        </p:spPr>
        <p:txBody>
          <a:bodyPr wrap="square" lIns="365760" tIns="109728" rIns="365760" bIns="109728" rtlCol="0" anchor="ctr">
            <a:noAutofit/>
          </a:bodyPr>
          <a:lstStyle/>
          <a:p>
            <a:pPr marL="0" indent="0" algn="l">
              <a:lnSpc>
                <a:spcPct val="125000"/>
              </a:lnSpc>
              <a:spcBef>
                <a:spcPts val="0"/>
              </a:spcBef>
              <a:spcAft>
                <a:spcPts val="0"/>
              </a:spcAft>
              <a:buNone/>
            </a:pPr>
            <a:r>
              <a:rPr lang="ja-JP" altLang="en-US" sz="1550" b="1" dirty="0"/>
              <a:t>プレイヤーの行動（部屋間の移動・ドアの操作）などの周辺空間の変化を音としてより伝わる表現にしたい</a:t>
            </a:r>
          </a:p>
        </p:txBody>
      </p:sp>
      <p:sp>
        <p:nvSpPr>
          <p:cNvPr id="5" name="テキスト 5"/>
          <p:cNvSpPr txBox="1"/>
          <p:nvPr/>
        </p:nvSpPr>
        <p:spPr>
          <a:xfrm>
            <a:off x="664464" y="2404872"/>
            <a:ext cx="7315200" cy="365760"/>
          </a:xfrm>
          <a:prstGeom prst="rect">
            <a:avLst/>
          </a:prstGeom>
          <a:noFill/>
        </p:spPr>
        <p:txBody>
          <a:bodyPr wrap="square" lIns="0" tIns="0" rIns="0" bIns="0" rtlCol="0" anchor="t">
            <a:noAutofit/>
          </a:bodyPr>
          <a:lstStyle/>
          <a:p>
            <a:r>
              <a:rPr lang="ja-JP" altLang="en-US" b="1" dirty="0">
                <a:solidFill>
                  <a:srgbClr val="1E2430"/>
                </a:solidFill>
                <a:latin typeface="BIZ UDPゴシック"/>
                <a:ea typeface="BIZ UDPゴシック"/>
                <a:cs typeface="BIZ UDPゴシック"/>
              </a:rPr>
              <a:t>そのために何を重要とするか</a:t>
            </a:r>
          </a:p>
        </p:txBody>
      </p:sp>
      <p:sp>
        <p:nvSpPr>
          <p:cNvPr id="6" name="カード 6"/>
          <p:cNvSpPr/>
          <p:nvPr/>
        </p:nvSpPr>
        <p:spPr>
          <a:xfrm>
            <a:off x="548640" y="2971800"/>
            <a:ext cx="3544824" cy="3337560"/>
          </a:xfrm>
          <a:prstGeom prst="roundRect">
            <a:avLst>
              <a:gd name="adj" fmla="val 5000"/>
            </a:avLst>
          </a:prstGeom>
          <a:solidFill>
            <a:srgbClr val="F0F2F5"/>
          </a:solidFill>
          <a:ln>
            <a:noFill/>
          </a:ln>
        </p:spPr>
        <p:txBody>
          <a:bodyPr/>
          <a:lstStyle/>
          <a:p>
            <a:endParaRPr lang="ja-JP" altLang="en-US"/>
          </a:p>
        </p:txBody>
      </p:sp>
      <p:sp>
        <p:nvSpPr>
          <p:cNvPr id="7" name="ラベル 7"/>
          <p:cNvSpPr/>
          <p:nvPr/>
        </p:nvSpPr>
        <p:spPr>
          <a:xfrm>
            <a:off x="765048"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連続性</a:t>
            </a:r>
            <a:endParaRPr lang="ja-JP" altLang="en-US" sz="1500" dirty="0"/>
          </a:p>
        </p:txBody>
      </p:sp>
      <p:sp>
        <p:nvSpPr>
          <p:cNvPr id="8" name="テキスト 8"/>
          <p:cNvSpPr txBox="1"/>
          <p:nvPr/>
        </p:nvSpPr>
        <p:spPr>
          <a:xfrm>
            <a:off x="838200"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プレイヤーが高速で動いたりテレポートをしない限り音が急に切り替わると強い違和感を感じやすい。基本滑らかに変化して行くことを大事にする。</a:t>
            </a:r>
            <a:endParaRPr lang="ja-JP" altLang="en-US" sz="1450" dirty="0"/>
          </a:p>
        </p:txBody>
      </p:sp>
      <p:sp>
        <p:nvSpPr>
          <p:cNvPr id="9" name="カード 9"/>
          <p:cNvSpPr/>
          <p:nvPr/>
        </p:nvSpPr>
        <p:spPr>
          <a:xfrm>
            <a:off x="4322064" y="2971800"/>
            <a:ext cx="3544824" cy="3337560"/>
          </a:xfrm>
          <a:prstGeom prst="roundRect">
            <a:avLst>
              <a:gd name="adj" fmla="val 5000"/>
            </a:avLst>
          </a:prstGeom>
          <a:solidFill>
            <a:srgbClr val="F0F2F5"/>
          </a:solidFill>
          <a:ln>
            <a:noFill/>
          </a:ln>
        </p:spPr>
        <p:txBody>
          <a:bodyPr/>
          <a:lstStyle/>
          <a:p>
            <a:endParaRPr lang="ja-JP" altLang="en-US"/>
          </a:p>
        </p:txBody>
      </p:sp>
      <p:sp>
        <p:nvSpPr>
          <p:cNvPr id="10" name="ラベル 10"/>
          <p:cNvSpPr/>
          <p:nvPr/>
        </p:nvSpPr>
        <p:spPr>
          <a:xfrm>
            <a:off x="4596384"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即時性</a:t>
            </a:r>
            <a:endParaRPr lang="ja-JP" altLang="en-US" sz="1500" dirty="0"/>
          </a:p>
        </p:txBody>
      </p:sp>
      <p:sp>
        <p:nvSpPr>
          <p:cNvPr id="11" name="テキスト 11"/>
          <p:cNvSpPr txBox="1"/>
          <p:nvPr/>
        </p:nvSpPr>
        <p:spPr>
          <a:xfrm>
            <a:off x="4596384"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ドアを開けたり部屋を移動した際に音が変わるまでに何秒もかけてると体験としての新鮮さがない、リアルタイムで音が変化してラグや飛びが無いように心がける。</a:t>
            </a:r>
            <a:endParaRPr lang="ja-JP" altLang="en-US" sz="1450" dirty="0"/>
          </a:p>
        </p:txBody>
      </p:sp>
      <p:sp>
        <p:nvSpPr>
          <p:cNvPr id="12" name="カード 12"/>
          <p:cNvSpPr/>
          <p:nvPr/>
        </p:nvSpPr>
        <p:spPr>
          <a:xfrm>
            <a:off x="8095488" y="2971800"/>
            <a:ext cx="3544824" cy="3337560"/>
          </a:xfrm>
          <a:prstGeom prst="roundRect">
            <a:avLst>
              <a:gd name="adj" fmla="val 5000"/>
            </a:avLst>
          </a:prstGeom>
          <a:solidFill>
            <a:srgbClr val="F0F2F5"/>
          </a:solidFill>
          <a:ln>
            <a:noFill/>
          </a:ln>
        </p:spPr>
        <p:txBody>
          <a:bodyPr/>
          <a:lstStyle/>
          <a:p>
            <a:endParaRPr lang="ja-JP" altLang="en-US"/>
          </a:p>
        </p:txBody>
      </p:sp>
      <p:sp>
        <p:nvSpPr>
          <p:cNvPr id="13" name="ラベル 13"/>
          <p:cNvSpPr/>
          <p:nvPr/>
        </p:nvSpPr>
        <p:spPr>
          <a:xfrm>
            <a:off x="8357616"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方向性</a:t>
            </a:r>
            <a:endParaRPr lang="ja-JP" altLang="en-US" sz="1500" dirty="0"/>
          </a:p>
        </p:txBody>
      </p:sp>
      <p:sp>
        <p:nvSpPr>
          <p:cNvPr id="14" name="テキスト 14"/>
          <p:cNvSpPr txBox="1"/>
          <p:nvPr/>
        </p:nvSpPr>
        <p:spPr>
          <a:xfrm>
            <a:off x="8357616"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隣の部屋への扉やそもそもの音源の位置と言ったどの方向から聞こえるかは場所を考えられるための重要な情報になる、聞いて伝わる、のためにどの方向からかをわかりやすくする</a:t>
            </a:r>
            <a:endParaRPr lang="ja-JP" altLang="en-US" sz="1450" dirty="0"/>
          </a:p>
        </p:txBody>
      </p:sp>
      <p:sp>
        <p:nvSpPr>
          <p:cNvPr id="17" name="タイトル 3">
            <a:extLst>
              <a:ext uri="{FF2B5EF4-FFF2-40B4-BE49-F238E27FC236}">
                <a16:creationId xmlns:a16="http://schemas.microsoft.com/office/drawing/2014/main" id="{B6FC9ECC-E2CE-02CC-0F9F-06B5B6CFD7E3}"/>
              </a:ext>
            </a:extLst>
          </p:cNvPr>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latin typeface="BIZ UDPゴシック" panose="020B0400000000000000" pitchFamily="50" charset="-128"/>
                <a:ea typeface="BIZ UDPゴシック" panose="020B0400000000000000" pitchFamily="50" charset="-128"/>
              </a:rPr>
              <a:t>ゲームとしてのアプローチ</a:t>
            </a:r>
          </a:p>
        </p:txBody>
      </p:sp>
      <p:sp>
        <p:nvSpPr>
          <p:cNvPr id="20" name="Rounded Rectangle 7">
            <a:extLst>
              <a:ext uri="{FF2B5EF4-FFF2-40B4-BE49-F238E27FC236}">
                <a16:creationId xmlns:a16="http://schemas.microsoft.com/office/drawing/2014/main" id="{637DC7A7-9700-BAAB-6D2A-DA3B442D9A28}"/>
              </a:ext>
            </a:extLst>
          </p:cNvPr>
          <p:cNvSpPr/>
          <p:nvPr/>
        </p:nvSpPr>
        <p:spPr>
          <a:xfrm>
            <a:off x="765048" y="302666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21" name="Connector 8">
            <a:extLst>
              <a:ext uri="{FF2B5EF4-FFF2-40B4-BE49-F238E27FC236}">
                <a16:creationId xmlns:a16="http://schemas.microsoft.com/office/drawing/2014/main" id="{A477D5D8-C74D-2F4F-7E61-559215ECBA43}"/>
              </a:ext>
            </a:extLst>
          </p:cNvPr>
          <p:cNvCxnSpPr/>
          <p:nvPr/>
        </p:nvCxnSpPr>
        <p:spPr>
          <a:xfrm>
            <a:off x="765048" y="4014215"/>
            <a:ext cx="3054096" cy="0"/>
          </a:xfrm>
          <a:prstGeom prst="line">
            <a:avLst/>
          </a:prstGeom>
          <a:ln w="12700">
            <a:solidFill>
              <a:srgbClr val="C9CFD8"/>
            </a:solidFill>
          </a:ln>
        </p:spPr>
        <p:style>
          <a:lnRef idx="2">
            <a:schemeClr val="accent1"/>
          </a:lnRef>
          <a:fillRef idx="0">
            <a:schemeClr val="accent1"/>
          </a:fillRef>
          <a:effectRef idx="1">
            <a:schemeClr val="accent1"/>
          </a:effectRef>
          <a:fontRef idx="minor">
            <a:schemeClr val="tx1"/>
          </a:fontRef>
        </p:style>
      </p:cxnSp>
      <p:sp>
        <p:nvSpPr>
          <p:cNvPr id="22" name="Freeform 9">
            <a:extLst>
              <a:ext uri="{FF2B5EF4-FFF2-40B4-BE49-F238E27FC236}">
                <a16:creationId xmlns:a16="http://schemas.microsoft.com/office/drawing/2014/main" id="{7F68C146-5240-E606-572C-F57409F510AB}"/>
              </a:ext>
            </a:extLst>
          </p:cNvPr>
          <p:cNvSpPr/>
          <p:nvPr/>
        </p:nvSpPr>
        <p:spPr>
          <a:xfrm>
            <a:off x="838200" y="3154680"/>
            <a:ext cx="2907791" cy="859535"/>
          </a:xfrm>
          <a:custGeom>
            <a:avLst/>
            <a:gdLst/>
            <a:ahLst/>
            <a:cxnLst/>
            <a:rect l="l" t="t" r="r" b="b"/>
            <a:pathLst>
              <a:path w="2907791" h="859535">
                <a:moveTo>
                  <a:pt x="0" y="859535"/>
                </a:moveTo>
                <a:lnTo>
                  <a:pt x="121158" y="855183"/>
                </a:lnTo>
                <a:lnTo>
                  <a:pt x="242315" y="842623"/>
                </a:lnTo>
                <a:lnTo>
                  <a:pt x="363474" y="822602"/>
                </a:lnTo>
                <a:lnTo>
                  <a:pt x="484631" y="795866"/>
                </a:lnTo>
                <a:lnTo>
                  <a:pt x="605790" y="763161"/>
                </a:lnTo>
                <a:lnTo>
                  <a:pt x="726948" y="725233"/>
                </a:lnTo>
                <a:lnTo>
                  <a:pt x="848106" y="682828"/>
                </a:lnTo>
                <a:lnTo>
                  <a:pt x="969263" y="636693"/>
                </a:lnTo>
                <a:lnTo>
                  <a:pt x="1090421" y="587573"/>
                </a:lnTo>
                <a:lnTo>
                  <a:pt x="1211580" y="536215"/>
                </a:lnTo>
                <a:lnTo>
                  <a:pt x="1332737" y="483364"/>
                </a:lnTo>
                <a:lnTo>
                  <a:pt x="1453896" y="429768"/>
                </a:lnTo>
                <a:lnTo>
                  <a:pt x="1575053" y="376171"/>
                </a:lnTo>
                <a:lnTo>
                  <a:pt x="1696212" y="323320"/>
                </a:lnTo>
                <a:lnTo>
                  <a:pt x="1817370" y="271962"/>
                </a:lnTo>
                <a:lnTo>
                  <a:pt x="1938527" y="222842"/>
                </a:lnTo>
                <a:lnTo>
                  <a:pt x="2059686" y="176707"/>
                </a:lnTo>
                <a:lnTo>
                  <a:pt x="2180844" y="134302"/>
                </a:lnTo>
                <a:lnTo>
                  <a:pt x="2302001" y="96374"/>
                </a:lnTo>
                <a:lnTo>
                  <a:pt x="2423160" y="63669"/>
                </a:lnTo>
                <a:lnTo>
                  <a:pt x="2544317" y="36933"/>
                </a:lnTo>
                <a:lnTo>
                  <a:pt x="2665475" y="16912"/>
                </a:lnTo>
                <a:lnTo>
                  <a:pt x="2786634" y="4352"/>
                </a:lnTo>
                <a:lnTo>
                  <a:pt x="2907791" y="0"/>
                </a:lnTo>
              </a:path>
            </a:pathLst>
          </a:custGeom>
          <a:noFill/>
          <a:ln w="28575">
            <a:solidFill>
              <a:srgbClr val="E3A3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10">
            <a:extLst>
              <a:ext uri="{FF2B5EF4-FFF2-40B4-BE49-F238E27FC236}">
                <a16:creationId xmlns:a16="http://schemas.microsoft.com/office/drawing/2014/main" id="{BD94EB93-5D94-234D-2FCA-08CA8E04FD63}"/>
              </a:ext>
            </a:extLst>
          </p:cNvPr>
          <p:cNvSpPr/>
          <p:nvPr/>
        </p:nvSpPr>
        <p:spPr>
          <a:xfrm>
            <a:off x="838200" y="3154680"/>
            <a:ext cx="2907791" cy="859535"/>
          </a:xfrm>
          <a:custGeom>
            <a:avLst/>
            <a:gdLst/>
            <a:ahLst/>
            <a:cxnLst/>
            <a:rect l="l" t="t" r="r" b="b"/>
            <a:pathLst>
              <a:path w="2907791" h="859535">
                <a:moveTo>
                  <a:pt x="0" y="859535"/>
                </a:moveTo>
                <a:lnTo>
                  <a:pt x="726948" y="859535"/>
                </a:lnTo>
                <a:lnTo>
                  <a:pt x="726948" y="644652"/>
                </a:lnTo>
                <a:lnTo>
                  <a:pt x="726948" y="644652"/>
                </a:lnTo>
                <a:lnTo>
                  <a:pt x="1453896" y="644652"/>
                </a:lnTo>
                <a:lnTo>
                  <a:pt x="1453896" y="429768"/>
                </a:lnTo>
                <a:lnTo>
                  <a:pt x="1453896" y="429768"/>
                </a:lnTo>
                <a:lnTo>
                  <a:pt x="2180844" y="429768"/>
                </a:lnTo>
                <a:lnTo>
                  <a:pt x="2180844" y="214884"/>
                </a:lnTo>
                <a:lnTo>
                  <a:pt x="2180844" y="214884"/>
                </a:lnTo>
                <a:lnTo>
                  <a:pt x="2907791" y="214884"/>
                </a:lnTo>
                <a:lnTo>
                  <a:pt x="2907791" y="0"/>
                </a:lnTo>
              </a:path>
            </a:pathLst>
          </a:custGeom>
          <a:noFill/>
          <a:ln w="15875">
            <a:solidFill>
              <a:srgbClr val="9AA3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14">
            <a:extLst>
              <a:ext uri="{FF2B5EF4-FFF2-40B4-BE49-F238E27FC236}">
                <a16:creationId xmlns:a16="http://schemas.microsoft.com/office/drawing/2014/main" id="{6B07F601-B7C9-C867-6340-BCB2DFA2B747}"/>
              </a:ext>
            </a:extLst>
          </p:cNvPr>
          <p:cNvSpPr/>
          <p:nvPr/>
        </p:nvSpPr>
        <p:spPr>
          <a:xfrm>
            <a:off x="4553712" y="307238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15">
            <a:extLst>
              <a:ext uri="{FF2B5EF4-FFF2-40B4-BE49-F238E27FC236}">
                <a16:creationId xmlns:a16="http://schemas.microsoft.com/office/drawing/2014/main" id="{C4EBCB0F-5233-35EA-BE63-DCA174C27640}"/>
              </a:ext>
            </a:extLst>
          </p:cNvPr>
          <p:cNvSpPr txBox="1"/>
          <p:nvPr/>
        </p:nvSpPr>
        <p:spPr>
          <a:xfrm>
            <a:off x="4553712" y="3218688"/>
            <a:ext cx="41148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操作</a:t>
            </a:r>
          </a:p>
        </p:txBody>
      </p:sp>
      <p:sp>
        <p:nvSpPr>
          <p:cNvPr id="26" name="Right Arrow 16">
            <a:extLst>
              <a:ext uri="{FF2B5EF4-FFF2-40B4-BE49-F238E27FC236}">
                <a16:creationId xmlns:a16="http://schemas.microsoft.com/office/drawing/2014/main" id="{D04148CA-76C3-6E8F-C3CF-BC1A2F310F85}"/>
              </a:ext>
            </a:extLst>
          </p:cNvPr>
          <p:cNvSpPr/>
          <p:nvPr/>
        </p:nvSpPr>
        <p:spPr>
          <a:xfrm>
            <a:off x="4992623" y="3282696"/>
            <a:ext cx="320040" cy="118872"/>
          </a:xfrm>
          <a:prstGeom prst="rightArrow">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17">
            <a:extLst>
              <a:ext uri="{FF2B5EF4-FFF2-40B4-BE49-F238E27FC236}">
                <a16:creationId xmlns:a16="http://schemas.microsoft.com/office/drawing/2014/main" id="{1DC553AC-0B06-6E62-1998-D9FD4F259421}"/>
              </a:ext>
            </a:extLst>
          </p:cNvPr>
          <p:cNvSpPr txBox="1"/>
          <p:nvPr/>
        </p:nvSpPr>
        <p:spPr>
          <a:xfrm>
            <a:off x="5367527" y="3218688"/>
            <a:ext cx="32004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音</a:t>
            </a:r>
          </a:p>
        </p:txBody>
      </p:sp>
      <p:sp>
        <p:nvSpPr>
          <p:cNvPr id="28" name="TextBox 18">
            <a:extLst>
              <a:ext uri="{FF2B5EF4-FFF2-40B4-BE49-F238E27FC236}">
                <a16:creationId xmlns:a16="http://schemas.microsoft.com/office/drawing/2014/main" id="{F7D9C4CB-A545-3C9D-F33E-A3DBCDF932BE}"/>
              </a:ext>
            </a:extLst>
          </p:cNvPr>
          <p:cNvSpPr txBox="1"/>
          <p:nvPr/>
        </p:nvSpPr>
        <p:spPr>
          <a:xfrm>
            <a:off x="5714999" y="3218688"/>
            <a:ext cx="1005840" cy="237744"/>
          </a:xfrm>
          <a:prstGeom prst="rect">
            <a:avLst/>
          </a:prstGeom>
          <a:noFill/>
        </p:spPr>
        <p:txBody>
          <a:bodyPr wrap="square" lIns="0" tIns="0" rIns="0" bIns="0" anchor="ctr">
            <a:spAutoFit/>
          </a:bodyPr>
          <a:lstStyle/>
          <a:p>
            <a:pPr algn="l">
              <a:spcAft>
                <a:spcPts val="0"/>
              </a:spcAft>
              <a:buNone/>
            </a:pPr>
            <a:r>
              <a:rPr sz="1050" b="1">
                <a:solidFill>
                  <a:srgbClr val="E3A33B"/>
                </a:solidFill>
                <a:latin typeface="BIZ UDPゴシック"/>
                <a:ea typeface="BIZ UDPゴシック"/>
                <a:cs typeface="BIZ UDPゴシック"/>
              </a:rPr>
              <a:t>○　すぐ</a:t>
            </a:r>
          </a:p>
        </p:txBody>
      </p:sp>
      <p:sp>
        <p:nvSpPr>
          <p:cNvPr id="29" name="TextBox 19">
            <a:extLst>
              <a:ext uri="{FF2B5EF4-FFF2-40B4-BE49-F238E27FC236}">
                <a16:creationId xmlns:a16="http://schemas.microsoft.com/office/drawing/2014/main" id="{B37F53C4-40BB-6555-0D04-981F6A0556E5}"/>
              </a:ext>
            </a:extLst>
          </p:cNvPr>
          <p:cNvSpPr txBox="1"/>
          <p:nvPr/>
        </p:nvSpPr>
        <p:spPr>
          <a:xfrm>
            <a:off x="4553712" y="3721608"/>
            <a:ext cx="41148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操作</a:t>
            </a:r>
          </a:p>
        </p:txBody>
      </p:sp>
      <p:sp>
        <p:nvSpPr>
          <p:cNvPr id="30" name="Right Arrow 20">
            <a:extLst>
              <a:ext uri="{FF2B5EF4-FFF2-40B4-BE49-F238E27FC236}">
                <a16:creationId xmlns:a16="http://schemas.microsoft.com/office/drawing/2014/main" id="{9E538FFD-7725-796D-6FC6-5CC3D7F46A30}"/>
              </a:ext>
            </a:extLst>
          </p:cNvPr>
          <p:cNvSpPr/>
          <p:nvPr/>
        </p:nvSpPr>
        <p:spPr>
          <a:xfrm>
            <a:off x="4992623" y="3785616"/>
            <a:ext cx="1234440" cy="118872"/>
          </a:xfrm>
          <a:prstGeom prst="rightArrow">
            <a:avLst/>
          </a:prstGeom>
          <a:solidFill>
            <a:srgbClr val="9AA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21">
            <a:extLst>
              <a:ext uri="{FF2B5EF4-FFF2-40B4-BE49-F238E27FC236}">
                <a16:creationId xmlns:a16="http://schemas.microsoft.com/office/drawing/2014/main" id="{2C1A177F-89A6-AA1A-2978-7BB008A391D8}"/>
              </a:ext>
            </a:extLst>
          </p:cNvPr>
          <p:cNvSpPr txBox="1"/>
          <p:nvPr/>
        </p:nvSpPr>
        <p:spPr>
          <a:xfrm>
            <a:off x="6281928" y="3721608"/>
            <a:ext cx="32004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音</a:t>
            </a:r>
          </a:p>
        </p:txBody>
      </p:sp>
      <p:sp>
        <p:nvSpPr>
          <p:cNvPr id="32" name="TextBox 22">
            <a:extLst>
              <a:ext uri="{FF2B5EF4-FFF2-40B4-BE49-F238E27FC236}">
                <a16:creationId xmlns:a16="http://schemas.microsoft.com/office/drawing/2014/main" id="{2F64DC73-904E-58FE-04E4-B83DC6D781A6}"/>
              </a:ext>
            </a:extLst>
          </p:cNvPr>
          <p:cNvSpPr txBox="1"/>
          <p:nvPr/>
        </p:nvSpPr>
        <p:spPr>
          <a:xfrm>
            <a:off x="6629400" y="3721608"/>
            <a:ext cx="1005840" cy="237744"/>
          </a:xfrm>
          <a:prstGeom prst="rect">
            <a:avLst/>
          </a:prstGeom>
          <a:noFill/>
        </p:spPr>
        <p:txBody>
          <a:bodyPr wrap="square" lIns="0" tIns="0" rIns="0" bIns="0" anchor="ctr">
            <a:spAutoFit/>
          </a:bodyPr>
          <a:lstStyle/>
          <a:p>
            <a:pPr algn="l">
              <a:spcAft>
                <a:spcPts val="0"/>
              </a:spcAft>
              <a:buNone/>
            </a:pPr>
            <a:r>
              <a:rPr sz="1050" b="1">
                <a:solidFill>
                  <a:srgbClr val="9AA3B0"/>
                </a:solidFill>
                <a:latin typeface="BIZ UDPゴシック"/>
                <a:ea typeface="BIZ UDPゴシック"/>
                <a:cs typeface="BIZ UDPゴシック"/>
              </a:rPr>
              <a:t>×　ラグ</a:t>
            </a:r>
          </a:p>
        </p:txBody>
      </p:sp>
      <p:sp>
        <p:nvSpPr>
          <p:cNvPr id="33" name="Rounded Rectangle 26">
            <a:extLst>
              <a:ext uri="{FF2B5EF4-FFF2-40B4-BE49-F238E27FC236}">
                <a16:creationId xmlns:a16="http://schemas.microsoft.com/office/drawing/2014/main" id="{4DC74CA3-683D-71F3-C399-2D15A0B4B390}"/>
              </a:ext>
            </a:extLst>
          </p:cNvPr>
          <p:cNvSpPr/>
          <p:nvPr/>
        </p:nvSpPr>
        <p:spPr>
          <a:xfrm>
            <a:off x="8302751" y="307238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27">
            <a:extLst>
              <a:ext uri="{FF2B5EF4-FFF2-40B4-BE49-F238E27FC236}">
                <a16:creationId xmlns:a16="http://schemas.microsoft.com/office/drawing/2014/main" id="{8E38BAF5-BECF-8A8D-E9EC-0A5AEF3E1B58}"/>
              </a:ext>
            </a:extLst>
          </p:cNvPr>
          <p:cNvSpPr/>
          <p:nvPr/>
        </p:nvSpPr>
        <p:spPr>
          <a:xfrm>
            <a:off x="8714231" y="3163824"/>
            <a:ext cx="2231136" cy="914400"/>
          </a:xfrm>
          <a:prstGeom prst="roundRect">
            <a:avLst>
              <a:gd name="adj" fmla="val 3000"/>
            </a:avLst>
          </a:prstGeom>
          <a:noFill/>
          <a:ln w="15875">
            <a:solidFill>
              <a:srgbClr val="C9CF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28">
            <a:extLst>
              <a:ext uri="{FF2B5EF4-FFF2-40B4-BE49-F238E27FC236}">
                <a16:creationId xmlns:a16="http://schemas.microsoft.com/office/drawing/2014/main" id="{FB2A04D4-3C16-CCB5-4E51-30AA4B150192}"/>
              </a:ext>
            </a:extLst>
          </p:cNvPr>
          <p:cNvSpPr/>
          <p:nvPr/>
        </p:nvSpPr>
        <p:spPr>
          <a:xfrm>
            <a:off x="8668511" y="3419856"/>
            <a:ext cx="109728" cy="402336"/>
          </a:xfrm>
          <a:prstGeom prst="rect">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29">
            <a:extLst>
              <a:ext uri="{FF2B5EF4-FFF2-40B4-BE49-F238E27FC236}">
                <a16:creationId xmlns:a16="http://schemas.microsoft.com/office/drawing/2014/main" id="{9E164CC6-7D6C-9962-F0C2-5B6DDF2F11F9}"/>
              </a:ext>
            </a:extLst>
          </p:cNvPr>
          <p:cNvSpPr txBox="1"/>
          <p:nvPr/>
        </p:nvSpPr>
        <p:spPr>
          <a:xfrm>
            <a:off x="8302751" y="3483864"/>
            <a:ext cx="347472" cy="274320"/>
          </a:xfrm>
          <a:prstGeom prst="rect">
            <a:avLst/>
          </a:prstGeom>
          <a:noFill/>
        </p:spPr>
        <p:txBody>
          <a:bodyPr wrap="square" lIns="0" tIns="0" rIns="0" bIns="0" anchor="t">
            <a:spAutoFit/>
          </a:bodyPr>
          <a:lstStyle/>
          <a:p>
            <a:pPr algn="l">
              <a:spcAft>
                <a:spcPts val="0"/>
              </a:spcAft>
              <a:buNone/>
            </a:pPr>
            <a:r>
              <a:rPr sz="1000" b="1">
                <a:solidFill>
                  <a:srgbClr val="9A6212"/>
                </a:solidFill>
                <a:latin typeface="BIZ UDPゴシック"/>
                <a:ea typeface="BIZ UDPゴシック"/>
                <a:cs typeface="BIZ UDPゴシック"/>
              </a:rPr>
              <a:t>扉</a:t>
            </a:r>
          </a:p>
        </p:txBody>
      </p:sp>
      <p:sp>
        <p:nvSpPr>
          <p:cNvPr id="37" name="Right Arrow 30">
            <a:extLst>
              <a:ext uri="{FF2B5EF4-FFF2-40B4-BE49-F238E27FC236}">
                <a16:creationId xmlns:a16="http://schemas.microsoft.com/office/drawing/2014/main" id="{4C4C2FA1-CFD9-1E46-EF8B-AE2CED6407B2}"/>
              </a:ext>
            </a:extLst>
          </p:cNvPr>
          <p:cNvSpPr/>
          <p:nvPr/>
        </p:nvSpPr>
        <p:spPr>
          <a:xfrm>
            <a:off x="8869679" y="3557016"/>
            <a:ext cx="868680" cy="128016"/>
          </a:xfrm>
          <a:prstGeom prst="rightArrow">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1">
            <a:extLst>
              <a:ext uri="{FF2B5EF4-FFF2-40B4-BE49-F238E27FC236}">
                <a16:creationId xmlns:a16="http://schemas.microsoft.com/office/drawing/2014/main" id="{498A9161-4EB7-71DC-A791-5579BA301283}"/>
              </a:ext>
            </a:extLst>
          </p:cNvPr>
          <p:cNvSpPr/>
          <p:nvPr/>
        </p:nvSpPr>
        <p:spPr>
          <a:xfrm>
            <a:off x="9838943" y="3502152"/>
            <a:ext cx="237744" cy="237744"/>
          </a:xfrm>
          <a:prstGeom prst="ellipse">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Aft>
                <a:spcPts val="0"/>
              </a:spcAft>
              <a:buNone/>
            </a:pPr>
            <a:endParaRPr/>
          </a:p>
        </p:txBody>
      </p:sp>
      <p:sp>
        <p:nvSpPr>
          <p:cNvPr id="39" name="TextBox 32">
            <a:extLst>
              <a:ext uri="{FF2B5EF4-FFF2-40B4-BE49-F238E27FC236}">
                <a16:creationId xmlns:a16="http://schemas.microsoft.com/office/drawing/2014/main" id="{99EBEFD5-A7F2-E2EB-9FFF-B357C9C5C9AF}"/>
              </a:ext>
            </a:extLst>
          </p:cNvPr>
          <p:cNvSpPr txBox="1"/>
          <p:nvPr/>
        </p:nvSpPr>
        <p:spPr>
          <a:xfrm>
            <a:off x="10177272" y="3474720"/>
            <a:ext cx="1005840" cy="274320"/>
          </a:xfrm>
          <a:prstGeom prst="rect">
            <a:avLst/>
          </a:prstGeom>
          <a:noFill/>
        </p:spPr>
        <p:txBody>
          <a:bodyPr wrap="square" lIns="0" tIns="0" rIns="0" bIns="0" anchor="t">
            <a:spAutoFit/>
          </a:bodyPr>
          <a:lstStyle/>
          <a:p>
            <a:pPr algn="l">
              <a:spcAft>
                <a:spcPts val="0"/>
              </a:spcAft>
              <a:buNone/>
            </a:pPr>
            <a:r>
              <a:rPr sz="1000" b="1">
                <a:solidFill>
                  <a:srgbClr val="1E2430"/>
                </a:solidFill>
                <a:latin typeface="BIZ UDPゴシック"/>
                <a:ea typeface="BIZ UDPゴシック"/>
                <a:cs typeface="BIZ UDPゴシック"/>
              </a:rPr>
              <a:t>自分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200" b="1" dirty="0">
                <a:solidFill>
                  <a:srgbClr val="9A6212"/>
                </a:solidFill>
                <a:latin typeface="BIZ UDPゴシック"/>
                <a:ea typeface="BIZ UDPゴシック"/>
                <a:cs typeface="BIZ UDPゴシック"/>
              </a:rPr>
              <a:t>02　実現に必要なもの</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作りたい物の実現のためにどんなものが必要？</a:t>
            </a:r>
            <a:endParaRPr lang="ja-JP" altLang="en-US" sz="2600" dirty="0"/>
          </a:p>
        </p:txBody>
      </p:sp>
      <p:sp>
        <p:nvSpPr>
          <p:cNvPr id="4" name="テキスト 4"/>
          <p:cNvSpPr txBox="1"/>
          <p:nvPr/>
        </p:nvSpPr>
        <p:spPr>
          <a:xfrm>
            <a:off x="683110" y="1444752"/>
            <a:ext cx="11091672" cy="41148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2000" b="1" dirty="0">
                <a:solidFill>
                  <a:srgbClr val="1E2430"/>
                </a:solidFill>
                <a:latin typeface="BIZ UDPゴシック"/>
                <a:ea typeface="BIZ UDPゴシック"/>
                <a:cs typeface="BIZ UDPゴシック"/>
              </a:rPr>
              <a:t>・ドアの開き具合による音の変化</a:t>
            </a:r>
            <a:endParaRPr lang="ja-JP" altLang="en-US" sz="2000" dirty="0"/>
          </a:p>
        </p:txBody>
      </p:sp>
      <p:sp>
        <p:nvSpPr>
          <p:cNvPr id="5" name="テキスト 5"/>
          <p:cNvSpPr txBox="1"/>
          <p:nvPr/>
        </p:nvSpPr>
        <p:spPr>
          <a:xfrm>
            <a:off x="683110" y="1834089"/>
            <a:ext cx="11091672" cy="32004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400" dirty="0"/>
              <a:t>プレイヤーの行動に応じて変化する遊びとしての表現</a:t>
            </a:r>
          </a:p>
        </p:txBody>
      </p:sp>
      <p:sp>
        <p:nvSpPr>
          <p:cNvPr id="9" name="Rounded Rectangle 3">
            <a:extLst>
              <a:ext uri="{FF2B5EF4-FFF2-40B4-BE49-F238E27FC236}">
                <a16:creationId xmlns:a16="http://schemas.microsoft.com/office/drawing/2014/main" id="{3746434A-A757-9D5F-3703-8542643EB273}"/>
              </a:ext>
            </a:extLst>
          </p:cNvPr>
          <p:cNvSpPr/>
          <p:nvPr/>
        </p:nvSpPr>
        <p:spPr>
          <a:xfrm>
            <a:off x="548640" y="3094523"/>
            <a:ext cx="5943600" cy="1051560"/>
          </a:xfrm>
          <a:prstGeom prst="roundRect">
            <a:avLst>
              <a:gd name="adj" fmla="val 6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4">
            <a:extLst>
              <a:ext uri="{FF2B5EF4-FFF2-40B4-BE49-F238E27FC236}">
                <a16:creationId xmlns:a16="http://schemas.microsoft.com/office/drawing/2014/main" id="{D081D823-DBCD-9836-4CC5-EBE39D3B04B6}"/>
              </a:ext>
            </a:extLst>
          </p:cNvPr>
          <p:cNvSpPr/>
          <p:nvPr/>
        </p:nvSpPr>
        <p:spPr>
          <a:xfrm>
            <a:off x="822960" y="3423707"/>
            <a:ext cx="384048" cy="384048"/>
          </a:xfrm>
          <a:prstGeom prst="ellipse">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Aft>
                <a:spcPts val="0"/>
              </a:spcAft>
              <a:buNone/>
            </a:pPr>
            <a:r>
              <a:rPr sz="1400" b="1">
                <a:solidFill>
                  <a:srgbClr val="1E2430"/>
                </a:solidFill>
                <a:latin typeface="BIZ UDPゴシック"/>
                <a:ea typeface="BIZ UDPゴシック"/>
                <a:cs typeface="BIZ UDPゴシック"/>
              </a:rPr>
              <a:t>1</a:t>
            </a:r>
          </a:p>
        </p:txBody>
      </p:sp>
      <p:sp>
        <p:nvSpPr>
          <p:cNvPr id="11" name="TextBox 5">
            <a:extLst>
              <a:ext uri="{FF2B5EF4-FFF2-40B4-BE49-F238E27FC236}">
                <a16:creationId xmlns:a16="http://schemas.microsoft.com/office/drawing/2014/main" id="{3ED24742-9BA6-7C37-38EC-C6573AD93D59}"/>
              </a:ext>
            </a:extLst>
          </p:cNvPr>
          <p:cNvSpPr txBox="1"/>
          <p:nvPr/>
        </p:nvSpPr>
        <p:spPr>
          <a:xfrm>
            <a:off x="1444752" y="3231683"/>
            <a:ext cx="4754880" cy="777240"/>
          </a:xfrm>
          <a:prstGeom prst="rect">
            <a:avLst/>
          </a:prstGeom>
          <a:noFill/>
        </p:spPr>
        <p:txBody>
          <a:bodyPr wrap="square" lIns="0" tIns="0" rIns="0" bIns="0" anchor="ctr">
            <a:spAutoFit/>
          </a:bodyPr>
          <a:lstStyle/>
          <a:p>
            <a:pPr algn="l">
              <a:lnSpc>
                <a:spcPct val="115000"/>
              </a:lnSpc>
              <a:spcAft>
                <a:spcPts val="0"/>
              </a:spcAft>
              <a:buNone/>
            </a:pPr>
            <a:r>
              <a:rPr sz="1550" b="0">
                <a:solidFill>
                  <a:srgbClr val="1E2430"/>
                </a:solidFill>
                <a:latin typeface="BIZ UDPゴシック"/>
                <a:ea typeface="BIZ UDPゴシック"/>
                <a:cs typeface="BIZ UDPゴシック"/>
              </a:rPr>
              <a:t>日常的に頻出するから、体験としてわかりやすい</a:t>
            </a:r>
          </a:p>
        </p:txBody>
      </p:sp>
      <p:sp>
        <p:nvSpPr>
          <p:cNvPr id="12" name="Rounded Rectangle 6">
            <a:extLst>
              <a:ext uri="{FF2B5EF4-FFF2-40B4-BE49-F238E27FC236}">
                <a16:creationId xmlns:a16="http://schemas.microsoft.com/office/drawing/2014/main" id="{FA90F1C2-66D5-F4F4-B8B8-EC45AF6D8F5C}"/>
              </a:ext>
            </a:extLst>
          </p:cNvPr>
          <p:cNvSpPr/>
          <p:nvPr/>
        </p:nvSpPr>
        <p:spPr>
          <a:xfrm>
            <a:off x="548640" y="4264955"/>
            <a:ext cx="5943600" cy="1051560"/>
          </a:xfrm>
          <a:prstGeom prst="roundRect">
            <a:avLst>
              <a:gd name="adj" fmla="val 6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7">
            <a:extLst>
              <a:ext uri="{FF2B5EF4-FFF2-40B4-BE49-F238E27FC236}">
                <a16:creationId xmlns:a16="http://schemas.microsoft.com/office/drawing/2014/main" id="{770BBA7F-4F2A-B55B-E6BE-4CC28E75E793}"/>
              </a:ext>
            </a:extLst>
          </p:cNvPr>
          <p:cNvSpPr/>
          <p:nvPr/>
        </p:nvSpPr>
        <p:spPr>
          <a:xfrm>
            <a:off x="822960" y="4594139"/>
            <a:ext cx="384048" cy="384048"/>
          </a:xfrm>
          <a:prstGeom prst="ellipse">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Aft>
                <a:spcPts val="0"/>
              </a:spcAft>
              <a:buNone/>
            </a:pPr>
            <a:r>
              <a:rPr sz="1400" b="1">
                <a:solidFill>
                  <a:srgbClr val="1E2430"/>
                </a:solidFill>
                <a:latin typeface="BIZ UDPゴシック"/>
                <a:ea typeface="BIZ UDPゴシック"/>
                <a:cs typeface="BIZ UDPゴシック"/>
              </a:rPr>
              <a:t>2</a:t>
            </a:r>
          </a:p>
        </p:txBody>
      </p:sp>
      <p:sp>
        <p:nvSpPr>
          <p:cNvPr id="14" name="TextBox 8">
            <a:extLst>
              <a:ext uri="{FF2B5EF4-FFF2-40B4-BE49-F238E27FC236}">
                <a16:creationId xmlns:a16="http://schemas.microsoft.com/office/drawing/2014/main" id="{2E3C83C1-126F-3785-0C47-78C766F5DB50}"/>
              </a:ext>
            </a:extLst>
          </p:cNvPr>
          <p:cNvSpPr txBox="1"/>
          <p:nvPr/>
        </p:nvSpPr>
        <p:spPr>
          <a:xfrm>
            <a:off x="1444752" y="4402115"/>
            <a:ext cx="4754880" cy="777240"/>
          </a:xfrm>
          <a:prstGeom prst="rect">
            <a:avLst/>
          </a:prstGeom>
          <a:noFill/>
        </p:spPr>
        <p:txBody>
          <a:bodyPr wrap="square" lIns="0" tIns="0" rIns="0" bIns="0" anchor="ctr">
            <a:spAutoFit/>
          </a:bodyPr>
          <a:lstStyle/>
          <a:p>
            <a:pPr algn="l">
              <a:lnSpc>
                <a:spcPct val="115000"/>
              </a:lnSpc>
              <a:spcAft>
                <a:spcPts val="0"/>
              </a:spcAft>
              <a:buNone/>
            </a:pPr>
            <a:r>
              <a:rPr sz="1550" b="0">
                <a:solidFill>
                  <a:srgbClr val="1E2430"/>
                </a:solidFill>
                <a:latin typeface="BIZ UDPゴシック"/>
                <a:ea typeface="BIZ UDPゴシック"/>
                <a:cs typeface="BIZ UDPゴシック"/>
              </a:rPr>
              <a:t>扉の奥に空間があることは、基本的に想像できる</a:t>
            </a:r>
          </a:p>
        </p:txBody>
      </p:sp>
      <p:sp>
        <p:nvSpPr>
          <p:cNvPr id="15" name="Rounded Rectangle 9">
            <a:extLst>
              <a:ext uri="{FF2B5EF4-FFF2-40B4-BE49-F238E27FC236}">
                <a16:creationId xmlns:a16="http://schemas.microsoft.com/office/drawing/2014/main" id="{AA2F7404-30F2-9DC0-32DC-20D1B3ACBA58}"/>
              </a:ext>
            </a:extLst>
          </p:cNvPr>
          <p:cNvSpPr/>
          <p:nvPr/>
        </p:nvSpPr>
        <p:spPr>
          <a:xfrm>
            <a:off x="548640" y="5435386"/>
            <a:ext cx="5943600" cy="1051560"/>
          </a:xfrm>
          <a:prstGeom prst="roundRect">
            <a:avLst>
              <a:gd name="adj" fmla="val 6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0">
            <a:extLst>
              <a:ext uri="{FF2B5EF4-FFF2-40B4-BE49-F238E27FC236}">
                <a16:creationId xmlns:a16="http://schemas.microsoft.com/office/drawing/2014/main" id="{A89E7490-6C3A-642B-B01B-04058576661A}"/>
              </a:ext>
            </a:extLst>
          </p:cNvPr>
          <p:cNvSpPr/>
          <p:nvPr/>
        </p:nvSpPr>
        <p:spPr>
          <a:xfrm>
            <a:off x="822960" y="5764571"/>
            <a:ext cx="384048" cy="384048"/>
          </a:xfrm>
          <a:prstGeom prst="ellipse">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Aft>
                <a:spcPts val="0"/>
              </a:spcAft>
              <a:buNone/>
            </a:pPr>
            <a:r>
              <a:rPr sz="1400" b="1">
                <a:solidFill>
                  <a:srgbClr val="1E2430"/>
                </a:solidFill>
                <a:latin typeface="BIZ UDPゴシック"/>
                <a:ea typeface="BIZ UDPゴシック"/>
                <a:cs typeface="BIZ UDPゴシック"/>
              </a:rPr>
              <a:t>3</a:t>
            </a:r>
          </a:p>
        </p:txBody>
      </p:sp>
      <p:sp>
        <p:nvSpPr>
          <p:cNvPr id="17" name="TextBox 11">
            <a:extLst>
              <a:ext uri="{FF2B5EF4-FFF2-40B4-BE49-F238E27FC236}">
                <a16:creationId xmlns:a16="http://schemas.microsoft.com/office/drawing/2014/main" id="{9D372780-A524-CACC-22C9-972457E146BE}"/>
              </a:ext>
            </a:extLst>
          </p:cNvPr>
          <p:cNvSpPr txBox="1"/>
          <p:nvPr/>
        </p:nvSpPr>
        <p:spPr>
          <a:xfrm>
            <a:off x="1444752" y="5572547"/>
            <a:ext cx="4754880" cy="777240"/>
          </a:xfrm>
          <a:prstGeom prst="rect">
            <a:avLst/>
          </a:prstGeom>
          <a:noFill/>
        </p:spPr>
        <p:txBody>
          <a:bodyPr wrap="square" lIns="0" tIns="0" rIns="0" bIns="0" anchor="ctr">
            <a:spAutoFit/>
          </a:bodyPr>
          <a:lstStyle/>
          <a:p>
            <a:pPr algn="l">
              <a:lnSpc>
                <a:spcPct val="115000"/>
              </a:lnSpc>
              <a:spcAft>
                <a:spcPts val="0"/>
              </a:spcAft>
              <a:buNone/>
            </a:pPr>
            <a:r>
              <a:rPr sz="1550" b="0">
                <a:solidFill>
                  <a:srgbClr val="1E2430"/>
                </a:solidFill>
                <a:latin typeface="BIZ UDPゴシック"/>
                <a:ea typeface="BIZ UDPゴシック"/>
                <a:cs typeface="BIZ UDPゴシック"/>
              </a:rPr>
              <a:t>プレイヤーの操作で、音を段階的に変化させられる</a:t>
            </a:r>
          </a:p>
        </p:txBody>
      </p:sp>
      <p:sp>
        <p:nvSpPr>
          <p:cNvPr id="18" name="Rounded Rectangle 12">
            <a:extLst>
              <a:ext uri="{FF2B5EF4-FFF2-40B4-BE49-F238E27FC236}">
                <a16:creationId xmlns:a16="http://schemas.microsoft.com/office/drawing/2014/main" id="{591D6AAE-0BA7-E5D9-4EF4-939733C23094}"/>
              </a:ext>
            </a:extLst>
          </p:cNvPr>
          <p:cNvSpPr/>
          <p:nvPr/>
        </p:nvSpPr>
        <p:spPr>
          <a:xfrm>
            <a:off x="5843016" y="1481728"/>
            <a:ext cx="5943600" cy="1234440"/>
          </a:xfrm>
          <a:prstGeom prst="roundRect">
            <a:avLst>
              <a:gd name="adj" fmla="val 10000"/>
            </a:avLst>
          </a:prstGeom>
          <a:solidFill>
            <a:srgbClr val="FB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9" name="TextBox 13">
            <a:extLst>
              <a:ext uri="{FF2B5EF4-FFF2-40B4-BE49-F238E27FC236}">
                <a16:creationId xmlns:a16="http://schemas.microsoft.com/office/drawing/2014/main" id="{C9A3548C-7986-4FB0-FF22-131D369620E6}"/>
              </a:ext>
            </a:extLst>
          </p:cNvPr>
          <p:cNvSpPr txBox="1"/>
          <p:nvPr/>
        </p:nvSpPr>
        <p:spPr>
          <a:xfrm>
            <a:off x="6163056" y="1869701"/>
            <a:ext cx="5303520" cy="550407"/>
          </a:xfrm>
          <a:prstGeom prst="rect">
            <a:avLst/>
          </a:prstGeom>
          <a:noFill/>
        </p:spPr>
        <p:txBody>
          <a:bodyPr wrap="square" lIns="0" tIns="0" rIns="0" bIns="0" anchor="ctr">
            <a:spAutoFit/>
          </a:bodyPr>
          <a:lstStyle/>
          <a:p>
            <a:pPr algn="l">
              <a:lnSpc>
                <a:spcPct val="125000"/>
              </a:lnSpc>
              <a:spcAft>
                <a:spcPts val="0"/>
              </a:spcAft>
              <a:buNone/>
            </a:pPr>
            <a:r>
              <a:rPr sz="1550" b="1" dirty="0" err="1">
                <a:solidFill>
                  <a:srgbClr val="1E2430"/>
                </a:solidFill>
                <a:latin typeface="BIZ UDPゴシック"/>
                <a:ea typeface="BIZ UDPゴシック"/>
                <a:cs typeface="BIZ UDPゴシック"/>
              </a:rPr>
              <a:t>音の変化を「自分の操作の結果」として一番わかりやすく見せ</a:t>
            </a:r>
            <a:r>
              <a:rPr lang="ja-JP" altLang="en-US" sz="1550" b="1" dirty="0">
                <a:solidFill>
                  <a:srgbClr val="1E2430"/>
                </a:solidFill>
                <a:latin typeface="BIZ UDPゴシック"/>
                <a:ea typeface="BIZ UDPゴシック"/>
                <a:cs typeface="BIZ UDPゴシック"/>
              </a:rPr>
              <a:t>やすい</a:t>
            </a:r>
            <a:endParaRPr sz="1550" b="1" dirty="0">
              <a:solidFill>
                <a:srgbClr val="1E2430"/>
              </a:solidFill>
              <a:latin typeface="BIZ UDPゴシック"/>
              <a:ea typeface="BIZ UDPゴシック"/>
              <a:cs typeface="BIZ UDPゴシック"/>
            </a:endParaRPr>
          </a:p>
        </p:txBody>
      </p:sp>
      <p:sp>
        <p:nvSpPr>
          <p:cNvPr id="23" name="Title 1">
            <a:extLst>
              <a:ext uri="{FF2B5EF4-FFF2-40B4-BE49-F238E27FC236}">
                <a16:creationId xmlns:a16="http://schemas.microsoft.com/office/drawing/2014/main" id="{E90514FB-27F1-AFAB-68F6-699339341627}"/>
              </a:ext>
            </a:extLst>
          </p:cNvPr>
          <p:cNvSpPr txBox="1">
            <a:spLocks/>
          </p:cNvSpPr>
          <p:nvPr/>
        </p:nvSpPr>
        <p:spPr>
          <a:xfrm>
            <a:off x="576072" y="2341663"/>
            <a:ext cx="11064240" cy="566928"/>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600" b="1" dirty="0">
                <a:solidFill>
                  <a:srgbClr val="1E2430"/>
                </a:solidFill>
                <a:latin typeface="BIZ UDPゴシック"/>
                <a:ea typeface="BIZ UDPゴシック"/>
                <a:cs typeface="BIZ UDPゴシック"/>
              </a:rPr>
              <a:t>なぜドアを選んだのか</a:t>
            </a:r>
          </a:p>
        </p:txBody>
      </p:sp>
      <p:sp>
        <p:nvSpPr>
          <p:cNvPr id="24" name="カード 7">
            <a:extLst>
              <a:ext uri="{FF2B5EF4-FFF2-40B4-BE49-F238E27FC236}">
                <a16:creationId xmlns:a16="http://schemas.microsoft.com/office/drawing/2014/main" id="{DF4BC679-A238-7D1B-B10D-931B313BE001}"/>
              </a:ext>
            </a:extLst>
          </p:cNvPr>
          <p:cNvSpPr/>
          <p:nvPr/>
        </p:nvSpPr>
        <p:spPr>
          <a:xfrm>
            <a:off x="6912864" y="2830308"/>
            <a:ext cx="4873752" cy="3643644"/>
          </a:xfrm>
          <a:prstGeom prst="roundRect">
            <a:avLst>
              <a:gd name="adj" fmla="val 5000"/>
            </a:avLst>
          </a:prstGeom>
          <a:solidFill>
            <a:srgbClr val="F0F2F5"/>
          </a:solidFill>
          <a:ln>
            <a:noFill/>
          </a:ln>
        </p:spPr>
        <p:txBody>
          <a:bodyPr wrap="square" lIns="365760" tIns="310896" rIns="365760" bIns="274320" rtlCol="0" anchor="t">
            <a:noAutofit/>
          </a:bodyPr>
          <a:lstStyle/>
          <a:p>
            <a:pPr marL="0" indent="0" algn="l">
              <a:spcBef>
                <a:spcPts val="0"/>
              </a:spcBef>
              <a:spcAft>
                <a:spcPts val="400"/>
              </a:spcAft>
              <a:buNone/>
            </a:pPr>
            <a:r>
              <a:rPr lang="ja-JP" altLang="en-US" sz="1800" b="1" dirty="0">
                <a:solidFill>
                  <a:srgbClr val="1E2430"/>
                </a:solidFill>
                <a:latin typeface="BIZ UDPゴシック"/>
                <a:ea typeface="BIZ UDPゴシック"/>
                <a:cs typeface="BIZ UDPゴシック"/>
              </a:rPr>
              <a:t>ドアの好きな表現</a:t>
            </a:r>
            <a:endParaRPr lang="ja-JP" altLang="en-US" sz="1800" dirty="0"/>
          </a:p>
          <a:p>
            <a:pPr marL="0" indent="0" algn="l">
              <a:spcBef>
                <a:spcPts val="1000"/>
              </a:spcBef>
              <a:spcAft>
                <a:spcPts val="0"/>
              </a:spcAft>
              <a:buNone/>
            </a:pPr>
            <a:r>
              <a:rPr lang="ja-JP" altLang="en-US" sz="1650" b="1" dirty="0">
                <a:solidFill>
                  <a:srgbClr val="9A6212"/>
                </a:solidFill>
                <a:latin typeface="BIZ UDPゴシック"/>
                <a:ea typeface="BIZ UDPゴシック"/>
                <a:cs typeface="BIZ UDPゴシック"/>
              </a:rPr>
              <a:t>Visageというホラゲーのドアの開け方</a:t>
            </a:r>
            <a:endParaRPr lang="ja-JP" altLang="en-US" sz="1650" dirty="0"/>
          </a:p>
          <a:p>
            <a:pPr marL="0" indent="0" algn="l">
              <a:lnSpc>
                <a:spcPct val="150000"/>
              </a:lnSpc>
              <a:spcBef>
                <a:spcPts val="1000"/>
              </a:spcBef>
              <a:spcAft>
                <a:spcPts val="0"/>
              </a:spcAft>
              <a:buNone/>
            </a:pPr>
            <a:r>
              <a:rPr lang="ja-JP" altLang="en-US" sz="1500" dirty="0">
                <a:solidFill>
                  <a:srgbClr val="1E2430"/>
                </a:solidFill>
                <a:latin typeface="BIZ UDPゴシック"/>
                <a:ea typeface="BIZ UDPゴシック"/>
                <a:cs typeface="BIZ UDPゴシック"/>
              </a:rPr>
              <a:t>ホラーゲームということもあってジャンプスケアや未知の物がないか慎重にドアを開ける、</a:t>
            </a:r>
            <a:endParaRPr lang="en-US" altLang="ja-JP" sz="1500" dirty="0">
              <a:solidFill>
                <a:srgbClr val="1E2430"/>
              </a:solidFill>
              <a:latin typeface="BIZ UDPゴシック"/>
              <a:ea typeface="BIZ UDPゴシック"/>
              <a:cs typeface="BIZ UDPゴシック"/>
            </a:endParaRPr>
          </a:p>
          <a:p>
            <a:pPr marL="0" indent="0" algn="l">
              <a:lnSpc>
                <a:spcPct val="150000"/>
              </a:lnSpc>
              <a:spcBef>
                <a:spcPts val="1000"/>
              </a:spcBef>
              <a:spcAft>
                <a:spcPts val="0"/>
              </a:spcAft>
              <a:buNone/>
            </a:pPr>
            <a:r>
              <a:rPr lang="ja-JP" altLang="en-US" sz="1500" dirty="0">
                <a:solidFill>
                  <a:srgbClr val="1E2430"/>
                </a:solidFill>
                <a:latin typeface="BIZ UDPゴシック"/>
                <a:ea typeface="BIZ UDPゴシック"/>
                <a:cs typeface="BIZ UDPゴシック"/>
              </a:rPr>
              <a:t>この時のドアの先どんなのがあるかを想像する事とドアを開けた際の答え合わせの瞬間が好き</a:t>
            </a:r>
            <a:endParaRPr lang="en-US" altLang="ja-JP" sz="1500" dirty="0">
              <a:solidFill>
                <a:srgbClr val="1E2430"/>
              </a:solidFill>
              <a:latin typeface="BIZ UDPゴシック"/>
              <a:ea typeface="BIZ UDPゴシック"/>
              <a:cs typeface="BIZ UDPゴシック"/>
            </a:endParaRPr>
          </a:p>
          <a:p>
            <a:pPr marL="0" indent="0" algn="l">
              <a:lnSpc>
                <a:spcPct val="150000"/>
              </a:lnSpc>
              <a:spcBef>
                <a:spcPts val="1000"/>
              </a:spcBef>
              <a:spcAft>
                <a:spcPts val="0"/>
              </a:spcAft>
              <a:buNone/>
            </a:pPr>
            <a:r>
              <a:rPr lang="ja-JP" altLang="en-US" sz="1500" dirty="0">
                <a:solidFill>
                  <a:srgbClr val="1E2430"/>
                </a:solidFill>
                <a:latin typeface="BIZ UDPゴシック"/>
                <a:ea typeface="BIZ UDPゴシック"/>
              </a:rPr>
              <a:t>これを音でより伝わるようにしたい。</a:t>
            </a:r>
            <a:endParaRPr lang="ja-JP" alt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200" b="1" dirty="0">
                <a:solidFill>
                  <a:srgbClr val="9A6212"/>
                </a:solidFill>
                <a:latin typeface="BIZ UDPゴシック"/>
                <a:ea typeface="BIZ UDPゴシック"/>
                <a:cs typeface="BIZ UDPゴシック"/>
              </a:rPr>
              <a:t>02　実現に必要なもの　｜　ドアの開き具合による音の変化</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これを音で面白くするためには？</a:t>
            </a:r>
            <a:endParaRPr lang="ja-JP" altLang="en-US" sz="2600" dirty="0"/>
          </a:p>
        </p:txBody>
      </p:sp>
      <p:sp>
        <p:nvSpPr>
          <p:cNvPr id="4" name="テキスト 4"/>
          <p:cNvSpPr txBox="1"/>
          <p:nvPr/>
        </p:nvSpPr>
        <p:spPr>
          <a:xfrm>
            <a:off x="548640" y="1463040"/>
            <a:ext cx="11091672" cy="731520"/>
          </a:xfrm>
          <a:prstGeom prst="rect">
            <a:avLst/>
          </a:prstGeom>
          <a:noFill/>
        </p:spPr>
        <p:txBody>
          <a:bodyPr wrap="square" lIns="0" tIns="0" rIns="0" bIns="0" rtlCol="0" anchor="t">
            <a:noAutofit/>
          </a:bodyPr>
          <a:lstStyle/>
          <a:p>
            <a:pPr>
              <a:lnSpc>
                <a:spcPct val="125000"/>
              </a:lnSpc>
            </a:pPr>
            <a:r>
              <a:rPr lang="ja-JP" altLang="en-US" sz="1600" dirty="0">
                <a:solidFill>
                  <a:srgbClr val="1E2430"/>
                </a:solidFill>
                <a:latin typeface="BIZ UDPゴシック"/>
                <a:ea typeface="BIZ UDPゴシック"/>
                <a:cs typeface="BIZ UDPゴシック"/>
              </a:rPr>
              <a:t>ドアの裏の音に対して開き具合と音色の開け方が組み合わされば自分がドアを開けたことに対する音の表現としてわかりやすく変化につながる。</a:t>
            </a:r>
            <a:endParaRPr lang="ja-JP" altLang="en-US" sz="1600" dirty="0"/>
          </a:p>
        </p:txBody>
      </p:sp>
      <p:sp>
        <p:nvSpPr>
          <p:cNvPr id="5" name="カード 5"/>
          <p:cNvSpPr/>
          <p:nvPr/>
        </p:nvSpPr>
        <p:spPr>
          <a:xfrm>
            <a:off x="548640" y="2331720"/>
            <a:ext cx="11091672" cy="1463040"/>
          </a:xfrm>
          <a:prstGeom prst="roundRect">
            <a:avLst>
              <a:gd name="adj" fmla="val 8000"/>
            </a:avLst>
          </a:prstGeom>
          <a:solidFill>
            <a:srgbClr val="F0F2F5"/>
          </a:solidFill>
          <a:ln>
            <a:noFill/>
          </a:ln>
        </p:spPr>
        <p:txBody>
          <a:bodyPr wrap="square" lIns="365760" tIns="237744" rIns="365760" bIns="201168" rtlCol="0" anchor="t">
            <a:noAutofit/>
          </a:bodyPr>
          <a:lstStyle/>
          <a:p>
            <a:pPr marL="0" indent="0" algn="l">
              <a:spcBef>
                <a:spcPts val="0"/>
              </a:spcBef>
              <a:spcAft>
                <a:spcPts val="200"/>
              </a:spcAft>
              <a:buNone/>
            </a:pPr>
            <a:r>
              <a:rPr lang="ja-JP" altLang="en-US" sz="1700" b="1" dirty="0">
                <a:solidFill>
                  <a:srgbClr val="1E2430"/>
                </a:solidFill>
                <a:latin typeface="BIZ UDPゴシック"/>
                <a:ea typeface="BIZ UDPゴシック"/>
                <a:cs typeface="BIZ UDPゴシック"/>
              </a:rPr>
              <a:t>どういった点が面白くなりそう？</a:t>
            </a:r>
            <a:endParaRPr lang="ja-JP" altLang="en-US" sz="1700" dirty="0"/>
          </a:p>
          <a:p>
            <a:pPr marL="0" indent="0" algn="l">
              <a:lnSpc>
                <a:spcPct val="130000"/>
              </a:lnSpc>
              <a:spcBef>
                <a:spcPts val="600"/>
              </a:spcBef>
              <a:spcAft>
                <a:spcPts val="0"/>
              </a:spcAft>
              <a:buNone/>
            </a:pPr>
            <a:r>
              <a:rPr lang="ja-JP" altLang="en-US" sz="1500" dirty="0">
                <a:solidFill>
                  <a:srgbClr val="1E2430"/>
                </a:solidFill>
                <a:latin typeface="BIZ UDPゴシック"/>
                <a:ea typeface="BIZ UDPゴシック"/>
                <a:cs typeface="BIZ UDPゴシック"/>
              </a:rPr>
              <a:t>遊びとして最初はちょっと開けてみて奥の様子を注視してみたり逆に一気にドアを開けて奥の音が一気に明るくなったり、表現が多彩になる（あくまでドアを自力で開け具合を操作できる時が一番表現しやすい）</a:t>
            </a:r>
            <a:endParaRPr lang="ja-JP" altLang="en-US" sz="1500" dirty="0"/>
          </a:p>
        </p:txBody>
      </p:sp>
      <p:sp>
        <p:nvSpPr>
          <p:cNvPr id="6" name="テキスト 6"/>
          <p:cNvSpPr txBox="1"/>
          <p:nvPr/>
        </p:nvSpPr>
        <p:spPr>
          <a:xfrm>
            <a:off x="548640" y="4069080"/>
            <a:ext cx="7315200" cy="36576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800" b="1" dirty="0">
                <a:solidFill>
                  <a:srgbClr val="1E2430"/>
                </a:solidFill>
                <a:latin typeface="BIZ UDPゴシック"/>
                <a:ea typeface="BIZ UDPゴシック"/>
                <a:cs typeface="BIZ UDPゴシック"/>
              </a:rPr>
              <a:t>そのためには何を大事にする？</a:t>
            </a:r>
            <a:endParaRPr lang="ja-JP" altLang="en-US" sz="1800" dirty="0"/>
          </a:p>
        </p:txBody>
      </p:sp>
      <p:sp>
        <p:nvSpPr>
          <p:cNvPr id="7" name="カード 7"/>
          <p:cNvSpPr/>
          <p:nvPr/>
        </p:nvSpPr>
        <p:spPr>
          <a:xfrm>
            <a:off x="548640" y="4526280"/>
            <a:ext cx="5431536" cy="1783080"/>
          </a:xfrm>
          <a:prstGeom prst="roundRect">
            <a:avLst>
              <a:gd name="adj" fmla="val 6000"/>
            </a:avLst>
          </a:prstGeom>
          <a:solidFill>
            <a:srgbClr val="F0F2F5"/>
          </a:solidFill>
          <a:ln>
            <a:noFill/>
          </a:ln>
        </p:spPr>
        <p:txBody>
          <a:bodyPr/>
          <a:lstStyle/>
          <a:p>
            <a:endParaRPr lang="ja-JP" altLang="en-US"/>
          </a:p>
        </p:txBody>
      </p:sp>
      <p:sp>
        <p:nvSpPr>
          <p:cNvPr id="8" name="ラベル 8"/>
          <p:cNvSpPr/>
          <p:nvPr/>
        </p:nvSpPr>
        <p:spPr>
          <a:xfrm>
            <a:off x="822960" y="4800600"/>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連続性</a:t>
            </a:r>
            <a:endParaRPr lang="ja-JP" altLang="en-US" sz="1500" dirty="0"/>
          </a:p>
        </p:txBody>
      </p:sp>
      <p:sp>
        <p:nvSpPr>
          <p:cNvPr id="9" name="テキスト 9"/>
          <p:cNvSpPr txBox="1"/>
          <p:nvPr/>
        </p:nvSpPr>
        <p:spPr>
          <a:xfrm>
            <a:off x="2194560" y="4800600"/>
            <a:ext cx="3511296" cy="1280160"/>
          </a:xfrm>
          <a:prstGeom prst="rect">
            <a:avLst/>
          </a:prstGeom>
          <a:noFill/>
        </p:spPr>
        <p:txBody>
          <a:bodyPr wrap="square" lIns="0" tIns="0" rIns="0" bIns="0" rtlCol="0" anchor="t">
            <a:noAutofit/>
          </a:bodyPr>
          <a:lstStyle/>
          <a:p>
            <a:pPr marL="0" indent="0" algn="l">
              <a:lnSpc>
                <a:spcPct val="130000"/>
              </a:lnSpc>
              <a:spcBef>
                <a:spcPts val="0"/>
              </a:spcBef>
              <a:spcAft>
                <a:spcPts val="0"/>
              </a:spcAft>
              <a:buNone/>
            </a:pPr>
            <a:r>
              <a:rPr lang="ja-JP" altLang="en-US" sz="1500" dirty="0">
                <a:solidFill>
                  <a:srgbClr val="1E2430"/>
                </a:solidFill>
                <a:latin typeface="BIZ UDPゴシック"/>
                <a:ea typeface="BIZ UDPゴシック"/>
                <a:cs typeface="BIZ UDPゴシック"/>
              </a:rPr>
              <a:t>ドアを開けてる途中に大きく音が飛ぶと体験の質が急に悪くなる、</a:t>
            </a:r>
            <a:endParaRPr lang="en-US" altLang="ja-JP" sz="1500" dirty="0">
              <a:solidFill>
                <a:srgbClr val="1E2430"/>
              </a:solidFill>
              <a:latin typeface="BIZ UDPゴシック"/>
              <a:ea typeface="BIZ UDPゴシック"/>
              <a:cs typeface="BIZ UDPゴシック"/>
            </a:endParaRPr>
          </a:p>
          <a:p>
            <a:pPr marL="0" indent="0" algn="l">
              <a:lnSpc>
                <a:spcPct val="130000"/>
              </a:lnSpc>
              <a:spcBef>
                <a:spcPts val="0"/>
              </a:spcBef>
              <a:spcAft>
                <a:spcPts val="0"/>
              </a:spcAft>
              <a:buNone/>
            </a:pPr>
            <a:r>
              <a:rPr lang="ja-JP" altLang="en-US" sz="1500" dirty="0">
                <a:solidFill>
                  <a:srgbClr val="1E2430"/>
                </a:solidFill>
                <a:latin typeface="BIZ UDPゴシック"/>
                <a:ea typeface="BIZ UDPゴシック"/>
              </a:rPr>
              <a:t>開けてる途中は滑らかに変化、止めると変化も止まるように。</a:t>
            </a:r>
            <a:endParaRPr lang="ja-JP" altLang="en-US" sz="1500" dirty="0"/>
          </a:p>
        </p:txBody>
      </p:sp>
      <p:sp>
        <p:nvSpPr>
          <p:cNvPr id="10" name="カード 10"/>
          <p:cNvSpPr/>
          <p:nvPr/>
        </p:nvSpPr>
        <p:spPr>
          <a:xfrm>
            <a:off x="6208776" y="4526280"/>
            <a:ext cx="5431536" cy="1783080"/>
          </a:xfrm>
          <a:prstGeom prst="roundRect">
            <a:avLst>
              <a:gd name="adj" fmla="val 6000"/>
            </a:avLst>
          </a:prstGeom>
          <a:solidFill>
            <a:srgbClr val="F0F2F5"/>
          </a:solidFill>
          <a:ln>
            <a:noFill/>
          </a:ln>
        </p:spPr>
        <p:txBody>
          <a:bodyPr/>
          <a:lstStyle/>
          <a:p>
            <a:endParaRPr lang="ja-JP" altLang="en-US"/>
          </a:p>
        </p:txBody>
      </p:sp>
      <p:sp>
        <p:nvSpPr>
          <p:cNvPr id="11" name="ラベル 11"/>
          <p:cNvSpPr/>
          <p:nvPr/>
        </p:nvSpPr>
        <p:spPr>
          <a:xfrm>
            <a:off x="6483096" y="4800600"/>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即時性</a:t>
            </a:r>
            <a:endParaRPr lang="ja-JP" altLang="en-US" sz="1500" dirty="0"/>
          </a:p>
        </p:txBody>
      </p:sp>
      <p:sp>
        <p:nvSpPr>
          <p:cNvPr id="12" name="テキスト 12"/>
          <p:cNvSpPr txBox="1"/>
          <p:nvPr/>
        </p:nvSpPr>
        <p:spPr>
          <a:xfrm>
            <a:off x="7854696" y="4800600"/>
            <a:ext cx="3511296" cy="1280160"/>
          </a:xfrm>
          <a:prstGeom prst="rect">
            <a:avLst/>
          </a:prstGeom>
          <a:noFill/>
        </p:spPr>
        <p:txBody>
          <a:bodyPr wrap="square" lIns="0" tIns="0" rIns="0" bIns="0" rtlCol="0" anchor="t">
            <a:noAutofit/>
          </a:bodyPr>
          <a:lstStyle/>
          <a:p>
            <a:pPr marL="0" indent="0" algn="l">
              <a:lnSpc>
                <a:spcPct val="130000"/>
              </a:lnSpc>
              <a:spcBef>
                <a:spcPts val="0"/>
              </a:spcBef>
              <a:spcAft>
                <a:spcPts val="0"/>
              </a:spcAft>
              <a:buNone/>
            </a:pPr>
            <a:r>
              <a:rPr lang="ja-JP" altLang="en-US" sz="1500" dirty="0">
                <a:solidFill>
                  <a:srgbClr val="1E2430"/>
                </a:solidFill>
                <a:latin typeface="BIZ UDPゴシック"/>
                <a:ea typeface="BIZ UDPゴシック"/>
                <a:cs typeface="BIZ UDPゴシック"/>
              </a:rPr>
              <a:t>ドアを開けてから音が変化するまでにラグがあるとそれがドアを開けたから変わった音なのかそれともただの表現としての音の変化なのかがわからなくなる</a:t>
            </a:r>
            <a:endParaRPr lang="ja-JP" alt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200" b="1" dirty="0">
                <a:solidFill>
                  <a:srgbClr val="9A6212"/>
                </a:solidFill>
                <a:latin typeface="BIZ UDPゴシック"/>
                <a:ea typeface="BIZ UDPゴシック"/>
                <a:cs typeface="BIZ UDPゴシック"/>
              </a:rPr>
              <a:t>02　実現に必要なもの</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作りたい物の実現のためにどんなものが必要？</a:t>
            </a:r>
            <a:endParaRPr lang="ja-JP" altLang="en-US" sz="2600" dirty="0"/>
          </a:p>
        </p:txBody>
      </p:sp>
      <p:sp>
        <p:nvSpPr>
          <p:cNvPr id="6" name="カード 6"/>
          <p:cNvSpPr/>
          <p:nvPr/>
        </p:nvSpPr>
        <p:spPr>
          <a:xfrm>
            <a:off x="548640" y="2468880"/>
            <a:ext cx="3657600" cy="3776472"/>
          </a:xfrm>
          <a:prstGeom prst="roundRect">
            <a:avLst>
              <a:gd name="adj" fmla="val 4000"/>
            </a:avLst>
          </a:prstGeom>
          <a:solidFill>
            <a:srgbClr val="F0F2F5"/>
          </a:solidFill>
          <a:ln>
            <a:noFill/>
          </a:ln>
        </p:spPr>
        <p:txBody>
          <a:bodyPr/>
          <a:lstStyle/>
          <a:p>
            <a:endParaRPr lang="ja-JP" altLang="en-US"/>
          </a:p>
        </p:txBody>
      </p:sp>
      <p:sp>
        <p:nvSpPr>
          <p:cNvPr id="7" name="テキスト 7"/>
          <p:cNvSpPr txBox="1"/>
          <p:nvPr/>
        </p:nvSpPr>
        <p:spPr>
          <a:xfrm>
            <a:off x="822960" y="2724912"/>
            <a:ext cx="3108960" cy="685800"/>
          </a:xfrm>
          <a:prstGeom prst="rect">
            <a:avLst/>
          </a:prstGeom>
          <a:noFill/>
        </p:spPr>
        <p:txBody>
          <a:bodyPr wrap="square" lIns="0" tIns="0" rIns="0" bIns="0" rtlCol="0" anchor="t">
            <a:noAutofit/>
          </a:bodyPr>
          <a:lstStyle/>
          <a:p>
            <a:pPr marL="0" indent="0" algn="l">
              <a:lnSpc>
                <a:spcPct val="115000"/>
              </a:lnSpc>
              <a:spcBef>
                <a:spcPts val="0"/>
              </a:spcBef>
              <a:spcAft>
                <a:spcPts val="0"/>
              </a:spcAft>
              <a:buNone/>
            </a:pPr>
            <a:r>
              <a:rPr lang="ja-JP" altLang="en-US" sz="1600" b="1" dirty="0">
                <a:solidFill>
                  <a:srgbClr val="1E2430"/>
                </a:solidFill>
                <a:latin typeface="BIZ UDPゴシック"/>
                <a:ea typeface="BIZ UDPゴシック"/>
                <a:cs typeface="BIZ UDPゴシック"/>
              </a:rPr>
              <a:t>なぜ反射音・残響音が空間印象につながる？</a:t>
            </a:r>
            <a:endParaRPr lang="ja-JP" altLang="en-US" sz="1600" dirty="0"/>
          </a:p>
        </p:txBody>
      </p:sp>
      <p:sp>
        <p:nvSpPr>
          <p:cNvPr id="8" name="段 8"/>
          <p:cNvSpPr/>
          <p:nvPr/>
        </p:nvSpPr>
        <p:spPr>
          <a:xfrm>
            <a:off x="822960" y="3493008"/>
            <a:ext cx="3108960" cy="987552"/>
          </a:xfrm>
          <a:prstGeom prst="roundRect">
            <a:avLst>
              <a:gd name="adj" fmla="val 10000"/>
            </a:avLst>
          </a:prstGeom>
          <a:solidFill>
            <a:srgbClr val="FFFFFF"/>
          </a:solidFill>
          <a:ln>
            <a:noFill/>
          </a:ln>
        </p:spPr>
        <p:txBody>
          <a:bodyPr wrap="square" lIns="201168" tIns="73152" rIns="201168" bIns="73152" rtlCol="0" anchor="ctr">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直接音だけだと音が鳴ってるくらいしかわからない</a:t>
            </a:r>
            <a:endParaRPr lang="ja-JP" altLang="en-US" sz="1450" dirty="0"/>
          </a:p>
        </p:txBody>
      </p:sp>
      <p:sp>
        <p:nvSpPr>
          <p:cNvPr id="9" name="矢印 9"/>
          <p:cNvSpPr/>
          <p:nvPr/>
        </p:nvSpPr>
        <p:spPr>
          <a:xfrm>
            <a:off x="2194560" y="4572000"/>
            <a:ext cx="365760" cy="384048"/>
          </a:xfrm>
          <a:prstGeom prst="downArrow">
            <a:avLst/>
          </a:prstGeom>
          <a:solidFill>
            <a:srgbClr val="E3A33B"/>
          </a:solidFill>
          <a:ln>
            <a:noFill/>
          </a:ln>
        </p:spPr>
        <p:txBody>
          <a:bodyPr/>
          <a:lstStyle/>
          <a:p>
            <a:endParaRPr lang="ja-JP" altLang="en-US"/>
          </a:p>
        </p:txBody>
      </p:sp>
      <p:sp>
        <p:nvSpPr>
          <p:cNvPr id="10" name="段 10"/>
          <p:cNvSpPr/>
          <p:nvPr/>
        </p:nvSpPr>
        <p:spPr>
          <a:xfrm>
            <a:off x="822960" y="5047488"/>
            <a:ext cx="3108960" cy="987552"/>
          </a:xfrm>
          <a:prstGeom prst="roundRect">
            <a:avLst>
              <a:gd name="adj" fmla="val 10000"/>
            </a:avLst>
          </a:prstGeom>
          <a:solidFill>
            <a:srgbClr val="FFFFFF"/>
          </a:solidFill>
          <a:ln>
            <a:noFill/>
          </a:ln>
        </p:spPr>
        <p:txBody>
          <a:bodyPr wrap="square" lIns="201168" tIns="73152" rIns="201168" bIns="73152" rtlCol="0" anchor="ctr">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壁で返ってきた音が届いて初めてどんな空間か伝わるようになる</a:t>
            </a:r>
            <a:endParaRPr lang="ja-JP" altLang="en-US" sz="1450" dirty="0"/>
          </a:p>
        </p:txBody>
      </p:sp>
      <p:sp>
        <p:nvSpPr>
          <p:cNvPr id="11" name="テキスト 11"/>
          <p:cNvSpPr txBox="1"/>
          <p:nvPr/>
        </p:nvSpPr>
        <p:spPr>
          <a:xfrm>
            <a:off x="4480560" y="2014086"/>
            <a:ext cx="7205472" cy="36576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700" b="1" dirty="0">
                <a:solidFill>
                  <a:srgbClr val="1E2430"/>
                </a:solidFill>
                <a:latin typeface="BIZ UDPゴシック"/>
                <a:ea typeface="BIZ UDPゴシック"/>
                <a:cs typeface="BIZ UDPゴシック"/>
              </a:rPr>
              <a:t>空間印象は何が大事？</a:t>
            </a:r>
            <a:endParaRPr lang="ja-JP" altLang="en-US" sz="1700" dirty="0"/>
          </a:p>
        </p:txBody>
      </p:sp>
      <p:sp>
        <p:nvSpPr>
          <p:cNvPr id="12" name="カード 12"/>
          <p:cNvSpPr/>
          <p:nvPr/>
        </p:nvSpPr>
        <p:spPr>
          <a:xfrm>
            <a:off x="4480560" y="2425566"/>
            <a:ext cx="7205472" cy="1325880"/>
          </a:xfrm>
          <a:prstGeom prst="roundRect">
            <a:avLst>
              <a:gd name="adj" fmla="val 6000"/>
            </a:avLst>
          </a:prstGeom>
          <a:solidFill>
            <a:srgbClr val="F0F2F5"/>
          </a:solidFill>
          <a:ln>
            <a:noFill/>
          </a:ln>
        </p:spPr>
        <p:txBody>
          <a:bodyPr/>
          <a:lstStyle/>
          <a:p>
            <a:endParaRPr lang="ja-JP" altLang="en-US"/>
          </a:p>
        </p:txBody>
      </p:sp>
      <p:sp>
        <p:nvSpPr>
          <p:cNvPr id="13" name="テキスト 13"/>
          <p:cNvSpPr txBox="1"/>
          <p:nvPr/>
        </p:nvSpPr>
        <p:spPr>
          <a:xfrm>
            <a:off x="4754880" y="2699886"/>
            <a:ext cx="1417320" cy="32004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400" b="1" dirty="0">
                <a:solidFill>
                  <a:srgbClr val="1E2430"/>
                </a:solidFill>
                <a:latin typeface="BIZ UDPゴシック"/>
                <a:ea typeface="BIZ UDPゴシック"/>
                <a:cs typeface="BIZ UDPゴシック"/>
              </a:rPr>
              <a:t>見かけの音の幅</a:t>
            </a:r>
            <a:endParaRPr lang="ja-JP" altLang="en-US" sz="1400" dirty="0"/>
          </a:p>
        </p:txBody>
      </p:sp>
      <p:sp>
        <p:nvSpPr>
          <p:cNvPr id="14" name="ラベル 14"/>
          <p:cNvSpPr/>
          <p:nvPr/>
        </p:nvSpPr>
        <p:spPr>
          <a:xfrm>
            <a:off x="4754880" y="3083934"/>
            <a:ext cx="914400" cy="384048"/>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400" b="1" dirty="0">
                <a:solidFill>
                  <a:srgbClr val="1E2430"/>
                </a:solidFill>
                <a:latin typeface="BIZ UDPゴシック"/>
                <a:ea typeface="BIZ UDPゴシック"/>
                <a:cs typeface="BIZ UDPゴシック"/>
              </a:rPr>
              <a:t>ASW</a:t>
            </a:r>
            <a:endParaRPr lang="ja-JP" altLang="en-US" sz="1400" dirty="0"/>
          </a:p>
        </p:txBody>
      </p:sp>
      <p:sp>
        <p:nvSpPr>
          <p:cNvPr id="15" name="テキスト 15"/>
          <p:cNvSpPr txBox="1"/>
          <p:nvPr/>
        </p:nvSpPr>
        <p:spPr>
          <a:xfrm>
            <a:off x="6309360" y="2681598"/>
            <a:ext cx="5102352" cy="86868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00" dirty="0">
                <a:solidFill>
                  <a:srgbClr val="1E2430"/>
                </a:solidFill>
                <a:latin typeface="BIZ UDPゴシック"/>
                <a:ea typeface="BIZ UDPゴシック"/>
                <a:cs typeface="BIZ UDPゴシック"/>
              </a:rPr>
              <a:t>聞こえる音源の幅、広くなると輪郭がふわっとし、迫力が生まれやすい。逆に狭ければピンポイントになっている場所がわかりやすくなり音が明瞭に聞こえる</a:t>
            </a:r>
            <a:endParaRPr lang="ja-JP" altLang="en-US" sz="1400" dirty="0"/>
          </a:p>
        </p:txBody>
      </p:sp>
      <p:sp>
        <p:nvSpPr>
          <p:cNvPr id="16" name="カード 16"/>
          <p:cNvSpPr/>
          <p:nvPr/>
        </p:nvSpPr>
        <p:spPr>
          <a:xfrm>
            <a:off x="4480560" y="3916038"/>
            <a:ext cx="7205472" cy="1874520"/>
          </a:xfrm>
          <a:prstGeom prst="roundRect">
            <a:avLst>
              <a:gd name="adj" fmla="val 6000"/>
            </a:avLst>
          </a:prstGeom>
          <a:solidFill>
            <a:srgbClr val="F0F2F5"/>
          </a:solidFill>
          <a:ln>
            <a:noFill/>
          </a:ln>
        </p:spPr>
        <p:txBody>
          <a:bodyPr/>
          <a:lstStyle/>
          <a:p>
            <a:endParaRPr lang="ja-JP" altLang="en-US"/>
          </a:p>
        </p:txBody>
      </p:sp>
      <p:sp>
        <p:nvSpPr>
          <p:cNvPr id="17" name="テキスト 17"/>
          <p:cNvSpPr txBox="1"/>
          <p:nvPr/>
        </p:nvSpPr>
        <p:spPr>
          <a:xfrm>
            <a:off x="4754880" y="4190358"/>
            <a:ext cx="1417320" cy="32004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400" b="1" dirty="0">
                <a:solidFill>
                  <a:srgbClr val="1E2430"/>
                </a:solidFill>
                <a:latin typeface="BIZ UDPゴシック"/>
                <a:ea typeface="BIZ UDPゴシック"/>
                <a:cs typeface="BIZ UDPゴシック"/>
              </a:rPr>
              <a:t>音の包まれ具合</a:t>
            </a:r>
            <a:endParaRPr lang="ja-JP" altLang="en-US" sz="1400" dirty="0"/>
          </a:p>
        </p:txBody>
      </p:sp>
      <p:sp>
        <p:nvSpPr>
          <p:cNvPr id="18" name="ラベル 18"/>
          <p:cNvSpPr/>
          <p:nvPr/>
        </p:nvSpPr>
        <p:spPr>
          <a:xfrm>
            <a:off x="4754880" y="4574406"/>
            <a:ext cx="914400" cy="384048"/>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400" b="1" dirty="0">
                <a:solidFill>
                  <a:srgbClr val="1E2430"/>
                </a:solidFill>
                <a:latin typeface="BIZ UDPゴシック"/>
                <a:ea typeface="BIZ UDPゴシック"/>
                <a:cs typeface="BIZ UDPゴシック"/>
              </a:rPr>
              <a:t>LEV</a:t>
            </a:r>
            <a:endParaRPr lang="ja-JP" altLang="en-US" sz="1400" dirty="0"/>
          </a:p>
        </p:txBody>
      </p:sp>
      <p:sp>
        <p:nvSpPr>
          <p:cNvPr id="19" name="テキスト 19"/>
          <p:cNvSpPr txBox="1"/>
          <p:nvPr/>
        </p:nvSpPr>
        <p:spPr>
          <a:xfrm>
            <a:off x="6309360" y="4172070"/>
            <a:ext cx="5102352" cy="141732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00" dirty="0">
                <a:solidFill>
                  <a:srgbClr val="1E2430"/>
                </a:solidFill>
                <a:latin typeface="BIZ UDPゴシック"/>
                <a:ea typeface="BIZ UDPゴシック"/>
                <a:cs typeface="BIZ UDPゴシック"/>
              </a:rPr>
              <a:t>いろんな方向から聞こえてくる音の残響音、洞窟のような反響しやすい空間だと厚く音の余韻を感じやすくなったり閉鎖空間的に感じやすく、屋外ライブのように薄くなるとスッと余韻が消えやすく聞いてて疲れにくい音になりやすい</a:t>
            </a:r>
            <a:endParaRPr lang="ja-JP" altLang="en-US" sz="1400" dirty="0"/>
          </a:p>
        </p:txBody>
      </p:sp>
      <p:sp>
        <p:nvSpPr>
          <p:cNvPr id="38" name="テキスト 4">
            <a:extLst>
              <a:ext uri="{FF2B5EF4-FFF2-40B4-BE49-F238E27FC236}">
                <a16:creationId xmlns:a16="http://schemas.microsoft.com/office/drawing/2014/main" id="{9DB039C0-9183-9011-565D-E33D796C858E}"/>
              </a:ext>
            </a:extLst>
          </p:cNvPr>
          <p:cNvSpPr txBox="1"/>
          <p:nvPr/>
        </p:nvSpPr>
        <p:spPr>
          <a:xfrm>
            <a:off x="683110" y="1444752"/>
            <a:ext cx="11091672" cy="411480"/>
          </a:xfrm>
          <a:prstGeom prst="rect">
            <a:avLst/>
          </a:prstGeom>
          <a:noFill/>
        </p:spPr>
        <p:txBody>
          <a:bodyPr wrap="square" lIns="0" tIns="0" rIns="0" bIns="0" rtlCol="0" anchor="t">
            <a:noAutofit/>
          </a:bodyPr>
          <a:lstStyle/>
          <a:p>
            <a:r>
              <a:rPr lang="ja-JP" altLang="en-US" sz="2000" b="1" dirty="0">
                <a:solidFill>
                  <a:srgbClr val="1E2430"/>
                </a:solidFill>
                <a:latin typeface="BIZ UDPゴシック"/>
                <a:ea typeface="BIZ UDPゴシック"/>
                <a:cs typeface="BIZ UDPゴシック"/>
              </a:rPr>
              <a:t>・残響音や反射音の聞こえ方</a:t>
            </a:r>
            <a:endParaRPr lang="ja-JP" altLang="en-US" sz="2000" dirty="0"/>
          </a:p>
          <a:p>
            <a:pPr marL="0" indent="0" algn="l">
              <a:spcBef>
                <a:spcPts val="0"/>
              </a:spcBef>
              <a:spcAft>
                <a:spcPts val="0"/>
              </a:spcAft>
              <a:buNone/>
            </a:pPr>
            <a:endParaRPr lang="ja-JP" altLang="en-US" sz="2000" dirty="0"/>
          </a:p>
        </p:txBody>
      </p:sp>
      <p:sp>
        <p:nvSpPr>
          <p:cNvPr id="39" name="テキスト 5">
            <a:extLst>
              <a:ext uri="{FF2B5EF4-FFF2-40B4-BE49-F238E27FC236}">
                <a16:creationId xmlns:a16="http://schemas.microsoft.com/office/drawing/2014/main" id="{90D7E39E-6CEB-107D-02D1-CC9370792D5F}"/>
              </a:ext>
            </a:extLst>
          </p:cNvPr>
          <p:cNvSpPr txBox="1"/>
          <p:nvPr/>
        </p:nvSpPr>
        <p:spPr>
          <a:xfrm>
            <a:off x="683110" y="1834089"/>
            <a:ext cx="11091672" cy="320040"/>
          </a:xfrm>
          <a:prstGeom prst="rect">
            <a:avLst/>
          </a:prstGeom>
          <a:noFill/>
        </p:spPr>
        <p:txBody>
          <a:bodyPr wrap="square" lIns="0" tIns="0" rIns="0" bIns="0" rtlCol="0" anchor="t">
            <a:noAutofit/>
          </a:bodyPr>
          <a:lstStyle/>
          <a:p>
            <a:r>
              <a:rPr lang="ja-JP" altLang="en-US" sz="1400" dirty="0">
                <a:solidFill>
                  <a:srgbClr val="5C6677"/>
                </a:solidFill>
                <a:latin typeface="BIZ UDPゴシック"/>
                <a:ea typeface="BIZ UDPゴシック"/>
                <a:cs typeface="BIZ UDPゴシック"/>
              </a:rPr>
              <a:t>世界観、空間印象に直結する音の特徴</a:t>
            </a:r>
            <a:endParaRPr lang="ja-JP" alt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marL="0" indent="0" algn="l">
              <a:spcBef>
                <a:spcPts val="0"/>
              </a:spcBef>
              <a:spcAft>
                <a:spcPts val="0"/>
              </a:spcAft>
              <a:buNone/>
            </a:pPr>
            <a:r>
              <a:rPr lang="ja-JP" altLang="en-US" sz="1200" b="1" dirty="0">
                <a:solidFill>
                  <a:srgbClr val="9A6212"/>
                </a:solidFill>
                <a:latin typeface="BIZ UDPゴシック"/>
                <a:ea typeface="BIZ UDPゴシック"/>
                <a:cs typeface="BIZ UDPゴシック"/>
              </a:rPr>
              <a:t>02　実現に必要なもの　｜　残響音や反射音の聞こえ方</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これらがどういった表現に使える？</a:t>
            </a:r>
            <a:endParaRPr lang="ja-JP" altLang="en-US" sz="2600" dirty="0"/>
          </a:p>
        </p:txBody>
      </p:sp>
      <p:sp>
        <p:nvSpPr>
          <p:cNvPr id="4" name="カード 4"/>
          <p:cNvSpPr/>
          <p:nvPr/>
        </p:nvSpPr>
        <p:spPr>
          <a:xfrm>
            <a:off x="548640" y="1463040"/>
            <a:ext cx="5431536" cy="1874520"/>
          </a:xfrm>
          <a:prstGeom prst="roundRect">
            <a:avLst>
              <a:gd name="adj" fmla="val 6000"/>
            </a:avLst>
          </a:prstGeom>
          <a:solidFill>
            <a:srgbClr val="F0F2F5"/>
          </a:solidFill>
          <a:ln>
            <a:noFill/>
          </a:ln>
        </p:spPr>
        <p:txBody>
          <a:bodyPr wrap="square" lIns="365760" tIns="182880" rIns="365760" bIns="182880" rtlCol="0" anchor="ctr">
            <a:noAutofit/>
          </a:bodyPr>
          <a:lstStyle/>
          <a:p>
            <a:pPr marL="0" indent="0" algn="l">
              <a:lnSpc>
                <a:spcPct val="135000"/>
              </a:lnSpc>
              <a:spcBef>
                <a:spcPts val="0"/>
              </a:spcBef>
              <a:spcAft>
                <a:spcPts val="0"/>
              </a:spcAft>
              <a:buNone/>
            </a:pPr>
            <a:r>
              <a:rPr lang="ja-JP" altLang="en-US" sz="1500" dirty="0">
                <a:solidFill>
                  <a:srgbClr val="1E2430"/>
                </a:solidFill>
                <a:latin typeface="BIZ UDPゴシック"/>
                <a:ea typeface="BIZ UDPゴシック"/>
                <a:cs typeface="BIZ UDPゴシック"/>
              </a:rPr>
              <a:t>隣の部屋が響きやすい空間だった時、隣の部屋からよく響いた音が聞こえてくるとわかりやすいしその部屋へ移動したときに包まれ具合が増すとより自然に体験しやすい。</a:t>
            </a:r>
            <a:endParaRPr lang="ja-JP" altLang="en-US" sz="1500" dirty="0"/>
          </a:p>
        </p:txBody>
      </p:sp>
      <p:sp>
        <p:nvSpPr>
          <p:cNvPr id="5" name="カード 5"/>
          <p:cNvSpPr/>
          <p:nvPr/>
        </p:nvSpPr>
        <p:spPr>
          <a:xfrm>
            <a:off x="6208776" y="1463040"/>
            <a:ext cx="5431536" cy="1874520"/>
          </a:xfrm>
          <a:prstGeom prst="roundRect">
            <a:avLst>
              <a:gd name="adj" fmla="val 6000"/>
            </a:avLst>
          </a:prstGeom>
          <a:solidFill>
            <a:srgbClr val="F0F2F5"/>
          </a:solidFill>
          <a:ln>
            <a:noFill/>
          </a:ln>
        </p:spPr>
        <p:txBody>
          <a:bodyPr wrap="square" lIns="365760" tIns="182880" rIns="365760" bIns="182880" rtlCol="0" anchor="ctr">
            <a:noAutofit/>
          </a:bodyPr>
          <a:lstStyle/>
          <a:p>
            <a:pPr marL="0" indent="0" algn="l">
              <a:lnSpc>
                <a:spcPct val="135000"/>
              </a:lnSpc>
              <a:spcBef>
                <a:spcPts val="0"/>
              </a:spcBef>
              <a:spcAft>
                <a:spcPts val="0"/>
              </a:spcAft>
              <a:buNone/>
            </a:pPr>
            <a:r>
              <a:rPr lang="ja-JP" altLang="en-US" sz="1500" dirty="0">
                <a:solidFill>
                  <a:srgbClr val="1E2430"/>
                </a:solidFill>
                <a:latin typeface="BIZ UDPゴシック"/>
                <a:ea typeface="BIZ UDPゴシック"/>
                <a:cs typeface="BIZ UDPゴシック"/>
              </a:rPr>
              <a:t>聞こえる音の幅を感じれるとその空間が広いか狭いか、反響しやすいかなど視覚でわかる部分をより具体的に味わいやすくなる。</a:t>
            </a:r>
            <a:endParaRPr lang="ja-JP" altLang="en-US" sz="1500" dirty="0"/>
          </a:p>
        </p:txBody>
      </p:sp>
      <p:sp>
        <p:nvSpPr>
          <p:cNvPr id="6" name="テキスト 6"/>
          <p:cNvSpPr txBox="1"/>
          <p:nvPr/>
        </p:nvSpPr>
        <p:spPr>
          <a:xfrm>
            <a:off x="548640" y="3611880"/>
            <a:ext cx="7315200" cy="365760"/>
          </a:xfrm>
          <a:prstGeom prst="rect">
            <a:avLst/>
          </a:prstGeom>
          <a:noFill/>
        </p:spPr>
        <p:txBody>
          <a:bodyPr wrap="square" lIns="0" tIns="0" rIns="0" bIns="0" rtlCol="0" anchor="t">
            <a:noAutofit/>
          </a:bodyPr>
          <a:lstStyle/>
          <a:p>
            <a:r>
              <a:rPr lang="ja-JP" altLang="en-US" b="1" dirty="0">
                <a:solidFill>
                  <a:srgbClr val="1E2430"/>
                </a:solidFill>
                <a:latin typeface="BIZ UDPゴシック"/>
                <a:ea typeface="BIZ UDPゴシック"/>
                <a:cs typeface="BIZ UDPゴシック"/>
              </a:rPr>
              <a:t>そのためには何を大事にする？</a:t>
            </a:r>
            <a:endParaRPr lang="ja-JP" altLang="en-US" dirty="0"/>
          </a:p>
        </p:txBody>
      </p:sp>
      <p:sp>
        <p:nvSpPr>
          <p:cNvPr id="7" name="カード 7"/>
          <p:cNvSpPr/>
          <p:nvPr/>
        </p:nvSpPr>
        <p:spPr>
          <a:xfrm>
            <a:off x="548640" y="4069080"/>
            <a:ext cx="5431536" cy="2194560"/>
          </a:xfrm>
          <a:prstGeom prst="roundRect">
            <a:avLst>
              <a:gd name="adj" fmla="val 6000"/>
            </a:avLst>
          </a:prstGeom>
          <a:solidFill>
            <a:srgbClr val="F0F2F5"/>
          </a:solidFill>
          <a:ln>
            <a:noFill/>
          </a:ln>
        </p:spPr>
        <p:txBody>
          <a:bodyPr/>
          <a:lstStyle/>
          <a:p>
            <a:endParaRPr lang="ja-JP" altLang="en-US"/>
          </a:p>
        </p:txBody>
      </p:sp>
      <p:sp>
        <p:nvSpPr>
          <p:cNvPr id="8" name="ラベル 8"/>
          <p:cNvSpPr/>
          <p:nvPr/>
        </p:nvSpPr>
        <p:spPr>
          <a:xfrm>
            <a:off x="822960" y="4343400"/>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連続性</a:t>
            </a:r>
            <a:endParaRPr lang="ja-JP" altLang="en-US" sz="1500" dirty="0"/>
          </a:p>
        </p:txBody>
      </p:sp>
      <p:sp>
        <p:nvSpPr>
          <p:cNvPr id="9" name="テキスト 9"/>
          <p:cNvSpPr txBox="1"/>
          <p:nvPr/>
        </p:nvSpPr>
        <p:spPr>
          <a:xfrm>
            <a:off x="2194560" y="4343400"/>
            <a:ext cx="3511296" cy="1691640"/>
          </a:xfrm>
          <a:prstGeom prst="rect">
            <a:avLst/>
          </a:prstGeom>
          <a:noFill/>
        </p:spPr>
        <p:txBody>
          <a:bodyPr wrap="square" lIns="0" tIns="0" rIns="0" bIns="0" rtlCol="0" anchor="t">
            <a:noAutofit/>
          </a:bodyPr>
          <a:lstStyle/>
          <a:p>
            <a:pPr marL="0" indent="0" algn="l">
              <a:lnSpc>
                <a:spcPct val="130000"/>
              </a:lnSpc>
              <a:spcBef>
                <a:spcPts val="0"/>
              </a:spcBef>
              <a:spcAft>
                <a:spcPts val="0"/>
              </a:spcAft>
              <a:buNone/>
            </a:pPr>
            <a:r>
              <a:rPr lang="ja-JP" altLang="en-US" sz="1500" dirty="0">
                <a:solidFill>
                  <a:srgbClr val="1E2430"/>
                </a:solidFill>
                <a:latin typeface="BIZ UDPゴシック"/>
                <a:ea typeface="BIZ UDPゴシック"/>
                <a:cs typeface="BIZ UDPゴシック"/>
              </a:rPr>
              <a:t>部屋から出た瞬間にぱっと聞こえ方が切り替わるとどこでもドアみたいに全く関係のない所みたいに感じやすくて空間のつながってる感が崩れる。</a:t>
            </a:r>
            <a:endParaRPr lang="ja-JP" altLang="en-US" sz="1500" dirty="0"/>
          </a:p>
        </p:txBody>
      </p:sp>
      <p:sp>
        <p:nvSpPr>
          <p:cNvPr id="10" name="カード 10"/>
          <p:cNvSpPr/>
          <p:nvPr/>
        </p:nvSpPr>
        <p:spPr>
          <a:xfrm>
            <a:off x="6208776" y="4069080"/>
            <a:ext cx="5431536" cy="2194560"/>
          </a:xfrm>
          <a:prstGeom prst="roundRect">
            <a:avLst>
              <a:gd name="adj" fmla="val 6000"/>
            </a:avLst>
          </a:prstGeom>
          <a:solidFill>
            <a:srgbClr val="F0F2F5"/>
          </a:solidFill>
          <a:ln>
            <a:noFill/>
          </a:ln>
        </p:spPr>
        <p:txBody>
          <a:bodyPr/>
          <a:lstStyle/>
          <a:p>
            <a:endParaRPr lang="ja-JP" altLang="en-US"/>
          </a:p>
        </p:txBody>
      </p:sp>
      <p:sp>
        <p:nvSpPr>
          <p:cNvPr id="11" name="ラベル 11"/>
          <p:cNvSpPr/>
          <p:nvPr/>
        </p:nvSpPr>
        <p:spPr>
          <a:xfrm>
            <a:off x="6483096" y="4343400"/>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方向性</a:t>
            </a:r>
            <a:endParaRPr lang="ja-JP" altLang="en-US" sz="1500" dirty="0"/>
          </a:p>
        </p:txBody>
      </p:sp>
      <p:sp>
        <p:nvSpPr>
          <p:cNvPr id="12" name="テキスト 12"/>
          <p:cNvSpPr txBox="1"/>
          <p:nvPr/>
        </p:nvSpPr>
        <p:spPr>
          <a:xfrm>
            <a:off x="7854696" y="4343400"/>
            <a:ext cx="3511296" cy="1691640"/>
          </a:xfrm>
          <a:prstGeom prst="rect">
            <a:avLst/>
          </a:prstGeom>
          <a:noFill/>
        </p:spPr>
        <p:txBody>
          <a:bodyPr wrap="square" lIns="0" tIns="0" rIns="0" bIns="0" rtlCol="0" anchor="t">
            <a:noAutofit/>
          </a:bodyPr>
          <a:lstStyle/>
          <a:p>
            <a:pPr marL="0" indent="0" algn="l">
              <a:lnSpc>
                <a:spcPct val="130000"/>
              </a:lnSpc>
              <a:spcBef>
                <a:spcPts val="0"/>
              </a:spcBef>
              <a:spcAft>
                <a:spcPts val="0"/>
              </a:spcAft>
              <a:buNone/>
            </a:pPr>
            <a:r>
              <a:rPr lang="ja-JP" altLang="en-US" sz="1500" dirty="0">
                <a:solidFill>
                  <a:srgbClr val="1E2430"/>
                </a:solidFill>
                <a:latin typeface="BIZ UDPゴシック"/>
                <a:ea typeface="BIZ UDPゴシック"/>
                <a:cs typeface="BIZ UDPゴシック"/>
              </a:rPr>
              <a:t>隣の部屋で響いてる音なのにそれが今いる部屋でも明確に包まれたりしてると部屋を移動したときの変化が薄れたりしてしまう、隣の部屋の残響は隣の部屋から聞こえてくるほうがそれっぽくなる。</a:t>
            </a:r>
            <a:endParaRPr lang="ja-JP" alt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03　技術選定　｜　ドアの開閉　｜　① 全体</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dirty="0">
                <a:solidFill>
                  <a:srgbClr val="1E2430"/>
                </a:solidFill>
                <a:latin typeface="BIZ UDPゴシック"/>
                <a:ea typeface="BIZ UDPゴシック"/>
                <a:cs typeface="BIZ UDPゴシック"/>
              </a:rPr>
              <a:t>ドアの開閉の仕組み</a:t>
            </a:r>
          </a:p>
        </p:txBody>
      </p:sp>
      <p:sp>
        <p:nvSpPr>
          <p:cNvPr id="4" name="テキスト 4"/>
          <p:cNvSpPr txBox="1"/>
          <p:nvPr/>
        </p:nvSpPr>
        <p:spPr>
          <a:xfrm>
            <a:off x="548640" y="1300000"/>
            <a:ext cx="11091672" cy="420000"/>
          </a:xfrm>
          <a:prstGeom prst="rect">
            <a:avLst/>
          </a:prstGeom>
          <a:noFill/>
          <a:ln>
            <a:noFill/>
          </a:ln>
        </p:spPr>
        <p:txBody>
          <a:bodyPr wrap="square" lIns="0" tIns="0" rIns="0" bIns="0" rtlCol="0" anchor="t">
            <a:noAutofit/>
          </a:bodyPr>
          <a:lstStyle/>
          <a:p>
            <a:pPr marL="0" indent="0" algn="l">
              <a:lnSpc>
                <a:spcPct val="120000"/>
              </a:lnSpc>
              <a:spcBef>
                <a:spcPts val="0"/>
              </a:spcBef>
              <a:spcAft>
                <a:spcPts val="0"/>
              </a:spcAft>
              <a:buNone/>
            </a:pPr>
            <a:r>
              <a:rPr lang="ja-JP" altLang="en-US" sz="1500" dirty="0">
                <a:solidFill>
                  <a:srgbClr val="1E2430"/>
                </a:solidFill>
                <a:latin typeface="BIZ UDPゴシック"/>
                <a:ea typeface="BIZ UDPゴシック"/>
                <a:cs typeface="BIZ UDPゴシック"/>
              </a:rPr>
              <a:t>扉を開けたこと、どこまで開けたかをより伝わりやすくなるようアプローチを大きく 2 つに。</a:t>
            </a:r>
          </a:p>
        </p:txBody>
      </p:sp>
      <p:sp>
        <p:nvSpPr>
          <p:cNvPr id="5" name="カード 5"/>
          <p:cNvSpPr/>
          <p:nvPr/>
        </p:nvSpPr>
        <p:spPr>
          <a:xfrm>
            <a:off x="499545" y="2527016"/>
            <a:ext cx="5420836" cy="3550000"/>
          </a:xfrm>
          <a:prstGeom prst="roundRect">
            <a:avLst>
              <a:gd name="adj" fmla="val 5000"/>
            </a:avLst>
          </a:prstGeom>
          <a:solidFill>
            <a:srgbClr val="F0F2F5"/>
          </a:solidFill>
          <a:ln>
            <a:noFill/>
          </a:ln>
        </p:spPr>
        <p:txBody>
          <a:bodyPr/>
          <a:lstStyle/>
          <a:p>
            <a:endParaRPr lang="ja-JP" altLang="en-US"/>
          </a:p>
        </p:txBody>
      </p:sp>
      <p:sp>
        <p:nvSpPr>
          <p:cNvPr id="6" name="ラベル 6"/>
          <p:cNvSpPr/>
          <p:nvPr/>
        </p:nvSpPr>
        <p:spPr>
          <a:xfrm>
            <a:off x="799545" y="2777016"/>
            <a:ext cx="1900000" cy="3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開けた感</a:t>
            </a:r>
            <a:endParaRPr lang="ja-JP" altLang="en-US" sz="1250" dirty="0">
              <a:solidFill>
                <a:srgbClr val="1E2430"/>
              </a:solidFill>
              <a:latin typeface="BIZ UDPゴシック"/>
              <a:ea typeface="BIZ UDPゴシック"/>
              <a:cs typeface="BIZ UDPゴシック"/>
            </a:endParaRPr>
          </a:p>
        </p:txBody>
      </p:sp>
      <p:sp>
        <p:nvSpPr>
          <p:cNvPr id="7" name="テキスト 7"/>
          <p:cNvSpPr txBox="1"/>
          <p:nvPr/>
        </p:nvSpPr>
        <p:spPr>
          <a:xfrm>
            <a:off x="799545" y="3247016"/>
            <a:ext cx="4820836" cy="4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850" b="1" dirty="0">
                <a:solidFill>
                  <a:srgbClr val="1E2430"/>
                </a:solidFill>
                <a:latin typeface="BIZ UDPゴシック"/>
                <a:ea typeface="BIZ UDPゴシック"/>
                <a:cs typeface="BIZ UDPゴシック"/>
              </a:rPr>
              <a:t>開いた瞬間に、音量が大きく広がる</a:t>
            </a:r>
            <a:endParaRPr lang="ja-JP" altLang="en-US" sz="1850" dirty="0">
              <a:solidFill>
                <a:srgbClr val="1E2430"/>
              </a:solidFill>
              <a:latin typeface="BIZ UDPゴシック"/>
              <a:ea typeface="BIZ UDPゴシック"/>
              <a:cs typeface="BIZ UDPゴシック"/>
            </a:endParaRPr>
          </a:p>
        </p:txBody>
      </p:sp>
      <p:sp>
        <p:nvSpPr>
          <p:cNvPr id="8" name="テキスト 8"/>
          <p:cNvSpPr txBox="1"/>
          <p:nvPr/>
        </p:nvSpPr>
        <p:spPr>
          <a:xfrm>
            <a:off x="799545" y="3757016"/>
            <a:ext cx="4820836" cy="65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少しでも開いた瞬間、開いたと思わせるために開いた瞬間のカーブを大きく、そこからはなだらかに</a:t>
            </a:r>
          </a:p>
        </p:txBody>
      </p:sp>
      <p:sp>
        <p:nvSpPr>
          <p:cNvPr id="9" name="カード 9"/>
          <p:cNvSpPr/>
          <p:nvPr/>
        </p:nvSpPr>
        <p:spPr>
          <a:xfrm>
            <a:off x="6170381" y="2527016"/>
            <a:ext cx="5420836" cy="3550000"/>
          </a:xfrm>
          <a:prstGeom prst="roundRect">
            <a:avLst>
              <a:gd name="adj" fmla="val 5000"/>
            </a:avLst>
          </a:prstGeom>
          <a:solidFill>
            <a:srgbClr val="F0F2F5"/>
          </a:solidFill>
          <a:ln>
            <a:noFill/>
          </a:ln>
        </p:spPr>
        <p:txBody>
          <a:bodyPr/>
          <a:lstStyle/>
          <a:p>
            <a:endParaRPr lang="ja-JP" altLang="en-US"/>
          </a:p>
        </p:txBody>
      </p:sp>
      <p:sp>
        <p:nvSpPr>
          <p:cNvPr id="10" name="ラベル 10"/>
          <p:cNvSpPr/>
          <p:nvPr/>
        </p:nvSpPr>
        <p:spPr>
          <a:xfrm>
            <a:off x="6470381" y="2777016"/>
            <a:ext cx="1900000" cy="3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どこまで開いたか</a:t>
            </a:r>
            <a:endParaRPr lang="ja-JP" altLang="en-US" sz="1250" dirty="0">
              <a:solidFill>
                <a:srgbClr val="1E2430"/>
              </a:solidFill>
              <a:latin typeface="BIZ UDPゴシック"/>
              <a:ea typeface="BIZ UDPゴシック"/>
              <a:cs typeface="BIZ UDPゴシック"/>
            </a:endParaRPr>
          </a:p>
        </p:txBody>
      </p:sp>
      <p:sp>
        <p:nvSpPr>
          <p:cNvPr id="11" name="テキスト 11"/>
          <p:cNvSpPr txBox="1"/>
          <p:nvPr/>
        </p:nvSpPr>
        <p:spPr>
          <a:xfrm>
            <a:off x="6470381" y="3247016"/>
            <a:ext cx="4820836" cy="4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850" b="1" dirty="0">
                <a:solidFill>
                  <a:srgbClr val="1E2430"/>
                </a:solidFill>
                <a:latin typeface="BIZ UDPゴシック"/>
                <a:ea typeface="BIZ UDPゴシック"/>
                <a:cs typeface="BIZ UDPゴシック"/>
              </a:rPr>
              <a:t>音源に対する角度で、こもるか開くか</a:t>
            </a:r>
            <a:endParaRPr lang="ja-JP" altLang="en-US" sz="1850" dirty="0">
              <a:solidFill>
                <a:srgbClr val="1E2430"/>
              </a:solidFill>
              <a:latin typeface="BIZ UDPゴシック"/>
              <a:ea typeface="BIZ UDPゴシック"/>
              <a:cs typeface="BIZ UDPゴシック"/>
            </a:endParaRPr>
          </a:p>
        </p:txBody>
      </p:sp>
      <p:sp>
        <p:nvSpPr>
          <p:cNvPr id="12" name="テキスト 12"/>
          <p:cNvSpPr txBox="1"/>
          <p:nvPr/>
        </p:nvSpPr>
        <p:spPr>
          <a:xfrm>
            <a:off x="6470381" y="3757016"/>
            <a:ext cx="4820836" cy="65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どこまで開いたかで音源に対しての音のこもり方を調節して、音源の場所や方向が伝わるように</a:t>
            </a:r>
          </a:p>
        </p:txBody>
      </p:sp>
      <p:cxnSp>
        <p:nvCxnSpPr>
          <p:cNvPr id="13" name="線 13"/>
          <p:cNvCxnSpPr/>
          <p:nvPr/>
        </p:nvCxnSpPr>
        <p:spPr>
          <a:xfrm>
            <a:off x="999545" y="5777016"/>
            <a:ext cx="4420836" cy="0"/>
          </a:xfrm>
          <a:prstGeom prst="line">
            <a:avLst/>
          </a:prstGeom>
          <a:ln w="12700" cap="rnd">
            <a:solidFill>
              <a:srgbClr val="C9CFD8"/>
            </a:solidFill>
            <a:round/>
          </a:ln>
        </p:spPr>
      </p:cxnSp>
      <p:cxnSp>
        <p:nvCxnSpPr>
          <p:cNvPr id="14" name="線 14"/>
          <p:cNvCxnSpPr/>
          <p:nvPr/>
        </p:nvCxnSpPr>
        <p:spPr>
          <a:xfrm>
            <a:off x="999545" y="4527016"/>
            <a:ext cx="0" cy="1250000"/>
          </a:xfrm>
          <a:prstGeom prst="line">
            <a:avLst/>
          </a:prstGeom>
          <a:ln w="12700" cap="rnd">
            <a:solidFill>
              <a:srgbClr val="C9CFD8"/>
            </a:solidFill>
            <a:round/>
          </a:ln>
        </p:spPr>
      </p:cxnSp>
      <p:sp>
        <p:nvSpPr>
          <p:cNvPr id="16" name="テキスト 16"/>
          <p:cNvSpPr txBox="1"/>
          <p:nvPr/>
        </p:nvSpPr>
        <p:spPr>
          <a:xfrm>
            <a:off x="549545" y="5677016"/>
            <a:ext cx="42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5C6677"/>
                </a:solidFill>
                <a:latin typeface="BIZ UDPゴシック"/>
                <a:ea typeface="BIZ UDPゴシック"/>
                <a:cs typeface="BIZ UDPゴシック"/>
              </a:rPr>
              <a:t>閉</a:t>
            </a:r>
            <a:endParaRPr lang="ja-JP" altLang="en-US" sz="1000" dirty="0">
              <a:solidFill>
                <a:srgbClr val="5C6677"/>
              </a:solidFill>
              <a:latin typeface="BIZ UDPゴシック"/>
              <a:ea typeface="BIZ UDPゴシック"/>
              <a:cs typeface="BIZ UDPゴシック"/>
            </a:endParaRPr>
          </a:p>
        </p:txBody>
      </p:sp>
      <p:sp>
        <p:nvSpPr>
          <p:cNvPr id="17" name="テキスト 17"/>
          <p:cNvSpPr txBox="1"/>
          <p:nvPr/>
        </p:nvSpPr>
        <p:spPr>
          <a:xfrm>
            <a:off x="549545" y="4427016"/>
            <a:ext cx="42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5C6677"/>
                </a:solidFill>
                <a:latin typeface="BIZ UDPゴシック"/>
                <a:ea typeface="BIZ UDPゴシック"/>
                <a:cs typeface="BIZ UDPゴシック"/>
              </a:rPr>
              <a:t>全開</a:t>
            </a:r>
            <a:endParaRPr lang="ja-JP" altLang="en-US" sz="1000" dirty="0">
              <a:solidFill>
                <a:srgbClr val="5C6677"/>
              </a:solidFill>
              <a:latin typeface="BIZ UDPゴシック"/>
              <a:ea typeface="BIZ UDPゴシック"/>
              <a:cs typeface="BIZ UDPゴシック"/>
            </a:endParaRPr>
          </a:p>
        </p:txBody>
      </p:sp>
      <p:sp>
        <p:nvSpPr>
          <p:cNvPr id="18" name="テキスト 18"/>
          <p:cNvSpPr txBox="1"/>
          <p:nvPr/>
        </p:nvSpPr>
        <p:spPr>
          <a:xfrm>
            <a:off x="999545" y="5817016"/>
            <a:ext cx="8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dirty="0">
                <a:solidFill>
                  <a:srgbClr val="5C6677"/>
                </a:solidFill>
                <a:latin typeface="BIZ UDPゴシック"/>
                <a:ea typeface="BIZ UDPゴシック"/>
                <a:cs typeface="BIZ UDPゴシック"/>
              </a:rPr>
              <a:t>0°</a:t>
            </a:r>
          </a:p>
        </p:txBody>
      </p:sp>
      <p:sp>
        <p:nvSpPr>
          <p:cNvPr id="19" name="テキスト 19"/>
          <p:cNvSpPr txBox="1"/>
          <p:nvPr/>
        </p:nvSpPr>
        <p:spPr>
          <a:xfrm>
            <a:off x="4620381" y="5817016"/>
            <a:ext cx="80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dirty="0">
                <a:solidFill>
                  <a:srgbClr val="5C6677"/>
                </a:solidFill>
                <a:latin typeface="BIZ UDPゴシック"/>
                <a:ea typeface="BIZ UDPゴシック"/>
                <a:cs typeface="BIZ UDPゴシック"/>
              </a:rPr>
              <a:t>90°</a:t>
            </a:r>
          </a:p>
        </p:txBody>
      </p:sp>
      <p:sp>
        <p:nvSpPr>
          <p:cNvPr id="22" name="面 22"/>
          <p:cNvSpPr/>
          <p:nvPr/>
        </p:nvSpPr>
        <p:spPr>
          <a:xfrm>
            <a:off x="9173619" y="4611016"/>
            <a:ext cx="1102735" cy="896000"/>
          </a:xfrm>
          <a:custGeom>
            <a:avLst/>
            <a:gdLst/>
            <a:ahLst/>
            <a:cxnLst/>
            <a:rect l="0" t="0" r="r" b="b"/>
            <a:pathLst>
              <a:path w="1102735" h="896000">
                <a:moveTo>
                  <a:pt x="0" y="496000"/>
                </a:moveTo>
                <a:lnTo>
                  <a:pt x="191103" y="0"/>
                </a:lnTo>
                <a:lnTo>
                  <a:pt x="1102735" y="0"/>
                </a:lnTo>
                <a:lnTo>
                  <a:pt x="107179" y="896000"/>
                </a:lnTo>
                <a:close/>
              </a:path>
            </a:pathLst>
          </a:custGeom>
          <a:solidFill>
            <a:srgbClr val="FBF1DF"/>
          </a:solidFill>
          <a:ln>
            <a:noFill/>
          </a:ln>
        </p:spPr>
        <p:txBody>
          <a:bodyPr/>
          <a:lstStyle/>
          <a:p>
            <a:endParaRPr lang="ja-JP" altLang="en-US"/>
          </a:p>
        </p:txBody>
      </p:sp>
      <p:sp>
        <p:nvSpPr>
          <p:cNvPr id="23" name="壁 23"/>
          <p:cNvSpPr/>
          <p:nvPr/>
        </p:nvSpPr>
        <p:spPr>
          <a:xfrm>
            <a:off x="6480799" y="5487016"/>
            <a:ext cx="2000000" cy="40000"/>
          </a:xfrm>
          <a:prstGeom prst="rect">
            <a:avLst/>
          </a:prstGeom>
          <a:solidFill>
            <a:srgbClr val="9AA3B0"/>
          </a:solidFill>
          <a:ln>
            <a:noFill/>
          </a:ln>
        </p:spPr>
        <p:txBody>
          <a:bodyPr/>
          <a:lstStyle/>
          <a:p>
            <a:endParaRPr lang="ja-JP" altLang="en-US"/>
          </a:p>
        </p:txBody>
      </p:sp>
      <p:sp>
        <p:nvSpPr>
          <p:cNvPr id="24" name="壁 24"/>
          <p:cNvSpPr/>
          <p:nvPr/>
        </p:nvSpPr>
        <p:spPr>
          <a:xfrm>
            <a:off x="9280799" y="5487016"/>
            <a:ext cx="2000000" cy="40000"/>
          </a:xfrm>
          <a:prstGeom prst="rect">
            <a:avLst/>
          </a:prstGeom>
          <a:solidFill>
            <a:srgbClr val="9AA3B0"/>
          </a:solidFill>
          <a:ln>
            <a:noFill/>
          </a:ln>
        </p:spPr>
        <p:txBody>
          <a:bodyPr/>
          <a:lstStyle/>
          <a:p>
            <a:endParaRPr lang="ja-JP" altLang="en-US"/>
          </a:p>
        </p:txBody>
      </p:sp>
      <p:cxnSp>
        <p:nvCxnSpPr>
          <p:cNvPr id="25" name="線 25"/>
          <p:cNvCxnSpPr/>
          <p:nvPr/>
        </p:nvCxnSpPr>
        <p:spPr>
          <a:xfrm flipV="1">
            <a:off x="8480799" y="5107016"/>
            <a:ext cx="692820" cy="400000"/>
          </a:xfrm>
          <a:prstGeom prst="line">
            <a:avLst/>
          </a:prstGeom>
          <a:ln w="44450" cap="rnd">
            <a:solidFill>
              <a:srgbClr val="1E2430"/>
            </a:solidFill>
            <a:round/>
          </a:ln>
        </p:spPr>
      </p:cxnSp>
      <p:sp>
        <p:nvSpPr>
          <p:cNvPr id="26" name="番号 26"/>
          <p:cNvSpPr/>
          <p:nvPr/>
        </p:nvSpPr>
        <p:spPr>
          <a:xfrm>
            <a:off x="8265857" y="4788538"/>
            <a:ext cx="150000" cy="150000"/>
          </a:xfrm>
          <a:prstGeom prst="ellipse">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7" name="テキスト 27"/>
          <p:cNvSpPr txBox="1"/>
          <p:nvPr/>
        </p:nvSpPr>
        <p:spPr>
          <a:xfrm>
            <a:off x="7440857" y="4763538"/>
            <a:ext cx="78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50" b="1" dirty="0">
                <a:solidFill>
                  <a:srgbClr val="5C6677"/>
                </a:solidFill>
                <a:latin typeface="BIZ UDPゴシック"/>
                <a:ea typeface="BIZ UDPゴシック"/>
                <a:cs typeface="BIZ UDPゴシック"/>
              </a:rPr>
              <a:t>こもる</a:t>
            </a:r>
            <a:endParaRPr lang="ja-JP" altLang="en-US" sz="1050" dirty="0">
              <a:solidFill>
                <a:srgbClr val="5C6677"/>
              </a:solidFill>
              <a:latin typeface="BIZ UDPゴシック"/>
              <a:ea typeface="BIZ UDPゴシック"/>
              <a:cs typeface="BIZ UDPゴシック"/>
            </a:endParaRPr>
          </a:p>
        </p:txBody>
      </p:sp>
      <p:sp>
        <p:nvSpPr>
          <p:cNvPr id="28" name="番号 28"/>
          <p:cNvSpPr/>
          <p:nvPr/>
        </p:nvSpPr>
        <p:spPr>
          <a:xfrm>
            <a:off x="8805799" y="4592016"/>
            <a:ext cx="150000" cy="150000"/>
          </a:xfrm>
          <a:prstGeom prst="ellipse">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9" name="テキスト 29"/>
          <p:cNvSpPr txBox="1"/>
          <p:nvPr/>
        </p:nvSpPr>
        <p:spPr>
          <a:xfrm>
            <a:off x="9010799" y="4567016"/>
            <a:ext cx="8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50" b="1" dirty="0">
                <a:solidFill>
                  <a:srgbClr val="5C6677"/>
                </a:solidFill>
                <a:latin typeface="BIZ UDPゴシック"/>
                <a:ea typeface="BIZ UDPゴシック"/>
                <a:cs typeface="BIZ UDPゴシック"/>
              </a:rPr>
              <a:t>こもる</a:t>
            </a:r>
            <a:endParaRPr lang="ja-JP" altLang="en-US" sz="1050" dirty="0">
              <a:solidFill>
                <a:srgbClr val="5C6677"/>
              </a:solidFill>
              <a:latin typeface="BIZ UDPゴシック"/>
              <a:ea typeface="BIZ UDPゴシック"/>
              <a:cs typeface="BIZ UDPゴシック"/>
            </a:endParaRPr>
          </a:p>
        </p:txBody>
      </p:sp>
      <p:sp>
        <p:nvSpPr>
          <p:cNvPr id="30" name="番号 30"/>
          <p:cNvSpPr/>
          <p:nvPr/>
        </p:nvSpPr>
        <p:spPr>
          <a:xfrm>
            <a:off x="9302954" y="4750086"/>
            <a:ext cx="190000" cy="19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1" name="テキスト 31"/>
          <p:cNvSpPr txBox="1"/>
          <p:nvPr/>
        </p:nvSpPr>
        <p:spPr>
          <a:xfrm>
            <a:off x="9527954" y="4745086"/>
            <a:ext cx="8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50" b="1" dirty="0">
                <a:solidFill>
                  <a:srgbClr val="9A6212"/>
                </a:solidFill>
                <a:latin typeface="BIZ UDPゴシック"/>
                <a:ea typeface="BIZ UDPゴシック"/>
                <a:cs typeface="BIZ UDPゴシック"/>
              </a:rPr>
              <a:t>開く</a:t>
            </a:r>
            <a:endParaRPr lang="ja-JP" altLang="en-US" sz="1050" dirty="0">
              <a:solidFill>
                <a:srgbClr val="9A6212"/>
              </a:solidFill>
              <a:latin typeface="BIZ UDPゴシック"/>
              <a:ea typeface="BIZ UDPゴシック"/>
              <a:cs typeface="BIZ UDPゴシック"/>
            </a:endParaRPr>
          </a:p>
        </p:txBody>
      </p:sp>
      <p:sp>
        <p:nvSpPr>
          <p:cNvPr id="32" name="番号 32"/>
          <p:cNvSpPr/>
          <p:nvPr/>
        </p:nvSpPr>
        <p:spPr>
          <a:xfrm>
            <a:off x="8805799" y="5792016"/>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3" name="テキスト 33"/>
          <p:cNvSpPr txBox="1"/>
          <p:nvPr/>
        </p:nvSpPr>
        <p:spPr>
          <a:xfrm>
            <a:off x="8990799" y="5767016"/>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耳</a:t>
            </a:r>
            <a:endParaRPr lang="ja-JP" altLang="en-US" sz="1000" dirty="0">
              <a:solidFill>
                <a:srgbClr val="1E2430"/>
              </a:solidFill>
              <a:latin typeface="BIZ UDPゴシック"/>
              <a:ea typeface="BIZ UDPゴシック"/>
              <a:cs typeface="BIZ UDPゴシック"/>
            </a:endParaRPr>
          </a:p>
        </p:txBody>
      </p:sp>
      <p:sp>
        <p:nvSpPr>
          <p:cNvPr id="34" name="テキスト 34"/>
          <p:cNvSpPr txBox="1"/>
          <p:nvPr/>
        </p:nvSpPr>
        <p:spPr>
          <a:xfrm>
            <a:off x="7780799" y="5227016"/>
            <a:ext cx="65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dirty="0">
                <a:solidFill>
                  <a:srgbClr val="5C6677"/>
                </a:solidFill>
                <a:latin typeface="BIZ UDPゴシック"/>
                <a:ea typeface="BIZ UDPゴシック"/>
                <a:cs typeface="BIZ UDPゴシック"/>
              </a:rPr>
              <a:t>蝶番</a:t>
            </a:r>
          </a:p>
        </p:txBody>
      </p:sp>
      <p:sp>
        <p:nvSpPr>
          <p:cNvPr id="37" name="テキスト ボックス 36">
            <a:extLst>
              <a:ext uri="{FF2B5EF4-FFF2-40B4-BE49-F238E27FC236}">
                <a16:creationId xmlns:a16="http://schemas.microsoft.com/office/drawing/2014/main" id="{9B80E292-9C19-69FA-D979-5630C04A7EDE}"/>
              </a:ext>
            </a:extLst>
          </p:cNvPr>
          <p:cNvSpPr txBox="1"/>
          <p:nvPr/>
        </p:nvSpPr>
        <p:spPr>
          <a:xfrm>
            <a:off x="548640" y="2000538"/>
            <a:ext cx="1747591" cy="369332"/>
          </a:xfrm>
          <a:prstGeom prst="rect">
            <a:avLst/>
          </a:prstGeom>
          <a:noFill/>
        </p:spPr>
        <p:txBody>
          <a:bodyPr wrap="square" rtlCol="0">
            <a:spAutoFit/>
          </a:bodyPr>
          <a:lstStyle/>
          <a:p>
            <a:r>
              <a:rPr kumimoji="1" lang="ja-JP" altLang="en-US" b="1" dirty="0">
                <a:latin typeface="BIZ UDPゴシック" panose="020B0400000000000000" pitchFamily="50" charset="-128"/>
                <a:ea typeface="BIZ UDPゴシック" panose="020B0400000000000000" pitchFamily="50" charset="-128"/>
              </a:rPr>
              <a:t>一つ目</a:t>
            </a:r>
          </a:p>
        </p:txBody>
      </p:sp>
      <p:sp>
        <p:nvSpPr>
          <p:cNvPr id="38" name="テキスト ボックス 37">
            <a:extLst>
              <a:ext uri="{FF2B5EF4-FFF2-40B4-BE49-F238E27FC236}">
                <a16:creationId xmlns:a16="http://schemas.microsoft.com/office/drawing/2014/main" id="{07C1BD18-5BEE-8C70-8663-88A79570CEA2}"/>
              </a:ext>
            </a:extLst>
          </p:cNvPr>
          <p:cNvSpPr txBox="1"/>
          <p:nvPr/>
        </p:nvSpPr>
        <p:spPr>
          <a:xfrm>
            <a:off x="6170381" y="2000538"/>
            <a:ext cx="1747591" cy="369332"/>
          </a:xfrm>
          <a:prstGeom prst="rect">
            <a:avLst/>
          </a:prstGeom>
          <a:noFill/>
        </p:spPr>
        <p:txBody>
          <a:bodyPr wrap="square" rtlCol="0">
            <a:spAutoFit/>
          </a:bodyPr>
          <a:lstStyle/>
          <a:p>
            <a:r>
              <a:rPr lang="ja-JP" altLang="en-US" b="1" dirty="0">
                <a:latin typeface="BIZ UDPゴシック" panose="020B0400000000000000" pitchFamily="50" charset="-128"/>
                <a:ea typeface="BIZ UDPゴシック" panose="020B0400000000000000" pitchFamily="50" charset="-128"/>
              </a:rPr>
              <a:t>二</a:t>
            </a:r>
            <a:r>
              <a:rPr kumimoji="1" lang="ja-JP" altLang="en-US" b="1" dirty="0">
                <a:latin typeface="BIZ UDPゴシック" panose="020B0400000000000000" pitchFamily="50" charset="-128"/>
                <a:ea typeface="BIZ UDPゴシック" panose="020B0400000000000000" pitchFamily="50" charset="-128"/>
              </a:rPr>
              <a:t>つ目</a:t>
            </a:r>
          </a:p>
        </p:txBody>
      </p:sp>
      <p:sp>
        <p:nvSpPr>
          <p:cNvPr id="81" name="折れ線 81"/>
          <p:cNvSpPr/>
          <p:nvPr/>
        </p:nvSpPr>
        <p:spPr>
          <a:xfrm>
            <a:off x="999545" y="4527016"/>
            <a:ext cx="4420836" cy="1250000"/>
          </a:xfrm>
          <a:custGeom>
            <a:avLst/>
            <a:gdLst/>
            <a:ahLst/>
            <a:cxnLst/>
            <a:rect l="0" t="0" r="r" b="b"/>
            <a:pathLst>
              <a:path w="4420836" h="1250000" fill="none">
                <a:moveTo>
                  <a:pt x="0" y="1250000"/>
                </a:moveTo>
                <a:lnTo>
                  <a:pt x="49120" y="1250000"/>
                </a:lnTo>
                <a:lnTo>
                  <a:pt x="98240" y="1250000"/>
                </a:lnTo>
                <a:lnTo>
                  <a:pt x="147361" y="1211916"/>
                </a:lnTo>
                <a:lnTo>
                  <a:pt x="196481" y="1113702"/>
                </a:lnTo>
                <a:lnTo>
                  <a:pt x="245602" y="979409"/>
                </a:lnTo>
                <a:lnTo>
                  <a:pt x="294722" y="833090"/>
                </a:lnTo>
                <a:lnTo>
                  <a:pt x="343842" y="698797"/>
                </a:lnTo>
                <a:lnTo>
                  <a:pt x="392963" y="600583"/>
                </a:lnTo>
                <a:lnTo>
                  <a:pt x="442083" y="562500"/>
                </a:lnTo>
                <a:lnTo>
                  <a:pt x="589444" y="546204"/>
                </a:lnTo>
                <a:lnTo>
                  <a:pt x="736806" y="523743"/>
                </a:lnTo>
                <a:lnTo>
                  <a:pt x="982408" y="479819"/>
                </a:lnTo>
                <a:lnTo>
                  <a:pt x="1228010" y="430428"/>
                </a:lnTo>
                <a:lnTo>
                  <a:pt x="1473612" y="376961"/>
                </a:lnTo>
                <a:lnTo>
                  <a:pt x="1719214" y="320187"/>
                </a:lnTo>
                <a:lnTo>
                  <a:pt x="1964816" y="260600"/>
                </a:lnTo>
                <a:lnTo>
                  <a:pt x="2210418" y="198553"/>
                </a:lnTo>
                <a:lnTo>
                  <a:pt x="2456020" y="134306"/>
                </a:lnTo>
                <a:lnTo>
                  <a:pt x="2701622" y="68067"/>
                </a:lnTo>
                <a:lnTo>
                  <a:pt x="2947224" y="0"/>
                </a:lnTo>
                <a:lnTo>
                  <a:pt x="3438428" y="0"/>
                </a:lnTo>
                <a:lnTo>
                  <a:pt x="3929632" y="0"/>
                </a:lnTo>
                <a:lnTo>
                  <a:pt x="4420836" y="0"/>
                </a:lnTo>
              </a:path>
            </a:pathLst>
          </a:custGeom>
          <a:noFill/>
          <a:ln w="38100" cap="rnd">
            <a:solidFill>
              <a:srgbClr val="E3A33B"/>
            </a:solidFill>
            <a:round/>
          </a:ln>
        </p:spPr>
        <p:txBody>
          <a:bodyPr/>
          <a:lstStyle/>
          <a:p>
            <a:endParaRPr lang="ja-JP" altLang="en-US"/>
          </a:p>
        </p:txBody>
      </p:sp>
      <p:sp>
        <p:nvSpPr>
          <p:cNvPr id="82" name="テキスト 82"/>
          <p:cNvSpPr txBox="1"/>
          <p:nvPr/>
        </p:nvSpPr>
        <p:spPr>
          <a:xfrm>
            <a:off x="1501628" y="5149516"/>
            <a:ext cx="1900000" cy="2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b="1" dirty="0">
                <a:solidFill>
                  <a:srgbClr val="9A6212"/>
                </a:solidFill>
                <a:latin typeface="BIZ UDPゴシック"/>
                <a:ea typeface="BIZ UDPゴシック"/>
                <a:cs typeface="BIZ UDPゴシック"/>
              </a:rPr>
              <a:t>開いた瞬間に大きく</a:t>
            </a:r>
            <a:endParaRPr lang="ja-JP" altLang="en-US" sz="1100" dirty="0">
              <a:solidFill>
                <a:srgbClr val="9A6212"/>
              </a:solidFill>
              <a:latin typeface="BIZ UDPゴシック"/>
              <a:ea typeface="BIZ UDPゴシック"/>
              <a:cs typeface="BIZ UDPゴシック"/>
            </a:endParaRPr>
          </a:p>
        </p:txBody>
      </p:sp>
      <p:sp>
        <p:nvSpPr>
          <p:cNvPr id="83" name="テキスト 83"/>
          <p:cNvSpPr txBox="1"/>
          <p:nvPr/>
        </p:nvSpPr>
        <p:spPr>
          <a:xfrm>
            <a:off x="2374916" y="4414516"/>
            <a:ext cx="2000000" cy="2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b="1" dirty="0">
                <a:solidFill>
                  <a:srgbClr val="5C6677"/>
                </a:solidFill>
                <a:latin typeface="BIZ UDPゴシック"/>
                <a:ea typeface="BIZ UDPゴシック"/>
                <a:cs typeface="BIZ UDPゴシック"/>
              </a:rPr>
              <a:t>そのあとはなだらか</a:t>
            </a:r>
            <a:endParaRPr lang="ja-JP" altLang="en-US" sz="1100" dirty="0">
              <a:solidFill>
                <a:srgbClr val="5C6677"/>
              </a:solidFill>
              <a:latin typeface="BIZ UDPゴシック"/>
              <a:ea typeface="BIZ UDPゴシック"/>
              <a:cs typeface="BIZ UDPゴシック"/>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03　技術選定　｜　ドアの開閉　｜　② 音量</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開いた瞬間にドアが開いたが伝わるように</a:t>
            </a:r>
            <a:endParaRPr lang="ja-JP" altLang="en-US" sz="2600" dirty="0">
              <a:solidFill>
                <a:srgbClr val="1E2430"/>
              </a:solidFill>
              <a:latin typeface="BIZ UDPゴシック"/>
              <a:ea typeface="BIZ UDPゴシック"/>
              <a:cs typeface="BIZ UDPゴシック"/>
            </a:endParaRPr>
          </a:p>
        </p:txBody>
      </p:sp>
      <p:sp>
        <p:nvSpPr>
          <p:cNvPr id="4" name="テキスト 4"/>
          <p:cNvSpPr txBox="1"/>
          <p:nvPr/>
        </p:nvSpPr>
        <p:spPr>
          <a:xfrm>
            <a:off x="548640" y="1240000"/>
            <a:ext cx="11091672" cy="560000"/>
          </a:xfrm>
          <a:prstGeom prst="rect">
            <a:avLst/>
          </a:prstGeom>
          <a:noFill/>
          <a:ln>
            <a:noFill/>
          </a:ln>
        </p:spPr>
        <p:txBody>
          <a:bodyPr wrap="square" lIns="0" tIns="0" rIns="0" bIns="0" rtlCol="0" anchor="t">
            <a:noAutofit/>
          </a:bodyPr>
          <a:lstStyle/>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「開けた」が伝わるのは、閉じている状態との差がいちばん大きい開き始め。</a:t>
            </a:r>
          </a:p>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これでドアを開けた瞬間や、ドアが閉まりきってないなどを伝わりやすく</a:t>
            </a:r>
          </a:p>
        </p:txBody>
      </p:sp>
      <p:sp>
        <p:nvSpPr>
          <p:cNvPr id="5" name="カード 5"/>
          <p:cNvSpPr/>
          <p:nvPr/>
        </p:nvSpPr>
        <p:spPr>
          <a:xfrm>
            <a:off x="548640" y="1850000"/>
            <a:ext cx="5350000" cy="2900000"/>
          </a:xfrm>
          <a:prstGeom prst="roundRect">
            <a:avLst>
              <a:gd name="adj" fmla="val 5000"/>
            </a:avLst>
          </a:prstGeom>
          <a:solidFill>
            <a:srgbClr val="F0F2F5"/>
          </a:solidFill>
          <a:ln>
            <a:noFill/>
          </a:ln>
        </p:spPr>
        <p:txBody>
          <a:bodyPr/>
          <a:lstStyle/>
          <a:p>
            <a:endParaRPr lang="ja-JP" altLang="en-US"/>
          </a:p>
        </p:txBody>
      </p:sp>
      <p:sp>
        <p:nvSpPr>
          <p:cNvPr id="6" name="テキスト 6"/>
          <p:cNvSpPr txBox="1"/>
          <p:nvPr/>
        </p:nvSpPr>
        <p:spPr>
          <a:xfrm>
            <a:off x="798640" y="2000000"/>
            <a:ext cx="485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開き角と音量（模式図）</a:t>
            </a:r>
            <a:endParaRPr lang="ja-JP" altLang="en-US" sz="1300" dirty="0">
              <a:solidFill>
                <a:srgbClr val="1E2430"/>
              </a:solidFill>
              <a:latin typeface="BIZ UDPゴシック"/>
              <a:ea typeface="BIZ UDPゴシック"/>
              <a:cs typeface="BIZ UDPゴシック"/>
            </a:endParaRPr>
          </a:p>
        </p:txBody>
      </p:sp>
      <p:sp>
        <p:nvSpPr>
          <p:cNvPr id="7" name="区間 7"/>
          <p:cNvSpPr/>
          <p:nvPr/>
        </p:nvSpPr>
        <p:spPr>
          <a:xfrm>
            <a:off x="1278640" y="2400000"/>
            <a:ext cx="97555" cy="2000000"/>
          </a:xfrm>
          <a:prstGeom prst="rect">
            <a:avLst/>
          </a:prstGeom>
          <a:solidFill>
            <a:srgbClr val="E6E9EE"/>
          </a:solidFill>
          <a:ln>
            <a:noFill/>
          </a:ln>
        </p:spPr>
        <p:txBody>
          <a:bodyPr/>
          <a:lstStyle/>
          <a:p>
            <a:endParaRPr lang="ja-JP" altLang="en-US"/>
          </a:p>
        </p:txBody>
      </p:sp>
      <p:sp>
        <p:nvSpPr>
          <p:cNvPr id="8" name="区間 8"/>
          <p:cNvSpPr/>
          <p:nvPr/>
        </p:nvSpPr>
        <p:spPr>
          <a:xfrm>
            <a:off x="1376195" y="2400000"/>
            <a:ext cx="341444" cy="2000000"/>
          </a:xfrm>
          <a:prstGeom prst="rect">
            <a:avLst/>
          </a:prstGeom>
          <a:solidFill>
            <a:srgbClr val="FBF1DF"/>
          </a:solidFill>
          <a:ln>
            <a:noFill/>
          </a:ln>
        </p:spPr>
        <p:txBody>
          <a:bodyPr/>
          <a:lstStyle/>
          <a:p>
            <a:endParaRPr lang="ja-JP" altLang="en-US"/>
          </a:p>
        </p:txBody>
      </p:sp>
      <p:sp>
        <p:nvSpPr>
          <p:cNvPr id="9" name="区間 9"/>
          <p:cNvSpPr/>
          <p:nvPr/>
        </p:nvSpPr>
        <p:spPr>
          <a:xfrm>
            <a:off x="4205306" y="2400000"/>
            <a:ext cx="1463333" cy="2000000"/>
          </a:xfrm>
          <a:prstGeom prst="rect">
            <a:avLst/>
          </a:prstGeom>
          <a:solidFill>
            <a:srgbClr val="E6E9EE"/>
          </a:solidFill>
          <a:ln>
            <a:noFill/>
          </a:ln>
        </p:spPr>
        <p:txBody>
          <a:bodyPr/>
          <a:lstStyle/>
          <a:p>
            <a:endParaRPr lang="ja-JP" altLang="en-US"/>
          </a:p>
        </p:txBody>
      </p:sp>
      <p:cxnSp>
        <p:nvCxnSpPr>
          <p:cNvPr id="10" name="線 10"/>
          <p:cNvCxnSpPr/>
          <p:nvPr/>
        </p:nvCxnSpPr>
        <p:spPr>
          <a:xfrm>
            <a:off x="1278640" y="2700000"/>
            <a:ext cx="4390000" cy="0"/>
          </a:xfrm>
          <a:prstGeom prst="line">
            <a:avLst/>
          </a:prstGeom>
          <a:ln w="9525" cap="rnd">
            <a:solidFill>
              <a:srgbClr val="C9CFD8"/>
            </a:solidFill>
            <a:prstDash val="dash"/>
            <a:round/>
          </a:ln>
        </p:spPr>
      </p:cxnSp>
      <p:sp>
        <p:nvSpPr>
          <p:cNvPr id="11" name="テキスト 11"/>
          <p:cNvSpPr txBox="1"/>
          <p:nvPr/>
        </p:nvSpPr>
        <p:spPr>
          <a:xfrm>
            <a:off x="628640" y="2610000"/>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0 dB</a:t>
            </a:r>
          </a:p>
        </p:txBody>
      </p:sp>
      <p:cxnSp>
        <p:nvCxnSpPr>
          <p:cNvPr id="12" name="線 12"/>
          <p:cNvCxnSpPr/>
          <p:nvPr/>
        </p:nvCxnSpPr>
        <p:spPr>
          <a:xfrm>
            <a:off x="1278640" y="3500000"/>
            <a:ext cx="4390000" cy="0"/>
          </a:xfrm>
          <a:prstGeom prst="line">
            <a:avLst/>
          </a:prstGeom>
          <a:ln w="9525" cap="rnd">
            <a:solidFill>
              <a:srgbClr val="C9CFD8"/>
            </a:solidFill>
            <a:prstDash val="dash"/>
            <a:round/>
          </a:ln>
        </p:spPr>
      </p:cxnSp>
      <p:sp>
        <p:nvSpPr>
          <p:cNvPr id="13" name="テキスト 13"/>
          <p:cNvSpPr txBox="1"/>
          <p:nvPr/>
        </p:nvSpPr>
        <p:spPr>
          <a:xfrm>
            <a:off x="628640" y="3410000"/>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-10 dB</a:t>
            </a:r>
          </a:p>
        </p:txBody>
      </p:sp>
      <p:cxnSp>
        <p:nvCxnSpPr>
          <p:cNvPr id="14" name="線 14"/>
          <p:cNvCxnSpPr/>
          <p:nvPr/>
        </p:nvCxnSpPr>
        <p:spPr>
          <a:xfrm>
            <a:off x="1278640" y="4300000"/>
            <a:ext cx="4390000" cy="0"/>
          </a:xfrm>
          <a:prstGeom prst="line">
            <a:avLst/>
          </a:prstGeom>
          <a:ln w="9525" cap="rnd">
            <a:solidFill>
              <a:srgbClr val="C9CFD8"/>
            </a:solidFill>
            <a:prstDash val="dash"/>
            <a:round/>
          </a:ln>
        </p:spPr>
      </p:cxnSp>
      <p:sp>
        <p:nvSpPr>
          <p:cNvPr id="15" name="テキスト 15"/>
          <p:cNvSpPr txBox="1"/>
          <p:nvPr/>
        </p:nvSpPr>
        <p:spPr>
          <a:xfrm>
            <a:off x="628640" y="4210000"/>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-20 dB</a:t>
            </a:r>
          </a:p>
        </p:txBody>
      </p:sp>
      <p:sp>
        <p:nvSpPr>
          <p:cNvPr id="16" name="テキスト 16"/>
          <p:cNvSpPr txBox="1"/>
          <p:nvPr/>
        </p:nvSpPr>
        <p:spPr>
          <a:xfrm>
            <a:off x="1028640"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0°</a:t>
            </a:r>
          </a:p>
        </p:txBody>
      </p:sp>
      <p:sp>
        <p:nvSpPr>
          <p:cNvPr id="17" name="テキスト 17"/>
          <p:cNvSpPr txBox="1"/>
          <p:nvPr/>
        </p:nvSpPr>
        <p:spPr>
          <a:xfrm>
            <a:off x="2491973"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30°</a:t>
            </a:r>
          </a:p>
        </p:txBody>
      </p:sp>
      <p:sp>
        <p:nvSpPr>
          <p:cNvPr id="18" name="テキスト 18"/>
          <p:cNvSpPr txBox="1"/>
          <p:nvPr/>
        </p:nvSpPr>
        <p:spPr>
          <a:xfrm>
            <a:off x="3955306"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60°</a:t>
            </a:r>
          </a:p>
        </p:txBody>
      </p:sp>
      <p:sp>
        <p:nvSpPr>
          <p:cNvPr id="19" name="テキスト 19"/>
          <p:cNvSpPr txBox="1"/>
          <p:nvPr/>
        </p:nvSpPr>
        <p:spPr>
          <a:xfrm>
            <a:off x="5418640"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90°</a:t>
            </a:r>
          </a:p>
        </p:txBody>
      </p:sp>
      <p:sp>
        <p:nvSpPr>
          <p:cNvPr id="20" name="折れ線 20"/>
          <p:cNvSpPr/>
          <p:nvPr/>
        </p:nvSpPr>
        <p:spPr>
          <a:xfrm>
            <a:off x="1278640" y="2700000"/>
            <a:ext cx="4390000" cy="1600000"/>
          </a:xfrm>
          <a:custGeom>
            <a:avLst/>
            <a:gdLst/>
            <a:ahLst/>
            <a:cxnLst/>
            <a:rect l="0" t="0" r="r" b="b"/>
            <a:pathLst>
              <a:path w="4390000" h="1600000" fill="none">
                <a:moveTo>
                  <a:pt x="0" y="1600000"/>
                </a:moveTo>
                <a:lnTo>
                  <a:pt x="48777" y="1600000"/>
                </a:lnTo>
                <a:lnTo>
                  <a:pt x="97555" y="1600000"/>
                </a:lnTo>
                <a:lnTo>
                  <a:pt x="146333" y="1551253"/>
                </a:lnTo>
                <a:lnTo>
                  <a:pt x="195111" y="1425539"/>
                </a:lnTo>
                <a:lnTo>
                  <a:pt x="243888" y="1253644"/>
                </a:lnTo>
                <a:lnTo>
                  <a:pt x="292666" y="1066355"/>
                </a:lnTo>
                <a:lnTo>
                  <a:pt x="341444" y="894460"/>
                </a:lnTo>
                <a:lnTo>
                  <a:pt x="390222" y="768746"/>
                </a:lnTo>
                <a:lnTo>
                  <a:pt x="439000" y="720000"/>
                </a:lnTo>
                <a:lnTo>
                  <a:pt x="585333" y="699142"/>
                </a:lnTo>
                <a:lnTo>
                  <a:pt x="731666" y="670391"/>
                </a:lnTo>
                <a:lnTo>
                  <a:pt x="975555" y="614169"/>
                </a:lnTo>
                <a:lnTo>
                  <a:pt x="1219444" y="550948"/>
                </a:lnTo>
                <a:lnTo>
                  <a:pt x="1463333" y="482510"/>
                </a:lnTo>
                <a:lnTo>
                  <a:pt x="1707222" y="409839"/>
                </a:lnTo>
                <a:lnTo>
                  <a:pt x="1951111" y="333569"/>
                </a:lnTo>
                <a:lnTo>
                  <a:pt x="2195000" y="254148"/>
                </a:lnTo>
                <a:lnTo>
                  <a:pt x="2438888" y="171912"/>
                </a:lnTo>
                <a:lnTo>
                  <a:pt x="2682777" y="87126"/>
                </a:lnTo>
                <a:lnTo>
                  <a:pt x="2926666" y="0"/>
                </a:lnTo>
                <a:lnTo>
                  <a:pt x="3414444" y="0"/>
                </a:lnTo>
                <a:lnTo>
                  <a:pt x="3902222" y="0"/>
                </a:lnTo>
                <a:lnTo>
                  <a:pt x="4390000" y="0"/>
                </a:lnTo>
              </a:path>
            </a:pathLst>
          </a:custGeom>
          <a:noFill/>
          <a:ln w="44450" cap="rnd">
            <a:solidFill>
              <a:srgbClr val="E3A33B"/>
            </a:solidFill>
            <a:round/>
          </a:ln>
        </p:spPr>
        <p:txBody>
          <a:bodyPr/>
          <a:lstStyle/>
          <a:p>
            <a:endParaRPr lang="ja-JP" altLang="en-US"/>
          </a:p>
        </p:txBody>
      </p:sp>
      <p:sp>
        <p:nvSpPr>
          <p:cNvPr id="21" name="テキスト 21"/>
          <p:cNvSpPr txBox="1"/>
          <p:nvPr/>
        </p:nvSpPr>
        <p:spPr>
          <a:xfrm>
            <a:off x="948640" y="2420000"/>
            <a:ext cx="300000" cy="24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①</a:t>
            </a:r>
            <a:endParaRPr lang="ja-JP" altLang="en-US" sz="1000" dirty="0">
              <a:solidFill>
                <a:srgbClr val="1E2430"/>
              </a:solidFill>
              <a:latin typeface="BIZ UDPゴシック"/>
              <a:ea typeface="BIZ UDPゴシック"/>
              <a:cs typeface="BIZ UDPゴシック"/>
            </a:endParaRPr>
          </a:p>
        </p:txBody>
      </p:sp>
      <p:sp>
        <p:nvSpPr>
          <p:cNvPr id="22" name="テキスト 22"/>
          <p:cNvSpPr txBox="1"/>
          <p:nvPr/>
        </p:nvSpPr>
        <p:spPr>
          <a:xfrm>
            <a:off x="1406195" y="2420000"/>
            <a:ext cx="1300000" cy="24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9A6212"/>
                </a:solidFill>
                <a:latin typeface="BIZ UDPゴシック"/>
                <a:ea typeface="BIZ UDPゴシック"/>
                <a:cs typeface="BIZ UDPゴシック"/>
              </a:rPr>
              <a:t>②</a:t>
            </a:r>
            <a:endParaRPr lang="ja-JP" altLang="en-US" sz="1000" dirty="0">
              <a:solidFill>
                <a:srgbClr val="9A6212"/>
              </a:solidFill>
              <a:latin typeface="BIZ UDPゴシック"/>
              <a:ea typeface="BIZ UDPゴシック"/>
              <a:cs typeface="BIZ UDPゴシック"/>
            </a:endParaRPr>
          </a:p>
        </p:txBody>
      </p:sp>
      <p:sp>
        <p:nvSpPr>
          <p:cNvPr id="23" name="テキスト 23"/>
          <p:cNvSpPr txBox="1"/>
          <p:nvPr/>
        </p:nvSpPr>
        <p:spPr>
          <a:xfrm>
            <a:off x="4255306" y="2420000"/>
            <a:ext cx="1300000" cy="24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③</a:t>
            </a:r>
            <a:endParaRPr lang="ja-JP" altLang="en-US" sz="1000" dirty="0">
              <a:solidFill>
                <a:srgbClr val="1E2430"/>
              </a:solidFill>
              <a:latin typeface="BIZ UDPゴシック"/>
              <a:ea typeface="BIZ UDPゴシック"/>
              <a:cs typeface="BIZ UDPゴシック"/>
            </a:endParaRPr>
          </a:p>
        </p:txBody>
      </p:sp>
      <p:cxnSp>
        <p:nvCxnSpPr>
          <p:cNvPr id="24" name="線 24"/>
          <p:cNvCxnSpPr/>
          <p:nvPr/>
        </p:nvCxnSpPr>
        <p:spPr>
          <a:xfrm>
            <a:off x="1376195" y="4360000"/>
            <a:ext cx="341444" cy="0"/>
          </a:xfrm>
          <a:prstGeom prst="line">
            <a:avLst/>
          </a:prstGeom>
          <a:ln w="19050" cap="rnd">
            <a:solidFill>
              <a:srgbClr val="9A6212"/>
            </a:solidFill>
            <a:round/>
          </a:ln>
        </p:spPr>
      </p:cxnSp>
      <p:cxnSp>
        <p:nvCxnSpPr>
          <p:cNvPr id="25" name="線 25"/>
          <p:cNvCxnSpPr/>
          <p:nvPr/>
        </p:nvCxnSpPr>
        <p:spPr>
          <a:xfrm>
            <a:off x="1376195" y="4310000"/>
            <a:ext cx="0" cy="100000"/>
          </a:xfrm>
          <a:prstGeom prst="line">
            <a:avLst/>
          </a:prstGeom>
          <a:ln w="19050" cap="rnd">
            <a:solidFill>
              <a:srgbClr val="9A6212"/>
            </a:solidFill>
            <a:round/>
          </a:ln>
        </p:spPr>
      </p:cxnSp>
      <p:cxnSp>
        <p:nvCxnSpPr>
          <p:cNvPr id="26" name="線 26"/>
          <p:cNvCxnSpPr/>
          <p:nvPr/>
        </p:nvCxnSpPr>
        <p:spPr>
          <a:xfrm>
            <a:off x="1717640" y="4310000"/>
            <a:ext cx="0" cy="100000"/>
          </a:xfrm>
          <a:prstGeom prst="line">
            <a:avLst/>
          </a:prstGeom>
          <a:ln w="19050" cap="rnd">
            <a:solidFill>
              <a:srgbClr val="9A6212"/>
            </a:solidFill>
            <a:round/>
          </a:ln>
        </p:spPr>
      </p:cxnSp>
      <p:sp>
        <p:nvSpPr>
          <p:cNvPr id="27" name="フェード 27"/>
          <p:cNvSpPr/>
          <p:nvPr/>
        </p:nvSpPr>
        <p:spPr>
          <a:xfrm>
            <a:off x="1917640" y="3610000"/>
            <a:ext cx="2000000" cy="500000"/>
          </a:xfrm>
          <a:prstGeom prst="roundRect">
            <a:avLst>
              <a:gd name="adj" fmla="val 20000"/>
            </a:avLst>
          </a:prstGeom>
          <a:solidFill>
            <a:srgbClr val="FFFFFF"/>
          </a:solidFill>
          <a:ln w="15875">
            <a:solidFill>
              <a:srgbClr val="E3A33B"/>
            </a:solidFill>
          </a:ln>
        </p:spPr>
        <p:txBody>
          <a:bodyPr wrap="square" lIns="130000" tIns="0" rIns="80000" bIns="0" rtlCol="0" anchor="ctr">
            <a:noAutofit/>
          </a:bodyPr>
          <a:lstStyle/>
          <a:p>
            <a:pPr marL="0" indent="0" algn="l">
              <a:lnSpc>
                <a:spcPct val="100000"/>
              </a:lnSpc>
              <a:spcBef>
                <a:spcPts val="0"/>
              </a:spcBef>
              <a:spcAft>
                <a:spcPts val="0"/>
              </a:spcAft>
              <a:buNone/>
            </a:pPr>
            <a:r>
              <a:rPr lang="ja-JP" altLang="en-US" sz="1050" b="1" dirty="0">
                <a:solidFill>
                  <a:srgbClr val="9A6212"/>
                </a:solidFill>
                <a:latin typeface="BIZ UDPゴシック"/>
                <a:ea typeface="BIZ UDPゴシック"/>
                <a:cs typeface="BIZ UDPゴシック"/>
              </a:rPr>
              <a:t>ここだけフェード</a:t>
            </a:r>
            <a:endParaRPr lang="ja-JP" altLang="en-US" sz="1050" dirty="0">
              <a:solidFill>
                <a:srgbClr val="9A6212"/>
              </a:solidFill>
              <a:latin typeface="BIZ UDPゴシック"/>
              <a:ea typeface="BIZ UDPゴシック"/>
              <a:cs typeface="BIZ UDPゴシック"/>
            </a:endParaRPr>
          </a:p>
          <a:p>
            <a:pPr marL="0" indent="0" algn="l">
              <a:lnSpc>
                <a:spcPct val="100000"/>
              </a:lnSpc>
              <a:spcBef>
                <a:spcPts val="120"/>
              </a:spcBef>
              <a:spcAft>
                <a:spcPts val="0"/>
              </a:spcAft>
              <a:buNone/>
            </a:pPr>
            <a:r>
              <a:rPr lang="ja-JP" altLang="en-US" sz="900" dirty="0">
                <a:solidFill>
                  <a:srgbClr val="1E2430"/>
                </a:solidFill>
                <a:latin typeface="BIZ UDPゴシック"/>
                <a:ea typeface="BIZ UDPゴシック"/>
                <a:cs typeface="BIZ UDPゴシック"/>
              </a:rPr>
              <a:t>回折が入る瞬間を滑らかに</a:t>
            </a:r>
          </a:p>
        </p:txBody>
      </p:sp>
      <p:cxnSp>
        <p:nvCxnSpPr>
          <p:cNvPr id="28" name="線 28"/>
          <p:cNvCxnSpPr/>
          <p:nvPr/>
        </p:nvCxnSpPr>
        <p:spPr>
          <a:xfrm flipH="1">
            <a:off x="1586917" y="3860000"/>
            <a:ext cx="330722" cy="0"/>
          </a:xfrm>
          <a:prstGeom prst="line">
            <a:avLst/>
          </a:prstGeom>
          <a:ln w="12700" cap="rnd">
            <a:solidFill>
              <a:srgbClr val="E3A33B"/>
            </a:solidFill>
            <a:round/>
            <a:tailEnd type="triangle" w="med" len="med"/>
          </a:ln>
        </p:spPr>
      </p:cxnSp>
      <p:sp>
        <p:nvSpPr>
          <p:cNvPr id="29" name="カード 29"/>
          <p:cNvSpPr/>
          <p:nvPr/>
        </p:nvSpPr>
        <p:spPr>
          <a:xfrm>
            <a:off x="548640" y="4880000"/>
            <a:ext cx="5350000" cy="1570000"/>
          </a:xfrm>
          <a:prstGeom prst="roundRect">
            <a:avLst>
              <a:gd name="adj" fmla="val 5000"/>
            </a:avLst>
          </a:prstGeom>
          <a:solidFill>
            <a:srgbClr val="FBF1DF"/>
          </a:solidFill>
          <a:ln>
            <a:noFill/>
          </a:ln>
        </p:spPr>
        <p:txBody>
          <a:bodyPr/>
          <a:lstStyle/>
          <a:p>
            <a:endParaRPr lang="ja-JP" altLang="en-US"/>
          </a:p>
        </p:txBody>
      </p:sp>
      <p:sp>
        <p:nvSpPr>
          <p:cNvPr id="30" name="ラベル 30"/>
          <p:cNvSpPr/>
          <p:nvPr/>
        </p:nvSpPr>
        <p:spPr>
          <a:xfrm>
            <a:off x="768640" y="5162500"/>
            <a:ext cx="8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連続性</a:t>
            </a:r>
            <a:endParaRPr lang="ja-JP" altLang="en-US" sz="1150" dirty="0">
              <a:solidFill>
                <a:srgbClr val="1E2430"/>
              </a:solidFill>
              <a:latin typeface="BIZ UDPゴシック"/>
              <a:ea typeface="BIZ UDPゴシック"/>
              <a:cs typeface="BIZ UDPゴシック"/>
            </a:endParaRPr>
          </a:p>
        </p:txBody>
      </p:sp>
      <p:sp>
        <p:nvSpPr>
          <p:cNvPr id="31" name="テキスト 31"/>
          <p:cNvSpPr txBox="1"/>
          <p:nvPr/>
        </p:nvSpPr>
        <p:spPr>
          <a:xfrm>
            <a:off x="1748640" y="4990000"/>
            <a:ext cx="3970000" cy="645000"/>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050" dirty="0">
                <a:solidFill>
                  <a:srgbClr val="1E2430"/>
                </a:solidFill>
                <a:latin typeface="BIZ UDPゴシック"/>
                <a:ea typeface="BIZ UDPゴシック"/>
                <a:cs typeface="BIZ UDPゴシック"/>
              </a:rPr>
              <a:t>回折が新たに加わる瞬間だけフェードで滑らかにしつつそれ以降は回折と透過の経路の変化で直接音に切り替わるまで滑らかになるようにする</a:t>
            </a:r>
          </a:p>
        </p:txBody>
      </p:sp>
      <p:sp>
        <p:nvSpPr>
          <p:cNvPr id="32" name="ラベル 32"/>
          <p:cNvSpPr/>
          <p:nvPr/>
        </p:nvSpPr>
        <p:spPr>
          <a:xfrm>
            <a:off x="768640" y="5867500"/>
            <a:ext cx="8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即時性</a:t>
            </a:r>
            <a:endParaRPr lang="ja-JP" altLang="en-US" sz="1150" dirty="0">
              <a:solidFill>
                <a:srgbClr val="1E2430"/>
              </a:solidFill>
              <a:latin typeface="BIZ UDPゴシック"/>
              <a:ea typeface="BIZ UDPゴシック"/>
              <a:cs typeface="BIZ UDPゴシック"/>
            </a:endParaRPr>
          </a:p>
        </p:txBody>
      </p:sp>
      <p:sp>
        <p:nvSpPr>
          <p:cNvPr id="33" name="テキスト 33"/>
          <p:cNvSpPr txBox="1"/>
          <p:nvPr/>
        </p:nvSpPr>
        <p:spPr>
          <a:xfrm>
            <a:off x="1748640" y="5695000"/>
            <a:ext cx="3970000" cy="645000"/>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050" dirty="0">
                <a:solidFill>
                  <a:srgbClr val="1E2430"/>
                </a:solidFill>
                <a:latin typeface="BIZ UDPゴシック"/>
                <a:ea typeface="BIZ UDPゴシック"/>
                <a:cs typeface="BIZ UDPゴシック"/>
              </a:rPr>
              <a:t>扉の開口はレイでなく角度から解析で出して開き始めた瞬間から変化、動かしたそのフレームで音量が返るように</a:t>
            </a:r>
          </a:p>
        </p:txBody>
      </p:sp>
      <p:sp>
        <p:nvSpPr>
          <p:cNvPr id="34" name="カード 34"/>
          <p:cNvSpPr/>
          <p:nvPr/>
        </p:nvSpPr>
        <p:spPr>
          <a:xfrm>
            <a:off x="6148640" y="1850000"/>
            <a:ext cx="5491672" cy="1460000"/>
          </a:xfrm>
          <a:prstGeom prst="roundRect">
            <a:avLst>
              <a:gd name="adj" fmla="val 5000"/>
            </a:avLst>
          </a:prstGeom>
          <a:solidFill>
            <a:srgbClr val="F0F2F5"/>
          </a:solidFill>
          <a:ln>
            <a:noFill/>
          </a:ln>
        </p:spPr>
        <p:txBody>
          <a:bodyPr/>
          <a:lstStyle/>
          <a:p>
            <a:endParaRPr lang="ja-JP" altLang="en-US"/>
          </a:p>
        </p:txBody>
      </p:sp>
      <p:sp>
        <p:nvSpPr>
          <p:cNvPr id="35" name="壁 35"/>
          <p:cNvSpPr/>
          <p:nvPr/>
        </p:nvSpPr>
        <p:spPr>
          <a:xfrm>
            <a:off x="6468140" y="2629250"/>
            <a:ext cx="365500" cy="21500"/>
          </a:xfrm>
          <a:prstGeom prst="rect">
            <a:avLst/>
          </a:prstGeom>
          <a:solidFill>
            <a:srgbClr val="9AA3B0"/>
          </a:solidFill>
          <a:ln>
            <a:noFill/>
          </a:ln>
        </p:spPr>
        <p:txBody>
          <a:bodyPr/>
          <a:lstStyle/>
          <a:p>
            <a:endParaRPr lang="ja-JP" altLang="en-US"/>
          </a:p>
        </p:txBody>
      </p:sp>
      <p:sp>
        <p:nvSpPr>
          <p:cNvPr id="36" name="壁 36"/>
          <p:cNvSpPr/>
          <p:nvPr/>
        </p:nvSpPr>
        <p:spPr>
          <a:xfrm>
            <a:off x="7263640" y="2629250"/>
            <a:ext cx="365500" cy="21500"/>
          </a:xfrm>
          <a:prstGeom prst="rect">
            <a:avLst/>
          </a:prstGeom>
          <a:solidFill>
            <a:srgbClr val="9AA3B0"/>
          </a:solidFill>
          <a:ln>
            <a:noFill/>
          </a:ln>
        </p:spPr>
        <p:txBody>
          <a:bodyPr/>
          <a:lstStyle/>
          <a:p>
            <a:endParaRPr lang="ja-JP" altLang="en-US"/>
          </a:p>
        </p:txBody>
      </p:sp>
      <p:cxnSp>
        <p:nvCxnSpPr>
          <p:cNvPr id="37" name="線 37"/>
          <p:cNvCxnSpPr/>
          <p:nvPr/>
        </p:nvCxnSpPr>
        <p:spPr>
          <a:xfrm flipH="1">
            <a:off x="7005640" y="2210000"/>
            <a:ext cx="107500" cy="774000"/>
          </a:xfrm>
          <a:prstGeom prst="line">
            <a:avLst/>
          </a:prstGeom>
          <a:ln w="15875" cap="rnd">
            <a:solidFill>
              <a:srgbClr val="9AA3B0"/>
            </a:solidFill>
            <a:prstDash val="dash"/>
            <a:round/>
          </a:ln>
        </p:spPr>
      </p:cxnSp>
      <p:cxnSp>
        <p:nvCxnSpPr>
          <p:cNvPr id="38" name="線 38"/>
          <p:cNvCxnSpPr/>
          <p:nvPr/>
        </p:nvCxnSpPr>
        <p:spPr>
          <a:xfrm>
            <a:off x="6833640" y="2640000"/>
            <a:ext cx="430000" cy="0"/>
          </a:xfrm>
          <a:prstGeom prst="line">
            <a:avLst/>
          </a:prstGeom>
          <a:ln w="44450" cap="rnd">
            <a:solidFill>
              <a:srgbClr val="1E2430"/>
            </a:solidFill>
            <a:round/>
          </a:ln>
        </p:spPr>
      </p:cxnSp>
      <p:sp>
        <p:nvSpPr>
          <p:cNvPr id="39" name="番号 39"/>
          <p:cNvSpPr/>
          <p:nvPr/>
        </p:nvSpPr>
        <p:spPr>
          <a:xfrm>
            <a:off x="7038140" y="213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0" name="テキスト 40"/>
          <p:cNvSpPr txBox="1"/>
          <p:nvPr/>
        </p:nvSpPr>
        <p:spPr>
          <a:xfrm>
            <a:off x="7223140" y="211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41" name="番号 41"/>
          <p:cNvSpPr/>
          <p:nvPr/>
        </p:nvSpPr>
        <p:spPr>
          <a:xfrm>
            <a:off x="6930640" y="2909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2" name="テキスト 42"/>
          <p:cNvSpPr txBox="1"/>
          <p:nvPr/>
        </p:nvSpPr>
        <p:spPr>
          <a:xfrm>
            <a:off x="7115640" y="2884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43" name="番号 43"/>
          <p:cNvSpPr/>
          <p:nvPr/>
        </p:nvSpPr>
        <p:spPr>
          <a:xfrm>
            <a:off x="8048640" y="1980000"/>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1</a:t>
            </a:r>
            <a:endParaRPr lang="ja-JP" altLang="en-US" sz="1050" dirty="0">
              <a:solidFill>
                <a:srgbClr val="1E2430"/>
              </a:solidFill>
              <a:latin typeface="BIZ UDPゴシック"/>
              <a:ea typeface="BIZ UDPゴシック"/>
              <a:cs typeface="BIZ UDPゴシック"/>
            </a:endParaRPr>
          </a:p>
        </p:txBody>
      </p:sp>
      <p:sp>
        <p:nvSpPr>
          <p:cNvPr id="44" name="テキスト 44"/>
          <p:cNvSpPr txBox="1"/>
          <p:nvPr/>
        </p:nvSpPr>
        <p:spPr>
          <a:xfrm>
            <a:off x="8408640" y="1990000"/>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閉じている</a:t>
            </a:r>
            <a:endParaRPr lang="ja-JP" altLang="en-US" sz="1250" dirty="0">
              <a:solidFill>
                <a:srgbClr val="1E2430"/>
              </a:solidFill>
              <a:latin typeface="BIZ UDPゴシック"/>
              <a:ea typeface="BIZ UDPゴシック"/>
              <a:cs typeface="BIZ UDPゴシック"/>
            </a:endParaRPr>
          </a:p>
        </p:txBody>
      </p:sp>
      <p:sp>
        <p:nvSpPr>
          <p:cNvPr id="45" name="タグ 45"/>
          <p:cNvSpPr/>
          <p:nvPr/>
        </p:nvSpPr>
        <p:spPr>
          <a:xfrm>
            <a:off x="9402390" y="1995000"/>
            <a:ext cx="560000" cy="240000"/>
          </a:xfrm>
          <a:prstGeom prst="roundRect">
            <a:avLst>
              <a:gd name="adj" fmla="val 50000"/>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透過</a:t>
            </a:r>
            <a:endParaRPr lang="ja-JP" altLang="en-US" sz="950" dirty="0">
              <a:solidFill>
                <a:srgbClr val="1E2430"/>
              </a:solidFill>
              <a:latin typeface="BIZ UDPゴシック"/>
              <a:ea typeface="BIZ UDPゴシック"/>
              <a:cs typeface="BIZ UDPゴシック"/>
            </a:endParaRPr>
          </a:p>
        </p:txBody>
      </p:sp>
      <p:sp>
        <p:nvSpPr>
          <p:cNvPr id="46" name="テキスト 46"/>
          <p:cNvSpPr txBox="1"/>
          <p:nvPr/>
        </p:nvSpPr>
        <p:spPr>
          <a:xfrm>
            <a:off x="8048640" y="2350000"/>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透過音だけ。こもった小さい音</a:t>
            </a:r>
          </a:p>
        </p:txBody>
      </p:sp>
      <p:sp>
        <p:nvSpPr>
          <p:cNvPr id="47" name="カード 47"/>
          <p:cNvSpPr/>
          <p:nvPr/>
        </p:nvSpPr>
        <p:spPr>
          <a:xfrm>
            <a:off x="6148640" y="3420000"/>
            <a:ext cx="5491672" cy="1460000"/>
          </a:xfrm>
          <a:prstGeom prst="roundRect">
            <a:avLst>
              <a:gd name="adj" fmla="val 5000"/>
            </a:avLst>
          </a:prstGeom>
          <a:solidFill>
            <a:srgbClr val="FBF1DF"/>
          </a:solidFill>
          <a:ln>
            <a:noFill/>
          </a:ln>
        </p:spPr>
        <p:txBody>
          <a:bodyPr/>
          <a:lstStyle/>
          <a:p>
            <a:endParaRPr lang="ja-JP" altLang="en-US"/>
          </a:p>
        </p:txBody>
      </p:sp>
      <p:sp>
        <p:nvSpPr>
          <p:cNvPr id="48" name="壁 48"/>
          <p:cNvSpPr/>
          <p:nvPr/>
        </p:nvSpPr>
        <p:spPr>
          <a:xfrm>
            <a:off x="6468140" y="4199250"/>
            <a:ext cx="365500" cy="21500"/>
          </a:xfrm>
          <a:prstGeom prst="rect">
            <a:avLst/>
          </a:prstGeom>
          <a:solidFill>
            <a:srgbClr val="9AA3B0"/>
          </a:solidFill>
          <a:ln>
            <a:noFill/>
          </a:ln>
        </p:spPr>
        <p:txBody>
          <a:bodyPr/>
          <a:lstStyle/>
          <a:p>
            <a:endParaRPr lang="ja-JP" altLang="en-US"/>
          </a:p>
        </p:txBody>
      </p:sp>
      <p:sp>
        <p:nvSpPr>
          <p:cNvPr id="49" name="壁 49"/>
          <p:cNvSpPr/>
          <p:nvPr/>
        </p:nvSpPr>
        <p:spPr>
          <a:xfrm>
            <a:off x="7263640" y="4199250"/>
            <a:ext cx="365500" cy="21500"/>
          </a:xfrm>
          <a:prstGeom prst="rect">
            <a:avLst/>
          </a:prstGeom>
          <a:solidFill>
            <a:srgbClr val="9AA3B0"/>
          </a:solidFill>
          <a:ln>
            <a:noFill/>
          </a:ln>
        </p:spPr>
        <p:txBody>
          <a:bodyPr/>
          <a:lstStyle/>
          <a:p>
            <a:endParaRPr lang="ja-JP" altLang="en-US"/>
          </a:p>
        </p:txBody>
      </p:sp>
      <p:cxnSp>
        <p:nvCxnSpPr>
          <p:cNvPr id="50" name="線 50"/>
          <p:cNvCxnSpPr/>
          <p:nvPr/>
        </p:nvCxnSpPr>
        <p:spPr>
          <a:xfrm flipH="1">
            <a:off x="7005640" y="3780000"/>
            <a:ext cx="107500" cy="774000"/>
          </a:xfrm>
          <a:prstGeom prst="line">
            <a:avLst/>
          </a:prstGeom>
          <a:ln w="15875" cap="rnd">
            <a:solidFill>
              <a:srgbClr val="9AA3B0"/>
            </a:solidFill>
            <a:prstDash val="dash"/>
            <a:round/>
          </a:ln>
        </p:spPr>
      </p:cxnSp>
      <p:sp>
        <p:nvSpPr>
          <p:cNvPr id="51" name="折れ線 51"/>
          <p:cNvSpPr/>
          <p:nvPr/>
        </p:nvSpPr>
        <p:spPr>
          <a:xfrm>
            <a:off x="7005640" y="3780000"/>
            <a:ext cx="273056" cy="774000"/>
          </a:xfrm>
          <a:custGeom>
            <a:avLst/>
            <a:gdLst/>
            <a:ahLst/>
            <a:cxnLst/>
            <a:rect l="0" t="0" r="r" b="b"/>
            <a:pathLst>
              <a:path w="273056" h="774000" fill="none">
                <a:moveTo>
                  <a:pt x="107500" y="0"/>
                </a:moveTo>
                <a:lnTo>
                  <a:pt x="273056" y="335399"/>
                </a:lnTo>
                <a:lnTo>
                  <a:pt x="0" y="774000"/>
                </a:lnTo>
              </a:path>
            </a:pathLst>
          </a:custGeom>
          <a:noFill/>
          <a:ln w="31750" cap="rnd">
            <a:solidFill>
              <a:srgbClr val="E3A33B"/>
            </a:solidFill>
            <a:round/>
          </a:ln>
        </p:spPr>
        <p:txBody>
          <a:bodyPr/>
          <a:lstStyle/>
          <a:p>
            <a:endParaRPr lang="ja-JP" altLang="en-US"/>
          </a:p>
        </p:txBody>
      </p:sp>
      <p:cxnSp>
        <p:nvCxnSpPr>
          <p:cNvPr id="52" name="線 52"/>
          <p:cNvCxnSpPr/>
          <p:nvPr/>
        </p:nvCxnSpPr>
        <p:spPr>
          <a:xfrm flipV="1">
            <a:off x="6833640" y="4120597"/>
            <a:ext cx="420603" cy="89402"/>
          </a:xfrm>
          <a:prstGeom prst="line">
            <a:avLst/>
          </a:prstGeom>
          <a:ln w="44450" cap="rnd">
            <a:solidFill>
              <a:srgbClr val="1E2430"/>
            </a:solidFill>
            <a:round/>
          </a:ln>
        </p:spPr>
      </p:cxnSp>
      <p:sp>
        <p:nvSpPr>
          <p:cNvPr id="53" name="番号 53"/>
          <p:cNvSpPr/>
          <p:nvPr/>
        </p:nvSpPr>
        <p:spPr>
          <a:xfrm>
            <a:off x="7038140" y="370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4" name="テキスト 54"/>
          <p:cNvSpPr txBox="1"/>
          <p:nvPr/>
        </p:nvSpPr>
        <p:spPr>
          <a:xfrm>
            <a:off x="7223140" y="368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55" name="番号 55"/>
          <p:cNvSpPr/>
          <p:nvPr/>
        </p:nvSpPr>
        <p:spPr>
          <a:xfrm>
            <a:off x="6930640" y="4479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6" name="テキスト 56"/>
          <p:cNvSpPr txBox="1"/>
          <p:nvPr/>
        </p:nvSpPr>
        <p:spPr>
          <a:xfrm>
            <a:off x="7115640" y="4454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57" name="番号 57"/>
          <p:cNvSpPr/>
          <p:nvPr/>
        </p:nvSpPr>
        <p:spPr>
          <a:xfrm>
            <a:off x="8048640" y="3550000"/>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2</a:t>
            </a:r>
            <a:endParaRPr lang="ja-JP" altLang="en-US" sz="1050" dirty="0">
              <a:solidFill>
                <a:srgbClr val="1E2430"/>
              </a:solidFill>
              <a:latin typeface="BIZ UDPゴシック"/>
              <a:ea typeface="BIZ UDPゴシック"/>
              <a:cs typeface="BIZ UDPゴシック"/>
            </a:endParaRPr>
          </a:p>
        </p:txBody>
      </p:sp>
      <p:sp>
        <p:nvSpPr>
          <p:cNvPr id="58" name="テキスト 58"/>
          <p:cNvSpPr txBox="1"/>
          <p:nvPr/>
        </p:nvSpPr>
        <p:spPr>
          <a:xfrm>
            <a:off x="8408640" y="3560000"/>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開き始め</a:t>
            </a:r>
            <a:endParaRPr lang="ja-JP" altLang="en-US" sz="1250" dirty="0">
              <a:solidFill>
                <a:srgbClr val="1E2430"/>
              </a:solidFill>
              <a:latin typeface="BIZ UDPゴシック"/>
              <a:ea typeface="BIZ UDPゴシック"/>
              <a:cs typeface="BIZ UDPゴシック"/>
            </a:endParaRPr>
          </a:p>
        </p:txBody>
      </p:sp>
      <p:sp>
        <p:nvSpPr>
          <p:cNvPr id="59" name="タグ 59"/>
          <p:cNvSpPr/>
          <p:nvPr/>
        </p:nvSpPr>
        <p:spPr>
          <a:xfrm>
            <a:off x="9243640" y="3565000"/>
            <a:ext cx="560000" cy="240000"/>
          </a:xfrm>
          <a:prstGeom prst="roundRect">
            <a:avLst>
              <a:gd name="adj" fmla="val 50000"/>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透過</a:t>
            </a:r>
            <a:endParaRPr lang="ja-JP" altLang="en-US" sz="950" dirty="0">
              <a:solidFill>
                <a:srgbClr val="1E2430"/>
              </a:solidFill>
              <a:latin typeface="BIZ UDPゴシック"/>
              <a:ea typeface="BIZ UDPゴシック"/>
              <a:cs typeface="BIZ UDPゴシック"/>
            </a:endParaRPr>
          </a:p>
        </p:txBody>
      </p:sp>
      <p:sp>
        <p:nvSpPr>
          <p:cNvPr id="60" name="タグ 60"/>
          <p:cNvSpPr/>
          <p:nvPr/>
        </p:nvSpPr>
        <p:spPr>
          <a:xfrm>
            <a:off x="9863640" y="3565000"/>
            <a:ext cx="560000" cy="2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回折</a:t>
            </a:r>
            <a:endParaRPr lang="ja-JP" altLang="en-US" sz="950" dirty="0">
              <a:solidFill>
                <a:srgbClr val="1E2430"/>
              </a:solidFill>
              <a:latin typeface="BIZ UDPゴシック"/>
              <a:ea typeface="BIZ UDPゴシック"/>
              <a:cs typeface="BIZ UDPゴシック"/>
            </a:endParaRPr>
          </a:p>
        </p:txBody>
      </p:sp>
      <p:sp>
        <p:nvSpPr>
          <p:cNvPr id="61" name="テキスト 61"/>
          <p:cNvSpPr txBox="1"/>
          <p:nvPr/>
        </p:nvSpPr>
        <p:spPr>
          <a:xfrm>
            <a:off x="8048640" y="3920000"/>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開き始めの一瞬、回折が新たに入る瞬間だけフェードで滑らかに音量が上がるようにする</a:t>
            </a:r>
          </a:p>
        </p:txBody>
      </p:sp>
      <p:sp>
        <p:nvSpPr>
          <p:cNvPr id="62" name="カード 62"/>
          <p:cNvSpPr/>
          <p:nvPr/>
        </p:nvSpPr>
        <p:spPr>
          <a:xfrm>
            <a:off x="6148640" y="4990000"/>
            <a:ext cx="5491672" cy="1460000"/>
          </a:xfrm>
          <a:prstGeom prst="roundRect">
            <a:avLst>
              <a:gd name="adj" fmla="val 5000"/>
            </a:avLst>
          </a:prstGeom>
          <a:solidFill>
            <a:srgbClr val="F0F2F5"/>
          </a:solidFill>
          <a:ln>
            <a:noFill/>
          </a:ln>
        </p:spPr>
        <p:txBody>
          <a:bodyPr/>
          <a:lstStyle/>
          <a:p>
            <a:endParaRPr lang="ja-JP" altLang="en-US"/>
          </a:p>
        </p:txBody>
      </p:sp>
      <p:sp>
        <p:nvSpPr>
          <p:cNvPr id="63" name="壁 63"/>
          <p:cNvSpPr/>
          <p:nvPr/>
        </p:nvSpPr>
        <p:spPr>
          <a:xfrm>
            <a:off x="6468140" y="5769250"/>
            <a:ext cx="365500" cy="21500"/>
          </a:xfrm>
          <a:prstGeom prst="rect">
            <a:avLst/>
          </a:prstGeom>
          <a:solidFill>
            <a:srgbClr val="9AA3B0"/>
          </a:solidFill>
          <a:ln>
            <a:noFill/>
          </a:ln>
        </p:spPr>
        <p:txBody>
          <a:bodyPr/>
          <a:lstStyle/>
          <a:p>
            <a:endParaRPr lang="ja-JP" altLang="en-US"/>
          </a:p>
        </p:txBody>
      </p:sp>
      <p:sp>
        <p:nvSpPr>
          <p:cNvPr id="64" name="壁 64"/>
          <p:cNvSpPr/>
          <p:nvPr/>
        </p:nvSpPr>
        <p:spPr>
          <a:xfrm>
            <a:off x="7263640" y="5769250"/>
            <a:ext cx="365500" cy="21500"/>
          </a:xfrm>
          <a:prstGeom prst="rect">
            <a:avLst/>
          </a:prstGeom>
          <a:solidFill>
            <a:srgbClr val="9AA3B0"/>
          </a:solidFill>
          <a:ln>
            <a:noFill/>
          </a:ln>
        </p:spPr>
        <p:txBody>
          <a:bodyPr/>
          <a:lstStyle/>
          <a:p>
            <a:endParaRPr lang="ja-JP" altLang="en-US"/>
          </a:p>
        </p:txBody>
      </p:sp>
      <p:cxnSp>
        <p:nvCxnSpPr>
          <p:cNvPr id="65" name="線 65"/>
          <p:cNvCxnSpPr/>
          <p:nvPr/>
        </p:nvCxnSpPr>
        <p:spPr>
          <a:xfrm flipH="1">
            <a:off x="7005640" y="5350000"/>
            <a:ext cx="107500" cy="774000"/>
          </a:xfrm>
          <a:prstGeom prst="line">
            <a:avLst/>
          </a:prstGeom>
          <a:ln w="38100" cap="rnd">
            <a:solidFill>
              <a:srgbClr val="E3A33B"/>
            </a:solidFill>
            <a:round/>
          </a:ln>
        </p:spPr>
      </p:cxnSp>
      <p:cxnSp>
        <p:nvCxnSpPr>
          <p:cNvPr id="66" name="線 66"/>
          <p:cNvCxnSpPr/>
          <p:nvPr/>
        </p:nvCxnSpPr>
        <p:spPr>
          <a:xfrm flipV="1">
            <a:off x="6833640" y="5390287"/>
            <a:ext cx="181725" cy="389712"/>
          </a:xfrm>
          <a:prstGeom prst="line">
            <a:avLst/>
          </a:prstGeom>
          <a:ln w="44450" cap="rnd">
            <a:solidFill>
              <a:srgbClr val="1E2430"/>
            </a:solidFill>
            <a:round/>
          </a:ln>
        </p:spPr>
      </p:cxnSp>
      <p:sp>
        <p:nvSpPr>
          <p:cNvPr id="67" name="番号 67"/>
          <p:cNvSpPr/>
          <p:nvPr/>
        </p:nvSpPr>
        <p:spPr>
          <a:xfrm>
            <a:off x="7038140" y="527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68" name="テキスト 68"/>
          <p:cNvSpPr txBox="1"/>
          <p:nvPr/>
        </p:nvSpPr>
        <p:spPr>
          <a:xfrm>
            <a:off x="7223140" y="525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69" name="番号 69"/>
          <p:cNvSpPr/>
          <p:nvPr/>
        </p:nvSpPr>
        <p:spPr>
          <a:xfrm>
            <a:off x="6930640" y="6049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70" name="テキスト 70"/>
          <p:cNvSpPr txBox="1"/>
          <p:nvPr/>
        </p:nvSpPr>
        <p:spPr>
          <a:xfrm>
            <a:off x="7115640" y="6024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71" name="番号 71"/>
          <p:cNvSpPr/>
          <p:nvPr/>
        </p:nvSpPr>
        <p:spPr>
          <a:xfrm>
            <a:off x="8048640" y="5120000"/>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3</a:t>
            </a:r>
            <a:endParaRPr lang="ja-JP" altLang="en-US" sz="1050" dirty="0">
              <a:solidFill>
                <a:srgbClr val="1E2430"/>
              </a:solidFill>
              <a:latin typeface="BIZ UDPゴシック"/>
              <a:ea typeface="BIZ UDPゴシック"/>
              <a:cs typeface="BIZ UDPゴシック"/>
            </a:endParaRPr>
          </a:p>
        </p:txBody>
      </p:sp>
      <p:sp>
        <p:nvSpPr>
          <p:cNvPr id="72" name="テキスト 72"/>
          <p:cNvSpPr txBox="1"/>
          <p:nvPr/>
        </p:nvSpPr>
        <p:spPr>
          <a:xfrm>
            <a:off x="8408640" y="5130000"/>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開いた後</a:t>
            </a:r>
            <a:endParaRPr lang="ja-JP" altLang="en-US" sz="1250" dirty="0">
              <a:solidFill>
                <a:srgbClr val="1E2430"/>
              </a:solidFill>
              <a:latin typeface="BIZ UDPゴシック"/>
              <a:ea typeface="BIZ UDPゴシック"/>
              <a:cs typeface="BIZ UDPゴシック"/>
            </a:endParaRPr>
          </a:p>
        </p:txBody>
      </p:sp>
      <p:sp>
        <p:nvSpPr>
          <p:cNvPr id="73" name="タグ 73"/>
          <p:cNvSpPr/>
          <p:nvPr/>
        </p:nvSpPr>
        <p:spPr>
          <a:xfrm>
            <a:off x="9243640" y="5135000"/>
            <a:ext cx="560000" cy="2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直接</a:t>
            </a:r>
            <a:endParaRPr lang="ja-JP" altLang="en-US" sz="950" dirty="0">
              <a:solidFill>
                <a:srgbClr val="1E2430"/>
              </a:solidFill>
              <a:latin typeface="BIZ UDPゴシック"/>
              <a:ea typeface="BIZ UDPゴシック"/>
              <a:cs typeface="BIZ UDPゴシック"/>
            </a:endParaRPr>
          </a:p>
        </p:txBody>
      </p:sp>
      <p:sp>
        <p:nvSpPr>
          <p:cNvPr id="74" name="テキスト 74"/>
          <p:cNvSpPr txBox="1"/>
          <p:nvPr/>
        </p:nvSpPr>
        <p:spPr>
          <a:xfrm>
            <a:off x="8048640" y="5490000"/>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音源に対して開ききると直接音でしっかり聞こえるようになる、これ以降は開いても変化なし</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03　技術選定　｜　ドアの開閉　｜　③ 音の曇り具合</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音がドアの裏側にあるのがわかるように</a:t>
            </a:r>
            <a:endParaRPr lang="ja-JP" altLang="en-US" sz="2600" dirty="0">
              <a:solidFill>
                <a:srgbClr val="1E2430"/>
              </a:solidFill>
              <a:latin typeface="BIZ UDPゴシック"/>
              <a:ea typeface="BIZ UDPゴシック"/>
              <a:cs typeface="BIZ UDPゴシック"/>
            </a:endParaRPr>
          </a:p>
        </p:txBody>
      </p:sp>
      <p:sp>
        <p:nvSpPr>
          <p:cNvPr id="4" name="カード 4"/>
          <p:cNvSpPr/>
          <p:nvPr/>
        </p:nvSpPr>
        <p:spPr>
          <a:xfrm>
            <a:off x="548640" y="1400000"/>
            <a:ext cx="5295836" cy="1500000"/>
          </a:xfrm>
          <a:prstGeom prst="roundRect">
            <a:avLst>
              <a:gd name="adj" fmla="val 5000"/>
            </a:avLst>
          </a:prstGeom>
          <a:solidFill>
            <a:srgbClr val="F0F2F5"/>
          </a:solidFill>
          <a:ln>
            <a:noFill/>
          </a:ln>
        </p:spPr>
        <p:txBody>
          <a:bodyPr/>
          <a:lstStyle/>
          <a:p>
            <a:endParaRPr lang="ja-JP" altLang="en-US"/>
          </a:p>
        </p:txBody>
      </p:sp>
      <p:sp>
        <p:nvSpPr>
          <p:cNvPr id="5" name="ラベル 5"/>
          <p:cNvSpPr/>
          <p:nvPr/>
        </p:nvSpPr>
        <p:spPr>
          <a:xfrm>
            <a:off x="798640" y="1580000"/>
            <a:ext cx="90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00" b="1" dirty="0">
                <a:solidFill>
                  <a:srgbClr val="1E2430"/>
                </a:solidFill>
                <a:latin typeface="BIZ UDPゴシック"/>
                <a:ea typeface="BIZ UDPゴシック"/>
                <a:cs typeface="BIZ UDPゴシック"/>
              </a:rPr>
              <a:t>理由</a:t>
            </a:r>
            <a:endParaRPr lang="ja-JP" altLang="en-US" sz="1200" dirty="0">
              <a:solidFill>
                <a:srgbClr val="1E2430"/>
              </a:solidFill>
              <a:latin typeface="BIZ UDPゴシック"/>
              <a:ea typeface="BIZ UDPゴシック"/>
              <a:cs typeface="BIZ UDPゴシック"/>
            </a:endParaRPr>
          </a:p>
        </p:txBody>
      </p:sp>
      <p:sp>
        <p:nvSpPr>
          <p:cNvPr id="6" name="テキスト 6"/>
          <p:cNvSpPr txBox="1"/>
          <p:nvPr/>
        </p:nvSpPr>
        <p:spPr>
          <a:xfrm>
            <a:off x="798640" y="2000000"/>
            <a:ext cx="4795836" cy="80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300" b="1" dirty="0">
                <a:solidFill>
                  <a:srgbClr val="1E2430"/>
                </a:solidFill>
                <a:latin typeface="BIZ UDPゴシック"/>
                <a:ea typeface="BIZ UDPゴシック"/>
                <a:cs typeface="BIZ UDPゴシック"/>
              </a:rPr>
              <a:t>閉じた扉の向こうの音がこもって聞こえると「扉の裏にある」とわかる。開けるほど明るくなれば、開き具合も伝わる</a:t>
            </a:r>
          </a:p>
        </p:txBody>
      </p:sp>
      <p:sp>
        <p:nvSpPr>
          <p:cNvPr id="7" name="矢印 7"/>
          <p:cNvSpPr/>
          <p:nvPr/>
        </p:nvSpPr>
        <p:spPr>
          <a:xfrm>
            <a:off x="5924476" y="1980000"/>
            <a:ext cx="340000" cy="340000"/>
          </a:xfrm>
          <a:prstGeom prst="rightArrow">
            <a:avLst/>
          </a:prstGeom>
          <a:solidFill>
            <a:srgbClr val="E3A33B"/>
          </a:solidFill>
          <a:ln>
            <a:noFill/>
          </a:ln>
        </p:spPr>
        <p:txBody>
          <a:bodyPr/>
          <a:lstStyle/>
          <a:p>
            <a:endParaRPr lang="ja-JP" altLang="en-US"/>
          </a:p>
        </p:txBody>
      </p:sp>
      <p:sp>
        <p:nvSpPr>
          <p:cNvPr id="8" name="カード 8"/>
          <p:cNvSpPr/>
          <p:nvPr/>
        </p:nvSpPr>
        <p:spPr>
          <a:xfrm>
            <a:off x="6344476" y="1400000"/>
            <a:ext cx="5295836" cy="1500000"/>
          </a:xfrm>
          <a:prstGeom prst="roundRect">
            <a:avLst>
              <a:gd name="adj" fmla="val 5000"/>
            </a:avLst>
          </a:prstGeom>
          <a:solidFill>
            <a:srgbClr val="FBF1DF"/>
          </a:solidFill>
          <a:ln>
            <a:noFill/>
          </a:ln>
        </p:spPr>
        <p:txBody>
          <a:bodyPr/>
          <a:lstStyle/>
          <a:p>
            <a:endParaRPr lang="ja-JP" altLang="en-US"/>
          </a:p>
        </p:txBody>
      </p:sp>
      <p:sp>
        <p:nvSpPr>
          <p:cNvPr id="9" name="ラベル 9"/>
          <p:cNvSpPr/>
          <p:nvPr/>
        </p:nvSpPr>
        <p:spPr>
          <a:xfrm>
            <a:off x="6594476" y="1580000"/>
            <a:ext cx="130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00" b="1" dirty="0">
                <a:solidFill>
                  <a:srgbClr val="1E2430"/>
                </a:solidFill>
                <a:latin typeface="BIZ UDPゴシック"/>
                <a:ea typeface="BIZ UDPゴシック"/>
                <a:cs typeface="BIZ UDPゴシック"/>
              </a:rPr>
              <a:t>アプローチ</a:t>
            </a:r>
            <a:endParaRPr lang="ja-JP" altLang="en-US" sz="1200" dirty="0">
              <a:solidFill>
                <a:srgbClr val="1E2430"/>
              </a:solidFill>
              <a:latin typeface="BIZ UDPゴシック"/>
              <a:ea typeface="BIZ UDPゴシック"/>
              <a:cs typeface="BIZ UDPゴシック"/>
            </a:endParaRPr>
          </a:p>
        </p:txBody>
      </p:sp>
      <p:sp>
        <p:nvSpPr>
          <p:cNvPr id="10" name="テキスト 10"/>
          <p:cNvSpPr txBox="1"/>
          <p:nvPr/>
        </p:nvSpPr>
        <p:spPr>
          <a:xfrm>
            <a:off x="6594476" y="2000000"/>
            <a:ext cx="4795836" cy="80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300" dirty="0">
                <a:solidFill>
                  <a:srgbClr val="1E2430"/>
                </a:solidFill>
                <a:latin typeface="BIZ UDPゴシック"/>
                <a:ea typeface="BIZ UDPゴシック"/>
                <a:cs typeface="BIZ UDPゴシック"/>
              </a:rPr>
              <a:t>ドアの裏にある音源に対しては開口率に合わせて徐々に帯域を調整していく、開ききった瞬間しっかりと明るく聞こえるように調整</a:t>
            </a:r>
          </a:p>
        </p:txBody>
      </p:sp>
      <p:sp>
        <p:nvSpPr>
          <p:cNvPr id="11" name="カード 11"/>
          <p:cNvSpPr/>
          <p:nvPr/>
        </p:nvSpPr>
        <p:spPr>
          <a:xfrm>
            <a:off x="548640" y="3050000"/>
            <a:ext cx="11091672" cy="3400000"/>
          </a:xfrm>
          <a:prstGeom prst="roundRect">
            <a:avLst>
              <a:gd name="adj" fmla="val 5000"/>
            </a:avLst>
          </a:prstGeom>
          <a:solidFill>
            <a:srgbClr val="F0F2F5"/>
          </a:solidFill>
          <a:ln>
            <a:noFill/>
          </a:ln>
        </p:spPr>
        <p:txBody>
          <a:bodyPr/>
          <a:lstStyle/>
          <a:p>
            <a:endParaRPr lang="ja-JP" altLang="en-US"/>
          </a:p>
        </p:txBody>
      </p:sp>
      <p:sp>
        <p:nvSpPr>
          <p:cNvPr id="12" name="テキスト 12"/>
          <p:cNvSpPr txBox="1"/>
          <p:nvPr/>
        </p:nvSpPr>
        <p:spPr>
          <a:xfrm>
            <a:off x="848640" y="3200000"/>
            <a:ext cx="10491672"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扉の真後ろの音源で、閉じている → 開き始め → 開いた後</a:t>
            </a:r>
            <a:endParaRPr lang="ja-JP" altLang="en-US" sz="1250" dirty="0">
              <a:solidFill>
                <a:srgbClr val="1E2430"/>
              </a:solidFill>
              <a:latin typeface="BIZ UDPゴシック"/>
              <a:ea typeface="BIZ UDPゴシック"/>
              <a:cs typeface="BIZ UDPゴシック"/>
            </a:endParaRPr>
          </a:p>
        </p:txBody>
      </p:sp>
      <p:sp>
        <p:nvSpPr>
          <p:cNvPr id="13" name="壁 13"/>
          <p:cNvSpPr/>
          <p:nvPr/>
        </p:nvSpPr>
        <p:spPr>
          <a:xfrm>
            <a:off x="860696" y="4482500"/>
            <a:ext cx="595000" cy="35000"/>
          </a:xfrm>
          <a:prstGeom prst="rect">
            <a:avLst/>
          </a:prstGeom>
          <a:solidFill>
            <a:srgbClr val="9AA3B0"/>
          </a:solidFill>
          <a:ln>
            <a:noFill/>
          </a:ln>
        </p:spPr>
        <p:txBody>
          <a:bodyPr/>
          <a:lstStyle/>
          <a:p>
            <a:endParaRPr lang="ja-JP" altLang="en-US"/>
          </a:p>
        </p:txBody>
      </p:sp>
      <p:sp>
        <p:nvSpPr>
          <p:cNvPr id="14" name="壁 14"/>
          <p:cNvSpPr/>
          <p:nvPr/>
        </p:nvSpPr>
        <p:spPr>
          <a:xfrm>
            <a:off x="2155696" y="4482500"/>
            <a:ext cx="595000" cy="35000"/>
          </a:xfrm>
          <a:prstGeom prst="rect">
            <a:avLst/>
          </a:prstGeom>
          <a:solidFill>
            <a:srgbClr val="9AA3B0"/>
          </a:solidFill>
          <a:ln>
            <a:noFill/>
          </a:ln>
        </p:spPr>
        <p:txBody>
          <a:bodyPr/>
          <a:lstStyle/>
          <a:p>
            <a:endParaRPr lang="ja-JP" altLang="en-US"/>
          </a:p>
        </p:txBody>
      </p:sp>
      <p:cxnSp>
        <p:nvCxnSpPr>
          <p:cNvPr id="15" name="線 15"/>
          <p:cNvCxnSpPr/>
          <p:nvPr/>
        </p:nvCxnSpPr>
        <p:spPr>
          <a:xfrm flipH="1">
            <a:off x="1735696" y="3800000"/>
            <a:ext cx="175000" cy="1260000"/>
          </a:xfrm>
          <a:prstGeom prst="line">
            <a:avLst/>
          </a:prstGeom>
          <a:ln w="15875" cap="rnd">
            <a:solidFill>
              <a:srgbClr val="9AA3B0"/>
            </a:solidFill>
            <a:prstDash val="dash"/>
            <a:round/>
          </a:ln>
        </p:spPr>
      </p:cxnSp>
      <p:cxnSp>
        <p:nvCxnSpPr>
          <p:cNvPr id="16" name="線 16"/>
          <p:cNvCxnSpPr/>
          <p:nvPr/>
        </p:nvCxnSpPr>
        <p:spPr>
          <a:xfrm>
            <a:off x="1455696" y="4500000"/>
            <a:ext cx="700000" cy="0"/>
          </a:xfrm>
          <a:prstGeom prst="line">
            <a:avLst/>
          </a:prstGeom>
          <a:ln w="44450" cap="rnd">
            <a:solidFill>
              <a:srgbClr val="1E2430"/>
            </a:solidFill>
            <a:round/>
          </a:ln>
        </p:spPr>
      </p:cxnSp>
      <p:sp>
        <p:nvSpPr>
          <p:cNvPr id="17" name="番号 17"/>
          <p:cNvSpPr/>
          <p:nvPr/>
        </p:nvSpPr>
        <p:spPr>
          <a:xfrm>
            <a:off x="1835696" y="372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18" name="テキスト 18"/>
          <p:cNvSpPr txBox="1"/>
          <p:nvPr/>
        </p:nvSpPr>
        <p:spPr>
          <a:xfrm>
            <a:off x="2020696" y="370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19" name="番号 19"/>
          <p:cNvSpPr/>
          <p:nvPr/>
        </p:nvSpPr>
        <p:spPr>
          <a:xfrm>
            <a:off x="1660696" y="498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0" name="テキスト 20"/>
          <p:cNvSpPr txBox="1"/>
          <p:nvPr/>
        </p:nvSpPr>
        <p:spPr>
          <a:xfrm>
            <a:off x="1845696" y="4960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21" name="棒 21"/>
          <p:cNvSpPr/>
          <p:nvPr/>
        </p:nvSpPr>
        <p:spPr>
          <a:xfrm>
            <a:off x="2988807" y="4137500"/>
            <a:ext cx="234000" cy="562500"/>
          </a:xfrm>
          <a:prstGeom prst="rect">
            <a:avLst/>
          </a:prstGeom>
          <a:solidFill>
            <a:srgbClr val="E3A33B"/>
          </a:solidFill>
          <a:ln>
            <a:noFill/>
          </a:ln>
        </p:spPr>
        <p:txBody>
          <a:bodyPr/>
          <a:lstStyle/>
          <a:p>
            <a:endParaRPr lang="ja-JP" altLang="en-US"/>
          </a:p>
        </p:txBody>
      </p:sp>
      <p:sp>
        <p:nvSpPr>
          <p:cNvPr id="22" name="テキスト 22"/>
          <p:cNvSpPr txBox="1"/>
          <p:nvPr/>
        </p:nvSpPr>
        <p:spPr>
          <a:xfrm>
            <a:off x="2928807" y="4730000"/>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23" name="棒 23"/>
          <p:cNvSpPr/>
          <p:nvPr/>
        </p:nvSpPr>
        <p:spPr>
          <a:xfrm>
            <a:off x="3313807" y="4587500"/>
            <a:ext cx="234000" cy="112500"/>
          </a:xfrm>
          <a:prstGeom prst="rect">
            <a:avLst/>
          </a:prstGeom>
          <a:solidFill>
            <a:srgbClr val="9AA3B0"/>
          </a:solidFill>
          <a:ln>
            <a:noFill/>
          </a:ln>
        </p:spPr>
        <p:txBody>
          <a:bodyPr/>
          <a:lstStyle/>
          <a:p>
            <a:endParaRPr lang="ja-JP" altLang="en-US"/>
          </a:p>
        </p:txBody>
      </p:sp>
      <p:sp>
        <p:nvSpPr>
          <p:cNvPr id="24" name="テキスト 24"/>
          <p:cNvSpPr txBox="1"/>
          <p:nvPr/>
        </p:nvSpPr>
        <p:spPr>
          <a:xfrm>
            <a:off x="3253807" y="4730000"/>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25" name="線 25"/>
          <p:cNvCxnSpPr/>
          <p:nvPr/>
        </p:nvCxnSpPr>
        <p:spPr>
          <a:xfrm>
            <a:off x="2948807" y="4700000"/>
            <a:ext cx="690000" cy="0"/>
          </a:xfrm>
          <a:prstGeom prst="line">
            <a:avLst/>
          </a:prstGeom>
          <a:ln w="9525" cap="rnd">
            <a:solidFill>
              <a:srgbClr val="C9CFD8"/>
            </a:solidFill>
            <a:round/>
          </a:ln>
        </p:spPr>
      </p:cxnSp>
      <p:sp>
        <p:nvSpPr>
          <p:cNvPr id="26" name="テキスト 26"/>
          <p:cNvSpPr txBox="1"/>
          <p:nvPr/>
        </p:nvSpPr>
        <p:spPr>
          <a:xfrm>
            <a:off x="2840918" y="4950000"/>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5C6677"/>
                </a:solidFill>
                <a:latin typeface="BIZ UDPゴシック"/>
                <a:ea typeface="BIZ UDPゴシック"/>
                <a:cs typeface="BIZ UDPゴシック"/>
              </a:rPr>
              <a:t>こもる</a:t>
            </a:r>
            <a:endParaRPr lang="ja-JP" altLang="en-US" sz="1250" dirty="0">
              <a:solidFill>
                <a:srgbClr val="5C6677"/>
              </a:solidFill>
              <a:latin typeface="BIZ UDPゴシック"/>
              <a:ea typeface="BIZ UDPゴシック"/>
              <a:cs typeface="BIZ UDPゴシック"/>
            </a:endParaRPr>
          </a:p>
        </p:txBody>
      </p:sp>
      <p:sp>
        <p:nvSpPr>
          <p:cNvPr id="27" name="テキスト 27"/>
          <p:cNvSpPr txBox="1"/>
          <p:nvPr/>
        </p:nvSpPr>
        <p:spPr>
          <a:xfrm>
            <a:off x="798640" y="5600000"/>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閉じている</a:t>
            </a:r>
            <a:endParaRPr lang="ja-JP" altLang="en-US" sz="1300" dirty="0">
              <a:solidFill>
                <a:srgbClr val="1E2430"/>
              </a:solidFill>
              <a:latin typeface="BIZ UDPゴシック"/>
              <a:ea typeface="BIZ UDPゴシック"/>
              <a:cs typeface="BIZ UDPゴシック"/>
            </a:endParaRPr>
          </a:p>
        </p:txBody>
      </p:sp>
      <p:sp>
        <p:nvSpPr>
          <p:cNvPr id="28" name="テキスト 28"/>
          <p:cNvSpPr txBox="1"/>
          <p:nvPr/>
        </p:nvSpPr>
        <p:spPr>
          <a:xfrm>
            <a:off x="798640" y="5910000"/>
            <a:ext cx="3297224"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ドアを抜ける透過音</a:t>
            </a:r>
          </a:p>
        </p:txBody>
      </p:sp>
      <p:sp>
        <p:nvSpPr>
          <p:cNvPr id="29" name="矢印 29"/>
          <p:cNvSpPr/>
          <p:nvPr/>
        </p:nvSpPr>
        <p:spPr>
          <a:xfrm>
            <a:off x="4095864" y="4400000"/>
            <a:ext cx="260000" cy="200000"/>
          </a:xfrm>
          <a:prstGeom prst="rightArrow">
            <a:avLst/>
          </a:prstGeom>
          <a:solidFill>
            <a:srgbClr val="9AA3B0"/>
          </a:solidFill>
          <a:ln>
            <a:noFill/>
          </a:ln>
        </p:spPr>
        <p:txBody>
          <a:bodyPr/>
          <a:lstStyle/>
          <a:p>
            <a:endParaRPr lang="ja-JP" altLang="en-US"/>
          </a:p>
        </p:txBody>
      </p:sp>
      <p:sp>
        <p:nvSpPr>
          <p:cNvPr id="30" name="壁 30"/>
          <p:cNvSpPr/>
          <p:nvPr/>
        </p:nvSpPr>
        <p:spPr>
          <a:xfrm>
            <a:off x="4557920" y="4482500"/>
            <a:ext cx="595000" cy="35000"/>
          </a:xfrm>
          <a:prstGeom prst="rect">
            <a:avLst/>
          </a:prstGeom>
          <a:solidFill>
            <a:srgbClr val="9AA3B0"/>
          </a:solidFill>
          <a:ln>
            <a:noFill/>
          </a:ln>
        </p:spPr>
        <p:txBody>
          <a:bodyPr/>
          <a:lstStyle/>
          <a:p>
            <a:endParaRPr lang="ja-JP" altLang="en-US"/>
          </a:p>
        </p:txBody>
      </p:sp>
      <p:sp>
        <p:nvSpPr>
          <p:cNvPr id="31" name="壁 31"/>
          <p:cNvSpPr/>
          <p:nvPr/>
        </p:nvSpPr>
        <p:spPr>
          <a:xfrm>
            <a:off x="5852920" y="4482500"/>
            <a:ext cx="595000" cy="35000"/>
          </a:xfrm>
          <a:prstGeom prst="rect">
            <a:avLst/>
          </a:prstGeom>
          <a:solidFill>
            <a:srgbClr val="9AA3B0"/>
          </a:solidFill>
          <a:ln>
            <a:noFill/>
          </a:ln>
        </p:spPr>
        <p:txBody>
          <a:bodyPr/>
          <a:lstStyle/>
          <a:p>
            <a:endParaRPr lang="ja-JP" altLang="en-US"/>
          </a:p>
        </p:txBody>
      </p:sp>
      <p:sp>
        <p:nvSpPr>
          <p:cNvPr id="32" name="折れ線 32"/>
          <p:cNvSpPr/>
          <p:nvPr/>
        </p:nvSpPr>
        <p:spPr>
          <a:xfrm>
            <a:off x="5432920" y="3800000"/>
            <a:ext cx="401276" cy="1260000"/>
          </a:xfrm>
          <a:custGeom>
            <a:avLst/>
            <a:gdLst/>
            <a:ahLst/>
            <a:cxnLst/>
            <a:rect l="0" t="0" r="r" b="b"/>
            <a:pathLst>
              <a:path w="401276" h="1260000" fill="none">
                <a:moveTo>
                  <a:pt x="175000" y="0"/>
                </a:moveTo>
                <a:lnTo>
                  <a:pt x="401276" y="452034"/>
                </a:lnTo>
                <a:lnTo>
                  <a:pt x="0" y="1260000"/>
                </a:lnTo>
              </a:path>
            </a:pathLst>
          </a:custGeom>
          <a:noFill/>
          <a:ln w="31750" cap="rnd">
            <a:solidFill>
              <a:srgbClr val="E3A33B"/>
            </a:solidFill>
            <a:round/>
          </a:ln>
        </p:spPr>
        <p:txBody>
          <a:bodyPr/>
          <a:lstStyle/>
          <a:p>
            <a:endParaRPr lang="ja-JP" altLang="en-US"/>
          </a:p>
        </p:txBody>
      </p:sp>
      <p:cxnSp>
        <p:nvCxnSpPr>
          <p:cNvPr id="33" name="線 33"/>
          <p:cNvCxnSpPr/>
          <p:nvPr/>
        </p:nvCxnSpPr>
        <p:spPr>
          <a:xfrm flipV="1">
            <a:off x="5152920" y="4260585"/>
            <a:ext cx="657784" cy="239414"/>
          </a:xfrm>
          <a:prstGeom prst="line">
            <a:avLst/>
          </a:prstGeom>
          <a:ln w="44450" cap="rnd">
            <a:solidFill>
              <a:srgbClr val="1E2430"/>
            </a:solidFill>
            <a:round/>
          </a:ln>
        </p:spPr>
      </p:cxnSp>
      <p:sp>
        <p:nvSpPr>
          <p:cNvPr id="34" name="番号 34"/>
          <p:cNvSpPr/>
          <p:nvPr/>
        </p:nvSpPr>
        <p:spPr>
          <a:xfrm>
            <a:off x="5532920" y="372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5" name="テキスト 35"/>
          <p:cNvSpPr txBox="1"/>
          <p:nvPr/>
        </p:nvSpPr>
        <p:spPr>
          <a:xfrm>
            <a:off x="5717920" y="370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36" name="番号 36"/>
          <p:cNvSpPr/>
          <p:nvPr/>
        </p:nvSpPr>
        <p:spPr>
          <a:xfrm>
            <a:off x="5357920" y="498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7" name="テキスト 37"/>
          <p:cNvSpPr txBox="1"/>
          <p:nvPr/>
        </p:nvSpPr>
        <p:spPr>
          <a:xfrm>
            <a:off x="5542920" y="4960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38" name="棒 38"/>
          <p:cNvSpPr/>
          <p:nvPr/>
        </p:nvSpPr>
        <p:spPr>
          <a:xfrm>
            <a:off x="6686031" y="4062500"/>
            <a:ext cx="234000" cy="637500"/>
          </a:xfrm>
          <a:prstGeom prst="rect">
            <a:avLst/>
          </a:prstGeom>
          <a:solidFill>
            <a:srgbClr val="E3A33B"/>
          </a:solidFill>
          <a:ln>
            <a:noFill/>
          </a:ln>
        </p:spPr>
        <p:txBody>
          <a:bodyPr/>
          <a:lstStyle/>
          <a:p>
            <a:endParaRPr lang="ja-JP" altLang="en-US"/>
          </a:p>
        </p:txBody>
      </p:sp>
      <p:sp>
        <p:nvSpPr>
          <p:cNvPr id="39" name="テキスト 39"/>
          <p:cNvSpPr txBox="1"/>
          <p:nvPr/>
        </p:nvSpPr>
        <p:spPr>
          <a:xfrm>
            <a:off x="6626031" y="4730000"/>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40" name="棒 40"/>
          <p:cNvSpPr/>
          <p:nvPr/>
        </p:nvSpPr>
        <p:spPr>
          <a:xfrm>
            <a:off x="7011031" y="4362500"/>
            <a:ext cx="234000" cy="337500"/>
          </a:xfrm>
          <a:prstGeom prst="rect">
            <a:avLst/>
          </a:prstGeom>
          <a:solidFill>
            <a:srgbClr val="9AA3B0"/>
          </a:solidFill>
          <a:ln>
            <a:noFill/>
          </a:ln>
        </p:spPr>
        <p:txBody>
          <a:bodyPr/>
          <a:lstStyle/>
          <a:p>
            <a:endParaRPr lang="ja-JP" altLang="en-US"/>
          </a:p>
        </p:txBody>
      </p:sp>
      <p:sp>
        <p:nvSpPr>
          <p:cNvPr id="41" name="テキスト 41"/>
          <p:cNvSpPr txBox="1"/>
          <p:nvPr/>
        </p:nvSpPr>
        <p:spPr>
          <a:xfrm>
            <a:off x="6951031" y="4730000"/>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42" name="線 42"/>
          <p:cNvCxnSpPr/>
          <p:nvPr/>
        </p:nvCxnSpPr>
        <p:spPr>
          <a:xfrm>
            <a:off x="6646031" y="4700000"/>
            <a:ext cx="690000" cy="0"/>
          </a:xfrm>
          <a:prstGeom prst="line">
            <a:avLst/>
          </a:prstGeom>
          <a:ln w="9525" cap="rnd">
            <a:solidFill>
              <a:srgbClr val="C9CFD8"/>
            </a:solidFill>
            <a:round/>
          </a:ln>
        </p:spPr>
      </p:cxnSp>
      <p:sp>
        <p:nvSpPr>
          <p:cNvPr id="43" name="テキスト 43"/>
          <p:cNvSpPr txBox="1"/>
          <p:nvPr/>
        </p:nvSpPr>
        <p:spPr>
          <a:xfrm>
            <a:off x="6538142" y="4950000"/>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5C6677"/>
                </a:solidFill>
                <a:latin typeface="BIZ UDPゴシック"/>
                <a:ea typeface="BIZ UDPゴシック"/>
                <a:cs typeface="BIZ UDPゴシック"/>
              </a:rPr>
              <a:t>少しこもる</a:t>
            </a:r>
            <a:endParaRPr lang="ja-JP" altLang="en-US" sz="1250" dirty="0">
              <a:solidFill>
                <a:srgbClr val="5C6677"/>
              </a:solidFill>
              <a:latin typeface="BIZ UDPゴシック"/>
              <a:ea typeface="BIZ UDPゴシック"/>
              <a:cs typeface="BIZ UDPゴシック"/>
            </a:endParaRPr>
          </a:p>
        </p:txBody>
      </p:sp>
      <p:sp>
        <p:nvSpPr>
          <p:cNvPr id="44" name="テキスト 44"/>
          <p:cNvSpPr txBox="1"/>
          <p:nvPr/>
        </p:nvSpPr>
        <p:spPr>
          <a:xfrm>
            <a:off x="4495864" y="5600000"/>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開き始め</a:t>
            </a:r>
            <a:endParaRPr lang="ja-JP" altLang="en-US" sz="1300" dirty="0">
              <a:solidFill>
                <a:srgbClr val="1E2430"/>
              </a:solidFill>
              <a:latin typeface="BIZ UDPゴシック"/>
              <a:ea typeface="BIZ UDPゴシック"/>
              <a:cs typeface="BIZ UDPゴシック"/>
            </a:endParaRPr>
          </a:p>
        </p:txBody>
      </p:sp>
      <p:sp>
        <p:nvSpPr>
          <p:cNvPr id="45" name="テキスト 45"/>
          <p:cNvSpPr txBox="1"/>
          <p:nvPr/>
        </p:nvSpPr>
        <p:spPr>
          <a:xfrm>
            <a:off x="4495864" y="5910000"/>
            <a:ext cx="3297224"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回折と透過音のミックス</a:t>
            </a:r>
          </a:p>
        </p:txBody>
      </p:sp>
      <p:sp>
        <p:nvSpPr>
          <p:cNvPr id="46" name="矢印 46"/>
          <p:cNvSpPr/>
          <p:nvPr/>
        </p:nvSpPr>
        <p:spPr>
          <a:xfrm>
            <a:off x="7793088" y="4400000"/>
            <a:ext cx="260000" cy="200000"/>
          </a:xfrm>
          <a:prstGeom prst="rightArrow">
            <a:avLst/>
          </a:prstGeom>
          <a:solidFill>
            <a:srgbClr val="9AA3B0"/>
          </a:solidFill>
          <a:ln>
            <a:noFill/>
          </a:ln>
        </p:spPr>
        <p:txBody>
          <a:bodyPr/>
          <a:lstStyle/>
          <a:p>
            <a:endParaRPr lang="ja-JP" altLang="en-US"/>
          </a:p>
        </p:txBody>
      </p:sp>
      <p:sp>
        <p:nvSpPr>
          <p:cNvPr id="47" name="壁 47"/>
          <p:cNvSpPr/>
          <p:nvPr/>
        </p:nvSpPr>
        <p:spPr>
          <a:xfrm>
            <a:off x="8255144" y="4482500"/>
            <a:ext cx="595000" cy="35000"/>
          </a:xfrm>
          <a:prstGeom prst="rect">
            <a:avLst/>
          </a:prstGeom>
          <a:solidFill>
            <a:srgbClr val="9AA3B0"/>
          </a:solidFill>
          <a:ln>
            <a:noFill/>
          </a:ln>
        </p:spPr>
        <p:txBody>
          <a:bodyPr/>
          <a:lstStyle/>
          <a:p>
            <a:endParaRPr lang="ja-JP" altLang="en-US"/>
          </a:p>
        </p:txBody>
      </p:sp>
      <p:sp>
        <p:nvSpPr>
          <p:cNvPr id="48" name="壁 48"/>
          <p:cNvSpPr/>
          <p:nvPr/>
        </p:nvSpPr>
        <p:spPr>
          <a:xfrm>
            <a:off x="9550144" y="4482500"/>
            <a:ext cx="595000" cy="35000"/>
          </a:xfrm>
          <a:prstGeom prst="rect">
            <a:avLst/>
          </a:prstGeom>
          <a:solidFill>
            <a:srgbClr val="9AA3B0"/>
          </a:solidFill>
          <a:ln>
            <a:noFill/>
          </a:ln>
        </p:spPr>
        <p:txBody>
          <a:bodyPr/>
          <a:lstStyle/>
          <a:p>
            <a:endParaRPr lang="ja-JP" altLang="en-US"/>
          </a:p>
        </p:txBody>
      </p:sp>
      <p:cxnSp>
        <p:nvCxnSpPr>
          <p:cNvPr id="49" name="線 49"/>
          <p:cNvCxnSpPr/>
          <p:nvPr/>
        </p:nvCxnSpPr>
        <p:spPr>
          <a:xfrm flipH="1">
            <a:off x="9130144" y="3800000"/>
            <a:ext cx="175000" cy="1260000"/>
          </a:xfrm>
          <a:prstGeom prst="line">
            <a:avLst/>
          </a:prstGeom>
          <a:ln w="38100" cap="rnd">
            <a:solidFill>
              <a:srgbClr val="E3A33B"/>
            </a:solidFill>
            <a:round/>
          </a:ln>
        </p:spPr>
      </p:cxnSp>
      <p:cxnSp>
        <p:nvCxnSpPr>
          <p:cNvPr id="50" name="線 50"/>
          <p:cNvCxnSpPr/>
          <p:nvPr/>
        </p:nvCxnSpPr>
        <p:spPr>
          <a:xfrm flipV="1">
            <a:off x="8850144" y="3842215"/>
            <a:ext cx="239414" cy="657784"/>
          </a:xfrm>
          <a:prstGeom prst="line">
            <a:avLst/>
          </a:prstGeom>
          <a:ln w="44450" cap="rnd">
            <a:solidFill>
              <a:srgbClr val="1E2430"/>
            </a:solidFill>
            <a:round/>
          </a:ln>
        </p:spPr>
      </p:cxnSp>
      <p:sp>
        <p:nvSpPr>
          <p:cNvPr id="51" name="番号 51"/>
          <p:cNvSpPr/>
          <p:nvPr/>
        </p:nvSpPr>
        <p:spPr>
          <a:xfrm>
            <a:off x="9230144" y="372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2" name="テキスト 52"/>
          <p:cNvSpPr txBox="1"/>
          <p:nvPr/>
        </p:nvSpPr>
        <p:spPr>
          <a:xfrm>
            <a:off x="9415144" y="370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53" name="番号 53"/>
          <p:cNvSpPr/>
          <p:nvPr/>
        </p:nvSpPr>
        <p:spPr>
          <a:xfrm>
            <a:off x="9055144" y="498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4" name="テキスト 54"/>
          <p:cNvSpPr txBox="1"/>
          <p:nvPr/>
        </p:nvSpPr>
        <p:spPr>
          <a:xfrm>
            <a:off x="9240144" y="4960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55" name="棒 55"/>
          <p:cNvSpPr/>
          <p:nvPr/>
        </p:nvSpPr>
        <p:spPr>
          <a:xfrm>
            <a:off x="10383255" y="3950000"/>
            <a:ext cx="234000" cy="750000"/>
          </a:xfrm>
          <a:prstGeom prst="rect">
            <a:avLst/>
          </a:prstGeom>
          <a:solidFill>
            <a:srgbClr val="E3A33B"/>
          </a:solidFill>
          <a:ln>
            <a:noFill/>
          </a:ln>
        </p:spPr>
        <p:txBody>
          <a:bodyPr/>
          <a:lstStyle/>
          <a:p>
            <a:endParaRPr lang="ja-JP" altLang="en-US"/>
          </a:p>
        </p:txBody>
      </p:sp>
      <p:sp>
        <p:nvSpPr>
          <p:cNvPr id="56" name="テキスト 56"/>
          <p:cNvSpPr txBox="1"/>
          <p:nvPr/>
        </p:nvSpPr>
        <p:spPr>
          <a:xfrm>
            <a:off x="10323255" y="4730000"/>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57" name="棒 57"/>
          <p:cNvSpPr/>
          <p:nvPr/>
        </p:nvSpPr>
        <p:spPr>
          <a:xfrm>
            <a:off x="10708255" y="3950000"/>
            <a:ext cx="234000" cy="750000"/>
          </a:xfrm>
          <a:prstGeom prst="rect">
            <a:avLst/>
          </a:prstGeom>
          <a:solidFill>
            <a:srgbClr val="9AA3B0"/>
          </a:solidFill>
          <a:ln>
            <a:noFill/>
          </a:ln>
        </p:spPr>
        <p:txBody>
          <a:bodyPr/>
          <a:lstStyle/>
          <a:p>
            <a:endParaRPr lang="ja-JP" altLang="en-US"/>
          </a:p>
        </p:txBody>
      </p:sp>
      <p:sp>
        <p:nvSpPr>
          <p:cNvPr id="58" name="テキスト 58"/>
          <p:cNvSpPr txBox="1"/>
          <p:nvPr/>
        </p:nvSpPr>
        <p:spPr>
          <a:xfrm>
            <a:off x="10648255" y="4730000"/>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59" name="線 59"/>
          <p:cNvCxnSpPr/>
          <p:nvPr/>
        </p:nvCxnSpPr>
        <p:spPr>
          <a:xfrm>
            <a:off x="10343255" y="4700000"/>
            <a:ext cx="690000" cy="0"/>
          </a:xfrm>
          <a:prstGeom prst="line">
            <a:avLst/>
          </a:prstGeom>
          <a:ln w="9525" cap="rnd">
            <a:solidFill>
              <a:srgbClr val="C9CFD8"/>
            </a:solidFill>
            <a:round/>
          </a:ln>
        </p:spPr>
      </p:cxnSp>
      <p:sp>
        <p:nvSpPr>
          <p:cNvPr id="60" name="テキスト 60"/>
          <p:cNvSpPr txBox="1"/>
          <p:nvPr/>
        </p:nvSpPr>
        <p:spPr>
          <a:xfrm>
            <a:off x="10235366" y="4950000"/>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9A6212"/>
                </a:solidFill>
                <a:latin typeface="BIZ UDPゴシック"/>
                <a:ea typeface="BIZ UDPゴシック"/>
                <a:cs typeface="BIZ UDPゴシック"/>
              </a:rPr>
              <a:t>開く</a:t>
            </a:r>
            <a:endParaRPr lang="ja-JP" altLang="en-US" sz="1250" dirty="0">
              <a:solidFill>
                <a:srgbClr val="9A6212"/>
              </a:solidFill>
              <a:latin typeface="BIZ UDPゴシック"/>
              <a:ea typeface="BIZ UDPゴシック"/>
              <a:cs typeface="BIZ UDPゴシック"/>
            </a:endParaRPr>
          </a:p>
        </p:txBody>
      </p:sp>
      <p:sp>
        <p:nvSpPr>
          <p:cNvPr id="61" name="テキスト 61"/>
          <p:cNvSpPr txBox="1"/>
          <p:nvPr/>
        </p:nvSpPr>
        <p:spPr>
          <a:xfrm>
            <a:off x="8193088" y="5600000"/>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開いた後</a:t>
            </a:r>
            <a:endParaRPr lang="ja-JP" altLang="en-US" sz="1300" dirty="0">
              <a:solidFill>
                <a:srgbClr val="1E2430"/>
              </a:solidFill>
              <a:latin typeface="BIZ UDPゴシック"/>
              <a:ea typeface="BIZ UDPゴシック"/>
              <a:cs typeface="BIZ UDPゴシック"/>
            </a:endParaRPr>
          </a:p>
        </p:txBody>
      </p:sp>
      <p:sp>
        <p:nvSpPr>
          <p:cNvPr id="62" name="テキスト 62"/>
          <p:cNvSpPr txBox="1"/>
          <p:nvPr/>
        </p:nvSpPr>
        <p:spPr>
          <a:xfrm>
            <a:off x="8193088" y="5910000"/>
            <a:ext cx="3297224"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音源が見えて全て直接音になる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03　技術選定　｜　隣の部屋へつながるドア</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隣の部屋の響きはドアから、入ったら包まれるように</a:t>
            </a:r>
            <a:endParaRPr lang="ja-JP" altLang="en-US" sz="2600" dirty="0">
              <a:solidFill>
                <a:srgbClr val="1E2430"/>
              </a:solidFill>
              <a:latin typeface="BIZ UDPゴシック"/>
              <a:ea typeface="BIZ UDPゴシック"/>
              <a:cs typeface="BIZ UDPゴシック"/>
            </a:endParaRPr>
          </a:p>
        </p:txBody>
      </p:sp>
      <p:sp>
        <p:nvSpPr>
          <p:cNvPr id="4" name="カード 4"/>
          <p:cNvSpPr/>
          <p:nvPr/>
        </p:nvSpPr>
        <p:spPr>
          <a:xfrm>
            <a:off x="548640" y="1400000"/>
            <a:ext cx="5295836" cy="1500000"/>
          </a:xfrm>
          <a:prstGeom prst="roundRect">
            <a:avLst>
              <a:gd name="adj" fmla="val 5000"/>
            </a:avLst>
          </a:prstGeom>
          <a:solidFill>
            <a:srgbClr val="F0F2F5"/>
          </a:solidFill>
          <a:ln>
            <a:noFill/>
          </a:ln>
        </p:spPr>
      </p:sp>
      <p:sp>
        <p:nvSpPr>
          <p:cNvPr id="5" name="ラベル 5"/>
          <p:cNvSpPr/>
          <p:nvPr/>
        </p:nvSpPr>
        <p:spPr>
          <a:xfrm>
            <a:off x="798640" y="1580000"/>
            <a:ext cx="90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00" b="1" dirty="0">
                <a:solidFill>
                  <a:srgbClr val="1E2430"/>
                </a:solidFill>
                <a:latin typeface="BIZ UDPゴシック"/>
                <a:ea typeface="BIZ UDPゴシック"/>
                <a:cs typeface="BIZ UDPゴシック"/>
              </a:rPr>
              <a:t>理由</a:t>
            </a:r>
            <a:endParaRPr lang="ja-JP" altLang="en-US" sz="1200" dirty="0">
              <a:solidFill>
                <a:srgbClr val="1E2430"/>
              </a:solidFill>
              <a:latin typeface="BIZ UDPゴシック"/>
              <a:ea typeface="BIZ UDPゴシック"/>
              <a:cs typeface="BIZ UDPゴシック"/>
            </a:endParaRPr>
          </a:p>
        </p:txBody>
      </p:sp>
      <p:sp>
        <p:nvSpPr>
          <p:cNvPr id="6" name="テキスト 6"/>
          <p:cNvSpPr txBox="1"/>
          <p:nvPr/>
        </p:nvSpPr>
        <p:spPr>
          <a:xfrm>
            <a:off x="798640" y="2000000"/>
            <a:ext cx="4795836" cy="80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300" dirty="0">
                <a:solidFill>
                  <a:srgbClr val="1E2430"/>
                </a:solidFill>
                <a:latin typeface="BIZ UDPゴシック"/>
                <a:ea typeface="BIZ UDPゴシック"/>
                <a:cs typeface="BIZ UDPゴシック"/>
              </a:rPr>
              <a:t>隣の部屋の反射音・残響音を今いる部屋でもそのまま響かせると、どこから聞こえるのかわかりにくくなる（制作中に判明）</a:t>
            </a:r>
            <a:endParaRPr lang="ja-JP" altLang="en-US" sz="1300" dirty="0">
              <a:solidFill>
                <a:srgbClr val="1E2430"/>
              </a:solidFill>
              <a:latin typeface="BIZ UDPゴシック"/>
              <a:ea typeface="BIZ UDPゴシック"/>
              <a:cs typeface="BIZ UDPゴシック"/>
            </a:endParaRPr>
          </a:p>
        </p:txBody>
      </p:sp>
      <p:sp>
        <p:nvSpPr>
          <p:cNvPr id="7" name="矢印 7"/>
          <p:cNvSpPr/>
          <p:nvPr/>
        </p:nvSpPr>
        <p:spPr>
          <a:xfrm>
            <a:off x="5924476" y="1980000"/>
            <a:ext cx="340000" cy="340000"/>
          </a:xfrm>
          <a:prstGeom prst="rightArrow">
            <a:avLst/>
          </a:prstGeom>
          <a:solidFill>
            <a:srgbClr val="E3A33B"/>
          </a:solidFill>
          <a:ln>
            <a:noFill/>
          </a:ln>
        </p:spPr>
      </p:sp>
      <p:sp>
        <p:nvSpPr>
          <p:cNvPr id="8" name="カード 8"/>
          <p:cNvSpPr/>
          <p:nvPr/>
        </p:nvSpPr>
        <p:spPr>
          <a:xfrm>
            <a:off x="6344476" y="1400000"/>
            <a:ext cx="5295836" cy="1500000"/>
          </a:xfrm>
          <a:prstGeom prst="roundRect">
            <a:avLst>
              <a:gd name="adj" fmla="val 5000"/>
            </a:avLst>
          </a:prstGeom>
          <a:solidFill>
            <a:srgbClr val="FBF1DF"/>
          </a:solidFill>
          <a:ln>
            <a:noFill/>
          </a:ln>
        </p:spPr>
      </p:sp>
      <p:sp>
        <p:nvSpPr>
          <p:cNvPr id="9" name="ラベル 9"/>
          <p:cNvSpPr/>
          <p:nvPr/>
        </p:nvSpPr>
        <p:spPr>
          <a:xfrm>
            <a:off x="6594476" y="1580000"/>
            <a:ext cx="130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00" b="1" dirty="0">
                <a:solidFill>
                  <a:srgbClr val="1E2430"/>
                </a:solidFill>
                <a:latin typeface="BIZ UDPゴシック"/>
                <a:ea typeface="BIZ UDPゴシック"/>
                <a:cs typeface="BIZ UDPゴシック"/>
              </a:rPr>
              <a:t>アプローチ</a:t>
            </a:r>
            <a:endParaRPr lang="ja-JP" altLang="en-US" sz="1200" dirty="0">
              <a:solidFill>
                <a:srgbClr val="1E2430"/>
              </a:solidFill>
              <a:latin typeface="BIZ UDPゴシック"/>
              <a:ea typeface="BIZ UDPゴシック"/>
              <a:cs typeface="BIZ UDPゴシック"/>
            </a:endParaRPr>
          </a:p>
        </p:txBody>
      </p:sp>
      <p:sp>
        <p:nvSpPr>
          <p:cNvPr id="10" name="テキスト 10"/>
          <p:cNvSpPr txBox="1"/>
          <p:nvPr/>
        </p:nvSpPr>
        <p:spPr>
          <a:xfrm>
            <a:off x="6594476" y="2000000"/>
            <a:ext cx="4795836" cy="80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300" b="1" dirty="0">
                <a:solidFill>
                  <a:srgbClr val="1E2430"/>
                </a:solidFill>
                <a:latin typeface="BIZ UDPゴシック"/>
                <a:ea typeface="BIZ UDPゴシック"/>
                <a:cs typeface="BIZ UDPゴシック"/>
              </a:rPr>
              <a:t>ドアの地点にリスナープローブを置き、そこで聞こえる反射音・残響音を保存して、音源としてそのまま流す。今いる部屋ではその音に反射・残響を起こさせない。部屋に入ったら LEV 側に回す</a:t>
            </a:r>
            <a:endParaRPr lang="ja-JP" altLang="en-US" sz="1300" dirty="0">
              <a:solidFill>
                <a:srgbClr val="1E2430"/>
              </a:solidFill>
              <a:latin typeface="BIZ UDPゴシック"/>
              <a:ea typeface="BIZ UDPゴシック"/>
              <a:cs typeface="BIZ UDPゴシック"/>
            </a:endParaRPr>
          </a:p>
        </p:txBody>
      </p:sp>
      <p:sp>
        <p:nvSpPr>
          <p:cNvPr id="11" name="カード 11"/>
          <p:cNvSpPr/>
          <p:nvPr/>
        </p:nvSpPr>
        <p:spPr>
          <a:xfrm>
            <a:off x="548640" y="3050000"/>
            <a:ext cx="11091672" cy="3400000"/>
          </a:xfrm>
          <a:prstGeom prst="roundRect">
            <a:avLst>
              <a:gd name="adj" fmla="val 5000"/>
            </a:avLst>
          </a:prstGeom>
          <a:solidFill>
            <a:srgbClr val="F0F2F5"/>
          </a:solidFill>
          <a:ln>
            <a:noFill/>
          </a:ln>
        </p:spPr>
      </p:sp>
      <p:sp>
        <p:nvSpPr>
          <p:cNvPr id="12" name="響く部屋 12"/>
          <p:cNvSpPr/>
          <p:nvPr/>
        </p:nvSpPr>
        <p:spPr>
          <a:xfrm>
            <a:off x="748640" y="3610000"/>
            <a:ext cx="3240557" cy="1228200"/>
          </a:xfrm>
          <a:prstGeom prst="rect">
            <a:avLst/>
          </a:prstGeom>
          <a:solidFill>
            <a:srgbClr val="FBF1DF"/>
          </a:solidFill>
          <a:ln w="12700">
            <a:solidFill>
              <a:srgbClr val="C9CFD8"/>
            </a:solidFill>
          </a:ln>
        </p:spPr>
      </p:sp>
      <p:sp>
        <p:nvSpPr>
          <p:cNvPr id="13" name="隣の部屋 13"/>
          <p:cNvSpPr/>
          <p:nvPr/>
        </p:nvSpPr>
        <p:spPr>
          <a:xfrm>
            <a:off x="748640" y="4838200"/>
            <a:ext cx="3240557" cy="1441800"/>
          </a:xfrm>
          <a:prstGeom prst="rect">
            <a:avLst/>
          </a:prstGeom>
          <a:solidFill>
            <a:srgbClr val="FFFFFF"/>
          </a:solidFill>
          <a:ln w="12700">
            <a:solidFill>
              <a:srgbClr val="C9CFD8"/>
            </a:solidFill>
          </a:ln>
        </p:spPr>
      </p:sp>
      <p:sp>
        <p:nvSpPr>
          <p:cNvPr id="14" name="壁 14"/>
          <p:cNvSpPr/>
          <p:nvPr/>
        </p:nvSpPr>
        <p:spPr>
          <a:xfrm>
            <a:off x="748640" y="4798200"/>
            <a:ext cx="1380278" cy="80000"/>
          </a:xfrm>
          <a:prstGeom prst="rect">
            <a:avLst/>
          </a:prstGeom>
          <a:solidFill>
            <a:srgbClr val="9AA3B0"/>
          </a:solidFill>
          <a:ln>
            <a:noFill/>
          </a:ln>
        </p:spPr>
      </p:sp>
      <p:sp>
        <p:nvSpPr>
          <p:cNvPr id="15" name="壁 15"/>
          <p:cNvSpPr/>
          <p:nvPr/>
        </p:nvSpPr>
        <p:spPr>
          <a:xfrm>
            <a:off x="2608918" y="4798200"/>
            <a:ext cx="1380278" cy="80000"/>
          </a:xfrm>
          <a:prstGeom prst="rect">
            <a:avLst/>
          </a:prstGeom>
          <a:solidFill>
            <a:srgbClr val="9AA3B0"/>
          </a:solidFill>
          <a:ln>
            <a:noFill/>
          </a:ln>
        </p:spPr>
      </p:sp>
      <p:sp>
        <p:nvSpPr>
          <p:cNvPr id="16" name="テキスト 16"/>
          <p:cNvSpPr txBox="1"/>
          <p:nvPr/>
        </p:nvSpPr>
        <p:spPr>
          <a:xfrm>
            <a:off x="838640" y="3670000"/>
            <a:ext cx="12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b="1" dirty="0">
                <a:solidFill>
                  <a:srgbClr val="9A6212"/>
                </a:solidFill>
                <a:latin typeface="BIZ UDPゴシック"/>
                <a:ea typeface="BIZ UDPゴシック"/>
                <a:cs typeface="BIZ UDPゴシック"/>
              </a:rPr>
              <a:t>響く部屋</a:t>
            </a:r>
            <a:endParaRPr lang="ja-JP" altLang="en-US" sz="900" dirty="0">
              <a:solidFill>
                <a:srgbClr val="9A6212"/>
              </a:solidFill>
              <a:latin typeface="BIZ UDPゴシック"/>
              <a:ea typeface="BIZ UDPゴシック"/>
              <a:cs typeface="BIZ UDPゴシック"/>
            </a:endParaRPr>
          </a:p>
        </p:txBody>
      </p:sp>
      <p:sp>
        <p:nvSpPr>
          <p:cNvPr id="17" name="テキスト 17"/>
          <p:cNvSpPr txBox="1"/>
          <p:nvPr/>
        </p:nvSpPr>
        <p:spPr>
          <a:xfrm>
            <a:off x="838640" y="6030000"/>
            <a:ext cx="12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b="1" dirty="0">
                <a:solidFill>
                  <a:srgbClr val="5C6677"/>
                </a:solidFill>
                <a:latin typeface="BIZ UDPゴシック"/>
                <a:ea typeface="BIZ UDPゴシック"/>
                <a:cs typeface="BIZ UDPゴシック"/>
              </a:rPr>
              <a:t>今いる部屋</a:t>
            </a:r>
            <a:endParaRPr lang="ja-JP" altLang="en-US" sz="900" dirty="0">
              <a:solidFill>
                <a:srgbClr val="5C6677"/>
              </a:solidFill>
              <a:latin typeface="BIZ UDPゴシック"/>
              <a:ea typeface="BIZ UDPゴシック"/>
              <a:cs typeface="BIZ UDPゴシック"/>
            </a:endParaRPr>
          </a:p>
        </p:txBody>
      </p:sp>
      <p:sp>
        <p:nvSpPr>
          <p:cNvPr id="18" name="響き 18"/>
          <p:cNvSpPr/>
          <p:nvPr/>
        </p:nvSpPr>
        <p:spPr>
          <a:xfrm>
            <a:off x="3179197" y="3934100"/>
            <a:ext cx="580000" cy="580000"/>
          </a:xfrm>
          <a:prstGeom prst="ellipse">
            <a:avLst/>
          </a:prstGeom>
          <a:noFill/>
          <a:ln w="12700">
            <a:solidFill>
              <a:srgbClr val="E3A33B"/>
            </a:solidFill>
          </a:ln>
        </p:spPr>
      </p:sp>
      <p:sp>
        <p:nvSpPr>
          <p:cNvPr id="19" name="響き 19"/>
          <p:cNvSpPr/>
          <p:nvPr/>
        </p:nvSpPr>
        <p:spPr>
          <a:xfrm>
            <a:off x="3279197" y="4034100"/>
            <a:ext cx="380000" cy="380000"/>
          </a:xfrm>
          <a:prstGeom prst="ellipse">
            <a:avLst/>
          </a:prstGeom>
          <a:noFill/>
          <a:ln w="12700">
            <a:solidFill>
              <a:srgbClr val="E3A33B"/>
            </a:solidFill>
          </a:ln>
        </p:spPr>
      </p:sp>
      <p:sp>
        <p:nvSpPr>
          <p:cNvPr id="20" name="番号 20"/>
          <p:cNvSpPr/>
          <p:nvPr/>
        </p:nvSpPr>
        <p:spPr>
          <a:xfrm>
            <a:off x="3414197" y="4169100"/>
            <a:ext cx="110000" cy="11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cxnSp>
        <p:nvCxnSpPr>
          <p:cNvPr id="21" name="線 21"/>
          <p:cNvCxnSpPr/>
          <p:nvPr/>
        </p:nvCxnSpPr>
        <p:spPr>
          <a:xfrm>
            <a:off x="828640" y="5381190"/>
            <a:ext cx="794950" cy="187500"/>
          </a:xfrm>
          <a:prstGeom prst="line">
            <a:avLst/>
          </a:prstGeom>
          <a:ln w="15875" cap="rnd">
            <a:solidFill>
              <a:srgbClr val="9AA3B0"/>
            </a:solidFill>
            <a:round/>
            <a:tailEnd type="triangle" w="med" len="med"/>
          </a:ln>
        </p:spPr>
      </p:cxnSp>
      <p:cxnSp>
        <p:nvCxnSpPr>
          <p:cNvPr id="22" name="線 22"/>
          <p:cNvCxnSpPr/>
          <p:nvPr/>
        </p:nvCxnSpPr>
        <p:spPr>
          <a:xfrm flipV="1">
            <a:off x="828640" y="5681190"/>
            <a:ext cx="794950" cy="150000"/>
          </a:xfrm>
          <a:prstGeom prst="line">
            <a:avLst/>
          </a:prstGeom>
          <a:ln w="15875" cap="rnd">
            <a:solidFill>
              <a:srgbClr val="9AA3B0"/>
            </a:solidFill>
            <a:round/>
            <a:tailEnd type="triangle" w="med" len="med"/>
          </a:ln>
        </p:spPr>
      </p:cxnSp>
      <p:cxnSp>
        <p:nvCxnSpPr>
          <p:cNvPr id="23" name="線 23"/>
          <p:cNvCxnSpPr/>
          <p:nvPr/>
        </p:nvCxnSpPr>
        <p:spPr>
          <a:xfrm flipH="1" flipV="1">
            <a:off x="2203660" y="5793392"/>
            <a:ext cx="865258" cy="426607"/>
          </a:xfrm>
          <a:prstGeom prst="line">
            <a:avLst/>
          </a:prstGeom>
          <a:ln w="15875" cap="rnd">
            <a:solidFill>
              <a:srgbClr val="9AA3B0"/>
            </a:solidFill>
            <a:round/>
            <a:tailEnd type="triangle" w="med" len="med"/>
          </a:ln>
        </p:spPr>
      </p:cxnSp>
      <p:cxnSp>
        <p:nvCxnSpPr>
          <p:cNvPr id="24" name="線 24"/>
          <p:cNvCxnSpPr/>
          <p:nvPr/>
        </p:nvCxnSpPr>
        <p:spPr>
          <a:xfrm flipH="1">
            <a:off x="2433729" y="5631190"/>
            <a:ext cx="1475467" cy="0"/>
          </a:xfrm>
          <a:prstGeom prst="line">
            <a:avLst/>
          </a:prstGeom>
          <a:ln w="15875" cap="rnd">
            <a:solidFill>
              <a:srgbClr val="9AA3B0"/>
            </a:solidFill>
            <a:round/>
            <a:tailEnd type="triangle" w="med" len="med"/>
          </a:ln>
        </p:spPr>
      </p:cxnSp>
      <p:cxnSp>
        <p:nvCxnSpPr>
          <p:cNvPr id="25" name="線 25"/>
          <p:cNvCxnSpPr/>
          <p:nvPr/>
        </p:nvCxnSpPr>
        <p:spPr>
          <a:xfrm flipH="1" flipV="1">
            <a:off x="1966160" y="5793392"/>
            <a:ext cx="152758" cy="426607"/>
          </a:xfrm>
          <a:prstGeom prst="line">
            <a:avLst/>
          </a:prstGeom>
          <a:ln w="15875" cap="rnd">
            <a:solidFill>
              <a:srgbClr val="9AA3B0"/>
            </a:solidFill>
            <a:round/>
            <a:tailEnd type="triangle" w="med" len="med"/>
          </a:ln>
        </p:spPr>
      </p:cxnSp>
      <p:cxnSp>
        <p:nvCxnSpPr>
          <p:cNvPr id="26" name="線 26"/>
          <p:cNvCxnSpPr/>
          <p:nvPr/>
        </p:nvCxnSpPr>
        <p:spPr>
          <a:xfrm flipH="1">
            <a:off x="2028660" y="4888200"/>
            <a:ext cx="340258" cy="544742"/>
          </a:xfrm>
          <a:prstGeom prst="line">
            <a:avLst/>
          </a:prstGeom>
          <a:ln w="15875" cap="rnd">
            <a:solidFill>
              <a:srgbClr val="9AA3B0"/>
            </a:solidFill>
            <a:round/>
            <a:tailEnd type="triangle" w="med" len="med"/>
          </a:ln>
        </p:spPr>
      </p:cxnSp>
      <p:sp>
        <p:nvSpPr>
          <p:cNvPr id="27" name="番号 27"/>
          <p:cNvSpPr/>
          <p:nvPr/>
        </p:nvSpPr>
        <p:spPr>
          <a:xfrm>
            <a:off x="1845240" y="5561190"/>
            <a:ext cx="140000" cy="14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8" name="テキスト 28"/>
          <p:cNvSpPr txBox="1"/>
          <p:nvPr/>
        </p:nvSpPr>
        <p:spPr>
          <a:xfrm>
            <a:off x="2839197" y="4968200"/>
            <a:ext cx="1050000" cy="22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5C6677"/>
                </a:solidFill>
                <a:latin typeface="BIZ UDPゴシック"/>
                <a:ea typeface="BIZ UDPゴシック"/>
                <a:cs typeface="BIZ UDPゴシック"/>
              </a:rPr>
              <a:t>どこから？</a:t>
            </a:r>
            <a:endParaRPr lang="ja-JP" altLang="en-US" sz="1000" dirty="0">
              <a:solidFill>
                <a:srgbClr val="5C6677"/>
              </a:solidFill>
              <a:latin typeface="BIZ UDPゴシック"/>
              <a:ea typeface="BIZ UDPゴシック"/>
              <a:cs typeface="BIZ UDPゴシック"/>
            </a:endParaRPr>
          </a:p>
        </p:txBody>
      </p:sp>
      <p:sp>
        <p:nvSpPr>
          <p:cNvPr id="29" name="前後 29"/>
          <p:cNvSpPr/>
          <p:nvPr/>
        </p:nvSpPr>
        <p:spPr>
          <a:xfrm>
            <a:off x="748640" y="3220000"/>
            <a:ext cx="520000" cy="280000"/>
          </a:xfrm>
          <a:prstGeom prst="roundRect">
            <a:avLst>
              <a:gd name="adj" fmla="val 50000"/>
            </a:avLst>
          </a:prstGeom>
          <a:solidFill>
            <a:srgbClr val="9AA3B0"/>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00" b="1" dirty="0">
                <a:solidFill>
                  <a:srgbClr val="FFFFFF"/>
                </a:solidFill>
                <a:latin typeface="BIZ UDPゴシック"/>
                <a:ea typeface="BIZ UDPゴシック"/>
                <a:cs typeface="BIZ UDPゴシック"/>
              </a:rPr>
              <a:t>前</a:t>
            </a:r>
            <a:endParaRPr lang="ja-JP" altLang="en-US" sz="1000" dirty="0">
              <a:solidFill>
                <a:srgbClr val="FFFFFF"/>
              </a:solidFill>
              <a:latin typeface="BIZ UDPゴシック"/>
              <a:ea typeface="BIZ UDPゴシック"/>
              <a:cs typeface="BIZ UDPゴシック"/>
            </a:endParaRPr>
          </a:p>
        </p:txBody>
      </p:sp>
      <p:sp>
        <p:nvSpPr>
          <p:cNvPr id="30" name="テキスト 30"/>
          <p:cNvSpPr txBox="1"/>
          <p:nvPr/>
        </p:nvSpPr>
        <p:spPr>
          <a:xfrm>
            <a:off x="1368640" y="3210000"/>
            <a:ext cx="2620557" cy="300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そのまま響かせると：</a:t>
            </a:r>
            <a:r>
              <a:rPr lang="ja-JP" altLang="en-US" sz="1050" b="1" dirty="0">
                <a:solidFill>
                  <a:srgbClr val="9A6212"/>
                </a:solidFill>
                <a:latin typeface="BIZ UDPゴシック"/>
                <a:ea typeface="BIZ UDPゴシック"/>
                <a:cs typeface="BIZ UDPゴシック"/>
              </a:rPr>
              <a:t>方向がわかりにくい</a:t>
            </a:r>
            <a:endParaRPr lang="ja-JP" altLang="en-US" sz="1050" dirty="0">
              <a:solidFill>
                <a:srgbClr val="1E2430"/>
              </a:solidFill>
              <a:latin typeface="BIZ UDPゴシック"/>
              <a:ea typeface="BIZ UDPゴシック"/>
              <a:cs typeface="BIZ UDPゴシック"/>
            </a:endParaRPr>
          </a:p>
        </p:txBody>
      </p:sp>
      <p:sp>
        <p:nvSpPr>
          <p:cNvPr id="31" name="響く部屋 31"/>
          <p:cNvSpPr/>
          <p:nvPr/>
        </p:nvSpPr>
        <p:spPr>
          <a:xfrm>
            <a:off x="4439197" y="3610000"/>
            <a:ext cx="3240557" cy="1228200"/>
          </a:xfrm>
          <a:prstGeom prst="rect">
            <a:avLst/>
          </a:prstGeom>
          <a:solidFill>
            <a:srgbClr val="FBF1DF"/>
          </a:solidFill>
          <a:ln w="12700">
            <a:solidFill>
              <a:srgbClr val="C9CFD8"/>
            </a:solidFill>
          </a:ln>
        </p:spPr>
      </p:sp>
      <p:sp>
        <p:nvSpPr>
          <p:cNvPr id="32" name="隣の部屋 32"/>
          <p:cNvSpPr/>
          <p:nvPr/>
        </p:nvSpPr>
        <p:spPr>
          <a:xfrm>
            <a:off x="4439197" y="4838200"/>
            <a:ext cx="3240557" cy="1441800"/>
          </a:xfrm>
          <a:prstGeom prst="rect">
            <a:avLst/>
          </a:prstGeom>
          <a:solidFill>
            <a:srgbClr val="FFFFFF"/>
          </a:solidFill>
          <a:ln w="12700">
            <a:solidFill>
              <a:srgbClr val="C9CFD8"/>
            </a:solidFill>
          </a:ln>
        </p:spPr>
      </p:sp>
      <p:sp>
        <p:nvSpPr>
          <p:cNvPr id="33" name="壁 33"/>
          <p:cNvSpPr/>
          <p:nvPr/>
        </p:nvSpPr>
        <p:spPr>
          <a:xfrm>
            <a:off x="4439197" y="4798200"/>
            <a:ext cx="1380278" cy="80000"/>
          </a:xfrm>
          <a:prstGeom prst="rect">
            <a:avLst/>
          </a:prstGeom>
          <a:solidFill>
            <a:srgbClr val="9AA3B0"/>
          </a:solidFill>
          <a:ln>
            <a:noFill/>
          </a:ln>
        </p:spPr>
      </p:sp>
      <p:sp>
        <p:nvSpPr>
          <p:cNvPr id="34" name="壁 34"/>
          <p:cNvSpPr/>
          <p:nvPr/>
        </p:nvSpPr>
        <p:spPr>
          <a:xfrm>
            <a:off x="6299476" y="4798200"/>
            <a:ext cx="1380278" cy="80000"/>
          </a:xfrm>
          <a:prstGeom prst="rect">
            <a:avLst/>
          </a:prstGeom>
          <a:solidFill>
            <a:srgbClr val="9AA3B0"/>
          </a:solidFill>
          <a:ln>
            <a:noFill/>
          </a:ln>
        </p:spPr>
      </p:sp>
      <p:sp>
        <p:nvSpPr>
          <p:cNvPr id="35" name="テキスト 35"/>
          <p:cNvSpPr txBox="1"/>
          <p:nvPr/>
        </p:nvSpPr>
        <p:spPr>
          <a:xfrm>
            <a:off x="4529197" y="3670000"/>
            <a:ext cx="12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b="1" dirty="0">
                <a:solidFill>
                  <a:srgbClr val="9A6212"/>
                </a:solidFill>
                <a:latin typeface="BIZ UDPゴシック"/>
                <a:ea typeface="BIZ UDPゴシック"/>
                <a:cs typeface="BIZ UDPゴシック"/>
              </a:rPr>
              <a:t>響く部屋</a:t>
            </a:r>
            <a:endParaRPr lang="ja-JP" altLang="en-US" sz="900" dirty="0">
              <a:solidFill>
                <a:srgbClr val="9A6212"/>
              </a:solidFill>
              <a:latin typeface="BIZ UDPゴシック"/>
              <a:ea typeface="BIZ UDPゴシック"/>
              <a:cs typeface="BIZ UDPゴシック"/>
            </a:endParaRPr>
          </a:p>
        </p:txBody>
      </p:sp>
      <p:sp>
        <p:nvSpPr>
          <p:cNvPr id="36" name="テキスト 36"/>
          <p:cNvSpPr txBox="1"/>
          <p:nvPr/>
        </p:nvSpPr>
        <p:spPr>
          <a:xfrm>
            <a:off x="4529197" y="6030000"/>
            <a:ext cx="12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b="1" dirty="0">
                <a:solidFill>
                  <a:srgbClr val="5C6677"/>
                </a:solidFill>
                <a:latin typeface="BIZ UDPゴシック"/>
                <a:ea typeface="BIZ UDPゴシック"/>
                <a:cs typeface="BIZ UDPゴシック"/>
              </a:rPr>
              <a:t>今いる部屋</a:t>
            </a:r>
            <a:endParaRPr lang="ja-JP" altLang="en-US" sz="900" dirty="0">
              <a:solidFill>
                <a:srgbClr val="5C6677"/>
              </a:solidFill>
              <a:latin typeface="BIZ UDPゴシック"/>
              <a:ea typeface="BIZ UDPゴシック"/>
              <a:cs typeface="BIZ UDPゴシック"/>
            </a:endParaRPr>
          </a:p>
        </p:txBody>
      </p:sp>
      <p:sp>
        <p:nvSpPr>
          <p:cNvPr id="37" name="響き 37"/>
          <p:cNvSpPr/>
          <p:nvPr/>
        </p:nvSpPr>
        <p:spPr>
          <a:xfrm>
            <a:off x="6869754" y="3934100"/>
            <a:ext cx="580000" cy="580000"/>
          </a:xfrm>
          <a:prstGeom prst="ellipse">
            <a:avLst/>
          </a:prstGeom>
          <a:noFill/>
          <a:ln w="12700">
            <a:solidFill>
              <a:srgbClr val="E3A33B"/>
            </a:solidFill>
          </a:ln>
        </p:spPr>
      </p:sp>
      <p:sp>
        <p:nvSpPr>
          <p:cNvPr id="38" name="響き 38"/>
          <p:cNvSpPr/>
          <p:nvPr/>
        </p:nvSpPr>
        <p:spPr>
          <a:xfrm>
            <a:off x="6969754" y="4034100"/>
            <a:ext cx="380000" cy="380000"/>
          </a:xfrm>
          <a:prstGeom prst="ellipse">
            <a:avLst/>
          </a:prstGeom>
          <a:noFill/>
          <a:ln w="12700">
            <a:solidFill>
              <a:srgbClr val="E3A33B"/>
            </a:solidFill>
          </a:ln>
        </p:spPr>
      </p:sp>
      <p:sp>
        <p:nvSpPr>
          <p:cNvPr id="39" name="番号 39"/>
          <p:cNvSpPr/>
          <p:nvPr/>
        </p:nvSpPr>
        <p:spPr>
          <a:xfrm>
            <a:off x="7104754" y="4169100"/>
            <a:ext cx="110000" cy="11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0" name="プローブ 40"/>
          <p:cNvSpPr/>
          <p:nvPr/>
        </p:nvSpPr>
        <p:spPr>
          <a:xfrm>
            <a:off x="5964476" y="4743200"/>
            <a:ext cx="190000" cy="190000"/>
          </a:xfrm>
          <a:prstGeom prst="ellipse">
            <a:avLst/>
          </a:prstGeom>
          <a:solidFill>
            <a:srgbClr val="FFFFFF"/>
          </a:solidFill>
          <a:ln w="25400">
            <a:solidFill>
              <a:srgbClr val="9A6212"/>
            </a:solidFill>
          </a:ln>
        </p:spPr>
      </p:sp>
      <p:sp>
        <p:nvSpPr>
          <p:cNvPr id="41" name="番号 41"/>
          <p:cNvSpPr/>
          <p:nvPr/>
        </p:nvSpPr>
        <p:spPr>
          <a:xfrm>
            <a:off x="6029476" y="4808200"/>
            <a:ext cx="60000" cy="60000"/>
          </a:xfrm>
          <a:prstGeom prst="ellipse">
            <a:avLst/>
          </a:prstGeom>
          <a:solidFill>
            <a:srgbClr val="9A6212"/>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cxnSp>
        <p:nvCxnSpPr>
          <p:cNvPr id="42" name="線 42"/>
          <p:cNvCxnSpPr/>
          <p:nvPr/>
        </p:nvCxnSpPr>
        <p:spPr>
          <a:xfrm flipH="1">
            <a:off x="5396964" y="4898200"/>
            <a:ext cx="518511" cy="725080"/>
          </a:xfrm>
          <a:prstGeom prst="line">
            <a:avLst/>
          </a:prstGeom>
          <a:ln w="12700" cap="rnd">
            <a:solidFill>
              <a:srgbClr val="E3A33B"/>
            </a:solidFill>
            <a:round/>
            <a:tailEnd type="triangle" w="med" len="med"/>
          </a:ln>
        </p:spPr>
      </p:cxnSp>
      <p:cxnSp>
        <p:nvCxnSpPr>
          <p:cNvPr id="43" name="線 43"/>
          <p:cNvCxnSpPr/>
          <p:nvPr/>
        </p:nvCxnSpPr>
        <p:spPr>
          <a:xfrm flipH="1">
            <a:off x="5411364" y="4898200"/>
            <a:ext cx="648111" cy="725080"/>
          </a:xfrm>
          <a:prstGeom prst="line">
            <a:avLst/>
          </a:prstGeom>
          <a:ln w="25400" cap="rnd">
            <a:solidFill>
              <a:srgbClr val="E3A33B"/>
            </a:solidFill>
            <a:round/>
            <a:tailEnd type="triangle" w="med" len="med"/>
          </a:ln>
        </p:spPr>
      </p:cxnSp>
      <p:cxnSp>
        <p:nvCxnSpPr>
          <p:cNvPr id="44" name="線 44"/>
          <p:cNvCxnSpPr/>
          <p:nvPr/>
        </p:nvCxnSpPr>
        <p:spPr>
          <a:xfrm flipH="1">
            <a:off x="5425764" y="4898200"/>
            <a:ext cx="777711" cy="725080"/>
          </a:xfrm>
          <a:prstGeom prst="line">
            <a:avLst/>
          </a:prstGeom>
          <a:ln w="12700" cap="rnd">
            <a:solidFill>
              <a:srgbClr val="E3A33B"/>
            </a:solidFill>
            <a:round/>
            <a:tailEnd type="triangle" w="med" len="med"/>
          </a:ln>
        </p:spPr>
      </p:cxnSp>
      <p:cxnSp>
        <p:nvCxnSpPr>
          <p:cNvPr id="45" name="線 45"/>
          <p:cNvCxnSpPr/>
          <p:nvPr/>
        </p:nvCxnSpPr>
        <p:spPr>
          <a:xfrm>
            <a:off x="6119476" y="4918200"/>
            <a:ext cx="1210278" cy="981800"/>
          </a:xfrm>
          <a:prstGeom prst="line">
            <a:avLst/>
          </a:prstGeom>
          <a:ln w="12700" cap="rnd">
            <a:solidFill>
              <a:srgbClr val="C9CFD8"/>
            </a:solidFill>
            <a:prstDash val="dash"/>
            <a:round/>
          </a:ln>
        </p:spPr>
      </p:cxnSp>
      <p:cxnSp>
        <p:nvCxnSpPr>
          <p:cNvPr id="46" name="線 46"/>
          <p:cNvCxnSpPr/>
          <p:nvPr/>
        </p:nvCxnSpPr>
        <p:spPr>
          <a:xfrm>
            <a:off x="7279754" y="5850000"/>
            <a:ext cx="100000" cy="100000"/>
          </a:xfrm>
          <a:prstGeom prst="line">
            <a:avLst/>
          </a:prstGeom>
          <a:ln w="19050" cap="rnd">
            <a:solidFill>
              <a:srgbClr val="5C6677"/>
            </a:solidFill>
            <a:round/>
          </a:ln>
        </p:spPr>
      </p:cxnSp>
      <p:cxnSp>
        <p:nvCxnSpPr>
          <p:cNvPr id="47" name="線 47"/>
          <p:cNvCxnSpPr/>
          <p:nvPr/>
        </p:nvCxnSpPr>
        <p:spPr>
          <a:xfrm flipV="1">
            <a:off x="7279754" y="5850000"/>
            <a:ext cx="100000" cy="100000"/>
          </a:xfrm>
          <a:prstGeom prst="line">
            <a:avLst/>
          </a:prstGeom>
          <a:ln w="19050" cap="rnd">
            <a:solidFill>
              <a:srgbClr val="5C6677"/>
            </a:solidFill>
            <a:round/>
          </a:ln>
        </p:spPr>
      </p:cxnSp>
      <p:sp>
        <p:nvSpPr>
          <p:cNvPr id="48" name="番号 48"/>
          <p:cNvSpPr/>
          <p:nvPr/>
        </p:nvSpPr>
        <p:spPr>
          <a:xfrm>
            <a:off x="5341364" y="5633280"/>
            <a:ext cx="140000" cy="14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9" name="テキスト 49"/>
          <p:cNvSpPr txBox="1"/>
          <p:nvPr/>
        </p:nvSpPr>
        <p:spPr>
          <a:xfrm>
            <a:off x="6199476" y="4578200"/>
            <a:ext cx="15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b="1" dirty="0">
                <a:solidFill>
                  <a:srgbClr val="9A6212"/>
                </a:solidFill>
                <a:latin typeface="BIZ UDPゴシック"/>
                <a:ea typeface="BIZ UDPゴシック"/>
                <a:cs typeface="BIZ UDPゴシック"/>
              </a:rPr>
              <a:t>保存して音源に</a:t>
            </a:r>
            <a:endParaRPr lang="ja-JP" altLang="en-US" sz="900" dirty="0">
              <a:solidFill>
                <a:srgbClr val="9A6212"/>
              </a:solidFill>
              <a:latin typeface="BIZ UDPゴシック"/>
              <a:ea typeface="BIZ UDPゴシック"/>
              <a:cs typeface="BIZ UDPゴシック"/>
            </a:endParaRPr>
          </a:p>
        </p:txBody>
      </p:sp>
      <p:sp>
        <p:nvSpPr>
          <p:cNvPr id="50" name="テキスト 50"/>
          <p:cNvSpPr txBox="1"/>
          <p:nvPr/>
        </p:nvSpPr>
        <p:spPr>
          <a:xfrm>
            <a:off x="6029754" y="5990000"/>
            <a:ext cx="155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この部屋では響かせない</a:t>
            </a:r>
            <a:endParaRPr lang="ja-JP" altLang="en-US" sz="850" dirty="0">
              <a:solidFill>
                <a:srgbClr val="5C6677"/>
              </a:solidFill>
              <a:latin typeface="BIZ UDPゴシック"/>
              <a:ea typeface="BIZ UDPゴシック"/>
              <a:cs typeface="BIZ UDPゴシック"/>
            </a:endParaRPr>
          </a:p>
        </p:txBody>
      </p:sp>
      <p:sp>
        <p:nvSpPr>
          <p:cNvPr id="51" name="前後 51"/>
          <p:cNvSpPr/>
          <p:nvPr/>
        </p:nvSpPr>
        <p:spPr>
          <a:xfrm>
            <a:off x="4439197" y="3220000"/>
            <a:ext cx="520000" cy="28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今</a:t>
            </a:r>
            <a:endParaRPr lang="ja-JP" altLang="en-US" sz="1000" dirty="0">
              <a:solidFill>
                <a:srgbClr val="1E2430"/>
              </a:solidFill>
              <a:latin typeface="BIZ UDPゴシック"/>
              <a:ea typeface="BIZ UDPゴシック"/>
              <a:cs typeface="BIZ UDPゴシック"/>
            </a:endParaRPr>
          </a:p>
        </p:txBody>
      </p:sp>
      <p:sp>
        <p:nvSpPr>
          <p:cNvPr id="52" name="テキスト 52"/>
          <p:cNvSpPr txBox="1"/>
          <p:nvPr/>
        </p:nvSpPr>
        <p:spPr>
          <a:xfrm>
            <a:off x="5059197" y="3210000"/>
            <a:ext cx="2620557" cy="300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隣の部屋にいる間：</a:t>
            </a:r>
            <a:r>
              <a:rPr lang="ja-JP" altLang="en-US" sz="1050" b="1" dirty="0">
                <a:solidFill>
                  <a:srgbClr val="9A6212"/>
                </a:solidFill>
                <a:latin typeface="BIZ UDPゴシック"/>
                <a:ea typeface="BIZ UDPゴシック"/>
                <a:cs typeface="BIZ UDPゴシック"/>
              </a:rPr>
              <a:t>ドアから聞こえる</a:t>
            </a:r>
            <a:endParaRPr lang="ja-JP" altLang="en-US" sz="1050" dirty="0">
              <a:solidFill>
                <a:srgbClr val="1E2430"/>
              </a:solidFill>
              <a:latin typeface="BIZ UDPゴシック"/>
              <a:ea typeface="BIZ UDPゴシック"/>
              <a:cs typeface="BIZ UDPゴシック"/>
            </a:endParaRPr>
          </a:p>
        </p:txBody>
      </p:sp>
      <p:sp>
        <p:nvSpPr>
          <p:cNvPr id="53" name="響く部屋 53"/>
          <p:cNvSpPr/>
          <p:nvPr/>
        </p:nvSpPr>
        <p:spPr>
          <a:xfrm>
            <a:off x="8199754" y="3610000"/>
            <a:ext cx="3240557" cy="1228200"/>
          </a:xfrm>
          <a:prstGeom prst="rect">
            <a:avLst/>
          </a:prstGeom>
          <a:solidFill>
            <a:srgbClr val="FBF1DF"/>
          </a:solidFill>
          <a:ln w="12700">
            <a:solidFill>
              <a:srgbClr val="C9CFD8"/>
            </a:solidFill>
          </a:ln>
        </p:spPr>
      </p:sp>
      <p:sp>
        <p:nvSpPr>
          <p:cNvPr id="54" name="隣の部屋 54"/>
          <p:cNvSpPr/>
          <p:nvPr/>
        </p:nvSpPr>
        <p:spPr>
          <a:xfrm>
            <a:off x="8199754" y="4838200"/>
            <a:ext cx="3240557" cy="1441800"/>
          </a:xfrm>
          <a:prstGeom prst="rect">
            <a:avLst/>
          </a:prstGeom>
          <a:solidFill>
            <a:srgbClr val="FFFFFF"/>
          </a:solidFill>
          <a:ln w="12700">
            <a:solidFill>
              <a:srgbClr val="C9CFD8"/>
            </a:solidFill>
          </a:ln>
        </p:spPr>
      </p:sp>
      <p:sp>
        <p:nvSpPr>
          <p:cNvPr id="55" name="壁 55"/>
          <p:cNvSpPr/>
          <p:nvPr/>
        </p:nvSpPr>
        <p:spPr>
          <a:xfrm>
            <a:off x="8199754" y="4798200"/>
            <a:ext cx="1380278" cy="80000"/>
          </a:xfrm>
          <a:prstGeom prst="rect">
            <a:avLst/>
          </a:prstGeom>
          <a:solidFill>
            <a:srgbClr val="9AA3B0"/>
          </a:solidFill>
          <a:ln>
            <a:noFill/>
          </a:ln>
        </p:spPr>
      </p:sp>
      <p:sp>
        <p:nvSpPr>
          <p:cNvPr id="56" name="壁 56"/>
          <p:cNvSpPr/>
          <p:nvPr/>
        </p:nvSpPr>
        <p:spPr>
          <a:xfrm>
            <a:off x="10060033" y="4798200"/>
            <a:ext cx="1380278" cy="80000"/>
          </a:xfrm>
          <a:prstGeom prst="rect">
            <a:avLst/>
          </a:prstGeom>
          <a:solidFill>
            <a:srgbClr val="9AA3B0"/>
          </a:solidFill>
          <a:ln>
            <a:noFill/>
          </a:ln>
        </p:spPr>
      </p:sp>
      <p:sp>
        <p:nvSpPr>
          <p:cNvPr id="57" name="テキスト 57"/>
          <p:cNvSpPr txBox="1"/>
          <p:nvPr/>
        </p:nvSpPr>
        <p:spPr>
          <a:xfrm>
            <a:off x="8289754" y="3670000"/>
            <a:ext cx="12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b="1" dirty="0">
                <a:solidFill>
                  <a:srgbClr val="9A6212"/>
                </a:solidFill>
                <a:latin typeface="BIZ UDPゴシック"/>
                <a:ea typeface="BIZ UDPゴシック"/>
                <a:cs typeface="BIZ UDPゴシック"/>
              </a:rPr>
              <a:t>響く部屋</a:t>
            </a:r>
            <a:endParaRPr lang="ja-JP" altLang="en-US" sz="900" dirty="0">
              <a:solidFill>
                <a:srgbClr val="9A6212"/>
              </a:solidFill>
              <a:latin typeface="BIZ UDPゴシック"/>
              <a:ea typeface="BIZ UDPゴシック"/>
              <a:cs typeface="BIZ UDPゴシック"/>
            </a:endParaRPr>
          </a:p>
        </p:txBody>
      </p:sp>
      <p:sp>
        <p:nvSpPr>
          <p:cNvPr id="58" name="テキスト 58"/>
          <p:cNvSpPr txBox="1"/>
          <p:nvPr/>
        </p:nvSpPr>
        <p:spPr>
          <a:xfrm>
            <a:off x="8289754" y="6030000"/>
            <a:ext cx="12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b="1" dirty="0">
                <a:solidFill>
                  <a:srgbClr val="5C6677"/>
                </a:solidFill>
                <a:latin typeface="BIZ UDPゴシック"/>
                <a:ea typeface="BIZ UDPゴシック"/>
                <a:cs typeface="BIZ UDPゴシック"/>
              </a:rPr>
              <a:t>隣の部屋</a:t>
            </a:r>
            <a:endParaRPr lang="ja-JP" altLang="en-US" sz="900" dirty="0">
              <a:solidFill>
                <a:srgbClr val="5C6677"/>
              </a:solidFill>
              <a:latin typeface="BIZ UDPゴシック"/>
              <a:ea typeface="BIZ UDPゴシック"/>
              <a:cs typeface="BIZ UDPゴシック"/>
            </a:endParaRPr>
          </a:p>
        </p:txBody>
      </p:sp>
      <p:sp>
        <p:nvSpPr>
          <p:cNvPr id="59" name="響き 59"/>
          <p:cNvSpPr/>
          <p:nvPr/>
        </p:nvSpPr>
        <p:spPr>
          <a:xfrm>
            <a:off x="10630312" y="3934100"/>
            <a:ext cx="580000" cy="580000"/>
          </a:xfrm>
          <a:prstGeom prst="ellipse">
            <a:avLst/>
          </a:prstGeom>
          <a:noFill/>
          <a:ln w="12700">
            <a:solidFill>
              <a:srgbClr val="E3A33B"/>
            </a:solidFill>
          </a:ln>
        </p:spPr>
      </p:sp>
      <p:sp>
        <p:nvSpPr>
          <p:cNvPr id="60" name="響き 60"/>
          <p:cNvSpPr/>
          <p:nvPr/>
        </p:nvSpPr>
        <p:spPr>
          <a:xfrm>
            <a:off x="10730312" y="4034100"/>
            <a:ext cx="380000" cy="380000"/>
          </a:xfrm>
          <a:prstGeom prst="ellipse">
            <a:avLst/>
          </a:prstGeom>
          <a:noFill/>
          <a:ln w="12700">
            <a:solidFill>
              <a:srgbClr val="E3A33B"/>
            </a:solidFill>
          </a:ln>
        </p:spPr>
      </p:sp>
      <p:sp>
        <p:nvSpPr>
          <p:cNvPr id="61" name="番号 61"/>
          <p:cNvSpPr/>
          <p:nvPr/>
        </p:nvSpPr>
        <p:spPr>
          <a:xfrm>
            <a:off x="10865312" y="4169100"/>
            <a:ext cx="110000" cy="11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62" name="プローブ 62"/>
          <p:cNvSpPr/>
          <p:nvPr/>
        </p:nvSpPr>
        <p:spPr>
          <a:xfrm>
            <a:off x="9725033" y="4743200"/>
            <a:ext cx="190000" cy="190000"/>
          </a:xfrm>
          <a:prstGeom prst="ellipse">
            <a:avLst/>
          </a:prstGeom>
          <a:solidFill>
            <a:srgbClr val="FFFFFF"/>
          </a:solidFill>
          <a:ln w="25400">
            <a:solidFill>
              <a:srgbClr val="9A6212"/>
            </a:solidFill>
          </a:ln>
        </p:spPr>
      </p:sp>
      <p:sp>
        <p:nvSpPr>
          <p:cNvPr id="63" name="番号 63"/>
          <p:cNvSpPr/>
          <p:nvPr/>
        </p:nvSpPr>
        <p:spPr>
          <a:xfrm>
            <a:off x="9790033" y="4808200"/>
            <a:ext cx="60000" cy="60000"/>
          </a:xfrm>
          <a:prstGeom prst="ellipse">
            <a:avLst/>
          </a:prstGeom>
          <a:solidFill>
            <a:srgbClr val="9A6212"/>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cxnSp>
        <p:nvCxnSpPr>
          <p:cNvPr id="64" name="線 64"/>
          <p:cNvCxnSpPr/>
          <p:nvPr/>
        </p:nvCxnSpPr>
        <p:spPr>
          <a:xfrm flipH="1" flipV="1">
            <a:off x="9430887" y="4339085"/>
            <a:ext cx="175537" cy="72709"/>
          </a:xfrm>
          <a:prstGeom prst="line">
            <a:avLst/>
          </a:prstGeom>
          <a:ln w="15875" cap="rnd">
            <a:solidFill>
              <a:srgbClr val="E3A33B"/>
            </a:solidFill>
            <a:round/>
            <a:tailEnd type="triangle" w="med" len="med"/>
          </a:ln>
        </p:spPr>
      </p:cxnSp>
      <p:cxnSp>
        <p:nvCxnSpPr>
          <p:cNvPr id="65" name="線 65"/>
          <p:cNvCxnSpPr/>
          <p:nvPr/>
        </p:nvCxnSpPr>
        <p:spPr>
          <a:xfrm flipH="1" flipV="1">
            <a:off x="9355119" y="4414853"/>
            <a:ext cx="72709" cy="175537"/>
          </a:xfrm>
          <a:prstGeom prst="line">
            <a:avLst/>
          </a:prstGeom>
          <a:ln w="15875" cap="rnd">
            <a:solidFill>
              <a:srgbClr val="E3A33B"/>
            </a:solidFill>
            <a:round/>
            <a:tailEnd type="triangle" w="med" len="med"/>
          </a:ln>
        </p:spPr>
      </p:cxnSp>
      <p:cxnSp>
        <p:nvCxnSpPr>
          <p:cNvPr id="66" name="線 66"/>
          <p:cNvCxnSpPr/>
          <p:nvPr/>
        </p:nvCxnSpPr>
        <p:spPr>
          <a:xfrm flipV="1">
            <a:off x="9175258" y="4414853"/>
            <a:ext cx="72709" cy="175537"/>
          </a:xfrm>
          <a:prstGeom prst="line">
            <a:avLst/>
          </a:prstGeom>
          <a:ln w="15875" cap="rnd">
            <a:solidFill>
              <a:srgbClr val="E3A33B"/>
            </a:solidFill>
            <a:round/>
            <a:tailEnd type="triangle" w="med" len="med"/>
          </a:ln>
        </p:spPr>
      </p:cxnSp>
      <p:cxnSp>
        <p:nvCxnSpPr>
          <p:cNvPr id="67" name="線 67"/>
          <p:cNvCxnSpPr/>
          <p:nvPr/>
        </p:nvCxnSpPr>
        <p:spPr>
          <a:xfrm flipV="1">
            <a:off x="8996663" y="4339085"/>
            <a:ext cx="175537" cy="72709"/>
          </a:xfrm>
          <a:prstGeom prst="line">
            <a:avLst/>
          </a:prstGeom>
          <a:ln w="15875" cap="rnd">
            <a:solidFill>
              <a:srgbClr val="E3A33B"/>
            </a:solidFill>
            <a:round/>
            <a:tailEnd type="triangle" w="med" len="med"/>
          </a:ln>
        </p:spPr>
      </p:cxnSp>
      <p:cxnSp>
        <p:nvCxnSpPr>
          <p:cNvPr id="68" name="線 68"/>
          <p:cNvCxnSpPr/>
          <p:nvPr/>
        </p:nvCxnSpPr>
        <p:spPr>
          <a:xfrm>
            <a:off x="8996663" y="4159224"/>
            <a:ext cx="175537" cy="72709"/>
          </a:xfrm>
          <a:prstGeom prst="line">
            <a:avLst/>
          </a:prstGeom>
          <a:ln w="15875" cap="rnd">
            <a:solidFill>
              <a:srgbClr val="E3A33B"/>
            </a:solidFill>
            <a:round/>
            <a:tailEnd type="triangle" w="med" len="med"/>
          </a:ln>
        </p:spPr>
      </p:cxnSp>
      <p:cxnSp>
        <p:nvCxnSpPr>
          <p:cNvPr id="69" name="線 69"/>
          <p:cNvCxnSpPr/>
          <p:nvPr/>
        </p:nvCxnSpPr>
        <p:spPr>
          <a:xfrm>
            <a:off x="9175258" y="3980629"/>
            <a:ext cx="72709" cy="175537"/>
          </a:xfrm>
          <a:prstGeom prst="line">
            <a:avLst/>
          </a:prstGeom>
          <a:ln w="15875" cap="rnd">
            <a:solidFill>
              <a:srgbClr val="E3A33B"/>
            </a:solidFill>
            <a:round/>
            <a:tailEnd type="triangle" w="med" len="med"/>
          </a:ln>
        </p:spPr>
      </p:cxnSp>
      <p:cxnSp>
        <p:nvCxnSpPr>
          <p:cNvPr id="70" name="線 70"/>
          <p:cNvCxnSpPr/>
          <p:nvPr/>
        </p:nvCxnSpPr>
        <p:spPr>
          <a:xfrm flipH="1">
            <a:off x="9355119" y="3980629"/>
            <a:ext cx="72709" cy="175537"/>
          </a:xfrm>
          <a:prstGeom prst="line">
            <a:avLst/>
          </a:prstGeom>
          <a:ln w="15875" cap="rnd">
            <a:solidFill>
              <a:srgbClr val="E3A33B"/>
            </a:solidFill>
            <a:round/>
            <a:tailEnd type="triangle" w="med" len="med"/>
          </a:ln>
        </p:spPr>
      </p:cxnSp>
      <p:cxnSp>
        <p:nvCxnSpPr>
          <p:cNvPr id="71" name="線 71"/>
          <p:cNvCxnSpPr/>
          <p:nvPr/>
        </p:nvCxnSpPr>
        <p:spPr>
          <a:xfrm flipH="1">
            <a:off x="9430887" y="4159224"/>
            <a:ext cx="175537" cy="72709"/>
          </a:xfrm>
          <a:prstGeom prst="line">
            <a:avLst/>
          </a:prstGeom>
          <a:ln w="15875" cap="rnd">
            <a:solidFill>
              <a:srgbClr val="E3A33B"/>
            </a:solidFill>
            <a:round/>
            <a:tailEnd type="triangle" w="med" len="med"/>
          </a:ln>
        </p:spPr>
      </p:cxnSp>
      <p:sp>
        <p:nvSpPr>
          <p:cNvPr id="72" name="番号 72"/>
          <p:cNvSpPr/>
          <p:nvPr/>
        </p:nvSpPr>
        <p:spPr>
          <a:xfrm>
            <a:off x="9231544" y="4215510"/>
            <a:ext cx="140000" cy="14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73" name="テキスト 73"/>
          <p:cNvSpPr txBox="1"/>
          <p:nvPr/>
        </p:nvSpPr>
        <p:spPr>
          <a:xfrm>
            <a:off x="8199754" y="3210000"/>
            <a:ext cx="3240557" cy="300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部屋に入ったら：</a:t>
            </a:r>
            <a:r>
              <a:rPr lang="ja-JP" altLang="en-US" sz="1050" b="1" dirty="0">
                <a:solidFill>
                  <a:srgbClr val="9A6212"/>
                </a:solidFill>
                <a:latin typeface="BIZ UDPゴシック"/>
                <a:ea typeface="BIZ UDPゴシック"/>
                <a:cs typeface="BIZ UDPゴシック"/>
              </a:rPr>
              <a:t>包まれる（LEV）</a:t>
            </a:r>
            <a:endParaRPr lang="ja-JP" altLang="en-US" sz="1050" dirty="0">
              <a:solidFill>
                <a:srgbClr val="1E2430"/>
              </a:solidFill>
              <a:latin typeface="BIZ UDPゴシック"/>
              <a:ea typeface="BIZ UDPゴシック"/>
              <a:cs typeface="BIZ UDPゴシック"/>
            </a:endParaRPr>
          </a:p>
        </p:txBody>
      </p:sp>
      <p:cxnSp>
        <p:nvCxnSpPr>
          <p:cNvPr id="74" name="線 74"/>
          <p:cNvCxnSpPr/>
          <p:nvPr/>
        </p:nvCxnSpPr>
        <p:spPr>
          <a:xfrm>
            <a:off x="4214197" y="3200000"/>
            <a:ext cx="0" cy="3100000"/>
          </a:xfrm>
          <a:prstGeom prst="line">
            <a:avLst/>
          </a:prstGeom>
          <a:ln w="12700" cap="rnd">
            <a:solidFill>
              <a:srgbClr val="C9CFD8"/>
            </a:solidFill>
            <a:prstDash val="dash"/>
            <a:round/>
          </a:ln>
        </p:spPr>
      </p:cxnSp>
      <p:sp>
        <p:nvSpPr>
          <p:cNvPr id="75" name="矢印 75"/>
          <p:cNvSpPr/>
          <p:nvPr/>
        </p:nvSpPr>
        <p:spPr>
          <a:xfrm>
            <a:off x="7739754" y="4805000"/>
            <a:ext cx="400000" cy="280000"/>
          </a:xfrm>
          <a:prstGeom prst="rightArrow">
            <a:avLst/>
          </a:prstGeom>
          <a:solidFill>
            <a:srgbClr val="E3A33B"/>
          </a:solidFill>
          <a:ln>
            <a:noFill/>
          </a:ln>
        </p:spPr>
      </p:sp>
      <p:sp>
        <p:nvSpPr>
          <p:cNvPr id="76" name="テキスト 76"/>
          <p:cNvSpPr txBox="1"/>
          <p:nvPr/>
        </p:nvSpPr>
        <p:spPr>
          <a:xfrm>
            <a:off x="548640" y="6540000"/>
            <a:ext cx="11091672"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dirty="0">
                <a:solidFill>
                  <a:srgbClr val="5C6677"/>
                </a:solidFill>
                <a:latin typeface="BIZ UDPゴシック"/>
                <a:ea typeface="BIZ UDPゴシック"/>
                <a:cs typeface="BIZ UDPゴシック"/>
              </a:rPr>
              <a:t>※ 図は上から見た模式図</a:t>
            </a:r>
            <a:endParaRPr lang="ja-JP" altLang="en-US" sz="900" dirty="0">
              <a:solidFill>
                <a:srgbClr val="5C6677"/>
              </a:solidFill>
              <a:latin typeface="BIZ UDPゴシック"/>
              <a:ea typeface="BIZ UDPゴシック"/>
              <a:cs typeface="BIZ UDPゴシック"/>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03　技術選定　｜　隣の部屋へつながるドア</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戸口から鳴らして、何が変わったか</a:t>
            </a:r>
            <a:endParaRPr lang="ja-JP" altLang="en-US" sz="2600" dirty="0">
              <a:solidFill>
                <a:srgbClr val="1E2430"/>
              </a:solidFill>
              <a:latin typeface="BIZ UDPゴシック"/>
              <a:ea typeface="BIZ UDPゴシック"/>
              <a:cs typeface="BIZ UDPゴシック"/>
            </a:endParaRPr>
          </a:p>
        </p:txBody>
      </p:sp>
      <p:sp>
        <p:nvSpPr>
          <p:cNvPr id="4" name="テキスト 4"/>
          <p:cNvSpPr txBox="1"/>
          <p:nvPr/>
        </p:nvSpPr>
        <p:spPr>
          <a:xfrm>
            <a:off x="548640" y="1300000"/>
            <a:ext cx="11091672" cy="420000"/>
          </a:xfrm>
          <a:prstGeom prst="rect">
            <a:avLst/>
          </a:prstGeom>
          <a:noFill/>
          <a:ln>
            <a:noFill/>
          </a:ln>
        </p:spPr>
        <p:txBody>
          <a:bodyPr wrap="square" lIns="0" tIns="0" rIns="0" bIns="0" rtlCol="0" anchor="t">
            <a:noAutofit/>
          </a:bodyPr>
          <a:lstStyle/>
          <a:p>
            <a:pPr marL="0" indent="0" algn="l">
              <a:lnSpc>
                <a:spcPct val="120000"/>
              </a:lnSpc>
              <a:spcBef>
                <a:spcPts val="0"/>
              </a:spcBef>
              <a:spcAft>
                <a:spcPts val="0"/>
              </a:spcAft>
              <a:buNone/>
            </a:pPr>
            <a:r>
              <a:rPr lang="ja-JP" altLang="en-US" sz="1500" dirty="0">
                <a:solidFill>
                  <a:srgbClr val="1E2430"/>
                </a:solidFill>
                <a:latin typeface="BIZ UDPゴシック"/>
                <a:ea typeface="BIZ UDPゴシック"/>
                <a:cs typeface="BIZ UDPゴシック"/>
              </a:rPr>
              <a:t>前の方式（戸口越しの分を戸口の向きの 1 方向で鳴らす）と比べた実測。響きの量は変えず、聞こえる場所を変えた。</a:t>
            </a:r>
          </a:p>
        </p:txBody>
      </p:sp>
      <p:sp>
        <p:nvSpPr>
          <p:cNvPr id="5" name="表の見出し 5"/>
          <p:cNvSpPr/>
          <p:nvPr/>
        </p:nvSpPr>
        <p:spPr>
          <a:xfrm>
            <a:off x="548640" y="1850000"/>
            <a:ext cx="11091672" cy="380000"/>
          </a:xfrm>
          <a:prstGeom prst="rect">
            <a:avLst/>
          </a:prstGeom>
          <a:solidFill>
            <a:srgbClr val="1E2430"/>
          </a:solidFill>
          <a:ln>
            <a:noFill/>
          </a:ln>
        </p:spPr>
        <p:txBody>
          <a:bodyPr/>
          <a:lstStyle/>
          <a:p>
            <a:endParaRPr lang="ja-JP" altLang="en-US"/>
          </a:p>
        </p:txBody>
      </p:sp>
      <p:sp>
        <p:nvSpPr>
          <p:cNvPr id="6" name="テキスト 6"/>
          <p:cNvSpPr txBox="1"/>
          <p:nvPr/>
        </p:nvSpPr>
        <p:spPr>
          <a:xfrm>
            <a:off x="698640" y="1940000"/>
            <a:ext cx="95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FFFFFF"/>
                </a:solidFill>
                <a:latin typeface="BIZ UDPゴシック"/>
                <a:ea typeface="BIZ UDPゴシック"/>
                <a:cs typeface="BIZ UDPゴシック"/>
              </a:rPr>
              <a:t>物差し</a:t>
            </a:r>
            <a:endParaRPr lang="ja-JP" altLang="en-US" sz="1200" dirty="0">
              <a:solidFill>
                <a:srgbClr val="FFFFFF"/>
              </a:solidFill>
              <a:latin typeface="BIZ UDPゴシック"/>
              <a:ea typeface="BIZ UDPゴシック"/>
              <a:cs typeface="BIZ UDPゴシック"/>
            </a:endParaRPr>
          </a:p>
        </p:txBody>
      </p:sp>
      <p:sp>
        <p:nvSpPr>
          <p:cNvPr id="7" name="テキスト 7"/>
          <p:cNvSpPr txBox="1"/>
          <p:nvPr/>
        </p:nvSpPr>
        <p:spPr>
          <a:xfrm>
            <a:off x="1948640" y="1940000"/>
            <a:ext cx="285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FFFFFF"/>
                </a:solidFill>
                <a:latin typeface="BIZ UDPゴシック"/>
                <a:ea typeface="BIZ UDPゴシック"/>
                <a:cs typeface="BIZ UDPゴシック"/>
              </a:rPr>
              <a:t>見たこと</a:t>
            </a:r>
            <a:endParaRPr lang="ja-JP" altLang="en-US" sz="1200" dirty="0">
              <a:solidFill>
                <a:srgbClr val="FFFFFF"/>
              </a:solidFill>
              <a:latin typeface="BIZ UDPゴシック"/>
              <a:ea typeface="BIZ UDPゴシック"/>
              <a:cs typeface="BIZ UDPゴシック"/>
            </a:endParaRPr>
          </a:p>
        </p:txBody>
      </p:sp>
      <p:sp>
        <p:nvSpPr>
          <p:cNvPr id="8" name="テキスト 8"/>
          <p:cNvSpPr txBox="1"/>
          <p:nvPr/>
        </p:nvSpPr>
        <p:spPr>
          <a:xfrm>
            <a:off x="5098640" y="1940000"/>
            <a:ext cx="2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FFFFFF"/>
                </a:solidFill>
                <a:latin typeface="BIZ UDPゴシック"/>
                <a:ea typeface="BIZ UDPゴシック"/>
                <a:cs typeface="BIZ UDPゴシック"/>
              </a:rPr>
              <a:t>前</a:t>
            </a:r>
            <a:endParaRPr lang="ja-JP" altLang="en-US" sz="1200" dirty="0">
              <a:solidFill>
                <a:srgbClr val="FFFFFF"/>
              </a:solidFill>
              <a:latin typeface="BIZ UDPゴシック"/>
              <a:ea typeface="BIZ UDPゴシック"/>
              <a:cs typeface="BIZ UDPゴシック"/>
            </a:endParaRPr>
          </a:p>
        </p:txBody>
      </p:sp>
      <p:sp>
        <p:nvSpPr>
          <p:cNvPr id="9" name="テキスト 9"/>
          <p:cNvSpPr txBox="1"/>
          <p:nvPr/>
        </p:nvSpPr>
        <p:spPr>
          <a:xfrm>
            <a:off x="8198640" y="1940000"/>
            <a:ext cx="3291672"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FFFFFF"/>
                </a:solidFill>
                <a:latin typeface="BIZ UDPゴシック"/>
                <a:ea typeface="BIZ UDPゴシック"/>
                <a:cs typeface="BIZ UDPゴシック"/>
              </a:rPr>
              <a:t>今</a:t>
            </a:r>
            <a:endParaRPr lang="ja-JP" altLang="en-US" sz="1200" dirty="0">
              <a:solidFill>
                <a:srgbClr val="FFFFFF"/>
              </a:solidFill>
              <a:latin typeface="BIZ UDPゴシック"/>
              <a:ea typeface="BIZ UDPゴシック"/>
              <a:cs typeface="BIZ UDPゴシック"/>
            </a:endParaRPr>
          </a:p>
        </p:txBody>
      </p:sp>
      <p:sp>
        <p:nvSpPr>
          <p:cNvPr id="10" name="行 10"/>
          <p:cNvSpPr/>
          <p:nvPr/>
        </p:nvSpPr>
        <p:spPr>
          <a:xfrm>
            <a:off x="548640" y="2230000"/>
            <a:ext cx="11091672" cy="703333"/>
          </a:xfrm>
          <a:prstGeom prst="rect">
            <a:avLst/>
          </a:prstGeom>
          <a:solidFill>
            <a:srgbClr val="F0F2F5"/>
          </a:solidFill>
          <a:ln>
            <a:noFill/>
          </a:ln>
        </p:spPr>
        <p:txBody>
          <a:bodyPr/>
          <a:lstStyle/>
          <a:p>
            <a:endParaRPr lang="ja-JP" altLang="en-US"/>
          </a:p>
        </p:txBody>
      </p:sp>
      <p:sp>
        <p:nvSpPr>
          <p:cNvPr id="11" name="ラベル 11"/>
          <p:cNvSpPr/>
          <p:nvPr/>
        </p:nvSpPr>
        <p:spPr>
          <a:xfrm>
            <a:off x="698640" y="2431666"/>
            <a:ext cx="9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00" b="1" dirty="0">
                <a:solidFill>
                  <a:srgbClr val="1E2430"/>
                </a:solidFill>
                <a:latin typeface="BIZ UDPゴシック"/>
                <a:ea typeface="BIZ UDPゴシック"/>
                <a:cs typeface="BIZ UDPゴシック"/>
              </a:rPr>
              <a:t>方向性</a:t>
            </a:r>
            <a:endParaRPr lang="ja-JP" altLang="en-US" sz="1100" dirty="0">
              <a:solidFill>
                <a:srgbClr val="1E2430"/>
              </a:solidFill>
              <a:latin typeface="BIZ UDPゴシック"/>
              <a:ea typeface="BIZ UDPゴシック"/>
              <a:cs typeface="BIZ UDPゴシック"/>
            </a:endParaRPr>
          </a:p>
        </p:txBody>
      </p:sp>
      <p:sp>
        <p:nvSpPr>
          <p:cNvPr id="12" name="テキスト 12"/>
          <p:cNvSpPr txBox="1"/>
          <p:nvPr/>
        </p:nvSpPr>
        <p:spPr>
          <a:xfrm>
            <a:off x="1948640" y="2280000"/>
            <a:ext cx="285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b="1" dirty="0">
                <a:solidFill>
                  <a:srgbClr val="1E2430"/>
                </a:solidFill>
                <a:latin typeface="BIZ UDPゴシック"/>
                <a:ea typeface="BIZ UDPゴシック"/>
                <a:cs typeface="BIZ UDPゴシック"/>
              </a:rPr>
              <a:t>隣の部屋の音の、響きの出どころ</a:t>
            </a:r>
            <a:endParaRPr lang="ja-JP" altLang="en-US" sz="1150" dirty="0">
              <a:solidFill>
                <a:srgbClr val="1E2430"/>
              </a:solidFill>
              <a:latin typeface="BIZ UDPゴシック"/>
              <a:ea typeface="BIZ UDPゴシック"/>
              <a:cs typeface="BIZ UDPゴシック"/>
            </a:endParaRPr>
          </a:p>
        </p:txBody>
      </p:sp>
      <p:sp>
        <p:nvSpPr>
          <p:cNvPr id="13" name="テキスト 13"/>
          <p:cNvSpPr txBox="1"/>
          <p:nvPr/>
        </p:nvSpPr>
        <p:spPr>
          <a:xfrm>
            <a:off x="5098640" y="2280000"/>
            <a:ext cx="280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戸口越しは </a:t>
            </a:r>
            <a:r>
              <a:rPr lang="ja-JP" altLang="en-US" sz="1150" b="1" dirty="0">
                <a:solidFill>
                  <a:srgbClr val="9A6212"/>
                </a:solidFill>
                <a:latin typeface="BIZ UDPゴシック"/>
                <a:ea typeface="BIZ UDPゴシック"/>
                <a:cs typeface="BIZ UDPゴシック"/>
              </a:rPr>
              <a:t>20%</a:t>
            </a:r>
            <a:r>
              <a:rPr lang="ja-JP" altLang="en-US" sz="1150" dirty="0">
                <a:solidFill>
                  <a:srgbClr val="1E2430"/>
                </a:solidFill>
                <a:latin typeface="BIZ UDPゴシック"/>
                <a:ea typeface="BIZ UDPゴシック"/>
                <a:cs typeface="BIZ UDPゴシック"/>
              </a:rPr>
              <a:t> だけ戸口から。残り 8 割は耳の部屋全体から</a:t>
            </a:r>
          </a:p>
        </p:txBody>
      </p:sp>
      <p:sp>
        <p:nvSpPr>
          <p:cNvPr id="14" name="テキスト 14"/>
          <p:cNvSpPr txBox="1"/>
          <p:nvPr/>
        </p:nvSpPr>
        <p:spPr>
          <a:xfrm>
            <a:off x="8198640" y="2280000"/>
            <a:ext cx="3291672"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戸口越しは 5 点から。耳の部屋の響きも戸口から鳴り始める（重心 </a:t>
            </a:r>
            <a:r>
              <a:rPr lang="ja-JP" altLang="en-US" sz="1150" b="1" dirty="0">
                <a:solidFill>
                  <a:srgbClr val="9A6212"/>
                </a:solidFill>
                <a:latin typeface="BIZ UDPゴシック"/>
                <a:ea typeface="BIZ UDPゴシック"/>
                <a:cs typeface="BIZ UDPゴシック"/>
              </a:rPr>
              <a:t>131.8 → 221.3 ms</a:t>
            </a:r>
            <a:r>
              <a:rPr lang="ja-JP" altLang="en-US" sz="1150" dirty="0">
                <a:solidFill>
                  <a:srgbClr val="1E2430"/>
                </a:solidFill>
                <a:latin typeface="BIZ UDPゴシック"/>
                <a:ea typeface="BIZ UDPゴシック"/>
                <a:cs typeface="BIZ UDPゴシック"/>
              </a:rPr>
              <a:t>）</a:t>
            </a:r>
          </a:p>
        </p:txBody>
      </p:sp>
      <p:sp>
        <p:nvSpPr>
          <p:cNvPr id="15" name="ラベル 15"/>
          <p:cNvSpPr/>
          <p:nvPr/>
        </p:nvSpPr>
        <p:spPr>
          <a:xfrm>
            <a:off x="698640" y="3134999"/>
            <a:ext cx="9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00" b="1" dirty="0">
                <a:solidFill>
                  <a:srgbClr val="1E2430"/>
                </a:solidFill>
                <a:latin typeface="BIZ UDPゴシック"/>
                <a:ea typeface="BIZ UDPゴシック"/>
                <a:cs typeface="BIZ UDPゴシック"/>
              </a:rPr>
              <a:t>方向性</a:t>
            </a:r>
            <a:endParaRPr lang="ja-JP" altLang="en-US" sz="1100" dirty="0">
              <a:solidFill>
                <a:srgbClr val="1E2430"/>
              </a:solidFill>
              <a:latin typeface="BIZ UDPゴシック"/>
              <a:ea typeface="BIZ UDPゴシック"/>
              <a:cs typeface="BIZ UDPゴシック"/>
            </a:endParaRPr>
          </a:p>
        </p:txBody>
      </p:sp>
      <p:sp>
        <p:nvSpPr>
          <p:cNvPr id="16" name="テキスト 16"/>
          <p:cNvSpPr txBox="1"/>
          <p:nvPr/>
        </p:nvSpPr>
        <p:spPr>
          <a:xfrm>
            <a:off x="1948640" y="2983333"/>
            <a:ext cx="285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b="1" dirty="0">
                <a:solidFill>
                  <a:srgbClr val="1E2430"/>
                </a:solidFill>
                <a:latin typeface="BIZ UDPゴシック"/>
                <a:ea typeface="BIZ UDPゴシック"/>
                <a:cs typeface="BIZ UDPゴシック"/>
              </a:rPr>
              <a:t>戸口の近くに立ったときの向き（左右の相関。大きいほど一点に定まる）</a:t>
            </a:r>
            <a:endParaRPr lang="ja-JP" altLang="en-US" sz="1150" dirty="0">
              <a:solidFill>
                <a:srgbClr val="1E2430"/>
              </a:solidFill>
              <a:latin typeface="BIZ UDPゴシック"/>
              <a:ea typeface="BIZ UDPゴシック"/>
              <a:cs typeface="BIZ UDPゴシック"/>
            </a:endParaRPr>
          </a:p>
        </p:txBody>
      </p:sp>
      <p:sp>
        <p:nvSpPr>
          <p:cNvPr id="17" name="テキスト 17"/>
          <p:cNvSpPr txBox="1"/>
          <p:nvPr/>
        </p:nvSpPr>
        <p:spPr>
          <a:xfrm>
            <a:off x="5098640" y="2983333"/>
            <a:ext cx="280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0.5 m </a:t>
            </a:r>
            <a:r>
              <a:rPr lang="ja-JP" altLang="en-US" sz="1150" b="1" dirty="0">
                <a:solidFill>
                  <a:srgbClr val="9A6212"/>
                </a:solidFill>
                <a:latin typeface="BIZ UDPゴシック"/>
                <a:ea typeface="BIZ UDPゴシック"/>
                <a:cs typeface="BIZ UDPゴシック"/>
              </a:rPr>
              <a:t>0.38</a:t>
            </a:r>
            <a:r>
              <a:rPr lang="ja-JP" altLang="en-US" sz="1150" dirty="0">
                <a:solidFill>
                  <a:srgbClr val="1E2430"/>
                </a:solidFill>
                <a:latin typeface="BIZ UDPゴシック"/>
                <a:ea typeface="BIZ UDPゴシック"/>
                <a:cs typeface="BIZ UDPゴシック"/>
              </a:rPr>
              <a:t>／1 m </a:t>
            </a:r>
            <a:r>
              <a:rPr lang="ja-JP" altLang="en-US" sz="1150" b="1" dirty="0">
                <a:solidFill>
                  <a:srgbClr val="9A6212"/>
                </a:solidFill>
                <a:latin typeface="BIZ UDPゴシック"/>
                <a:ea typeface="BIZ UDPゴシック"/>
                <a:cs typeface="BIZ UDPゴシック"/>
              </a:rPr>
              <a:t>0.34</a:t>
            </a:r>
            <a:r>
              <a:rPr lang="ja-JP" altLang="en-US" sz="1150" dirty="0">
                <a:solidFill>
                  <a:srgbClr val="1E2430"/>
                </a:solidFill>
                <a:latin typeface="BIZ UDPゴシック"/>
                <a:ea typeface="BIZ UDPゴシック"/>
                <a:cs typeface="BIZ UDPゴシック"/>
              </a:rPr>
              <a:t>（5 点が別々の波形で、雲になる）</a:t>
            </a:r>
          </a:p>
        </p:txBody>
      </p:sp>
      <p:sp>
        <p:nvSpPr>
          <p:cNvPr id="18" name="テキスト 18"/>
          <p:cNvSpPr txBox="1"/>
          <p:nvPr/>
        </p:nvSpPr>
        <p:spPr>
          <a:xfrm>
            <a:off x="8198640" y="2983333"/>
            <a:ext cx="3291672"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0.5 m </a:t>
            </a:r>
            <a:r>
              <a:rPr lang="ja-JP" altLang="en-US" sz="1150" b="1" dirty="0">
                <a:solidFill>
                  <a:srgbClr val="9A6212"/>
                </a:solidFill>
                <a:latin typeface="BIZ UDPゴシック"/>
                <a:ea typeface="BIZ UDPゴシック"/>
                <a:cs typeface="BIZ UDPゴシック"/>
              </a:rPr>
              <a:t>0.62</a:t>
            </a:r>
            <a:r>
              <a:rPr lang="ja-JP" altLang="en-US" sz="1150" dirty="0">
                <a:solidFill>
                  <a:srgbClr val="1E2430"/>
                </a:solidFill>
                <a:latin typeface="BIZ UDPゴシック"/>
                <a:ea typeface="BIZ UDPゴシック"/>
                <a:cs typeface="BIZ UDPゴシック"/>
              </a:rPr>
              <a:t>／1 m </a:t>
            </a:r>
            <a:r>
              <a:rPr lang="ja-JP" altLang="en-US" sz="1150" b="1" dirty="0">
                <a:solidFill>
                  <a:srgbClr val="9A6212"/>
                </a:solidFill>
                <a:latin typeface="BIZ UDPゴシック"/>
                <a:ea typeface="BIZ UDPゴシック"/>
                <a:cs typeface="BIZ UDPゴシック"/>
              </a:rPr>
              <a:t>0.60</a:t>
            </a:r>
            <a:r>
              <a:rPr lang="ja-JP" altLang="en-US" sz="1150" dirty="0">
                <a:solidFill>
                  <a:srgbClr val="1E2430"/>
                </a:solidFill>
                <a:latin typeface="BIZ UDPゴシック"/>
                <a:ea typeface="BIZ UDPゴシック"/>
                <a:cs typeface="BIZ UDPゴシック"/>
              </a:rPr>
              <a:t>（3 kHz 以下を同じ波形に）</a:t>
            </a:r>
          </a:p>
        </p:txBody>
      </p:sp>
      <p:sp>
        <p:nvSpPr>
          <p:cNvPr id="19" name="行 19"/>
          <p:cNvSpPr/>
          <p:nvPr/>
        </p:nvSpPr>
        <p:spPr>
          <a:xfrm>
            <a:off x="548640" y="3636666"/>
            <a:ext cx="11091672" cy="703333"/>
          </a:xfrm>
          <a:prstGeom prst="rect">
            <a:avLst/>
          </a:prstGeom>
          <a:solidFill>
            <a:srgbClr val="F0F2F5"/>
          </a:solidFill>
          <a:ln>
            <a:noFill/>
          </a:ln>
        </p:spPr>
        <p:txBody>
          <a:bodyPr/>
          <a:lstStyle/>
          <a:p>
            <a:endParaRPr lang="ja-JP" altLang="en-US"/>
          </a:p>
        </p:txBody>
      </p:sp>
      <p:sp>
        <p:nvSpPr>
          <p:cNvPr id="20" name="ラベル 20"/>
          <p:cNvSpPr/>
          <p:nvPr/>
        </p:nvSpPr>
        <p:spPr>
          <a:xfrm>
            <a:off x="698640" y="3838332"/>
            <a:ext cx="9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00" b="1" dirty="0">
                <a:solidFill>
                  <a:srgbClr val="1E2430"/>
                </a:solidFill>
                <a:latin typeface="BIZ UDPゴシック"/>
                <a:ea typeface="BIZ UDPゴシック"/>
                <a:cs typeface="BIZ UDPゴシック"/>
              </a:rPr>
              <a:t>方向性</a:t>
            </a:r>
            <a:endParaRPr lang="ja-JP" altLang="en-US" sz="1100" dirty="0">
              <a:solidFill>
                <a:srgbClr val="1E2430"/>
              </a:solidFill>
              <a:latin typeface="BIZ UDPゴシック"/>
              <a:ea typeface="BIZ UDPゴシック"/>
              <a:cs typeface="BIZ UDPゴシック"/>
            </a:endParaRPr>
          </a:p>
        </p:txBody>
      </p:sp>
      <p:sp>
        <p:nvSpPr>
          <p:cNvPr id="21" name="テキスト 21"/>
          <p:cNvSpPr txBox="1"/>
          <p:nvPr/>
        </p:nvSpPr>
        <p:spPr>
          <a:xfrm>
            <a:off x="1948640" y="3686666"/>
            <a:ext cx="285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b="1" dirty="0">
                <a:solidFill>
                  <a:srgbClr val="1E2430"/>
                </a:solidFill>
                <a:latin typeface="BIZ UDPゴシック"/>
                <a:ea typeface="BIZ UDPゴシック"/>
                <a:cs typeface="BIZ UDPゴシック"/>
              </a:rPr>
              <a:t>扉を 45° まで閉じたとき</a:t>
            </a:r>
            <a:endParaRPr lang="ja-JP" altLang="en-US" sz="1150" dirty="0">
              <a:solidFill>
                <a:srgbClr val="1E2430"/>
              </a:solidFill>
              <a:latin typeface="BIZ UDPゴシック"/>
              <a:ea typeface="BIZ UDPゴシック"/>
              <a:cs typeface="BIZ UDPゴシック"/>
            </a:endParaRPr>
          </a:p>
        </p:txBody>
      </p:sp>
      <p:sp>
        <p:nvSpPr>
          <p:cNvPr id="22" name="テキスト 22"/>
          <p:cNvSpPr txBox="1"/>
          <p:nvPr/>
        </p:nvSpPr>
        <p:spPr>
          <a:xfrm>
            <a:off x="5098640" y="3686666"/>
            <a:ext cx="280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戸口の中心の 1 方向のまま</a:t>
            </a:r>
          </a:p>
        </p:txBody>
      </p:sp>
      <p:sp>
        <p:nvSpPr>
          <p:cNvPr id="23" name="テキスト 23"/>
          <p:cNvSpPr txBox="1"/>
          <p:nvPr/>
        </p:nvSpPr>
        <p:spPr>
          <a:xfrm>
            <a:off x="8198640" y="3686666"/>
            <a:ext cx="3291672"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蝶番側 </a:t>
            </a:r>
            <a:r>
              <a:rPr lang="ja-JP" altLang="en-US" sz="1150" b="1" dirty="0">
                <a:solidFill>
                  <a:srgbClr val="9A6212"/>
                </a:solidFill>
                <a:latin typeface="BIZ UDPゴシック"/>
                <a:ea typeface="BIZ UDPゴシック"/>
                <a:cs typeface="BIZ UDPゴシック"/>
              </a:rPr>
              <a:t>0.06</a:t>
            </a:r>
            <a:r>
              <a:rPr lang="ja-JP" altLang="en-US" sz="1150" dirty="0">
                <a:solidFill>
                  <a:srgbClr val="1E2430"/>
                </a:solidFill>
                <a:latin typeface="BIZ UDPゴシック"/>
                <a:ea typeface="BIZ UDPゴシック"/>
                <a:cs typeface="BIZ UDPゴシック"/>
              </a:rPr>
              <a:t>・隙間側 </a:t>
            </a:r>
            <a:r>
              <a:rPr lang="ja-JP" altLang="en-US" sz="1150" b="1" dirty="0">
                <a:solidFill>
                  <a:srgbClr val="9A6212"/>
                </a:solidFill>
                <a:latin typeface="BIZ UDPゴシック"/>
                <a:ea typeface="BIZ UDPゴシック"/>
                <a:cs typeface="BIZ UDPゴシック"/>
              </a:rPr>
              <a:t>0.70</a:t>
            </a:r>
            <a:r>
              <a:rPr lang="ja-JP" altLang="en-US" sz="1150" dirty="0">
                <a:solidFill>
                  <a:srgbClr val="1E2430"/>
                </a:solidFill>
                <a:latin typeface="BIZ UDPゴシック"/>
                <a:ea typeface="BIZ UDPゴシック"/>
                <a:cs typeface="BIZ UDPゴシック"/>
              </a:rPr>
              <a:t>。像が </a:t>
            </a:r>
            <a:r>
              <a:rPr lang="ja-JP" altLang="en-US" sz="1150" b="1" dirty="0">
                <a:solidFill>
                  <a:srgbClr val="9A6212"/>
                </a:solidFill>
                <a:latin typeface="BIZ UDPゴシック"/>
                <a:ea typeface="BIZ UDPゴシック"/>
                <a:cs typeface="BIZ UDPゴシック"/>
              </a:rPr>
              <a:t>+1.8° → +5.4°</a:t>
            </a:r>
            <a:r>
              <a:rPr lang="ja-JP" altLang="en-US" sz="1150" dirty="0">
                <a:solidFill>
                  <a:srgbClr val="1E2430"/>
                </a:solidFill>
                <a:latin typeface="BIZ UDPゴシック"/>
                <a:ea typeface="BIZ UDPゴシック"/>
                <a:cs typeface="BIZ UDPゴシック"/>
              </a:rPr>
              <a:t> 隙間側へ</a:t>
            </a:r>
          </a:p>
        </p:txBody>
      </p:sp>
      <p:sp>
        <p:nvSpPr>
          <p:cNvPr id="24" name="ラベル 24"/>
          <p:cNvSpPr/>
          <p:nvPr/>
        </p:nvSpPr>
        <p:spPr>
          <a:xfrm>
            <a:off x="698640" y="4541665"/>
            <a:ext cx="9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00" b="1" dirty="0">
                <a:solidFill>
                  <a:srgbClr val="1E2430"/>
                </a:solidFill>
                <a:latin typeface="BIZ UDPゴシック"/>
                <a:ea typeface="BIZ UDPゴシック"/>
                <a:cs typeface="BIZ UDPゴシック"/>
              </a:rPr>
              <a:t>連続性</a:t>
            </a:r>
            <a:endParaRPr lang="ja-JP" altLang="en-US" sz="1100" dirty="0">
              <a:solidFill>
                <a:srgbClr val="1E2430"/>
              </a:solidFill>
              <a:latin typeface="BIZ UDPゴシック"/>
              <a:ea typeface="BIZ UDPゴシック"/>
              <a:cs typeface="BIZ UDPゴシック"/>
            </a:endParaRPr>
          </a:p>
        </p:txBody>
      </p:sp>
      <p:sp>
        <p:nvSpPr>
          <p:cNvPr id="25" name="テキスト 25"/>
          <p:cNvSpPr txBox="1"/>
          <p:nvPr/>
        </p:nvSpPr>
        <p:spPr>
          <a:xfrm>
            <a:off x="1948640" y="4389999"/>
            <a:ext cx="285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b="1" dirty="0">
                <a:solidFill>
                  <a:srgbClr val="1E2430"/>
                </a:solidFill>
                <a:latin typeface="BIZ UDPゴシック"/>
                <a:ea typeface="BIZ UDPゴシック"/>
                <a:cs typeface="BIZ UDPゴシック"/>
              </a:rPr>
              <a:t>戸口をまたいで 1.4 m/s で歩く</a:t>
            </a:r>
            <a:endParaRPr lang="ja-JP" altLang="en-US" sz="1150" dirty="0">
              <a:solidFill>
                <a:srgbClr val="1E2430"/>
              </a:solidFill>
              <a:latin typeface="BIZ UDPゴシック"/>
              <a:ea typeface="BIZ UDPゴシック"/>
              <a:cs typeface="BIZ UDPゴシック"/>
            </a:endParaRPr>
          </a:p>
        </p:txBody>
      </p:sp>
      <p:sp>
        <p:nvSpPr>
          <p:cNvPr id="26" name="テキスト 26"/>
          <p:cNvSpPr txBox="1"/>
          <p:nvPr/>
        </p:nvSpPr>
        <p:spPr>
          <a:xfrm>
            <a:off x="5098640" y="4389999"/>
            <a:ext cx="280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跳ね 0 回・段差 1.33 dB</a:t>
            </a:r>
          </a:p>
        </p:txBody>
      </p:sp>
      <p:sp>
        <p:nvSpPr>
          <p:cNvPr id="27" name="テキスト 27"/>
          <p:cNvSpPr txBox="1"/>
          <p:nvPr/>
        </p:nvSpPr>
        <p:spPr>
          <a:xfrm>
            <a:off x="8198640" y="4389999"/>
            <a:ext cx="3291672"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跳ね </a:t>
            </a:r>
            <a:r>
              <a:rPr lang="ja-JP" altLang="en-US" sz="1150" b="1" dirty="0">
                <a:solidFill>
                  <a:srgbClr val="9A6212"/>
                </a:solidFill>
                <a:latin typeface="BIZ UDPゴシック"/>
                <a:ea typeface="BIZ UDPゴシック"/>
                <a:cs typeface="BIZ UDPゴシック"/>
              </a:rPr>
              <a:t>0 回</a:t>
            </a:r>
            <a:r>
              <a:rPr lang="ja-JP" altLang="en-US" sz="1150" dirty="0">
                <a:solidFill>
                  <a:srgbClr val="1E2430"/>
                </a:solidFill>
                <a:latin typeface="BIZ UDPゴシック"/>
                <a:ea typeface="BIZ UDPゴシック"/>
                <a:cs typeface="BIZ UDPゴシック"/>
              </a:rPr>
              <a:t>・段差 </a:t>
            </a:r>
            <a:r>
              <a:rPr lang="ja-JP" altLang="en-US" sz="1150" b="1" dirty="0">
                <a:solidFill>
                  <a:srgbClr val="9A6212"/>
                </a:solidFill>
                <a:latin typeface="BIZ UDPゴシック"/>
                <a:ea typeface="BIZ UDPゴシック"/>
                <a:cs typeface="BIZ UDPゴシック"/>
              </a:rPr>
              <a:t>1.87 dB</a:t>
            </a:r>
            <a:r>
              <a:rPr lang="ja-JP" altLang="en-US" sz="1150" dirty="0">
                <a:solidFill>
                  <a:srgbClr val="1E2430"/>
                </a:solidFill>
                <a:latin typeface="BIZ UDPゴシック"/>
                <a:ea typeface="BIZ UDPゴシック"/>
                <a:cs typeface="BIZ UDPゴシック"/>
              </a:rPr>
              <a:t>（段差は増えた）</a:t>
            </a:r>
          </a:p>
        </p:txBody>
      </p:sp>
      <p:sp>
        <p:nvSpPr>
          <p:cNvPr id="28" name="行 28"/>
          <p:cNvSpPr/>
          <p:nvPr/>
        </p:nvSpPr>
        <p:spPr>
          <a:xfrm>
            <a:off x="548640" y="5043332"/>
            <a:ext cx="11091672" cy="703333"/>
          </a:xfrm>
          <a:prstGeom prst="rect">
            <a:avLst/>
          </a:prstGeom>
          <a:solidFill>
            <a:srgbClr val="F0F2F5"/>
          </a:solidFill>
          <a:ln>
            <a:noFill/>
          </a:ln>
        </p:spPr>
        <p:txBody>
          <a:bodyPr/>
          <a:lstStyle/>
          <a:p>
            <a:endParaRPr lang="ja-JP" altLang="en-US"/>
          </a:p>
        </p:txBody>
      </p:sp>
      <p:sp>
        <p:nvSpPr>
          <p:cNvPr id="29" name="ラベル 29"/>
          <p:cNvSpPr/>
          <p:nvPr/>
        </p:nvSpPr>
        <p:spPr>
          <a:xfrm>
            <a:off x="698640" y="5244998"/>
            <a:ext cx="9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00" b="1" dirty="0">
                <a:solidFill>
                  <a:srgbClr val="1E2430"/>
                </a:solidFill>
                <a:latin typeface="BIZ UDPゴシック"/>
                <a:ea typeface="BIZ UDPゴシック"/>
                <a:cs typeface="BIZ UDPゴシック"/>
              </a:rPr>
              <a:t>連続性</a:t>
            </a:r>
            <a:endParaRPr lang="ja-JP" altLang="en-US" sz="1100" dirty="0">
              <a:solidFill>
                <a:srgbClr val="1E2430"/>
              </a:solidFill>
              <a:latin typeface="BIZ UDPゴシック"/>
              <a:ea typeface="BIZ UDPゴシック"/>
              <a:cs typeface="BIZ UDPゴシック"/>
            </a:endParaRPr>
          </a:p>
        </p:txBody>
      </p:sp>
      <p:sp>
        <p:nvSpPr>
          <p:cNvPr id="30" name="テキスト 30"/>
          <p:cNvSpPr txBox="1"/>
          <p:nvPr/>
        </p:nvSpPr>
        <p:spPr>
          <a:xfrm>
            <a:off x="1948640" y="5093332"/>
            <a:ext cx="285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b="1" dirty="0">
                <a:solidFill>
                  <a:srgbClr val="1E2430"/>
                </a:solidFill>
                <a:latin typeface="BIZ UDPゴシック"/>
                <a:ea typeface="BIZ UDPゴシック"/>
                <a:cs typeface="BIZ UDPゴシック"/>
              </a:rPr>
              <a:t>後期の響きの量（正面 3 m）</a:t>
            </a:r>
            <a:endParaRPr lang="ja-JP" altLang="en-US" sz="1150" dirty="0">
              <a:solidFill>
                <a:srgbClr val="1E2430"/>
              </a:solidFill>
              <a:latin typeface="BIZ UDPゴシック"/>
              <a:ea typeface="BIZ UDPゴシック"/>
              <a:cs typeface="BIZ UDPゴシック"/>
            </a:endParaRPr>
          </a:p>
        </p:txBody>
      </p:sp>
      <p:sp>
        <p:nvSpPr>
          <p:cNvPr id="31" name="テキスト 31"/>
          <p:cNvSpPr txBox="1"/>
          <p:nvPr/>
        </p:nvSpPr>
        <p:spPr>
          <a:xfrm>
            <a:off x="5098640" y="5093332"/>
            <a:ext cx="280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基準</a:t>
            </a:r>
          </a:p>
        </p:txBody>
      </p:sp>
      <p:sp>
        <p:nvSpPr>
          <p:cNvPr id="32" name="テキスト 32"/>
          <p:cNvSpPr txBox="1"/>
          <p:nvPr/>
        </p:nvSpPr>
        <p:spPr>
          <a:xfrm>
            <a:off x="8198640" y="5093332"/>
            <a:ext cx="3291672"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b="1" dirty="0">
                <a:solidFill>
                  <a:srgbClr val="9A6212"/>
                </a:solidFill>
                <a:latin typeface="BIZ UDPゴシック"/>
                <a:ea typeface="BIZ UDPゴシック"/>
                <a:cs typeface="BIZ UDPゴシック"/>
              </a:rPr>
              <a:t>−0.71 dB</a:t>
            </a:r>
            <a:r>
              <a:rPr lang="ja-JP" altLang="en-US" sz="1150" dirty="0">
                <a:solidFill>
                  <a:srgbClr val="1E2430"/>
                </a:solidFill>
                <a:latin typeface="BIZ UDPゴシック"/>
                <a:ea typeface="BIZ UDPゴシック"/>
                <a:cs typeface="BIZ UDPゴシック"/>
              </a:rPr>
              <a:t>（±1 dB の内側）</a:t>
            </a:r>
          </a:p>
        </p:txBody>
      </p:sp>
      <p:sp>
        <p:nvSpPr>
          <p:cNvPr id="33" name="ラベル 33"/>
          <p:cNvSpPr/>
          <p:nvPr/>
        </p:nvSpPr>
        <p:spPr>
          <a:xfrm>
            <a:off x="698640" y="5948331"/>
            <a:ext cx="9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00" b="1" dirty="0">
                <a:solidFill>
                  <a:srgbClr val="1E2430"/>
                </a:solidFill>
                <a:latin typeface="BIZ UDPゴシック"/>
                <a:ea typeface="BIZ UDPゴシック"/>
                <a:cs typeface="BIZ UDPゴシック"/>
              </a:rPr>
              <a:t>即時性</a:t>
            </a:r>
            <a:endParaRPr lang="ja-JP" altLang="en-US" sz="1100" dirty="0">
              <a:solidFill>
                <a:srgbClr val="1E2430"/>
              </a:solidFill>
              <a:latin typeface="BIZ UDPゴシック"/>
              <a:ea typeface="BIZ UDPゴシック"/>
              <a:cs typeface="BIZ UDPゴシック"/>
            </a:endParaRPr>
          </a:p>
        </p:txBody>
      </p:sp>
      <p:sp>
        <p:nvSpPr>
          <p:cNvPr id="34" name="テキスト 34"/>
          <p:cNvSpPr txBox="1"/>
          <p:nvPr/>
        </p:nvSpPr>
        <p:spPr>
          <a:xfrm>
            <a:off x="1948640" y="5796665"/>
            <a:ext cx="285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b="1" dirty="0">
                <a:solidFill>
                  <a:srgbClr val="1E2430"/>
                </a:solidFill>
                <a:latin typeface="BIZ UDPゴシック"/>
                <a:ea typeface="BIZ UDPゴシック"/>
                <a:cs typeface="BIZ UDPゴシック"/>
              </a:rPr>
              <a:t>扉を開けてから、響きの向きが追うまで</a:t>
            </a:r>
            <a:endParaRPr lang="ja-JP" altLang="en-US" sz="1150" dirty="0">
              <a:solidFill>
                <a:srgbClr val="1E2430"/>
              </a:solidFill>
              <a:latin typeface="BIZ UDPゴシック"/>
              <a:ea typeface="BIZ UDPゴシック"/>
              <a:cs typeface="BIZ UDPゴシック"/>
            </a:endParaRPr>
          </a:p>
        </p:txBody>
      </p:sp>
      <p:sp>
        <p:nvSpPr>
          <p:cNvPr id="35" name="テキスト 35"/>
          <p:cNvSpPr txBox="1"/>
          <p:nvPr/>
        </p:nvSpPr>
        <p:spPr>
          <a:xfrm>
            <a:off x="5098640" y="5796665"/>
            <a:ext cx="2800000"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b="1" dirty="0">
                <a:solidFill>
                  <a:srgbClr val="9A6212"/>
                </a:solidFill>
                <a:latin typeface="BIZ UDPゴシック"/>
                <a:ea typeface="BIZ UDPゴシック"/>
                <a:cs typeface="BIZ UDPゴシック"/>
              </a:rPr>
              <a:t>250〜317 ms</a:t>
            </a:r>
            <a:r>
              <a:rPr lang="ja-JP" altLang="en-US" sz="1150" dirty="0">
                <a:solidFill>
                  <a:srgbClr val="1E2430"/>
                </a:solidFill>
                <a:latin typeface="BIZ UDPゴシック"/>
                <a:ea typeface="BIZ UDPゴシック"/>
                <a:cs typeface="BIZ UDPゴシック"/>
              </a:rPr>
              <a:t>（旧実装。向きを測って均していた）</a:t>
            </a:r>
          </a:p>
        </p:txBody>
      </p:sp>
      <p:sp>
        <p:nvSpPr>
          <p:cNvPr id="36" name="テキスト 36"/>
          <p:cNvSpPr txBox="1"/>
          <p:nvPr/>
        </p:nvSpPr>
        <p:spPr>
          <a:xfrm>
            <a:off x="8198640" y="5796665"/>
            <a:ext cx="3291672" cy="603333"/>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毎フレーム（戸口の見通しは幾何）</a:t>
            </a:r>
          </a:p>
        </p:txBody>
      </p:sp>
      <p:sp>
        <p:nvSpPr>
          <p:cNvPr id="37" name="テキスト 37"/>
          <p:cNvSpPr txBox="1"/>
          <p:nvPr/>
        </p:nvSpPr>
        <p:spPr>
          <a:xfrm>
            <a:off x="548640" y="6540000"/>
            <a:ext cx="11091672"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dirty="0">
                <a:solidFill>
                  <a:srgbClr val="5C6677"/>
                </a:solidFill>
                <a:latin typeface="BIZ UDPゴシック"/>
                <a:ea typeface="BIZ UDPゴシック"/>
                <a:cs typeface="BIZ UDPゴシック"/>
              </a:rPr>
              <a:t>※ 2026-09-13 の回帰テストの実測。前 ＝ 戸口越しの響きを戸口の向きの 1 方向で鳴らす方式。旧実装 ＝ コアを作り直す前</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03　技術選定　｜　初期反射（ISM → 受取面）</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壁の近さが、反射の早さ・大きさ・広がりで伝わるように</a:t>
            </a:r>
            <a:endParaRPr lang="ja-JP" altLang="en-US" sz="2600" dirty="0">
              <a:solidFill>
                <a:srgbClr val="1E2430"/>
              </a:solidFill>
              <a:latin typeface="BIZ UDPゴシック"/>
              <a:ea typeface="BIZ UDPゴシック"/>
              <a:cs typeface="BIZ UDPゴシック"/>
            </a:endParaRPr>
          </a:p>
        </p:txBody>
      </p:sp>
      <p:sp>
        <p:nvSpPr>
          <p:cNvPr id="4" name="カード 4"/>
          <p:cNvSpPr/>
          <p:nvPr/>
        </p:nvSpPr>
        <p:spPr>
          <a:xfrm>
            <a:off x="548640" y="1400000"/>
            <a:ext cx="5295836" cy="1500000"/>
          </a:xfrm>
          <a:prstGeom prst="roundRect">
            <a:avLst>
              <a:gd name="adj" fmla="val 5000"/>
            </a:avLst>
          </a:prstGeom>
          <a:solidFill>
            <a:srgbClr val="F0F2F5"/>
          </a:solidFill>
          <a:ln>
            <a:noFill/>
          </a:ln>
        </p:spPr>
      </p:sp>
      <p:sp>
        <p:nvSpPr>
          <p:cNvPr id="5" name="ラベル 5"/>
          <p:cNvSpPr/>
          <p:nvPr/>
        </p:nvSpPr>
        <p:spPr>
          <a:xfrm>
            <a:off x="798640" y="1580000"/>
            <a:ext cx="90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00" b="1" dirty="0">
                <a:solidFill>
                  <a:srgbClr val="1E2430"/>
                </a:solidFill>
                <a:latin typeface="BIZ UDPゴシック"/>
                <a:ea typeface="BIZ UDPゴシック"/>
                <a:cs typeface="BIZ UDPゴシック"/>
              </a:rPr>
              <a:t>理由</a:t>
            </a:r>
            <a:endParaRPr lang="ja-JP" altLang="en-US" sz="1200" dirty="0">
              <a:solidFill>
                <a:srgbClr val="1E2430"/>
              </a:solidFill>
              <a:latin typeface="BIZ UDPゴシック"/>
              <a:ea typeface="BIZ UDPゴシック"/>
              <a:cs typeface="BIZ UDPゴシック"/>
            </a:endParaRPr>
          </a:p>
        </p:txBody>
      </p:sp>
      <p:sp>
        <p:nvSpPr>
          <p:cNvPr id="6" name="テキスト 6"/>
          <p:cNvSpPr txBox="1"/>
          <p:nvPr/>
        </p:nvSpPr>
        <p:spPr>
          <a:xfrm>
            <a:off x="798640" y="2000000"/>
            <a:ext cx="4795836" cy="80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300" dirty="0">
                <a:solidFill>
                  <a:srgbClr val="1E2430"/>
                </a:solidFill>
                <a:latin typeface="BIZ UDPゴシック"/>
                <a:ea typeface="BIZ UDPゴシック"/>
                <a:cs typeface="BIZ UDPゴシック"/>
              </a:rPr>
              <a:t>ISM（虚像法）では反射の方向はわかるが、壁が近いと反射が早く・大きく聞こえる、という近さが出せない。壁の近さは、音の幅（ASW）や奥行き感に直結する</a:t>
            </a:r>
            <a:endParaRPr lang="ja-JP" altLang="en-US" sz="1300" dirty="0">
              <a:solidFill>
                <a:srgbClr val="1E2430"/>
              </a:solidFill>
              <a:latin typeface="BIZ UDPゴシック"/>
              <a:ea typeface="BIZ UDPゴシック"/>
              <a:cs typeface="BIZ UDPゴシック"/>
            </a:endParaRPr>
          </a:p>
        </p:txBody>
      </p:sp>
      <p:sp>
        <p:nvSpPr>
          <p:cNvPr id="7" name="矢印 7"/>
          <p:cNvSpPr/>
          <p:nvPr/>
        </p:nvSpPr>
        <p:spPr>
          <a:xfrm>
            <a:off x="5924476" y="1980000"/>
            <a:ext cx="340000" cy="340000"/>
          </a:xfrm>
          <a:prstGeom prst="rightArrow">
            <a:avLst/>
          </a:prstGeom>
          <a:solidFill>
            <a:srgbClr val="E3A33B"/>
          </a:solidFill>
          <a:ln>
            <a:noFill/>
          </a:ln>
        </p:spPr>
      </p:sp>
      <p:sp>
        <p:nvSpPr>
          <p:cNvPr id="8" name="カード 8"/>
          <p:cNvSpPr/>
          <p:nvPr/>
        </p:nvSpPr>
        <p:spPr>
          <a:xfrm>
            <a:off x="6344476" y="1400000"/>
            <a:ext cx="5295836" cy="1500000"/>
          </a:xfrm>
          <a:prstGeom prst="roundRect">
            <a:avLst>
              <a:gd name="adj" fmla="val 5000"/>
            </a:avLst>
          </a:prstGeom>
          <a:solidFill>
            <a:srgbClr val="FBF1DF"/>
          </a:solidFill>
          <a:ln>
            <a:noFill/>
          </a:ln>
        </p:spPr>
      </p:sp>
      <p:sp>
        <p:nvSpPr>
          <p:cNvPr id="9" name="ラベル 9"/>
          <p:cNvSpPr/>
          <p:nvPr/>
        </p:nvSpPr>
        <p:spPr>
          <a:xfrm>
            <a:off x="6594476" y="1580000"/>
            <a:ext cx="130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00" b="1" dirty="0">
                <a:solidFill>
                  <a:srgbClr val="1E2430"/>
                </a:solidFill>
                <a:latin typeface="BIZ UDPゴシック"/>
                <a:ea typeface="BIZ UDPゴシック"/>
                <a:cs typeface="BIZ UDPゴシック"/>
              </a:rPr>
              <a:t>アプローチ</a:t>
            </a:r>
            <a:endParaRPr lang="ja-JP" altLang="en-US" sz="1200" dirty="0">
              <a:solidFill>
                <a:srgbClr val="1E2430"/>
              </a:solidFill>
              <a:latin typeface="BIZ UDPゴシック"/>
              <a:ea typeface="BIZ UDPゴシック"/>
              <a:cs typeface="BIZ UDPゴシック"/>
            </a:endParaRPr>
          </a:p>
        </p:txBody>
      </p:sp>
      <p:sp>
        <p:nvSpPr>
          <p:cNvPr id="10" name="テキスト 10"/>
          <p:cNvSpPr txBox="1"/>
          <p:nvPr/>
        </p:nvSpPr>
        <p:spPr>
          <a:xfrm>
            <a:off x="6594476" y="2000000"/>
            <a:ext cx="4795836" cy="80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300" b="1" dirty="0">
                <a:solidFill>
                  <a:srgbClr val="1E2430"/>
                </a:solidFill>
                <a:latin typeface="BIZ UDPゴシック"/>
                <a:ea typeface="BIZ UDPゴシック"/>
                <a:cs typeface="BIZ UDPゴシック"/>
              </a:rPr>
              <a:t>壁の面をレイの受取面にする。音源から出たレイが面に当たった所を覚えておき、耳にはその面がどれだけ大きく見えるかで配る。壁が近いほど、反射が早く・大きく・広く届く</a:t>
            </a:r>
            <a:endParaRPr lang="ja-JP" altLang="en-US" sz="1300" dirty="0">
              <a:solidFill>
                <a:srgbClr val="1E2430"/>
              </a:solidFill>
              <a:latin typeface="BIZ UDPゴシック"/>
              <a:ea typeface="BIZ UDPゴシック"/>
              <a:cs typeface="BIZ UDPゴシック"/>
            </a:endParaRPr>
          </a:p>
        </p:txBody>
      </p:sp>
      <p:sp>
        <p:nvSpPr>
          <p:cNvPr id="11" name="カード 11"/>
          <p:cNvSpPr/>
          <p:nvPr/>
        </p:nvSpPr>
        <p:spPr>
          <a:xfrm>
            <a:off x="548640" y="3050000"/>
            <a:ext cx="11091672" cy="3400000"/>
          </a:xfrm>
          <a:prstGeom prst="roundRect">
            <a:avLst>
              <a:gd name="adj" fmla="val 5000"/>
            </a:avLst>
          </a:prstGeom>
          <a:solidFill>
            <a:srgbClr val="F0F2F5"/>
          </a:solidFill>
          <a:ln>
            <a:noFill/>
          </a:ln>
        </p:spPr>
      </p:sp>
      <p:sp>
        <p:nvSpPr>
          <p:cNvPr id="12" name="前後 12"/>
          <p:cNvSpPr/>
          <p:nvPr/>
        </p:nvSpPr>
        <p:spPr>
          <a:xfrm>
            <a:off x="748640" y="3230000"/>
            <a:ext cx="520000" cy="260000"/>
          </a:xfrm>
          <a:prstGeom prst="roundRect">
            <a:avLst>
              <a:gd name="adj" fmla="val 50000"/>
            </a:avLst>
          </a:prstGeom>
          <a:solidFill>
            <a:srgbClr val="9AA3B0"/>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FFFFFF"/>
                </a:solidFill>
                <a:latin typeface="BIZ UDPゴシック"/>
                <a:ea typeface="BIZ UDPゴシック"/>
                <a:cs typeface="BIZ UDPゴシック"/>
              </a:rPr>
              <a:t>前</a:t>
            </a:r>
            <a:endParaRPr lang="ja-JP" altLang="en-US" sz="950" dirty="0">
              <a:solidFill>
                <a:srgbClr val="FFFFFF"/>
              </a:solidFill>
              <a:latin typeface="BIZ UDPゴシック"/>
              <a:ea typeface="BIZ UDPゴシック"/>
              <a:cs typeface="BIZ UDPゴシック"/>
            </a:endParaRPr>
          </a:p>
        </p:txBody>
      </p:sp>
      <p:sp>
        <p:nvSpPr>
          <p:cNvPr id="13" name="テキスト 13"/>
          <p:cNvSpPr txBox="1"/>
          <p:nvPr/>
        </p:nvSpPr>
        <p:spPr>
          <a:xfrm>
            <a:off x="1348640" y="3220000"/>
            <a:ext cx="1850000" cy="280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ISM（虚像法）</a:t>
            </a:r>
            <a:endParaRPr lang="ja-JP" altLang="en-US" sz="1150" dirty="0">
              <a:solidFill>
                <a:srgbClr val="1E2430"/>
              </a:solidFill>
              <a:latin typeface="BIZ UDPゴシック"/>
              <a:ea typeface="BIZ UDPゴシック"/>
              <a:cs typeface="BIZ UDPゴシック"/>
            </a:endParaRPr>
          </a:p>
        </p:txBody>
      </p:sp>
      <p:sp>
        <p:nvSpPr>
          <p:cNvPr id="14" name="部屋 14"/>
          <p:cNvSpPr/>
          <p:nvPr/>
        </p:nvSpPr>
        <p:spPr>
          <a:xfrm>
            <a:off x="748640" y="3610000"/>
            <a:ext cx="2450000" cy="2270000"/>
          </a:xfrm>
          <a:prstGeom prst="rect">
            <a:avLst/>
          </a:prstGeom>
          <a:solidFill>
            <a:srgbClr val="FFFFFF"/>
          </a:solidFill>
          <a:ln w="12700">
            <a:solidFill>
              <a:srgbClr val="C9CFD8"/>
            </a:solidFill>
          </a:ln>
        </p:spPr>
      </p:sp>
      <p:sp>
        <p:nvSpPr>
          <p:cNvPr id="15" name="壁 15"/>
          <p:cNvSpPr/>
          <p:nvPr/>
        </p:nvSpPr>
        <p:spPr>
          <a:xfrm>
            <a:off x="1732640" y="3610000"/>
            <a:ext cx="90000" cy="2270000"/>
          </a:xfrm>
          <a:prstGeom prst="rect">
            <a:avLst/>
          </a:prstGeom>
          <a:solidFill>
            <a:srgbClr val="9AA3B0"/>
          </a:solidFill>
          <a:ln>
            <a:noFill/>
          </a:ln>
        </p:spPr>
      </p:sp>
      <p:sp>
        <p:nvSpPr>
          <p:cNvPr id="16" name="壁の向こう 16"/>
          <p:cNvSpPr/>
          <p:nvPr/>
        </p:nvSpPr>
        <p:spPr>
          <a:xfrm>
            <a:off x="748640" y="3610000"/>
            <a:ext cx="984000" cy="2270000"/>
          </a:xfrm>
          <a:prstGeom prst="rect">
            <a:avLst/>
          </a:prstGeom>
          <a:solidFill>
            <a:srgbClr val="F0F2F5"/>
          </a:solidFill>
          <a:ln>
            <a:noFill/>
          </a:ln>
        </p:spPr>
      </p:sp>
      <p:cxnSp>
        <p:nvCxnSpPr>
          <p:cNvPr id="17" name="線 17"/>
          <p:cNvCxnSpPr/>
          <p:nvPr/>
        </p:nvCxnSpPr>
        <p:spPr>
          <a:xfrm>
            <a:off x="944640" y="4177500"/>
            <a:ext cx="833000" cy="706114"/>
          </a:xfrm>
          <a:prstGeom prst="line">
            <a:avLst/>
          </a:prstGeom>
          <a:ln w="12700" cap="rnd">
            <a:solidFill>
              <a:srgbClr val="9AA3B0"/>
            </a:solidFill>
            <a:prstDash val="dash"/>
            <a:round/>
          </a:ln>
        </p:spPr>
      </p:cxnSp>
      <p:cxnSp>
        <p:nvCxnSpPr>
          <p:cNvPr id="18" name="線 18"/>
          <p:cNvCxnSpPr/>
          <p:nvPr/>
        </p:nvCxnSpPr>
        <p:spPr>
          <a:xfrm flipH="1">
            <a:off x="1807640" y="4177500"/>
            <a:ext cx="803000" cy="706114"/>
          </a:xfrm>
          <a:prstGeom prst="line">
            <a:avLst/>
          </a:prstGeom>
          <a:ln w="15875" cap="rnd">
            <a:solidFill>
              <a:srgbClr val="9AA3B0"/>
            </a:solidFill>
            <a:round/>
          </a:ln>
        </p:spPr>
      </p:cxnSp>
      <p:cxnSp>
        <p:nvCxnSpPr>
          <p:cNvPr id="19" name="線 19"/>
          <p:cNvCxnSpPr/>
          <p:nvPr/>
        </p:nvCxnSpPr>
        <p:spPr>
          <a:xfrm>
            <a:off x="1807640" y="4883614"/>
            <a:ext cx="228500" cy="229985"/>
          </a:xfrm>
          <a:prstGeom prst="line">
            <a:avLst/>
          </a:prstGeom>
          <a:ln w="28575" cap="rnd">
            <a:solidFill>
              <a:srgbClr val="E3A33B"/>
            </a:solidFill>
            <a:round/>
            <a:tailEnd type="triangle" w="med" len="med"/>
          </a:ln>
        </p:spPr>
      </p:cxnSp>
      <p:sp>
        <p:nvSpPr>
          <p:cNvPr id="20" name="虚像 20"/>
          <p:cNvSpPr/>
          <p:nvPr/>
        </p:nvSpPr>
        <p:spPr>
          <a:xfrm>
            <a:off x="854640" y="4087500"/>
            <a:ext cx="180000" cy="180000"/>
          </a:xfrm>
          <a:prstGeom prst="ellipse">
            <a:avLst/>
          </a:prstGeom>
          <a:solidFill>
            <a:srgbClr val="FFFFFF"/>
          </a:solidFill>
          <a:ln w="15875">
            <a:solidFill>
              <a:srgbClr val="5C6677"/>
            </a:solidFill>
          </a:ln>
        </p:spPr>
      </p:sp>
      <p:sp>
        <p:nvSpPr>
          <p:cNvPr id="21" name="テキスト 21"/>
          <p:cNvSpPr txBox="1"/>
          <p:nvPr/>
        </p:nvSpPr>
        <p:spPr>
          <a:xfrm>
            <a:off x="644640" y="4307500"/>
            <a:ext cx="1000000" cy="20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00" b="1" dirty="0">
                <a:solidFill>
                  <a:srgbClr val="5C6677"/>
                </a:solidFill>
                <a:latin typeface="BIZ UDPゴシック"/>
                <a:ea typeface="BIZ UDPゴシック"/>
                <a:cs typeface="BIZ UDPゴシック"/>
              </a:rPr>
              <a:t>虚像</a:t>
            </a:r>
            <a:endParaRPr lang="ja-JP" altLang="en-US" sz="900" dirty="0">
              <a:solidFill>
                <a:srgbClr val="5C6677"/>
              </a:solidFill>
              <a:latin typeface="BIZ UDPゴシック"/>
              <a:ea typeface="BIZ UDPゴシック"/>
              <a:cs typeface="BIZ UDPゴシック"/>
            </a:endParaRPr>
          </a:p>
        </p:txBody>
      </p:sp>
      <p:sp>
        <p:nvSpPr>
          <p:cNvPr id="22" name="番号 22"/>
          <p:cNvSpPr/>
          <p:nvPr/>
        </p:nvSpPr>
        <p:spPr>
          <a:xfrm>
            <a:off x="2540640" y="4107500"/>
            <a:ext cx="140000" cy="14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3" name="テキスト 23"/>
          <p:cNvSpPr txBox="1"/>
          <p:nvPr/>
        </p:nvSpPr>
        <p:spPr>
          <a:xfrm>
            <a:off x="2210640" y="3877500"/>
            <a:ext cx="800000" cy="20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00" b="1" dirty="0">
                <a:solidFill>
                  <a:srgbClr val="1E2430"/>
                </a:solidFill>
                <a:latin typeface="BIZ UDPゴシック"/>
                <a:ea typeface="BIZ UDPゴシック"/>
                <a:cs typeface="BIZ UDPゴシック"/>
              </a:rPr>
              <a:t>音源</a:t>
            </a:r>
            <a:endParaRPr lang="ja-JP" altLang="en-US" sz="900" dirty="0">
              <a:solidFill>
                <a:srgbClr val="1E2430"/>
              </a:solidFill>
              <a:latin typeface="BIZ UDPゴシック"/>
              <a:ea typeface="BIZ UDPゴシック"/>
              <a:cs typeface="BIZ UDPゴシック"/>
            </a:endParaRPr>
          </a:p>
        </p:txBody>
      </p:sp>
      <p:sp>
        <p:nvSpPr>
          <p:cNvPr id="24" name="番号 24"/>
          <p:cNvSpPr/>
          <p:nvPr/>
        </p:nvSpPr>
        <p:spPr>
          <a:xfrm>
            <a:off x="2026140" y="5083600"/>
            <a:ext cx="140000" cy="14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5" name="テキスト 25"/>
          <p:cNvSpPr txBox="1"/>
          <p:nvPr/>
        </p:nvSpPr>
        <p:spPr>
          <a:xfrm>
            <a:off x="2206140" y="50636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b="1" dirty="0">
                <a:solidFill>
                  <a:srgbClr val="1E2430"/>
                </a:solidFill>
                <a:latin typeface="BIZ UDPゴシック"/>
                <a:ea typeface="BIZ UDPゴシック"/>
                <a:cs typeface="BIZ UDPゴシック"/>
              </a:rPr>
              <a:t>耳</a:t>
            </a:r>
            <a:endParaRPr lang="ja-JP" altLang="en-US" sz="900" dirty="0">
              <a:solidFill>
                <a:srgbClr val="1E2430"/>
              </a:solidFill>
              <a:latin typeface="BIZ UDPゴシック"/>
              <a:ea typeface="BIZ UDPゴシック"/>
              <a:cs typeface="BIZ UDPゴシック"/>
            </a:endParaRPr>
          </a:p>
        </p:txBody>
      </p:sp>
      <p:sp>
        <p:nvSpPr>
          <p:cNvPr id="26" name="テキスト 26"/>
          <p:cNvSpPr txBox="1"/>
          <p:nvPr/>
        </p:nvSpPr>
        <p:spPr>
          <a:xfrm>
            <a:off x="748640" y="5920000"/>
            <a:ext cx="2450000" cy="26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1050" b="1" dirty="0">
                <a:solidFill>
                  <a:srgbClr val="5C6677"/>
                </a:solidFill>
                <a:latin typeface="BIZ UDPゴシック"/>
                <a:ea typeface="BIZ UDPゴシック"/>
                <a:cs typeface="BIZ UDPゴシック"/>
              </a:rPr>
              <a:t>点 1 つ：方向だけ</a:t>
            </a:r>
            <a:endParaRPr lang="ja-JP" altLang="en-US" sz="1050" dirty="0">
              <a:solidFill>
                <a:srgbClr val="5C6677"/>
              </a:solidFill>
              <a:latin typeface="BIZ UDPゴシック"/>
              <a:ea typeface="BIZ UDPゴシック"/>
              <a:cs typeface="BIZ UDPゴシック"/>
            </a:endParaRPr>
          </a:p>
        </p:txBody>
      </p:sp>
      <p:sp>
        <p:nvSpPr>
          <p:cNvPr id="27" name="前後 27"/>
          <p:cNvSpPr/>
          <p:nvPr/>
        </p:nvSpPr>
        <p:spPr>
          <a:xfrm>
            <a:off x="3648640" y="3230000"/>
            <a:ext cx="520000" cy="26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今</a:t>
            </a:r>
            <a:endParaRPr lang="ja-JP" altLang="en-US" sz="950" dirty="0">
              <a:solidFill>
                <a:srgbClr val="1E2430"/>
              </a:solidFill>
              <a:latin typeface="BIZ UDPゴシック"/>
              <a:ea typeface="BIZ UDPゴシック"/>
              <a:cs typeface="BIZ UDPゴシック"/>
            </a:endParaRPr>
          </a:p>
        </p:txBody>
      </p:sp>
      <p:sp>
        <p:nvSpPr>
          <p:cNvPr id="28" name="テキスト 28"/>
          <p:cNvSpPr txBox="1"/>
          <p:nvPr/>
        </p:nvSpPr>
        <p:spPr>
          <a:xfrm>
            <a:off x="4248640" y="3220000"/>
            <a:ext cx="1850000" cy="280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受取面</a:t>
            </a:r>
            <a:endParaRPr lang="ja-JP" altLang="en-US" sz="1150" dirty="0">
              <a:solidFill>
                <a:srgbClr val="1E2430"/>
              </a:solidFill>
              <a:latin typeface="BIZ UDPゴシック"/>
              <a:ea typeface="BIZ UDPゴシック"/>
              <a:cs typeface="BIZ UDPゴシック"/>
            </a:endParaRPr>
          </a:p>
        </p:txBody>
      </p:sp>
      <p:sp>
        <p:nvSpPr>
          <p:cNvPr id="29" name="部屋 29"/>
          <p:cNvSpPr/>
          <p:nvPr/>
        </p:nvSpPr>
        <p:spPr>
          <a:xfrm>
            <a:off x="3648640" y="3610000"/>
            <a:ext cx="2450000" cy="2270000"/>
          </a:xfrm>
          <a:prstGeom prst="rect">
            <a:avLst/>
          </a:prstGeom>
          <a:solidFill>
            <a:srgbClr val="FFFFFF"/>
          </a:solidFill>
          <a:ln w="12700">
            <a:solidFill>
              <a:srgbClr val="C9CFD8"/>
            </a:solidFill>
          </a:ln>
        </p:spPr>
      </p:sp>
      <p:sp>
        <p:nvSpPr>
          <p:cNvPr id="30" name="壁 30"/>
          <p:cNvSpPr/>
          <p:nvPr/>
        </p:nvSpPr>
        <p:spPr>
          <a:xfrm>
            <a:off x="4632640" y="3610000"/>
            <a:ext cx="90000" cy="2270000"/>
          </a:xfrm>
          <a:prstGeom prst="rect">
            <a:avLst/>
          </a:prstGeom>
          <a:solidFill>
            <a:srgbClr val="9AA3B0"/>
          </a:solidFill>
          <a:ln>
            <a:noFill/>
          </a:ln>
        </p:spPr>
      </p:sp>
      <p:sp>
        <p:nvSpPr>
          <p:cNvPr id="31" name="壁の向こう 31"/>
          <p:cNvSpPr/>
          <p:nvPr/>
        </p:nvSpPr>
        <p:spPr>
          <a:xfrm>
            <a:off x="3648640" y="3610000"/>
            <a:ext cx="984000" cy="2270000"/>
          </a:xfrm>
          <a:prstGeom prst="rect">
            <a:avLst/>
          </a:prstGeom>
          <a:solidFill>
            <a:srgbClr val="F0F2F5"/>
          </a:solidFill>
          <a:ln>
            <a:noFill/>
          </a:ln>
        </p:spPr>
      </p:sp>
      <p:sp>
        <p:nvSpPr>
          <p:cNvPr id="32" name="小片 32"/>
          <p:cNvSpPr/>
          <p:nvPr/>
        </p:nvSpPr>
        <p:spPr>
          <a:xfrm>
            <a:off x="4632640" y="3622000"/>
            <a:ext cx="90000" cy="300285"/>
          </a:xfrm>
          <a:prstGeom prst="rect">
            <a:avLst/>
          </a:prstGeom>
          <a:solidFill>
            <a:srgbClr val="C98A2B"/>
          </a:solidFill>
          <a:ln>
            <a:noFill/>
          </a:ln>
        </p:spPr>
      </p:sp>
      <p:sp>
        <p:nvSpPr>
          <p:cNvPr id="33" name="小片 33"/>
          <p:cNvSpPr/>
          <p:nvPr/>
        </p:nvSpPr>
        <p:spPr>
          <a:xfrm>
            <a:off x="4632640" y="3946285"/>
            <a:ext cx="90000" cy="300285"/>
          </a:xfrm>
          <a:prstGeom prst="rect">
            <a:avLst/>
          </a:prstGeom>
          <a:solidFill>
            <a:srgbClr val="C98A2B"/>
          </a:solidFill>
          <a:ln>
            <a:noFill/>
          </a:ln>
        </p:spPr>
      </p:sp>
      <p:sp>
        <p:nvSpPr>
          <p:cNvPr id="34" name="小片 34"/>
          <p:cNvSpPr/>
          <p:nvPr/>
        </p:nvSpPr>
        <p:spPr>
          <a:xfrm>
            <a:off x="4632640" y="4270571"/>
            <a:ext cx="90000" cy="300285"/>
          </a:xfrm>
          <a:prstGeom prst="rect">
            <a:avLst/>
          </a:prstGeom>
          <a:solidFill>
            <a:srgbClr val="E3A33B"/>
          </a:solidFill>
          <a:ln>
            <a:noFill/>
          </a:ln>
        </p:spPr>
      </p:sp>
      <p:sp>
        <p:nvSpPr>
          <p:cNvPr id="35" name="小片 35"/>
          <p:cNvSpPr/>
          <p:nvPr/>
        </p:nvSpPr>
        <p:spPr>
          <a:xfrm>
            <a:off x="4632640" y="4594857"/>
            <a:ext cx="90000" cy="300285"/>
          </a:xfrm>
          <a:prstGeom prst="rect">
            <a:avLst/>
          </a:prstGeom>
          <a:solidFill>
            <a:srgbClr val="E3A33B"/>
          </a:solidFill>
          <a:ln>
            <a:noFill/>
          </a:ln>
        </p:spPr>
      </p:sp>
      <p:sp>
        <p:nvSpPr>
          <p:cNvPr id="36" name="小片 36"/>
          <p:cNvSpPr/>
          <p:nvPr/>
        </p:nvSpPr>
        <p:spPr>
          <a:xfrm>
            <a:off x="4632640" y="4919142"/>
            <a:ext cx="90000" cy="300285"/>
          </a:xfrm>
          <a:prstGeom prst="rect">
            <a:avLst/>
          </a:prstGeom>
          <a:solidFill>
            <a:srgbClr val="E3A33B"/>
          </a:solidFill>
          <a:ln>
            <a:noFill/>
          </a:ln>
        </p:spPr>
      </p:sp>
      <p:sp>
        <p:nvSpPr>
          <p:cNvPr id="37" name="小片 37"/>
          <p:cNvSpPr/>
          <p:nvPr/>
        </p:nvSpPr>
        <p:spPr>
          <a:xfrm>
            <a:off x="4632640" y="5243428"/>
            <a:ext cx="90000" cy="300285"/>
          </a:xfrm>
          <a:prstGeom prst="rect">
            <a:avLst/>
          </a:prstGeom>
          <a:solidFill>
            <a:srgbClr val="C98A2B"/>
          </a:solidFill>
          <a:ln>
            <a:noFill/>
          </a:ln>
        </p:spPr>
      </p:sp>
      <p:sp>
        <p:nvSpPr>
          <p:cNvPr id="38" name="小片 38"/>
          <p:cNvSpPr/>
          <p:nvPr/>
        </p:nvSpPr>
        <p:spPr>
          <a:xfrm>
            <a:off x="4632640" y="5567714"/>
            <a:ext cx="90000" cy="300285"/>
          </a:xfrm>
          <a:prstGeom prst="rect">
            <a:avLst/>
          </a:prstGeom>
          <a:solidFill>
            <a:srgbClr val="C98A2B"/>
          </a:solidFill>
          <a:ln>
            <a:noFill/>
          </a:ln>
        </p:spPr>
      </p:sp>
      <p:cxnSp>
        <p:nvCxnSpPr>
          <p:cNvPr id="39" name="線 39"/>
          <p:cNvCxnSpPr/>
          <p:nvPr/>
        </p:nvCxnSpPr>
        <p:spPr>
          <a:xfrm flipH="1" flipV="1">
            <a:off x="4727640" y="4096428"/>
            <a:ext cx="783000" cy="81071"/>
          </a:xfrm>
          <a:prstGeom prst="line">
            <a:avLst/>
          </a:prstGeom>
          <a:ln w="9525" cap="rnd">
            <a:solidFill>
              <a:srgbClr val="C9CFD8"/>
            </a:solidFill>
            <a:round/>
          </a:ln>
        </p:spPr>
      </p:cxnSp>
      <p:cxnSp>
        <p:nvCxnSpPr>
          <p:cNvPr id="40" name="線 40"/>
          <p:cNvCxnSpPr/>
          <p:nvPr/>
        </p:nvCxnSpPr>
        <p:spPr>
          <a:xfrm flipH="1">
            <a:off x="4727640" y="4177500"/>
            <a:ext cx="783000" cy="243214"/>
          </a:xfrm>
          <a:prstGeom prst="line">
            <a:avLst/>
          </a:prstGeom>
          <a:ln w="9525" cap="rnd">
            <a:solidFill>
              <a:srgbClr val="C9CFD8"/>
            </a:solidFill>
            <a:round/>
          </a:ln>
        </p:spPr>
      </p:cxnSp>
      <p:cxnSp>
        <p:nvCxnSpPr>
          <p:cNvPr id="41" name="線 41"/>
          <p:cNvCxnSpPr/>
          <p:nvPr/>
        </p:nvCxnSpPr>
        <p:spPr>
          <a:xfrm flipH="1">
            <a:off x="4727640" y="4177500"/>
            <a:ext cx="783000" cy="567500"/>
          </a:xfrm>
          <a:prstGeom prst="line">
            <a:avLst/>
          </a:prstGeom>
          <a:ln w="9525" cap="rnd">
            <a:solidFill>
              <a:srgbClr val="C9CFD8"/>
            </a:solidFill>
            <a:round/>
          </a:ln>
        </p:spPr>
      </p:cxnSp>
      <p:cxnSp>
        <p:nvCxnSpPr>
          <p:cNvPr id="42" name="線 42"/>
          <p:cNvCxnSpPr/>
          <p:nvPr/>
        </p:nvCxnSpPr>
        <p:spPr>
          <a:xfrm flipH="1">
            <a:off x="4727640" y="4177500"/>
            <a:ext cx="783000" cy="891785"/>
          </a:xfrm>
          <a:prstGeom prst="line">
            <a:avLst/>
          </a:prstGeom>
          <a:ln w="9525" cap="rnd">
            <a:solidFill>
              <a:srgbClr val="C9CFD8"/>
            </a:solidFill>
            <a:round/>
          </a:ln>
        </p:spPr>
      </p:cxnSp>
      <p:cxnSp>
        <p:nvCxnSpPr>
          <p:cNvPr id="43" name="線 43"/>
          <p:cNvCxnSpPr/>
          <p:nvPr/>
        </p:nvCxnSpPr>
        <p:spPr>
          <a:xfrm flipH="1">
            <a:off x="4727640" y="4177500"/>
            <a:ext cx="783000" cy="1216071"/>
          </a:xfrm>
          <a:prstGeom prst="line">
            <a:avLst/>
          </a:prstGeom>
          <a:ln w="9525" cap="rnd">
            <a:solidFill>
              <a:srgbClr val="C9CFD8"/>
            </a:solidFill>
            <a:round/>
          </a:ln>
        </p:spPr>
      </p:cxnSp>
      <p:cxnSp>
        <p:nvCxnSpPr>
          <p:cNvPr id="44" name="線 44"/>
          <p:cNvCxnSpPr/>
          <p:nvPr/>
        </p:nvCxnSpPr>
        <p:spPr>
          <a:xfrm>
            <a:off x="4737640" y="4420714"/>
            <a:ext cx="208500" cy="549664"/>
          </a:xfrm>
          <a:prstGeom prst="line">
            <a:avLst/>
          </a:prstGeom>
          <a:ln w="19050" cap="rnd">
            <a:solidFill>
              <a:srgbClr val="E3A33B"/>
            </a:solidFill>
            <a:round/>
            <a:tailEnd type="triangle" w="med" len="med"/>
          </a:ln>
        </p:spPr>
      </p:cxnSp>
      <p:cxnSp>
        <p:nvCxnSpPr>
          <p:cNvPr id="45" name="線 45"/>
          <p:cNvCxnSpPr/>
          <p:nvPr/>
        </p:nvCxnSpPr>
        <p:spPr>
          <a:xfrm>
            <a:off x="4737640" y="4745000"/>
            <a:ext cx="208500" cy="306450"/>
          </a:xfrm>
          <a:prstGeom prst="line">
            <a:avLst/>
          </a:prstGeom>
          <a:ln w="19050" cap="rnd">
            <a:solidFill>
              <a:srgbClr val="E3A33B"/>
            </a:solidFill>
            <a:round/>
            <a:tailEnd type="triangle" w="med" len="med"/>
          </a:ln>
        </p:spPr>
      </p:cxnSp>
      <p:cxnSp>
        <p:nvCxnSpPr>
          <p:cNvPr id="46" name="線 46"/>
          <p:cNvCxnSpPr/>
          <p:nvPr/>
        </p:nvCxnSpPr>
        <p:spPr>
          <a:xfrm>
            <a:off x="4737640" y="5069285"/>
            <a:ext cx="208500" cy="63235"/>
          </a:xfrm>
          <a:prstGeom prst="line">
            <a:avLst/>
          </a:prstGeom>
          <a:ln w="19050" cap="rnd">
            <a:solidFill>
              <a:srgbClr val="E3A33B"/>
            </a:solidFill>
            <a:round/>
            <a:tailEnd type="triangle" w="med" len="med"/>
          </a:ln>
        </p:spPr>
      </p:cxnSp>
      <p:sp>
        <p:nvSpPr>
          <p:cNvPr id="47" name="番号 47"/>
          <p:cNvSpPr/>
          <p:nvPr/>
        </p:nvSpPr>
        <p:spPr>
          <a:xfrm>
            <a:off x="5440640" y="4107500"/>
            <a:ext cx="140000" cy="14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8" name="テキスト 48"/>
          <p:cNvSpPr txBox="1"/>
          <p:nvPr/>
        </p:nvSpPr>
        <p:spPr>
          <a:xfrm>
            <a:off x="5110640" y="3877500"/>
            <a:ext cx="800000" cy="20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00" b="1" dirty="0">
                <a:solidFill>
                  <a:srgbClr val="1E2430"/>
                </a:solidFill>
                <a:latin typeface="BIZ UDPゴシック"/>
                <a:ea typeface="BIZ UDPゴシック"/>
                <a:cs typeface="BIZ UDPゴシック"/>
              </a:rPr>
              <a:t>音源</a:t>
            </a:r>
            <a:endParaRPr lang="ja-JP" altLang="en-US" sz="900" dirty="0">
              <a:solidFill>
                <a:srgbClr val="1E2430"/>
              </a:solidFill>
              <a:latin typeface="BIZ UDPゴシック"/>
              <a:ea typeface="BIZ UDPゴシック"/>
              <a:cs typeface="BIZ UDPゴシック"/>
            </a:endParaRPr>
          </a:p>
        </p:txBody>
      </p:sp>
      <p:sp>
        <p:nvSpPr>
          <p:cNvPr id="49" name="番号 49"/>
          <p:cNvSpPr/>
          <p:nvPr/>
        </p:nvSpPr>
        <p:spPr>
          <a:xfrm>
            <a:off x="4926140" y="5083600"/>
            <a:ext cx="140000" cy="14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0" name="テキスト 50"/>
          <p:cNvSpPr txBox="1"/>
          <p:nvPr/>
        </p:nvSpPr>
        <p:spPr>
          <a:xfrm>
            <a:off x="5106140" y="50636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b="1" dirty="0">
                <a:solidFill>
                  <a:srgbClr val="1E2430"/>
                </a:solidFill>
                <a:latin typeface="BIZ UDPゴシック"/>
                <a:ea typeface="BIZ UDPゴシック"/>
                <a:cs typeface="BIZ UDPゴシック"/>
              </a:rPr>
              <a:t>耳</a:t>
            </a:r>
            <a:endParaRPr lang="ja-JP" altLang="en-US" sz="900" dirty="0">
              <a:solidFill>
                <a:srgbClr val="1E2430"/>
              </a:solidFill>
              <a:latin typeface="BIZ UDPゴシック"/>
              <a:ea typeface="BIZ UDPゴシック"/>
              <a:cs typeface="BIZ UDPゴシック"/>
            </a:endParaRPr>
          </a:p>
        </p:txBody>
      </p:sp>
      <p:sp>
        <p:nvSpPr>
          <p:cNvPr id="51" name="テキスト 51"/>
          <p:cNvSpPr txBox="1"/>
          <p:nvPr/>
        </p:nvSpPr>
        <p:spPr>
          <a:xfrm>
            <a:off x="3648640" y="5920000"/>
            <a:ext cx="2450000" cy="26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1050" b="1" dirty="0">
                <a:solidFill>
                  <a:srgbClr val="9A6212"/>
                </a:solidFill>
                <a:latin typeface="BIZ UDPゴシック"/>
                <a:ea typeface="BIZ UDPゴシック"/>
                <a:cs typeface="BIZ UDPゴシック"/>
              </a:rPr>
              <a:t>面：近いほど大きく・広く</a:t>
            </a:r>
            <a:endParaRPr lang="ja-JP" altLang="en-US" sz="1050" dirty="0">
              <a:solidFill>
                <a:srgbClr val="9A6212"/>
              </a:solidFill>
              <a:latin typeface="BIZ UDPゴシック"/>
              <a:ea typeface="BIZ UDPゴシック"/>
              <a:cs typeface="BIZ UDPゴシック"/>
            </a:endParaRPr>
          </a:p>
        </p:txBody>
      </p:sp>
      <p:sp>
        <p:nvSpPr>
          <p:cNvPr id="52" name="矢印 52"/>
          <p:cNvSpPr/>
          <p:nvPr/>
        </p:nvSpPr>
        <p:spPr>
          <a:xfrm>
            <a:off x="3288640" y="4615000"/>
            <a:ext cx="270000" cy="260000"/>
          </a:xfrm>
          <a:prstGeom prst="rightArrow">
            <a:avLst/>
          </a:prstGeom>
          <a:solidFill>
            <a:srgbClr val="E3A33B"/>
          </a:solidFill>
          <a:ln>
            <a:noFill/>
          </a:ln>
        </p:spPr>
      </p:sp>
      <p:sp>
        <p:nvSpPr>
          <p:cNvPr id="53" name="テキスト 53"/>
          <p:cNvSpPr txBox="1"/>
          <p:nvPr/>
        </p:nvSpPr>
        <p:spPr>
          <a:xfrm>
            <a:off x="6498640" y="3220000"/>
            <a:ext cx="4941672" cy="280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ja-JP" altLang="en-US" sz="1100" b="1" dirty="0">
                <a:solidFill>
                  <a:srgbClr val="1E2430"/>
                </a:solidFill>
                <a:latin typeface="BIZ UDPゴシック"/>
                <a:ea typeface="BIZ UDPゴシック"/>
                <a:cs typeface="BIZ UDPゴシック"/>
              </a:rPr>
              <a:t>壁に近づくと、反射の大きさは（形は実測）</a:t>
            </a:r>
            <a:endParaRPr lang="ja-JP" altLang="en-US" sz="1100" dirty="0">
              <a:solidFill>
                <a:srgbClr val="1E2430"/>
              </a:solidFill>
              <a:latin typeface="BIZ UDPゴシック"/>
              <a:ea typeface="BIZ UDPゴシック"/>
              <a:cs typeface="BIZ UDPゴシック"/>
            </a:endParaRPr>
          </a:p>
        </p:txBody>
      </p:sp>
      <p:cxnSp>
        <p:nvCxnSpPr>
          <p:cNvPr id="54" name="線 54"/>
          <p:cNvCxnSpPr/>
          <p:nvPr/>
        </p:nvCxnSpPr>
        <p:spPr>
          <a:xfrm>
            <a:off x="6498640" y="3650000"/>
            <a:ext cx="300000" cy="0"/>
          </a:xfrm>
          <a:prstGeom prst="line">
            <a:avLst/>
          </a:prstGeom>
          <a:ln w="31750" cap="rnd">
            <a:solidFill>
              <a:srgbClr val="E3A33B"/>
            </a:solidFill>
            <a:round/>
          </a:ln>
        </p:spPr>
      </p:cxnSp>
      <p:sp>
        <p:nvSpPr>
          <p:cNvPr id="55" name="テキスト 55"/>
          <p:cNvSpPr txBox="1"/>
          <p:nvPr/>
        </p:nvSpPr>
        <p:spPr>
          <a:xfrm>
            <a:off x="6878640" y="3560000"/>
            <a:ext cx="2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受取面</a:t>
            </a:r>
            <a:endParaRPr lang="ja-JP" altLang="en-US" sz="1000" dirty="0">
              <a:solidFill>
                <a:srgbClr val="1E2430"/>
              </a:solidFill>
              <a:latin typeface="BIZ UDPゴシック"/>
              <a:ea typeface="BIZ UDPゴシック"/>
              <a:cs typeface="BIZ UDPゴシック"/>
            </a:endParaRPr>
          </a:p>
        </p:txBody>
      </p:sp>
      <p:cxnSp>
        <p:nvCxnSpPr>
          <p:cNvPr id="56" name="線 56"/>
          <p:cNvCxnSpPr/>
          <p:nvPr/>
        </p:nvCxnSpPr>
        <p:spPr>
          <a:xfrm>
            <a:off x="7559640" y="3650000"/>
            <a:ext cx="300000" cy="0"/>
          </a:xfrm>
          <a:prstGeom prst="line">
            <a:avLst/>
          </a:prstGeom>
          <a:ln w="22225" cap="rnd">
            <a:solidFill>
              <a:srgbClr val="9AA3B0"/>
            </a:solidFill>
            <a:round/>
          </a:ln>
        </p:spPr>
      </p:cxnSp>
      <p:sp>
        <p:nvSpPr>
          <p:cNvPr id="57" name="テキスト 57"/>
          <p:cNvSpPr txBox="1"/>
          <p:nvPr/>
        </p:nvSpPr>
        <p:spPr>
          <a:xfrm>
            <a:off x="7939640" y="3560000"/>
            <a:ext cx="2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ISM</a:t>
            </a:r>
            <a:endParaRPr lang="ja-JP" altLang="en-US" sz="1000" dirty="0">
              <a:solidFill>
                <a:srgbClr val="1E2430"/>
              </a:solidFill>
              <a:latin typeface="BIZ UDPゴシック"/>
              <a:ea typeface="BIZ UDPゴシック"/>
              <a:cs typeface="BIZ UDPゴシック"/>
            </a:endParaRPr>
          </a:p>
        </p:txBody>
      </p:sp>
      <p:cxnSp>
        <p:nvCxnSpPr>
          <p:cNvPr id="58" name="線 58"/>
          <p:cNvCxnSpPr/>
          <p:nvPr/>
        </p:nvCxnSpPr>
        <p:spPr>
          <a:xfrm>
            <a:off x="6748640" y="5550000"/>
            <a:ext cx="4591672" cy="0"/>
          </a:xfrm>
          <a:prstGeom prst="line">
            <a:avLst/>
          </a:prstGeom>
          <a:ln w="12700" cap="rnd">
            <a:solidFill>
              <a:srgbClr val="C9CFD8"/>
            </a:solidFill>
            <a:round/>
          </a:ln>
        </p:spPr>
      </p:cxnSp>
      <p:cxnSp>
        <p:nvCxnSpPr>
          <p:cNvPr id="59" name="線 59"/>
          <p:cNvCxnSpPr/>
          <p:nvPr/>
        </p:nvCxnSpPr>
        <p:spPr>
          <a:xfrm>
            <a:off x="6748640" y="4030000"/>
            <a:ext cx="0" cy="1520000"/>
          </a:xfrm>
          <a:prstGeom prst="line">
            <a:avLst/>
          </a:prstGeom>
          <a:ln w="12700" cap="rnd">
            <a:solidFill>
              <a:srgbClr val="C9CFD8"/>
            </a:solidFill>
            <a:round/>
          </a:ln>
        </p:spPr>
      </p:cxnSp>
      <p:sp>
        <p:nvSpPr>
          <p:cNvPr id="60" name="折れ線 60"/>
          <p:cNvSpPr/>
          <p:nvPr/>
        </p:nvSpPr>
        <p:spPr>
          <a:xfrm>
            <a:off x="6748640" y="4936571"/>
            <a:ext cx="4591672" cy="195428"/>
          </a:xfrm>
          <a:custGeom>
            <a:avLst/>
            <a:gdLst/>
            <a:ahLst/>
            <a:cxnLst/>
            <a:rect l="0" t="0" r="r" b="b"/>
            <a:pathLst>
              <a:path w="4591672" h="195428" fill="none">
                <a:moveTo>
                  <a:pt x="0" y="0"/>
                </a:moveTo>
                <a:lnTo>
                  <a:pt x="1062412" y="135714"/>
                </a:lnTo>
                <a:lnTo>
                  <a:pt x="2124825" y="195428"/>
                </a:lnTo>
                <a:lnTo>
                  <a:pt x="4591672" y="162857"/>
                </a:lnTo>
              </a:path>
            </a:pathLst>
          </a:custGeom>
          <a:noFill/>
          <a:ln w="25400" cap="rnd">
            <a:solidFill>
              <a:srgbClr val="9AA3B0"/>
            </a:solidFill>
            <a:round/>
          </a:ln>
        </p:spPr>
      </p:sp>
      <p:sp>
        <p:nvSpPr>
          <p:cNvPr id="61" name="折れ線 61"/>
          <p:cNvSpPr/>
          <p:nvPr/>
        </p:nvSpPr>
        <p:spPr>
          <a:xfrm>
            <a:off x="6748640" y="4154857"/>
            <a:ext cx="4591672" cy="982571"/>
          </a:xfrm>
          <a:custGeom>
            <a:avLst/>
            <a:gdLst/>
            <a:ahLst/>
            <a:cxnLst/>
            <a:rect l="0" t="0" r="r" b="b"/>
            <a:pathLst>
              <a:path w="4591672" h="982571" fill="none">
                <a:moveTo>
                  <a:pt x="0" y="982571"/>
                </a:moveTo>
                <a:lnTo>
                  <a:pt x="1062412" y="434285"/>
                </a:lnTo>
                <a:lnTo>
                  <a:pt x="2124825" y="48857"/>
                </a:lnTo>
                <a:lnTo>
                  <a:pt x="4591672" y="0"/>
                </a:lnTo>
              </a:path>
            </a:pathLst>
          </a:custGeom>
          <a:noFill/>
          <a:ln w="38100" cap="rnd">
            <a:solidFill>
              <a:srgbClr val="E3A33B"/>
            </a:solidFill>
            <a:round/>
          </a:ln>
        </p:spPr>
      </p:sp>
      <p:sp>
        <p:nvSpPr>
          <p:cNvPr id="62" name="テキスト 62"/>
          <p:cNvSpPr txBox="1"/>
          <p:nvPr/>
        </p:nvSpPr>
        <p:spPr>
          <a:xfrm>
            <a:off x="6688640" y="5610000"/>
            <a:ext cx="10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5C6677"/>
                </a:solidFill>
                <a:latin typeface="BIZ UDPゴシック"/>
                <a:ea typeface="BIZ UDPゴシック"/>
                <a:cs typeface="BIZ UDPゴシック"/>
              </a:rPr>
              <a:t>遠い</a:t>
            </a:r>
            <a:endParaRPr lang="ja-JP" altLang="en-US" sz="950" dirty="0">
              <a:solidFill>
                <a:srgbClr val="5C6677"/>
              </a:solidFill>
              <a:latin typeface="BIZ UDPゴシック"/>
              <a:ea typeface="BIZ UDPゴシック"/>
              <a:cs typeface="BIZ UDPゴシック"/>
            </a:endParaRPr>
          </a:p>
        </p:txBody>
      </p:sp>
      <p:sp>
        <p:nvSpPr>
          <p:cNvPr id="63" name="テキスト 63"/>
          <p:cNvSpPr txBox="1"/>
          <p:nvPr/>
        </p:nvSpPr>
        <p:spPr>
          <a:xfrm>
            <a:off x="10340312" y="5610000"/>
            <a:ext cx="100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b="1" dirty="0">
                <a:solidFill>
                  <a:srgbClr val="5C6677"/>
                </a:solidFill>
                <a:latin typeface="BIZ UDPゴシック"/>
                <a:ea typeface="BIZ UDPゴシック"/>
                <a:cs typeface="BIZ UDPゴシック"/>
              </a:rPr>
              <a:t>壁のすぐそば</a:t>
            </a:r>
            <a:endParaRPr lang="ja-JP" altLang="en-US" sz="950" dirty="0">
              <a:solidFill>
                <a:srgbClr val="5C6677"/>
              </a:solidFill>
              <a:latin typeface="BIZ UDPゴシック"/>
              <a:ea typeface="BIZ UDPゴシック"/>
              <a:cs typeface="BIZ UDPゴシック"/>
            </a:endParaRPr>
          </a:p>
        </p:txBody>
      </p:sp>
      <p:sp>
        <p:nvSpPr>
          <p:cNvPr id="64" name="テキスト 64"/>
          <p:cNvSpPr txBox="1"/>
          <p:nvPr/>
        </p:nvSpPr>
        <p:spPr>
          <a:xfrm>
            <a:off x="6828640" y="3970000"/>
            <a:ext cx="18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5C6677"/>
                </a:solidFill>
                <a:latin typeface="BIZ UDPゴシック"/>
                <a:ea typeface="BIZ UDPゴシック"/>
                <a:cs typeface="BIZ UDPゴシック"/>
              </a:rPr>
              <a:t>大きい</a:t>
            </a:r>
            <a:endParaRPr lang="ja-JP" altLang="en-US" sz="950" dirty="0">
              <a:solidFill>
                <a:srgbClr val="5C6677"/>
              </a:solidFill>
              <a:latin typeface="BIZ UDPゴシック"/>
              <a:ea typeface="BIZ UDPゴシック"/>
              <a:cs typeface="BIZ UDPゴシック"/>
            </a:endParaRPr>
          </a:p>
        </p:txBody>
      </p:sp>
      <p:sp>
        <p:nvSpPr>
          <p:cNvPr id="65" name="テキスト 65"/>
          <p:cNvSpPr txBox="1"/>
          <p:nvPr/>
        </p:nvSpPr>
        <p:spPr>
          <a:xfrm>
            <a:off x="6873465" y="3873714"/>
            <a:ext cx="1900000" cy="22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9A6212"/>
                </a:solidFill>
                <a:latin typeface="BIZ UDPゴシック"/>
                <a:ea typeface="BIZ UDPゴシック"/>
                <a:cs typeface="BIZ UDPゴシック"/>
              </a:rPr>
              <a:t>近いほど大きく</a:t>
            </a:r>
            <a:endParaRPr lang="ja-JP" altLang="en-US" sz="1000" dirty="0">
              <a:solidFill>
                <a:srgbClr val="9A6212"/>
              </a:solidFill>
              <a:latin typeface="BIZ UDPゴシック"/>
              <a:ea typeface="BIZ UDPゴシック"/>
              <a:cs typeface="BIZ UDPゴシック"/>
            </a:endParaRPr>
          </a:p>
        </p:txBody>
      </p:sp>
      <p:sp>
        <p:nvSpPr>
          <p:cNvPr id="66" name="テキスト 66"/>
          <p:cNvSpPr txBox="1"/>
          <p:nvPr/>
        </p:nvSpPr>
        <p:spPr>
          <a:xfrm>
            <a:off x="7611052" y="5162285"/>
            <a:ext cx="1900000" cy="2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5C6677"/>
                </a:solidFill>
                <a:latin typeface="BIZ UDPゴシック"/>
                <a:ea typeface="BIZ UDPゴシック"/>
                <a:cs typeface="BIZ UDPゴシック"/>
              </a:rPr>
              <a:t>距離で変わらない</a:t>
            </a:r>
            <a:endParaRPr lang="ja-JP" altLang="en-US" sz="1000" dirty="0">
              <a:solidFill>
                <a:srgbClr val="5C6677"/>
              </a:solidFill>
              <a:latin typeface="BIZ UDPゴシック"/>
              <a:ea typeface="BIZ UDPゴシック"/>
              <a:cs typeface="BIZ UDPゴシック"/>
            </a:endParaRPr>
          </a:p>
        </p:txBody>
      </p:sp>
      <p:sp>
        <p:nvSpPr>
          <p:cNvPr id="67" name="テキスト 67"/>
          <p:cNvSpPr txBox="1"/>
          <p:nvPr/>
        </p:nvSpPr>
        <p:spPr>
          <a:xfrm>
            <a:off x="6498640" y="6070000"/>
            <a:ext cx="4941672" cy="25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遅れも近いほど短く、広がりも近いほど大きい</a:t>
            </a:r>
            <a:endParaRPr lang="ja-JP" altLang="en-US" sz="1000" dirty="0">
              <a:solidFill>
                <a:srgbClr val="1E2430"/>
              </a:solidFill>
              <a:latin typeface="BIZ UDPゴシック"/>
              <a:ea typeface="BIZ UDPゴシック"/>
              <a:cs typeface="BIZ UDPゴシック"/>
            </a:endParaRPr>
          </a:p>
        </p:txBody>
      </p:sp>
      <p:sp>
        <p:nvSpPr>
          <p:cNvPr id="68" name="テキスト 68"/>
          <p:cNvSpPr txBox="1"/>
          <p:nvPr/>
        </p:nvSpPr>
        <p:spPr>
          <a:xfrm>
            <a:off x="548640" y="6540000"/>
            <a:ext cx="11091672"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dirty="0">
                <a:solidFill>
                  <a:srgbClr val="5C6677"/>
                </a:solidFill>
                <a:latin typeface="BIZ UDPゴシック"/>
                <a:ea typeface="BIZ UDPゴシック"/>
                <a:cs typeface="BIZ UDPゴシック"/>
              </a:rPr>
              <a:t>※ 左の図は上から見た模式図。右のグラフは回帰テストの場面（7×3×7 m の部屋で耳を壁へ寄せる）の実測の形</a:t>
            </a:r>
            <a:endParaRPr lang="ja-JP" altLang="en-US" sz="900" dirty="0">
              <a:solidFill>
                <a:srgbClr val="5C6677"/>
              </a:solidFill>
              <a:latin typeface="BIZ UDPゴシック"/>
              <a:ea typeface="BIZ UDPゴシック"/>
              <a:cs typeface="BIZ UDPゴシック"/>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03　技術選定　｜　FDN</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残響は IR で作ってから、FDN に作り直した</a:t>
            </a:r>
            <a:endParaRPr lang="ja-JP" altLang="en-US" sz="2600" dirty="0">
              <a:solidFill>
                <a:srgbClr val="1E2430"/>
              </a:solidFill>
              <a:latin typeface="BIZ UDPゴシック"/>
              <a:ea typeface="BIZ UDPゴシック"/>
              <a:cs typeface="BIZ UDPゴシック"/>
            </a:endParaRPr>
          </a:p>
        </p:txBody>
      </p:sp>
      <p:sp>
        <p:nvSpPr>
          <p:cNvPr id="4" name="テキスト 4"/>
          <p:cNvSpPr txBox="1"/>
          <p:nvPr/>
        </p:nvSpPr>
        <p:spPr>
          <a:xfrm>
            <a:off x="548640" y="1300000"/>
            <a:ext cx="11091672" cy="420000"/>
          </a:xfrm>
          <a:prstGeom prst="rect">
            <a:avLst/>
          </a:prstGeom>
          <a:noFill/>
          <a:ln>
            <a:noFill/>
          </a:ln>
        </p:spPr>
        <p:txBody>
          <a:bodyPr wrap="square" lIns="0" tIns="0" rIns="0" bIns="0" rtlCol="0" anchor="t">
            <a:noAutofit/>
          </a:bodyPr>
          <a:lstStyle/>
          <a:p>
            <a:pPr marL="0" indent="0" algn="l">
              <a:lnSpc>
                <a:spcPct val="120000"/>
              </a:lnSpc>
              <a:spcBef>
                <a:spcPts val="0"/>
              </a:spcBef>
              <a:spcAft>
                <a:spcPts val="0"/>
              </a:spcAft>
              <a:buNone/>
            </a:pPr>
            <a:r>
              <a:rPr lang="ja-JP" altLang="en-US" sz="1500" dirty="0">
                <a:solidFill>
                  <a:srgbClr val="1E2430"/>
                </a:solidFill>
                <a:latin typeface="BIZ UDPゴシック"/>
                <a:ea typeface="BIZ UDPゴシック"/>
                <a:cs typeface="BIZ UDPゴシック"/>
              </a:rPr>
              <a:t>FDN は遅延線を混ぜ返して響きを作る仕組み。録った IR を畳み込む代わりに、減衰の速さをパラメータで持つ。</a:t>
            </a:r>
          </a:p>
        </p:txBody>
      </p:sp>
      <p:sp>
        <p:nvSpPr>
          <p:cNvPr id="5" name="カード 5"/>
          <p:cNvSpPr/>
          <p:nvPr/>
        </p:nvSpPr>
        <p:spPr>
          <a:xfrm>
            <a:off x="548640" y="1850000"/>
            <a:ext cx="5195836" cy="2150000"/>
          </a:xfrm>
          <a:prstGeom prst="roundRect">
            <a:avLst>
              <a:gd name="adj" fmla="val 5000"/>
            </a:avLst>
          </a:prstGeom>
          <a:solidFill>
            <a:srgbClr val="FFFFFF"/>
          </a:solidFill>
          <a:ln w="12700">
            <a:solidFill>
              <a:srgbClr val="C9CFD8"/>
            </a:solidFill>
          </a:ln>
        </p:spPr>
        <p:txBody>
          <a:bodyPr/>
          <a:lstStyle/>
          <a:p>
            <a:endParaRPr lang="ja-JP" altLang="en-US"/>
          </a:p>
        </p:txBody>
      </p:sp>
      <p:sp>
        <p:nvSpPr>
          <p:cNvPr id="6" name="テキスト 6"/>
          <p:cNvSpPr txBox="1"/>
          <p:nvPr/>
        </p:nvSpPr>
        <p:spPr>
          <a:xfrm>
            <a:off x="848640" y="2050000"/>
            <a:ext cx="4595836" cy="3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500" b="1" dirty="0">
                <a:solidFill>
                  <a:srgbClr val="5C6677"/>
                </a:solidFill>
                <a:latin typeface="BIZ UDPゴシック"/>
                <a:ea typeface="BIZ UDPゴシック"/>
                <a:cs typeface="BIZ UDPゴシック"/>
              </a:rPr>
              <a:t>IR（畳み込み）で作っていた</a:t>
            </a:r>
            <a:endParaRPr lang="ja-JP" altLang="en-US" sz="1500" dirty="0">
              <a:solidFill>
                <a:srgbClr val="5C6677"/>
              </a:solidFill>
              <a:latin typeface="BIZ UDPゴシック"/>
              <a:ea typeface="BIZ UDPゴシック"/>
              <a:cs typeface="BIZ UDPゴシック"/>
            </a:endParaRPr>
          </a:p>
        </p:txBody>
      </p:sp>
      <p:sp>
        <p:nvSpPr>
          <p:cNvPr id="7" name="テキスト 7"/>
          <p:cNvSpPr txBox="1"/>
          <p:nvPr/>
        </p:nvSpPr>
        <p:spPr>
          <a:xfrm>
            <a:off x="848640" y="2500000"/>
            <a:ext cx="4595836" cy="14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・部屋や扉が変わるたびに IR を作り直す</a:t>
            </a:r>
          </a:p>
          <a:p>
            <a:pPr marL="0" indent="0" algn="l">
              <a:lnSpc>
                <a:spcPct val="125000"/>
              </a:lnSpc>
              <a:spcBef>
                <a:spcPts val="500"/>
              </a:spcBef>
              <a:spcAft>
                <a:spcPts val="0"/>
              </a:spcAft>
              <a:buNone/>
            </a:pPr>
            <a:r>
              <a:rPr lang="ja-JP" altLang="en-US" sz="1450" dirty="0">
                <a:solidFill>
                  <a:srgbClr val="1E2430"/>
                </a:solidFill>
                <a:latin typeface="BIZ UDPゴシック"/>
                <a:ea typeface="BIZ UDPゴシック"/>
                <a:cs typeface="BIZ UDPゴシック"/>
              </a:rPr>
              <a:t>・作る時間と差し替えの継ぎ目で、響きが扉に遅れる</a:t>
            </a:r>
          </a:p>
          <a:p>
            <a:pPr marL="0" indent="0" algn="l">
              <a:lnSpc>
                <a:spcPct val="125000"/>
              </a:lnSpc>
              <a:spcBef>
                <a:spcPts val="500"/>
              </a:spcBef>
              <a:spcAft>
                <a:spcPts val="0"/>
              </a:spcAft>
              <a:buNone/>
            </a:pPr>
            <a:r>
              <a:rPr lang="ja-JP" altLang="en-US" sz="1450" dirty="0">
                <a:solidFill>
                  <a:srgbClr val="1E2430"/>
                </a:solidFill>
                <a:latin typeface="BIZ UDPゴシック"/>
                <a:ea typeface="BIZ UDPゴシック"/>
                <a:cs typeface="BIZ UDPゴシック"/>
              </a:rPr>
              <a:t>・「開けた IR から、閉めた分を引く」が定義できない</a:t>
            </a:r>
          </a:p>
        </p:txBody>
      </p:sp>
      <p:sp>
        <p:nvSpPr>
          <p:cNvPr id="8" name="矢印 8"/>
          <p:cNvSpPr/>
          <p:nvPr/>
        </p:nvSpPr>
        <p:spPr>
          <a:xfrm>
            <a:off x="5894476" y="2755000"/>
            <a:ext cx="400000" cy="340000"/>
          </a:xfrm>
          <a:prstGeom prst="rightArrow">
            <a:avLst/>
          </a:prstGeom>
          <a:solidFill>
            <a:srgbClr val="E3A33B"/>
          </a:solidFill>
          <a:ln>
            <a:noFill/>
          </a:ln>
        </p:spPr>
        <p:txBody>
          <a:bodyPr/>
          <a:lstStyle/>
          <a:p>
            <a:endParaRPr lang="ja-JP" altLang="en-US"/>
          </a:p>
        </p:txBody>
      </p:sp>
      <p:sp>
        <p:nvSpPr>
          <p:cNvPr id="9" name="カード 9"/>
          <p:cNvSpPr/>
          <p:nvPr/>
        </p:nvSpPr>
        <p:spPr>
          <a:xfrm>
            <a:off x="6444476" y="1850000"/>
            <a:ext cx="5195836" cy="2150000"/>
          </a:xfrm>
          <a:prstGeom prst="roundRect">
            <a:avLst>
              <a:gd name="adj" fmla="val 5000"/>
            </a:avLst>
          </a:prstGeom>
          <a:solidFill>
            <a:srgbClr val="FBF1DF"/>
          </a:solidFill>
          <a:ln>
            <a:noFill/>
          </a:ln>
        </p:spPr>
        <p:txBody>
          <a:bodyPr/>
          <a:lstStyle/>
          <a:p>
            <a:endParaRPr lang="ja-JP" altLang="en-US"/>
          </a:p>
        </p:txBody>
      </p:sp>
      <p:sp>
        <p:nvSpPr>
          <p:cNvPr id="10" name="テキスト 10"/>
          <p:cNvSpPr txBox="1"/>
          <p:nvPr/>
        </p:nvSpPr>
        <p:spPr>
          <a:xfrm>
            <a:off x="6744476" y="2050000"/>
            <a:ext cx="4595836" cy="3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500" b="1" dirty="0">
                <a:solidFill>
                  <a:srgbClr val="1E2430"/>
                </a:solidFill>
                <a:latin typeface="BIZ UDPゴシック"/>
                <a:ea typeface="BIZ UDPゴシック"/>
                <a:cs typeface="BIZ UDPゴシック"/>
              </a:rPr>
              <a:t>FDN（遅延線の網）に作り直した</a:t>
            </a:r>
            <a:endParaRPr lang="ja-JP" altLang="en-US" sz="1500" dirty="0">
              <a:solidFill>
                <a:srgbClr val="1E2430"/>
              </a:solidFill>
              <a:latin typeface="BIZ UDPゴシック"/>
              <a:ea typeface="BIZ UDPゴシック"/>
              <a:cs typeface="BIZ UDPゴシック"/>
            </a:endParaRPr>
          </a:p>
        </p:txBody>
      </p:sp>
      <p:sp>
        <p:nvSpPr>
          <p:cNvPr id="11" name="テキスト 11"/>
          <p:cNvSpPr txBox="1"/>
          <p:nvPr/>
        </p:nvSpPr>
        <p:spPr>
          <a:xfrm>
            <a:off x="6744476" y="2500000"/>
            <a:ext cx="4595836" cy="14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・減衰の速さだけをパラメータで動かす</a:t>
            </a:r>
          </a:p>
          <a:p>
            <a:pPr marL="0" indent="0" algn="l">
              <a:lnSpc>
                <a:spcPct val="125000"/>
              </a:lnSpc>
              <a:spcBef>
                <a:spcPts val="500"/>
              </a:spcBef>
              <a:spcAft>
                <a:spcPts val="0"/>
              </a:spcAft>
              <a:buNone/>
            </a:pPr>
            <a:r>
              <a:rPr lang="ja-JP" altLang="en-US" sz="1450" dirty="0">
                <a:solidFill>
                  <a:srgbClr val="1E2430"/>
                </a:solidFill>
                <a:latin typeface="BIZ UDPゴシック"/>
                <a:ea typeface="BIZ UDPゴシック"/>
                <a:cs typeface="BIZ UDPゴシック"/>
              </a:rPr>
              <a:t>・扉の開口率が連続に動けば、響きも連続に動く</a:t>
            </a:r>
          </a:p>
          <a:p>
            <a:pPr marL="0" indent="0" algn="l">
              <a:lnSpc>
                <a:spcPct val="125000"/>
              </a:lnSpc>
              <a:spcBef>
                <a:spcPts val="500"/>
              </a:spcBef>
              <a:spcAft>
                <a:spcPts val="0"/>
              </a:spcAft>
              <a:buNone/>
            </a:pPr>
            <a:r>
              <a:rPr lang="ja-JP" altLang="en-US" sz="1450" dirty="0">
                <a:solidFill>
                  <a:srgbClr val="1E2430"/>
                </a:solidFill>
                <a:latin typeface="BIZ UDPゴシック"/>
                <a:ea typeface="BIZ UDPゴシック"/>
                <a:cs typeface="BIZ UDPゴシック"/>
              </a:rPr>
              <a:t>・部屋を移っても切り替えず、隣の部屋と耳の部屋の響きの混ざり方で渡す</a:t>
            </a:r>
          </a:p>
        </p:txBody>
      </p:sp>
      <p:sp>
        <p:nvSpPr>
          <p:cNvPr id="12" name="テキスト 12"/>
          <p:cNvSpPr txBox="1"/>
          <p:nvPr/>
        </p:nvSpPr>
        <p:spPr>
          <a:xfrm>
            <a:off x="548640" y="4190000"/>
            <a:ext cx="11091672" cy="1"/>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endParaRPr lang="ja-JP" altLang="en-US" sz="100" dirty="0">
              <a:solidFill>
                <a:srgbClr val="1E2430"/>
              </a:solidFill>
              <a:latin typeface="BIZ UDPゴシック"/>
              <a:ea typeface="BIZ UDPゴシック"/>
              <a:cs typeface="BIZ UDPゴシック"/>
            </a:endParaRPr>
          </a:p>
        </p:txBody>
      </p:sp>
      <p:sp>
        <p:nvSpPr>
          <p:cNvPr id="13" name="カード 13"/>
          <p:cNvSpPr/>
          <p:nvPr/>
        </p:nvSpPr>
        <p:spPr>
          <a:xfrm>
            <a:off x="548640" y="4200000"/>
            <a:ext cx="3563890" cy="2250000"/>
          </a:xfrm>
          <a:prstGeom prst="roundRect">
            <a:avLst>
              <a:gd name="adj" fmla="val 5000"/>
            </a:avLst>
          </a:prstGeom>
          <a:solidFill>
            <a:srgbClr val="F0F2F5"/>
          </a:solidFill>
          <a:ln>
            <a:noFill/>
          </a:ln>
        </p:spPr>
        <p:txBody>
          <a:bodyPr/>
          <a:lstStyle/>
          <a:p>
            <a:endParaRPr lang="ja-JP" altLang="en-US"/>
          </a:p>
        </p:txBody>
      </p:sp>
      <p:sp>
        <p:nvSpPr>
          <p:cNvPr id="14" name="ラベル 14"/>
          <p:cNvSpPr/>
          <p:nvPr/>
        </p:nvSpPr>
        <p:spPr>
          <a:xfrm>
            <a:off x="798640" y="4450000"/>
            <a:ext cx="950000" cy="3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連続性</a:t>
            </a:r>
            <a:endParaRPr lang="ja-JP" altLang="en-US" sz="1250" dirty="0">
              <a:solidFill>
                <a:srgbClr val="1E2430"/>
              </a:solidFill>
              <a:latin typeface="BIZ UDPゴシック"/>
              <a:ea typeface="BIZ UDPゴシック"/>
              <a:cs typeface="BIZ UDPゴシック"/>
            </a:endParaRPr>
          </a:p>
        </p:txBody>
      </p:sp>
      <p:sp>
        <p:nvSpPr>
          <p:cNvPr id="15" name="テキスト 15"/>
          <p:cNvSpPr txBox="1"/>
          <p:nvPr/>
        </p:nvSpPr>
        <p:spPr>
          <a:xfrm>
            <a:off x="798640" y="4950000"/>
            <a:ext cx="3063890" cy="135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450" dirty="0">
                <a:solidFill>
                  <a:srgbClr val="1E2430"/>
                </a:solidFill>
                <a:latin typeface="BIZ UDPゴシック"/>
                <a:ea typeface="BIZ UDPゴシック"/>
                <a:cs typeface="BIZ UDPゴシック"/>
              </a:rPr>
              <a:t>扉の開口率が連続に動けば、RT60 も隣の部屋への流れも連続に動く。IR のような差し替えの継ぎ目が無い</a:t>
            </a:r>
          </a:p>
        </p:txBody>
      </p:sp>
      <p:sp>
        <p:nvSpPr>
          <p:cNvPr id="16" name="カード 16"/>
          <p:cNvSpPr/>
          <p:nvPr/>
        </p:nvSpPr>
        <p:spPr>
          <a:xfrm>
            <a:off x="4312530" y="4200000"/>
            <a:ext cx="3563890" cy="2250000"/>
          </a:xfrm>
          <a:prstGeom prst="roundRect">
            <a:avLst>
              <a:gd name="adj" fmla="val 5000"/>
            </a:avLst>
          </a:prstGeom>
          <a:solidFill>
            <a:srgbClr val="F0F2F5"/>
          </a:solidFill>
          <a:ln>
            <a:noFill/>
          </a:ln>
        </p:spPr>
        <p:txBody>
          <a:bodyPr/>
          <a:lstStyle/>
          <a:p>
            <a:endParaRPr lang="ja-JP" altLang="en-US"/>
          </a:p>
        </p:txBody>
      </p:sp>
      <p:sp>
        <p:nvSpPr>
          <p:cNvPr id="17" name="ラベル 17"/>
          <p:cNvSpPr/>
          <p:nvPr/>
        </p:nvSpPr>
        <p:spPr>
          <a:xfrm>
            <a:off x="4562530" y="4450000"/>
            <a:ext cx="950000" cy="3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即時性</a:t>
            </a:r>
            <a:endParaRPr lang="ja-JP" altLang="en-US" sz="1250" dirty="0">
              <a:solidFill>
                <a:srgbClr val="1E2430"/>
              </a:solidFill>
              <a:latin typeface="BIZ UDPゴシック"/>
              <a:ea typeface="BIZ UDPゴシック"/>
              <a:cs typeface="BIZ UDPゴシック"/>
            </a:endParaRPr>
          </a:p>
        </p:txBody>
      </p:sp>
      <p:sp>
        <p:nvSpPr>
          <p:cNvPr id="18" name="テキスト 18"/>
          <p:cNvSpPr txBox="1"/>
          <p:nvPr/>
        </p:nvSpPr>
        <p:spPr>
          <a:xfrm>
            <a:off x="4562530" y="4950000"/>
            <a:ext cx="3063890" cy="135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450" dirty="0">
                <a:solidFill>
                  <a:srgbClr val="1E2430"/>
                </a:solidFill>
                <a:latin typeface="BIZ UDPゴシック"/>
                <a:ea typeface="BIZ UDPゴシック"/>
                <a:cs typeface="BIZ UDPゴシック"/>
              </a:rPr>
              <a:t>作り直しを待たない。係数を置くだけで、音の処理の中で滑らかに寄せる</a:t>
            </a:r>
          </a:p>
        </p:txBody>
      </p:sp>
      <p:sp>
        <p:nvSpPr>
          <p:cNvPr id="19" name="カード 19"/>
          <p:cNvSpPr/>
          <p:nvPr/>
        </p:nvSpPr>
        <p:spPr>
          <a:xfrm>
            <a:off x="8076420" y="4200000"/>
            <a:ext cx="3563890" cy="2250000"/>
          </a:xfrm>
          <a:prstGeom prst="roundRect">
            <a:avLst>
              <a:gd name="adj" fmla="val 5000"/>
            </a:avLst>
          </a:prstGeom>
          <a:solidFill>
            <a:srgbClr val="F0F2F5"/>
          </a:solidFill>
          <a:ln>
            <a:noFill/>
          </a:ln>
        </p:spPr>
        <p:txBody>
          <a:bodyPr/>
          <a:lstStyle/>
          <a:p>
            <a:endParaRPr lang="ja-JP" altLang="en-US"/>
          </a:p>
        </p:txBody>
      </p:sp>
      <p:sp>
        <p:nvSpPr>
          <p:cNvPr id="20" name="ラベル 20"/>
          <p:cNvSpPr/>
          <p:nvPr/>
        </p:nvSpPr>
        <p:spPr>
          <a:xfrm>
            <a:off x="8326420" y="4450000"/>
            <a:ext cx="950000" cy="3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方向性</a:t>
            </a:r>
            <a:endParaRPr lang="ja-JP" altLang="en-US" sz="1250" dirty="0">
              <a:solidFill>
                <a:srgbClr val="1E2430"/>
              </a:solidFill>
              <a:latin typeface="BIZ UDPゴシック"/>
              <a:ea typeface="BIZ UDPゴシック"/>
              <a:cs typeface="BIZ UDPゴシック"/>
            </a:endParaRPr>
          </a:p>
        </p:txBody>
      </p:sp>
      <p:sp>
        <p:nvSpPr>
          <p:cNvPr id="21" name="テキスト 21"/>
          <p:cNvSpPr txBox="1"/>
          <p:nvPr/>
        </p:nvSpPr>
        <p:spPr>
          <a:xfrm>
            <a:off x="8326420" y="4950000"/>
            <a:ext cx="3063890" cy="135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450" dirty="0">
                <a:solidFill>
                  <a:srgbClr val="1E2430"/>
                </a:solidFill>
                <a:latin typeface="BIZ UDPゴシック"/>
                <a:ea typeface="BIZ UDPゴシック"/>
                <a:cs typeface="BIZ UDPゴシック"/>
              </a:rPr>
              <a:t>同じ部屋の響きは全方向から（LEV）、隣の部屋の響きは戸口から。1 本の FDN の無相関な出力を使い分ける</a:t>
            </a:r>
          </a:p>
        </p:txBody>
      </p:sp>
      <p:sp>
        <p:nvSpPr>
          <p:cNvPr id="22" name="テキスト 22"/>
          <p:cNvSpPr txBox="1"/>
          <p:nvPr/>
        </p:nvSpPr>
        <p:spPr>
          <a:xfrm>
            <a:off x="548640" y="6540000"/>
            <a:ext cx="11091672"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dirty="0">
                <a:solidFill>
                  <a:srgbClr val="5C6677"/>
                </a:solidFill>
                <a:latin typeface="BIZ UDPゴシック"/>
                <a:ea typeface="BIZ UDPゴシック"/>
                <a:cs typeface="BIZ UDPゴシック"/>
              </a:rPr>
              <a:t>※ 数値は 2026-09-13 の回帰テスト（Flow 164 件）の実測。「旧実装」と書いた物は、コアを作り直す前の実測</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03　技術選定　｜　FDN</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部屋ごとの FDN を、扉と同じ量で動かす</a:t>
            </a:r>
            <a:endParaRPr lang="ja-JP" altLang="en-US" sz="2600" dirty="0">
              <a:solidFill>
                <a:srgbClr val="1E2430"/>
              </a:solidFill>
              <a:latin typeface="BIZ UDPゴシック"/>
              <a:ea typeface="BIZ UDPゴシック"/>
              <a:cs typeface="BIZ UDPゴシック"/>
            </a:endParaRPr>
          </a:p>
        </p:txBody>
      </p:sp>
      <p:sp>
        <p:nvSpPr>
          <p:cNvPr id="4" name="テキスト 4"/>
          <p:cNvSpPr txBox="1"/>
          <p:nvPr/>
        </p:nvSpPr>
        <p:spPr>
          <a:xfrm>
            <a:off x="548640" y="1300000"/>
            <a:ext cx="11091672" cy="420000"/>
          </a:xfrm>
          <a:prstGeom prst="rect">
            <a:avLst/>
          </a:prstGeom>
          <a:noFill/>
          <a:ln>
            <a:noFill/>
          </a:ln>
        </p:spPr>
        <p:txBody>
          <a:bodyPr wrap="square" lIns="0" tIns="0" rIns="0" bIns="0" rtlCol="0" anchor="t">
            <a:noAutofit/>
          </a:bodyPr>
          <a:lstStyle/>
          <a:p>
            <a:pPr marL="0" indent="0" algn="l">
              <a:lnSpc>
                <a:spcPct val="120000"/>
              </a:lnSpc>
              <a:spcBef>
                <a:spcPts val="0"/>
              </a:spcBef>
              <a:spcAft>
                <a:spcPts val="0"/>
              </a:spcAft>
              <a:buNone/>
            </a:pPr>
            <a:r>
              <a:rPr lang="ja-JP" altLang="en-US" sz="1500" dirty="0">
                <a:solidFill>
                  <a:srgbClr val="1E2430"/>
                </a:solidFill>
                <a:latin typeface="BIZ UDPゴシック"/>
                <a:ea typeface="BIZ UDPゴシック"/>
                <a:cs typeface="BIZ UDPゴシック"/>
              </a:rPr>
              <a:t>音源 → 部屋 → 耳の前向きだけで結ぶ。扉の開口率が、戸口の流れと RT60 の両方に同じ量で効く。</a:t>
            </a:r>
          </a:p>
        </p:txBody>
      </p:sp>
      <p:sp>
        <p:nvSpPr>
          <p:cNvPr id="5" name="カード 5"/>
          <p:cNvSpPr/>
          <p:nvPr/>
        </p:nvSpPr>
        <p:spPr>
          <a:xfrm>
            <a:off x="548640" y="1850000"/>
            <a:ext cx="5350000" cy="4600000"/>
          </a:xfrm>
          <a:prstGeom prst="roundRect">
            <a:avLst>
              <a:gd name="adj" fmla="val 5000"/>
            </a:avLst>
          </a:prstGeom>
          <a:solidFill>
            <a:srgbClr val="F0F2F5"/>
          </a:solidFill>
          <a:ln>
            <a:noFill/>
          </a:ln>
        </p:spPr>
        <p:txBody>
          <a:bodyPr/>
          <a:lstStyle/>
          <a:p>
            <a:endParaRPr lang="ja-JP" altLang="en-US"/>
          </a:p>
        </p:txBody>
      </p:sp>
      <p:sp>
        <p:nvSpPr>
          <p:cNvPr id="6" name="テキスト 6"/>
          <p:cNvSpPr txBox="1"/>
          <p:nvPr/>
        </p:nvSpPr>
        <p:spPr>
          <a:xfrm>
            <a:off x="848640" y="2030000"/>
            <a:ext cx="4750000" cy="3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つなぎ方（模式図）</a:t>
            </a:r>
            <a:endParaRPr lang="ja-JP" altLang="en-US" sz="1300" dirty="0">
              <a:solidFill>
                <a:srgbClr val="1E2430"/>
              </a:solidFill>
              <a:latin typeface="BIZ UDPゴシック"/>
              <a:ea typeface="BIZ UDPゴシック"/>
              <a:cs typeface="BIZ UDPゴシック"/>
            </a:endParaRPr>
          </a:p>
        </p:txBody>
      </p:sp>
      <p:sp>
        <p:nvSpPr>
          <p:cNvPr id="7" name="隣の部屋 7"/>
          <p:cNvSpPr/>
          <p:nvPr/>
        </p:nvSpPr>
        <p:spPr>
          <a:xfrm>
            <a:off x="848640" y="2400000"/>
            <a:ext cx="4750000" cy="1450000"/>
          </a:xfrm>
          <a:prstGeom prst="roundRect">
            <a:avLst>
              <a:gd name="adj" fmla="val 4000"/>
            </a:avLst>
          </a:prstGeom>
          <a:solidFill>
            <a:srgbClr val="FFFFFF"/>
          </a:solidFill>
          <a:ln w="12700">
            <a:solidFill>
              <a:srgbClr val="C9CFD8"/>
            </a:solidFill>
          </a:ln>
        </p:spPr>
        <p:txBody>
          <a:bodyPr/>
          <a:lstStyle/>
          <a:p>
            <a:endParaRPr lang="ja-JP" altLang="en-US"/>
          </a:p>
        </p:txBody>
      </p:sp>
      <p:sp>
        <p:nvSpPr>
          <p:cNvPr id="8" name="耳の部屋 8"/>
          <p:cNvSpPr/>
          <p:nvPr/>
        </p:nvSpPr>
        <p:spPr>
          <a:xfrm>
            <a:off x="848640" y="4400000"/>
            <a:ext cx="4750000" cy="1600000"/>
          </a:xfrm>
          <a:prstGeom prst="roundRect">
            <a:avLst>
              <a:gd name="adj" fmla="val 4000"/>
            </a:avLst>
          </a:prstGeom>
          <a:solidFill>
            <a:srgbClr val="FFFFFF"/>
          </a:solidFill>
          <a:ln w="12700">
            <a:solidFill>
              <a:srgbClr val="C9CFD8"/>
            </a:solidFill>
          </a:ln>
        </p:spPr>
        <p:txBody>
          <a:bodyPr/>
          <a:lstStyle/>
          <a:p>
            <a:endParaRPr lang="ja-JP" altLang="en-US"/>
          </a:p>
        </p:txBody>
      </p:sp>
      <p:sp>
        <p:nvSpPr>
          <p:cNvPr id="9" name="テキスト 9"/>
          <p:cNvSpPr txBox="1"/>
          <p:nvPr/>
        </p:nvSpPr>
        <p:spPr>
          <a:xfrm>
            <a:off x="998640" y="2500000"/>
            <a:ext cx="15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50" b="1" dirty="0">
                <a:solidFill>
                  <a:srgbClr val="5C6677"/>
                </a:solidFill>
                <a:latin typeface="BIZ UDPゴシック"/>
                <a:ea typeface="BIZ UDPゴシック"/>
                <a:cs typeface="BIZ UDPゴシック"/>
              </a:rPr>
              <a:t>隣の部屋</a:t>
            </a:r>
            <a:endParaRPr lang="ja-JP" altLang="en-US" sz="1050" dirty="0">
              <a:solidFill>
                <a:srgbClr val="5C6677"/>
              </a:solidFill>
              <a:latin typeface="BIZ UDPゴシック"/>
              <a:ea typeface="BIZ UDPゴシック"/>
              <a:cs typeface="BIZ UDPゴシック"/>
            </a:endParaRPr>
          </a:p>
        </p:txBody>
      </p:sp>
      <p:sp>
        <p:nvSpPr>
          <p:cNvPr id="10" name="テキスト 10"/>
          <p:cNvSpPr txBox="1"/>
          <p:nvPr/>
        </p:nvSpPr>
        <p:spPr>
          <a:xfrm>
            <a:off x="998640" y="5720000"/>
            <a:ext cx="15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50" b="1" dirty="0">
                <a:solidFill>
                  <a:srgbClr val="5C6677"/>
                </a:solidFill>
                <a:latin typeface="BIZ UDPゴシック"/>
                <a:ea typeface="BIZ UDPゴシック"/>
                <a:cs typeface="BIZ UDPゴシック"/>
              </a:rPr>
              <a:t>耳の部屋</a:t>
            </a:r>
            <a:endParaRPr lang="ja-JP" altLang="en-US" sz="1050" dirty="0">
              <a:solidFill>
                <a:srgbClr val="5C6677"/>
              </a:solidFill>
              <a:latin typeface="BIZ UDPゴシック"/>
              <a:ea typeface="BIZ UDPゴシック"/>
              <a:cs typeface="BIZ UDPゴシック"/>
            </a:endParaRPr>
          </a:p>
        </p:txBody>
      </p:sp>
      <p:sp>
        <p:nvSpPr>
          <p:cNvPr id="11" name="戸口 11"/>
          <p:cNvSpPr/>
          <p:nvPr/>
        </p:nvSpPr>
        <p:spPr>
          <a:xfrm>
            <a:off x="2673640" y="3970000"/>
            <a:ext cx="1100000" cy="330000"/>
          </a:xfrm>
          <a:prstGeom prst="roundRect">
            <a:avLst>
              <a:gd name="adj" fmla="val 20000"/>
            </a:avLst>
          </a:prstGeom>
          <a:solidFill>
            <a:srgbClr val="FBF1DF"/>
          </a:solidFill>
          <a:ln w="19050">
            <a:solidFill>
              <a:srgbClr val="E3A33B"/>
            </a:solid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戸口（5 点）</a:t>
            </a:r>
            <a:endParaRPr lang="ja-JP" altLang="en-US" sz="1050" dirty="0">
              <a:solidFill>
                <a:srgbClr val="1E2430"/>
              </a:solidFill>
              <a:latin typeface="BIZ UDPゴシック"/>
              <a:ea typeface="BIZ UDPゴシック"/>
              <a:cs typeface="BIZ UDPゴシック"/>
            </a:endParaRPr>
          </a:p>
        </p:txBody>
      </p:sp>
      <p:sp>
        <p:nvSpPr>
          <p:cNvPr id="12" name="FDN 12"/>
          <p:cNvSpPr/>
          <p:nvPr/>
        </p:nvSpPr>
        <p:spPr>
          <a:xfrm>
            <a:off x="3948640" y="2850000"/>
            <a:ext cx="1400000" cy="520000"/>
          </a:xfrm>
          <a:prstGeom prst="roundRect">
            <a:avLst>
              <a:gd name="adj" fmla="val 15000"/>
            </a:avLst>
          </a:prstGeom>
          <a:solidFill>
            <a:srgbClr val="F0F2F5"/>
          </a:solidFill>
          <a:ln w="12700">
            <a:solidFill>
              <a:srgbClr val="9AA3B0"/>
            </a:solidFill>
          </a:ln>
        </p:spPr>
        <p:txBody>
          <a:bodyPr wrap="square" lIns="0" tIns="0" rIns="0" bIns="0" rtlCol="0" anchor="ctr">
            <a:noAutofit/>
          </a:bodyPr>
          <a:lstStyle/>
          <a:p>
            <a:pPr marL="0" indent="0" algn="ctr">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FDN</a:t>
            </a:r>
            <a:endParaRPr lang="ja-JP" altLang="en-US" sz="1300" dirty="0">
              <a:solidFill>
                <a:srgbClr val="1E2430"/>
              </a:solidFill>
              <a:latin typeface="BIZ UDPゴシック"/>
              <a:ea typeface="BIZ UDPゴシック"/>
              <a:cs typeface="BIZ UDPゴシック"/>
            </a:endParaRPr>
          </a:p>
          <a:p>
            <a:pPr marL="0" indent="0" algn="ctr">
              <a:lnSpc>
                <a:spcPct val="100000"/>
              </a:lnSpc>
              <a:spcBef>
                <a:spcPts val="0"/>
              </a:spcBef>
              <a:spcAft>
                <a:spcPts val="0"/>
              </a:spcAft>
              <a:buNone/>
            </a:pPr>
            <a:r>
              <a:rPr lang="ja-JP" altLang="en-US" sz="900" dirty="0">
                <a:solidFill>
                  <a:srgbClr val="5C6677"/>
                </a:solidFill>
                <a:latin typeface="BIZ UDPゴシック"/>
                <a:ea typeface="BIZ UDPゴシック"/>
                <a:cs typeface="BIZ UDPゴシック"/>
              </a:rPr>
              <a:t>RT60 は Sabine</a:t>
            </a:r>
          </a:p>
        </p:txBody>
      </p:sp>
      <p:sp>
        <p:nvSpPr>
          <p:cNvPr id="13" name="FDN 13"/>
          <p:cNvSpPr/>
          <p:nvPr/>
        </p:nvSpPr>
        <p:spPr>
          <a:xfrm>
            <a:off x="1098640" y="4780000"/>
            <a:ext cx="1400000" cy="520000"/>
          </a:xfrm>
          <a:prstGeom prst="roundRect">
            <a:avLst>
              <a:gd name="adj" fmla="val 15000"/>
            </a:avLst>
          </a:prstGeom>
          <a:solidFill>
            <a:srgbClr val="F0F2F5"/>
          </a:solidFill>
          <a:ln w="12700">
            <a:solidFill>
              <a:srgbClr val="9AA3B0"/>
            </a:solidFill>
          </a:ln>
        </p:spPr>
        <p:txBody>
          <a:bodyPr wrap="square" lIns="0" tIns="0" rIns="0" bIns="0" rtlCol="0" anchor="ctr">
            <a:noAutofit/>
          </a:bodyPr>
          <a:lstStyle/>
          <a:p>
            <a:pPr marL="0" indent="0" algn="ctr">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FDN</a:t>
            </a:r>
            <a:endParaRPr lang="ja-JP" altLang="en-US" sz="1300" dirty="0">
              <a:solidFill>
                <a:srgbClr val="1E2430"/>
              </a:solidFill>
              <a:latin typeface="BIZ UDPゴシック"/>
              <a:ea typeface="BIZ UDPゴシック"/>
              <a:cs typeface="BIZ UDPゴシック"/>
            </a:endParaRPr>
          </a:p>
          <a:p>
            <a:pPr marL="0" indent="0" algn="ctr">
              <a:lnSpc>
                <a:spcPct val="100000"/>
              </a:lnSpc>
              <a:spcBef>
                <a:spcPts val="0"/>
              </a:spcBef>
              <a:spcAft>
                <a:spcPts val="0"/>
              </a:spcAft>
              <a:buNone/>
            </a:pPr>
            <a:r>
              <a:rPr lang="ja-JP" altLang="en-US" sz="900" dirty="0">
                <a:solidFill>
                  <a:srgbClr val="5C6677"/>
                </a:solidFill>
                <a:latin typeface="BIZ UDPゴシック"/>
                <a:ea typeface="BIZ UDPゴシック"/>
                <a:cs typeface="BIZ UDPゴシック"/>
              </a:rPr>
              <a:t>RT60 は Sabine</a:t>
            </a:r>
          </a:p>
        </p:txBody>
      </p:sp>
      <p:sp>
        <p:nvSpPr>
          <p:cNvPr id="14" name="番号 14"/>
          <p:cNvSpPr/>
          <p:nvPr/>
        </p:nvSpPr>
        <p:spPr>
          <a:xfrm>
            <a:off x="1358640" y="3020000"/>
            <a:ext cx="180000" cy="18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15" name="テキスト 15"/>
          <p:cNvSpPr txBox="1"/>
          <p:nvPr/>
        </p:nvSpPr>
        <p:spPr>
          <a:xfrm>
            <a:off x="1198640" y="3230000"/>
            <a:ext cx="600000" cy="20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音源</a:t>
            </a:r>
            <a:endParaRPr lang="ja-JP" altLang="en-US" sz="1000" dirty="0">
              <a:solidFill>
                <a:srgbClr val="1E2430"/>
              </a:solidFill>
              <a:latin typeface="BIZ UDPゴシック"/>
              <a:ea typeface="BIZ UDPゴシック"/>
              <a:cs typeface="BIZ UDPゴシック"/>
            </a:endParaRPr>
          </a:p>
        </p:txBody>
      </p:sp>
      <p:sp>
        <p:nvSpPr>
          <p:cNvPr id="16" name="番号 16"/>
          <p:cNvSpPr/>
          <p:nvPr/>
        </p:nvSpPr>
        <p:spPr>
          <a:xfrm>
            <a:off x="4958640" y="5360000"/>
            <a:ext cx="180000" cy="18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17" name="テキスト 17"/>
          <p:cNvSpPr txBox="1"/>
          <p:nvPr/>
        </p:nvSpPr>
        <p:spPr>
          <a:xfrm>
            <a:off x="4748640" y="5570000"/>
            <a:ext cx="600000" cy="20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耳</a:t>
            </a:r>
            <a:endParaRPr lang="ja-JP" altLang="en-US" sz="1000" dirty="0">
              <a:solidFill>
                <a:srgbClr val="1E2430"/>
              </a:solidFill>
              <a:latin typeface="BIZ UDPゴシック"/>
              <a:ea typeface="BIZ UDPゴシック"/>
              <a:cs typeface="BIZ UDPゴシック"/>
            </a:endParaRPr>
          </a:p>
        </p:txBody>
      </p:sp>
      <p:cxnSp>
        <p:nvCxnSpPr>
          <p:cNvPr id="18" name="線 18"/>
          <p:cNvCxnSpPr/>
          <p:nvPr/>
        </p:nvCxnSpPr>
        <p:spPr>
          <a:xfrm>
            <a:off x="1558640" y="3110000"/>
            <a:ext cx="2360000" cy="0"/>
          </a:xfrm>
          <a:prstGeom prst="line">
            <a:avLst/>
          </a:prstGeom>
          <a:ln w="22225" cap="rnd">
            <a:solidFill>
              <a:srgbClr val="E3A33B"/>
            </a:solidFill>
            <a:round/>
            <a:tailEnd type="triangle" w="med" len="med"/>
          </a:ln>
        </p:spPr>
      </p:cxnSp>
      <p:sp>
        <p:nvSpPr>
          <p:cNvPr id="19" name="テキスト 19"/>
          <p:cNvSpPr txBox="1"/>
          <p:nvPr/>
        </p:nvSpPr>
        <p:spPr>
          <a:xfrm>
            <a:off x="1698640" y="2850000"/>
            <a:ext cx="12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9A6212"/>
                </a:solidFill>
                <a:latin typeface="BIZ UDPゴシック"/>
                <a:ea typeface="BIZ UDPゴシック"/>
                <a:cs typeface="BIZ UDPゴシック"/>
              </a:rPr>
              <a:t>送る</a:t>
            </a:r>
            <a:endParaRPr lang="ja-JP" altLang="en-US" sz="950" dirty="0">
              <a:solidFill>
                <a:srgbClr val="9A6212"/>
              </a:solidFill>
              <a:latin typeface="BIZ UDPゴシック"/>
              <a:ea typeface="BIZ UDPゴシック"/>
              <a:cs typeface="BIZ UDPゴシック"/>
            </a:endParaRPr>
          </a:p>
        </p:txBody>
      </p:sp>
      <p:cxnSp>
        <p:nvCxnSpPr>
          <p:cNvPr id="20" name="線 20"/>
          <p:cNvCxnSpPr/>
          <p:nvPr/>
        </p:nvCxnSpPr>
        <p:spPr>
          <a:xfrm flipH="1">
            <a:off x="3573640" y="3390000"/>
            <a:ext cx="1075000" cy="560000"/>
          </a:xfrm>
          <a:prstGeom prst="line">
            <a:avLst/>
          </a:prstGeom>
          <a:ln w="22225" cap="rnd">
            <a:solidFill>
              <a:srgbClr val="E3A33B"/>
            </a:solidFill>
            <a:round/>
            <a:tailEnd type="triangle" w="med" len="med"/>
          </a:ln>
        </p:spPr>
      </p:cxnSp>
      <p:cxnSp>
        <p:nvCxnSpPr>
          <p:cNvPr id="21" name="線 21"/>
          <p:cNvCxnSpPr/>
          <p:nvPr/>
        </p:nvCxnSpPr>
        <p:spPr>
          <a:xfrm>
            <a:off x="3623640" y="4320000"/>
            <a:ext cx="1335000" cy="1040000"/>
          </a:xfrm>
          <a:prstGeom prst="line">
            <a:avLst/>
          </a:prstGeom>
          <a:ln w="22225" cap="rnd">
            <a:solidFill>
              <a:srgbClr val="E3A33B"/>
            </a:solidFill>
            <a:round/>
            <a:tailEnd type="triangle" w="med" len="med"/>
          </a:ln>
        </p:spPr>
      </p:cxnSp>
      <p:sp>
        <p:nvSpPr>
          <p:cNvPr id="22" name="テキスト 22"/>
          <p:cNvSpPr txBox="1"/>
          <p:nvPr/>
        </p:nvSpPr>
        <p:spPr>
          <a:xfrm>
            <a:off x="3923640" y="4450000"/>
            <a:ext cx="15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9A6212"/>
                </a:solidFill>
                <a:latin typeface="BIZ UDPゴシック"/>
                <a:ea typeface="BIZ UDPゴシック"/>
                <a:cs typeface="BIZ UDPゴシック"/>
              </a:rPr>
              <a:t>5 点から HRTF で</a:t>
            </a:r>
            <a:endParaRPr lang="ja-JP" altLang="en-US" sz="950" dirty="0">
              <a:solidFill>
                <a:srgbClr val="9A6212"/>
              </a:solidFill>
              <a:latin typeface="BIZ UDPゴシック"/>
              <a:ea typeface="BIZ UDPゴシック"/>
              <a:cs typeface="BIZ UDPゴシック"/>
            </a:endParaRPr>
          </a:p>
        </p:txBody>
      </p:sp>
      <p:cxnSp>
        <p:nvCxnSpPr>
          <p:cNvPr id="23" name="線 23"/>
          <p:cNvCxnSpPr/>
          <p:nvPr/>
        </p:nvCxnSpPr>
        <p:spPr>
          <a:xfrm flipH="1">
            <a:off x="1998640" y="4320000"/>
            <a:ext cx="825000" cy="440000"/>
          </a:xfrm>
          <a:prstGeom prst="line">
            <a:avLst/>
          </a:prstGeom>
          <a:ln w="22225" cap="rnd">
            <a:solidFill>
              <a:srgbClr val="E3A33B"/>
            </a:solidFill>
            <a:round/>
            <a:tailEnd type="triangle" w="med" len="med"/>
          </a:ln>
        </p:spPr>
      </p:cxnSp>
      <p:sp>
        <p:nvSpPr>
          <p:cNvPr id="24" name="テキスト 24"/>
          <p:cNvSpPr txBox="1"/>
          <p:nvPr/>
        </p:nvSpPr>
        <p:spPr>
          <a:xfrm>
            <a:off x="961140" y="4480000"/>
            <a:ext cx="130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b="1" dirty="0">
                <a:solidFill>
                  <a:srgbClr val="9A6212"/>
                </a:solidFill>
                <a:latin typeface="BIZ UDPゴシック"/>
                <a:ea typeface="BIZ UDPゴシック"/>
                <a:cs typeface="BIZ UDPゴシック"/>
              </a:rPr>
              <a:t>× 開口率</a:t>
            </a:r>
            <a:endParaRPr lang="ja-JP" altLang="en-US" sz="950" dirty="0">
              <a:solidFill>
                <a:srgbClr val="9A6212"/>
              </a:solidFill>
              <a:latin typeface="BIZ UDPゴシック"/>
              <a:ea typeface="BIZ UDPゴシック"/>
              <a:cs typeface="BIZ UDPゴシック"/>
            </a:endParaRPr>
          </a:p>
        </p:txBody>
      </p:sp>
      <p:cxnSp>
        <p:nvCxnSpPr>
          <p:cNvPr id="25" name="線 25"/>
          <p:cNvCxnSpPr/>
          <p:nvPr/>
        </p:nvCxnSpPr>
        <p:spPr>
          <a:xfrm>
            <a:off x="2518640" y="5040000"/>
            <a:ext cx="2420000" cy="410000"/>
          </a:xfrm>
          <a:prstGeom prst="line">
            <a:avLst/>
          </a:prstGeom>
          <a:ln w="15875" cap="rnd">
            <a:solidFill>
              <a:srgbClr val="9AA3B0"/>
            </a:solidFill>
            <a:round/>
            <a:tailEnd type="triangle" w="med" len="med"/>
          </a:ln>
        </p:spPr>
      </p:cxnSp>
      <p:cxnSp>
        <p:nvCxnSpPr>
          <p:cNvPr id="26" name="線 26"/>
          <p:cNvCxnSpPr/>
          <p:nvPr/>
        </p:nvCxnSpPr>
        <p:spPr>
          <a:xfrm flipV="1">
            <a:off x="1248640" y="3830000"/>
            <a:ext cx="0" cy="930000"/>
          </a:xfrm>
          <a:prstGeom prst="line">
            <a:avLst/>
          </a:prstGeom>
          <a:ln w="15875" cap="rnd">
            <a:solidFill>
              <a:srgbClr val="9AA3B0"/>
            </a:solidFill>
            <a:prstDash val="dash"/>
            <a:round/>
            <a:tailEnd type="triangle" w="med" len="med"/>
          </a:ln>
        </p:spPr>
      </p:cxnSp>
      <p:sp>
        <p:nvSpPr>
          <p:cNvPr id="27" name="テキスト 27"/>
          <p:cNvSpPr txBox="1"/>
          <p:nvPr/>
        </p:nvSpPr>
        <p:spPr>
          <a:xfrm>
            <a:off x="1118640" y="4145000"/>
            <a:ext cx="260000" cy="30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1800" b="1" dirty="0">
                <a:solidFill>
                  <a:srgbClr val="1E2430"/>
                </a:solidFill>
                <a:latin typeface="BIZ UDPゴシック"/>
                <a:ea typeface="BIZ UDPゴシック"/>
                <a:cs typeface="BIZ UDPゴシック"/>
              </a:rPr>
              <a:t>×</a:t>
            </a:r>
            <a:endParaRPr lang="ja-JP" altLang="en-US" sz="1800" dirty="0">
              <a:solidFill>
                <a:srgbClr val="1E2430"/>
              </a:solidFill>
              <a:latin typeface="BIZ UDPゴシック"/>
              <a:ea typeface="BIZ UDPゴシック"/>
              <a:cs typeface="BIZ UDPゴシック"/>
            </a:endParaRPr>
          </a:p>
        </p:txBody>
      </p:sp>
      <p:sp>
        <p:nvSpPr>
          <p:cNvPr id="28" name="テキスト 28"/>
          <p:cNvSpPr txBox="1"/>
          <p:nvPr/>
        </p:nvSpPr>
        <p:spPr>
          <a:xfrm>
            <a:off x="1378640" y="4205000"/>
            <a:ext cx="13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5C6677"/>
                </a:solidFill>
                <a:latin typeface="BIZ UDPゴシック"/>
                <a:ea typeface="BIZ UDPゴシック"/>
                <a:cs typeface="BIZ UDPゴシック"/>
              </a:rPr>
              <a:t>結び返さない</a:t>
            </a:r>
            <a:endParaRPr lang="ja-JP" altLang="en-US" sz="950" dirty="0">
              <a:solidFill>
                <a:srgbClr val="5C6677"/>
              </a:solidFill>
              <a:latin typeface="BIZ UDPゴシック"/>
              <a:ea typeface="BIZ UDPゴシック"/>
              <a:cs typeface="BIZ UDPゴシック"/>
            </a:endParaRPr>
          </a:p>
        </p:txBody>
      </p:sp>
      <p:sp>
        <p:nvSpPr>
          <p:cNvPr id="29" name="テキスト 29"/>
          <p:cNvSpPr txBox="1"/>
          <p:nvPr/>
        </p:nvSpPr>
        <p:spPr>
          <a:xfrm>
            <a:off x="848640" y="6100000"/>
            <a:ext cx="4750000" cy="25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50" b="1" dirty="0">
                <a:solidFill>
                  <a:srgbClr val="9A6212"/>
                </a:solidFill>
                <a:latin typeface="BIZ UDPゴシック"/>
                <a:ea typeface="BIZ UDPゴシック"/>
                <a:cs typeface="BIZ UDPゴシック"/>
              </a:rPr>
              <a:t>閉めると開口率が下がり、戸口の流れが減って RT60 が伸びる</a:t>
            </a:r>
            <a:endParaRPr lang="ja-JP" altLang="en-US" sz="1050" dirty="0">
              <a:solidFill>
                <a:srgbClr val="9A6212"/>
              </a:solidFill>
              <a:latin typeface="BIZ UDPゴシック"/>
              <a:ea typeface="BIZ UDPゴシック"/>
              <a:cs typeface="BIZ UDPゴシック"/>
            </a:endParaRPr>
          </a:p>
        </p:txBody>
      </p:sp>
      <p:sp>
        <p:nvSpPr>
          <p:cNvPr id="30" name="カード 30"/>
          <p:cNvSpPr/>
          <p:nvPr/>
        </p:nvSpPr>
        <p:spPr>
          <a:xfrm>
            <a:off x="6148640" y="1850000"/>
            <a:ext cx="5491672" cy="3250000"/>
          </a:xfrm>
          <a:prstGeom prst="roundRect">
            <a:avLst>
              <a:gd name="adj" fmla="val 5000"/>
            </a:avLst>
          </a:prstGeom>
          <a:solidFill>
            <a:srgbClr val="F0F2F5"/>
          </a:solidFill>
          <a:ln>
            <a:noFill/>
          </a:ln>
        </p:spPr>
        <p:txBody>
          <a:bodyPr/>
          <a:lstStyle/>
          <a:p>
            <a:endParaRPr lang="ja-JP" altLang="en-US"/>
          </a:p>
        </p:txBody>
      </p:sp>
      <p:sp>
        <p:nvSpPr>
          <p:cNvPr id="31" name="テキスト 31"/>
          <p:cNvSpPr txBox="1"/>
          <p:nvPr/>
        </p:nvSpPr>
        <p:spPr>
          <a:xfrm>
            <a:off x="6448640" y="2050000"/>
            <a:ext cx="4891672" cy="33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600" b="1" dirty="0">
                <a:solidFill>
                  <a:srgbClr val="1E2430"/>
                </a:solidFill>
                <a:latin typeface="BIZ UDPゴシック"/>
                <a:ea typeface="BIZ UDPゴシック"/>
                <a:cs typeface="BIZ UDPゴシック"/>
              </a:rPr>
              <a:t>手法</a:t>
            </a:r>
            <a:endParaRPr lang="ja-JP" altLang="en-US" sz="1600" dirty="0">
              <a:solidFill>
                <a:srgbClr val="1E2430"/>
              </a:solidFill>
              <a:latin typeface="BIZ UDPゴシック"/>
              <a:ea typeface="BIZ UDPゴシック"/>
              <a:cs typeface="BIZ UDPゴシック"/>
            </a:endParaRPr>
          </a:p>
        </p:txBody>
      </p:sp>
      <p:sp>
        <p:nvSpPr>
          <p:cNvPr id="32" name="番号 32"/>
          <p:cNvSpPr/>
          <p:nvPr/>
        </p:nvSpPr>
        <p:spPr>
          <a:xfrm>
            <a:off x="6448640" y="2510000"/>
            <a:ext cx="330000" cy="33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00" b="1" dirty="0">
                <a:solidFill>
                  <a:srgbClr val="1E2430"/>
                </a:solidFill>
                <a:latin typeface="BIZ UDPゴシック"/>
                <a:ea typeface="BIZ UDPゴシック"/>
                <a:cs typeface="BIZ UDPゴシック"/>
              </a:rPr>
              <a:t>1</a:t>
            </a:r>
            <a:endParaRPr lang="ja-JP" altLang="en-US" sz="1200" dirty="0">
              <a:solidFill>
                <a:srgbClr val="1E2430"/>
              </a:solidFill>
              <a:latin typeface="BIZ UDPゴシック"/>
              <a:ea typeface="BIZ UDPゴシック"/>
              <a:cs typeface="BIZ UDPゴシック"/>
            </a:endParaRPr>
          </a:p>
        </p:txBody>
      </p:sp>
      <p:sp>
        <p:nvSpPr>
          <p:cNvPr id="33" name="テキスト 33"/>
          <p:cNvSpPr txBox="1"/>
          <p:nvPr/>
        </p:nvSpPr>
        <p:spPr>
          <a:xfrm>
            <a:off x="6948640" y="2500000"/>
            <a:ext cx="4441672" cy="3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450" b="1" dirty="0">
                <a:solidFill>
                  <a:srgbClr val="1E2430"/>
                </a:solidFill>
                <a:latin typeface="BIZ UDPゴシック"/>
                <a:ea typeface="BIZ UDPゴシック"/>
                <a:cs typeface="BIZ UDPゴシック"/>
              </a:rPr>
              <a:t>部屋ごとに 1 本</a:t>
            </a:r>
            <a:endParaRPr lang="ja-JP" altLang="en-US" sz="1450" dirty="0">
              <a:solidFill>
                <a:srgbClr val="1E2430"/>
              </a:solidFill>
              <a:latin typeface="BIZ UDPゴシック"/>
              <a:ea typeface="BIZ UDPゴシック"/>
              <a:cs typeface="BIZ UDPゴシック"/>
            </a:endParaRPr>
          </a:p>
        </p:txBody>
      </p:sp>
      <p:sp>
        <p:nvSpPr>
          <p:cNvPr id="34" name="テキスト 34"/>
          <p:cNvSpPr txBox="1"/>
          <p:nvPr/>
        </p:nvSpPr>
        <p:spPr>
          <a:xfrm>
            <a:off x="6948640" y="2830000"/>
            <a:ext cx="4441672" cy="49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音源が増えても FDN は増えない</a:t>
            </a:r>
          </a:p>
        </p:txBody>
      </p:sp>
      <p:sp>
        <p:nvSpPr>
          <p:cNvPr id="35" name="番号 35"/>
          <p:cNvSpPr/>
          <p:nvPr/>
        </p:nvSpPr>
        <p:spPr>
          <a:xfrm>
            <a:off x="6448640" y="3360000"/>
            <a:ext cx="330000" cy="33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00" b="1" dirty="0">
                <a:solidFill>
                  <a:srgbClr val="1E2430"/>
                </a:solidFill>
                <a:latin typeface="BIZ UDPゴシック"/>
                <a:ea typeface="BIZ UDPゴシック"/>
                <a:cs typeface="BIZ UDPゴシック"/>
              </a:rPr>
              <a:t>2</a:t>
            </a:r>
            <a:endParaRPr lang="ja-JP" altLang="en-US" sz="1200" dirty="0">
              <a:solidFill>
                <a:srgbClr val="1E2430"/>
              </a:solidFill>
              <a:latin typeface="BIZ UDPゴシック"/>
              <a:ea typeface="BIZ UDPゴシック"/>
              <a:cs typeface="BIZ UDPゴシック"/>
            </a:endParaRPr>
          </a:p>
        </p:txBody>
      </p:sp>
      <p:sp>
        <p:nvSpPr>
          <p:cNvPr id="36" name="テキスト 36"/>
          <p:cNvSpPr txBox="1"/>
          <p:nvPr/>
        </p:nvSpPr>
        <p:spPr>
          <a:xfrm>
            <a:off x="6948640" y="3350000"/>
            <a:ext cx="4441672" cy="3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450" b="1" dirty="0">
                <a:solidFill>
                  <a:srgbClr val="1E2430"/>
                </a:solidFill>
                <a:latin typeface="BIZ UDPゴシック"/>
                <a:ea typeface="BIZ UDPゴシック"/>
                <a:cs typeface="BIZ UDPゴシック"/>
              </a:rPr>
              <a:t>RT60 は形と材質から</a:t>
            </a:r>
            <a:endParaRPr lang="ja-JP" altLang="en-US" sz="1450" dirty="0">
              <a:solidFill>
                <a:srgbClr val="1E2430"/>
              </a:solidFill>
              <a:latin typeface="BIZ UDPゴシック"/>
              <a:ea typeface="BIZ UDPゴシック"/>
              <a:cs typeface="BIZ UDPゴシック"/>
            </a:endParaRPr>
          </a:p>
        </p:txBody>
      </p:sp>
      <p:sp>
        <p:nvSpPr>
          <p:cNvPr id="37" name="テキスト 37"/>
          <p:cNvSpPr txBox="1"/>
          <p:nvPr/>
        </p:nvSpPr>
        <p:spPr>
          <a:xfrm>
            <a:off x="6948640" y="3680000"/>
            <a:ext cx="4441672" cy="49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Sabine の式で帯域ごとに出す。残響時間の表を手で持たない</a:t>
            </a:r>
          </a:p>
        </p:txBody>
      </p:sp>
      <p:sp>
        <p:nvSpPr>
          <p:cNvPr id="38" name="番号 38"/>
          <p:cNvSpPr/>
          <p:nvPr/>
        </p:nvSpPr>
        <p:spPr>
          <a:xfrm>
            <a:off x="6448640" y="4210000"/>
            <a:ext cx="330000" cy="33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00" b="1" dirty="0">
                <a:solidFill>
                  <a:srgbClr val="1E2430"/>
                </a:solidFill>
                <a:latin typeface="BIZ UDPゴシック"/>
                <a:ea typeface="BIZ UDPゴシック"/>
                <a:cs typeface="BIZ UDPゴシック"/>
              </a:rPr>
              <a:t>3</a:t>
            </a:r>
            <a:endParaRPr lang="ja-JP" altLang="en-US" sz="1200" dirty="0">
              <a:solidFill>
                <a:srgbClr val="1E2430"/>
              </a:solidFill>
              <a:latin typeface="BIZ UDPゴシック"/>
              <a:ea typeface="BIZ UDPゴシック"/>
              <a:cs typeface="BIZ UDPゴシック"/>
            </a:endParaRPr>
          </a:p>
        </p:txBody>
      </p:sp>
      <p:sp>
        <p:nvSpPr>
          <p:cNvPr id="39" name="テキスト 39"/>
          <p:cNvSpPr txBox="1"/>
          <p:nvPr/>
        </p:nvSpPr>
        <p:spPr>
          <a:xfrm>
            <a:off x="6948640" y="4200000"/>
            <a:ext cx="4441672" cy="3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450" b="1" dirty="0">
                <a:solidFill>
                  <a:srgbClr val="1E2430"/>
                </a:solidFill>
                <a:latin typeface="BIZ UDPゴシック"/>
                <a:ea typeface="BIZ UDPゴシック"/>
                <a:cs typeface="BIZ UDPゴシック"/>
              </a:rPr>
              <a:t>扉で RT60 が動く</a:t>
            </a:r>
            <a:endParaRPr lang="ja-JP" altLang="en-US" sz="1450" dirty="0">
              <a:solidFill>
                <a:srgbClr val="1E2430"/>
              </a:solidFill>
              <a:latin typeface="BIZ UDPゴシック"/>
              <a:ea typeface="BIZ UDPゴシック"/>
              <a:cs typeface="BIZ UDPゴシック"/>
            </a:endParaRPr>
          </a:p>
        </p:txBody>
      </p:sp>
      <p:sp>
        <p:nvSpPr>
          <p:cNvPr id="40" name="テキスト 40"/>
          <p:cNvSpPr txBox="1"/>
          <p:nvPr/>
        </p:nvSpPr>
        <p:spPr>
          <a:xfrm>
            <a:off x="6948640" y="4530000"/>
            <a:ext cx="4441672" cy="49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閉めると戸口が板になり吸音が減って伸びる。500 Hz で </a:t>
            </a:r>
            <a:r>
              <a:rPr lang="ja-JP" altLang="en-US" sz="1200" b="1" dirty="0">
                <a:solidFill>
                  <a:srgbClr val="9A6212"/>
                </a:solidFill>
                <a:latin typeface="BIZ UDPゴシック"/>
                <a:ea typeface="BIZ UDPゴシック"/>
                <a:cs typeface="BIZ UDPゴシック"/>
              </a:rPr>
              <a:t>0.877 → 0.913 s</a:t>
            </a:r>
            <a:endParaRPr lang="ja-JP" altLang="en-US" sz="1200" dirty="0">
              <a:solidFill>
                <a:srgbClr val="1E2430"/>
              </a:solidFill>
              <a:latin typeface="BIZ UDPゴシック"/>
              <a:ea typeface="BIZ UDPゴシック"/>
              <a:cs typeface="BIZ UDPゴシック"/>
            </a:endParaRPr>
          </a:p>
        </p:txBody>
      </p:sp>
      <p:sp>
        <p:nvSpPr>
          <p:cNvPr id="41" name="要点 41"/>
          <p:cNvSpPr/>
          <p:nvPr/>
        </p:nvSpPr>
        <p:spPr>
          <a:xfrm>
            <a:off x="6148640" y="5250000"/>
            <a:ext cx="5491672" cy="1200000"/>
          </a:xfrm>
          <a:prstGeom prst="roundRect">
            <a:avLst>
              <a:gd name="adj" fmla="val 12000"/>
            </a:avLst>
          </a:prstGeom>
          <a:solidFill>
            <a:srgbClr val="FBF1DF"/>
          </a:solidFill>
          <a:ln>
            <a:noFill/>
          </a:ln>
        </p:spPr>
        <p:txBody>
          <a:bodyPr wrap="square" lIns="300000" tIns="90000" rIns="300000" bIns="90000" rtlCol="0" anchor="ctr">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落とし穴: 結び返すと発散した</a:t>
            </a:r>
            <a:endParaRPr lang="ja-JP" altLang="en-US" sz="1300" dirty="0">
              <a:solidFill>
                <a:srgbClr val="1E2430"/>
              </a:solidFill>
              <a:latin typeface="BIZ UDPゴシック"/>
              <a:ea typeface="BIZ UDPゴシック"/>
              <a:cs typeface="BIZ UDPゴシック"/>
            </a:endParaRPr>
          </a:p>
          <a:p>
            <a:pPr marL="0" indent="0" algn="l">
              <a:lnSpc>
                <a:spcPct val="118000"/>
              </a:lnSpc>
              <a:spcBef>
                <a:spcPts val="250"/>
              </a:spcBef>
              <a:spcAft>
                <a:spcPts val="0"/>
              </a:spcAft>
              <a:buNone/>
            </a:pPr>
            <a:r>
              <a:rPr lang="ja-JP" altLang="en-US" sz="1100" dirty="0">
                <a:solidFill>
                  <a:srgbClr val="1E2430"/>
                </a:solidFill>
                <a:latin typeface="BIZ UDPゴシック"/>
                <a:ea typeface="BIZ UDPゴシック"/>
                <a:cs typeface="BIZ UDPゴシック"/>
              </a:rPr>
              <a:t>部屋どうしの FDN を信号で結び返すと、振幅 </a:t>
            </a:r>
            <a:r>
              <a:rPr lang="ja-JP" altLang="en-US" sz="1100" b="1" dirty="0">
                <a:solidFill>
                  <a:srgbClr val="9A6212"/>
                </a:solidFill>
                <a:latin typeface="BIZ UDPゴシック"/>
                <a:ea typeface="BIZ UDPゴシック"/>
                <a:cs typeface="BIZ UDPゴシック"/>
              </a:rPr>
              <a:t>0.01</a:t>
            </a:r>
            <a:r>
              <a:rPr lang="ja-JP" altLang="en-US" sz="1100" dirty="0">
                <a:solidFill>
                  <a:srgbClr val="1E2430"/>
                </a:solidFill>
                <a:latin typeface="BIZ UDPゴシック"/>
                <a:ea typeface="BIZ UDPゴシック"/>
                <a:cs typeface="BIZ UDPゴシック"/>
              </a:rPr>
              <a:t> が 3〜4 秒で </a:t>
            </a:r>
            <a:r>
              <a:rPr lang="ja-JP" altLang="en-US" sz="1100" b="1" dirty="0">
                <a:solidFill>
                  <a:srgbClr val="9A6212"/>
                </a:solidFill>
                <a:latin typeface="BIZ UDPゴシック"/>
                <a:ea typeface="BIZ UDPゴシック"/>
                <a:cs typeface="BIZ UDPゴシック"/>
              </a:rPr>
              <a:t>13,508</a:t>
            </a:r>
            <a:r>
              <a:rPr lang="ja-JP" altLang="en-US" sz="1100" dirty="0">
                <a:solidFill>
                  <a:srgbClr val="1E2430"/>
                </a:solidFill>
                <a:latin typeface="BIZ UDPゴシック"/>
                <a:ea typeface="BIZ UDPゴシック"/>
                <a:cs typeface="BIZ UDPゴシック"/>
              </a:rPr>
              <a:t> に。FDN は共振器で、山の周波数では往復の利得が 1 を超える</a:t>
            </a:r>
          </a:p>
        </p:txBody>
      </p:sp>
      <p:sp>
        <p:nvSpPr>
          <p:cNvPr id="42" name="テキスト 42"/>
          <p:cNvSpPr txBox="1"/>
          <p:nvPr/>
        </p:nvSpPr>
        <p:spPr>
          <a:xfrm>
            <a:off x="548640" y="6540000"/>
            <a:ext cx="11091672"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dirty="0">
                <a:solidFill>
                  <a:srgbClr val="5C6677"/>
                </a:solidFill>
                <a:latin typeface="BIZ UDPゴシック"/>
                <a:ea typeface="BIZ UDPゴシック"/>
                <a:cs typeface="BIZ UDPゴシック"/>
              </a:rPr>
              <a:t>※ 数値は 2026-09-13 の回帰テスト（Flow 164 件）の実測。「旧実装」と書いた物は、コアを作り直す前の実測</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03　技術選定　｜　全体の構成</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4 つの手法を足さずに、全体のエネルギーから配る</a:t>
            </a:r>
            <a:endParaRPr lang="ja-JP" altLang="en-US" sz="2600" dirty="0">
              <a:solidFill>
                <a:srgbClr val="1E2430"/>
              </a:solidFill>
              <a:latin typeface="BIZ UDPゴシック"/>
              <a:ea typeface="BIZ UDPゴシック"/>
              <a:cs typeface="BIZ UDPゴシック"/>
            </a:endParaRPr>
          </a:p>
        </p:txBody>
      </p:sp>
      <p:sp>
        <p:nvSpPr>
          <p:cNvPr id="4" name="テキスト 4"/>
          <p:cNvSpPr txBox="1"/>
          <p:nvPr/>
        </p:nvSpPr>
        <p:spPr>
          <a:xfrm>
            <a:off x="548640" y="1300000"/>
            <a:ext cx="11091672" cy="420000"/>
          </a:xfrm>
          <a:prstGeom prst="rect">
            <a:avLst/>
          </a:prstGeom>
          <a:noFill/>
          <a:ln>
            <a:noFill/>
          </a:ln>
        </p:spPr>
        <p:txBody>
          <a:bodyPr wrap="square" lIns="0" tIns="0" rIns="0" bIns="0" rtlCol="0" anchor="t">
            <a:noAutofit/>
          </a:bodyPr>
          <a:lstStyle/>
          <a:p>
            <a:pPr marL="0" indent="0" algn="l">
              <a:lnSpc>
                <a:spcPct val="120000"/>
              </a:lnSpc>
              <a:spcBef>
                <a:spcPts val="0"/>
              </a:spcBef>
              <a:spcAft>
                <a:spcPts val="0"/>
              </a:spcAft>
              <a:buNone/>
            </a:pPr>
            <a:r>
              <a:rPr lang="ja-JP" altLang="en-US" sz="1500" dirty="0">
                <a:solidFill>
                  <a:srgbClr val="1E2430"/>
                </a:solidFill>
                <a:latin typeface="BIZ UDPゴシック"/>
                <a:ea typeface="BIZ UDPゴシック"/>
                <a:cs typeface="BIZ UDPゴシック"/>
              </a:rPr>
              <a:t>扉・隣の部屋・初期反射・残響をそれぞれ別に計算して足すと、同じ音を二重に数えたり二重に減らしたりしても気づけない。</a:t>
            </a:r>
          </a:p>
        </p:txBody>
      </p:sp>
      <p:sp>
        <p:nvSpPr>
          <p:cNvPr id="5" name="カード 5"/>
          <p:cNvSpPr/>
          <p:nvPr/>
        </p:nvSpPr>
        <p:spPr>
          <a:xfrm>
            <a:off x="548640" y="1850000"/>
            <a:ext cx="3000000" cy="880000"/>
          </a:xfrm>
          <a:prstGeom prst="roundRect">
            <a:avLst>
              <a:gd name="adj" fmla="val 5000"/>
            </a:avLst>
          </a:prstGeom>
          <a:solidFill>
            <a:srgbClr val="F0F2F5"/>
          </a:solidFill>
          <a:ln>
            <a:noFill/>
          </a:ln>
        </p:spPr>
        <p:txBody>
          <a:bodyPr/>
          <a:lstStyle/>
          <a:p>
            <a:endParaRPr lang="ja-JP" altLang="en-US"/>
          </a:p>
        </p:txBody>
      </p:sp>
      <p:sp>
        <p:nvSpPr>
          <p:cNvPr id="6" name="テキスト 6"/>
          <p:cNvSpPr txBox="1"/>
          <p:nvPr/>
        </p:nvSpPr>
        <p:spPr>
          <a:xfrm>
            <a:off x="768640" y="1980000"/>
            <a:ext cx="2560000" cy="6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400" b="1" dirty="0">
                <a:solidFill>
                  <a:srgbClr val="1E2430"/>
                </a:solidFill>
                <a:latin typeface="BIZ UDPゴシック"/>
                <a:ea typeface="BIZ UDPゴシック"/>
                <a:cs typeface="BIZ UDPゴシック"/>
              </a:rPr>
              <a:t>レイ（BVH）</a:t>
            </a:r>
            <a:endParaRPr lang="ja-JP" altLang="en-US" sz="1400" dirty="0">
              <a:solidFill>
                <a:srgbClr val="1E2430"/>
              </a:solidFill>
              <a:latin typeface="BIZ UDPゴシック"/>
              <a:ea typeface="BIZ UDPゴシック"/>
              <a:cs typeface="BIZ UDPゴシック"/>
            </a:endParaRPr>
          </a:p>
          <a:p>
            <a:pPr marL="0" indent="0" algn="l">
              <a:lnSpc>
                <a:spcPct val="115000"/>
              </a:lnSpc>
              <a:spcBef>
                <a:spcPts val="250"/>
              </a:spcBef>
              <a:spcAft>
                <a:spcPts val="0"/>
              </a:spcAft>
              <a:buNone/>
            </a:pPr>
            <a:r>
              <a:rPr lang="ja-JP" altLang="en-US" sz="1150" dirty="0">
                <a:solidFill>
                  <a:srgbClr val="5C6677"/>
                </a:solidFill>
                <a:latin typeface="BIZ UDPゴシック"/>
                <a:ea typeface="BIZ UDPゴシック"/>
                <a:cs typeface="BIZ UDPゴシック"/>
              </a:rPr>
              <a:t>反射・透過の総量（統計）</a:t>
            </a:r>
          </a:p>
        </p:txBody>
      </p:sp>
      <p:sp>
        <p:nvSpPr>
          <p:cNvPr id="7" name="カード 7"/>
          <p:cNvSpPr/>
          <p:nvPr/>
        </p:nvSpPr>
        <p:spPr>
          <a:xfrm>
            <a:off x="548640" y="2870000"/>
            <a:ext cx="3000000" cy="880000"/>
          </a:xfrm>
          <a:prstGeom prst="roundRect">
            <a:avLst>
              <a:gd name="adj" fmla="val 5000"/>
            </a:avLst>
          </a:prstGeom>
          <a:solidFill>
            <a:srgbClr val="F0F2F5"/>
          </a:solidFill>
          <a:ln>
            <a:noFill/>
          </a:ln>
        </p:spPr>
        <p:txBody>
          <a:bodyPr/>
          <a:lstStyle/>
          <a:p>
            <a:endParaRPr lang="ja-JP" altLang="en-US"/>
          </a:p>
        </p:txBody>
      </p:sp>
      <p:sp>
        <p:nvSpPr>
          <p:cNvPr id="8" name="テキスト 8"/>
          <p:cNvSpPr txBox="1"/>
          <p:nvPr/>
        </p:nvSpPr>
        <p:spPr>
          <a:xfrm>
            <a:off x="768640" y="3000000"/>
            <a:ext cx="2560000" cy="6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400" b="1" dirty="0">
                <a:solidFill>
                  <a:srgbClr val="1E2430"/>
                </a:solidFill>
                <a:latin typeface="BIZ UDPゴシック"/>
                <a:ea typeface="BIZ UDPゴシック"/>
                <a:cs typeface="BIZ UDPゴシック"/>
              </a:rPr>
              <a:t>開口の解析</a:t>
            </a:r>
            <a:endParaRPr lang="ja-JP" altLang="en-US" sz="1400" dirty="0">
              <a:solidFill>
                <a:srgbClr val="1E2430"/>
              </a:solidFill>
              <a:latin typeface="BIZ UDPゴシック"/>
              <a:ea typeface="BIZ UDPゴシック"/>
              <a:cs typeface="BIZ UDPゴシック"/>
            </a:endParaRPr>
          </a:p>
          <a:p>
            <a:pPr marL="0" indent="0" algn="l">
              <a:lnSpc>
                <a:spcPct val="115000"/>
              </a:lnSpc>
              <a:spcBef>
                <a:spcPts val="250"/>
              </a:spcBef>
              <a:spcAft>
                <a:spcPts val="0"/>
              </a:spcAft>
              <a:buNone/>
            </a:pPr>
            <a:r>
              <a:rPr lang="ja-JP" altLang="en-US" sz="1150" dirty="0">
                <a:solidFill>
                  <a:srgbClr val="5C6677"/>
                </a:solidFill>
                <a:latin typeface="BIZ UDPゴシック"/>
                <a:ea typeface="BIZ UDPゴシック"/>
                <a:cs typeface="BIZ UDPゴシック"/>
              </a:rPr>
              <a:t>扉を通る割合（レイを通さず幾何で即答）</a:t>
            </a:r>
          </a:p>
        </p:txBody>
      </p:sp>
      <p:sp>
        <p:nvSpPr>
          <p:cNvPr id="9" name="カード 9"/>
          <p:cNvSpPr/>
          <p:nvPr/>
        </p:nvSpPr>
        <p:spPr>
          <a:xfrm>
            <a:off x="548640" y="3890000"/>
            <a:ext cx="3000000" cy="880000"/>
          </a:xfrm>
          <a:prstGeom prst="roundRect">
            <a:avLst>
              <a:gd name="adj" fmla="val 5000"/>
            </a:avLst>
          </a:prstGeom>
          <a:solidFill>
            <a:srgbClr val="F0F2F5"/>
          </a:solidFill>
          <a:ln>
            <a:noFill/>
          </a:ln>
        </p:spPr>
        <p:txBody>
          <a:bodyPr/>
          <a:lstStyle/>
          <a:p>
            <a:endParaRPr lang="ja-JP" altLang="en-US"/>
          </a:p>
        </p:txBody>
      </p:sp>
      <p:sp>
        <p:nvSpPr>
          <p:cNvPr id="10" name="テキスト 10"/>
          <p:cNvSpPr txBox="1"/>
          <p:nvPr/>
        </p:nvSpPr>
        <p:spPr>
          <a:xfrm>
            <a:off x="768640" y="4020000"/>
            <a:ext cx="2560000" cy="6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400" b="1" dirty="0">
                <a:solidFill>
                  <a:srgbClr val="1E2430"/>
                </a:solidFill>
                <a:latin typeface="BIZ UDPゴシック"/>
                <a:ea typeface="BIZ UDPゴシック"/>
                <a:cs typeface="BIZ UDPゴシック"/>
              </a:rPr>
              <a:t>ISM（虚像法）</a:t>
            </a:r>
            <a:endParaRPr lang="ja-JP" altLang="en-US" sz="1400" dirty="0">
              <a:solidFill>
                <a:srgbClr val="1E2430"/>
              </a:solidFill>
              <a:latin typeface="BIZ UDPゴシック"/>
              <a:ea typeface="BIZ UDPゴシック"/>
              <a:cs typeface="BIZ UDPゴシック"/>
            </a:endParaRPr>
          </a:p>
          <a:p>
            <a:pPr marL="0" indent="0" algn="l">
              <a:lnSpc>
                <a:spcPct val="115000"/>
              </a:lnSpc>
              <a:spcBef>
                <a:spcPts val="250"/>
              </a:spcBef>
              <a:spcAft>
                <a:spcPts val="0"/>
              </a:spcAft>
              <a:buNone/>
            </a:pPr>
            <a:r>
              <a:rPr lang="ja-JP" altLang="en-US" sz="1150" dirty="0">
                <a:solidFill>
                  <a:srgbClr val="5C6677"/>
                </a:solidFill>
                <a:latin typeface="BIZ UDPゴシック"/>
                <a:ea typeface="BIZ UDPゴシック"/>
                <a:cs typeface="BIZ UDPゴシック"/>
              </a:rPr>
              <a:t>初期反射の方向と重み</a:t>
            </a:r>
          </a:p>
        </p:txBody>
      </p:sp>
      <p:sp>
        <p:nvSpPr>
          <p:cNvPr id="11" name="配分 11"/>
          <p:cNvSpPr/>
          <p:nvPr/>
        </p:nvSpPr>
        <p:spPr>
          <a:xfrm>
            <a:off x="4148640" y="2550000"/>
            <a:ext cx="2500000" cy="1650000"/>
          </a:xfrm>
          <a:prstGeom prst="roundRect">
            <a:avLst>
              <a:gd name="adj" fmla="val 8000"/>
            </a:avLst>
          </a:prstGeom>
          <a:solidFill>
            <a:srgbClr val="FBF1DF"/>
          </a:solidFill>
          <a:ln w="25400">
            <a:solidFill>
              <a:srgbClr val="E3A33B"/>
            </a:solidFill>
          </a:ln>
        </p:spPr>
        <p:txBody>
          <a:bodyPr wrap="square" lIns="180000" tIns="0" rIns="180000" bIns="0" rtlCol="0" anchor="ctr">
            <a:noAutofit/>
          </a:bodyPr>
          <a:lstStyle/>
          <a:p>
            <a:pPr marL="0" indent="0" algn="ctr">
              <a:lnSpc>
                <a:spcPct val="100000"/>
              </a:lnSpc>
              <a:spcBef>
                <a:spcPts val="0"/>
              </a:spcBef>
              <a:spcAft>
                <a:spcPts val="0"/>
              </a:spcAft>
              <a:buNone/>
            </a:pPr>
            <a:r>
              <a:rPr lang="ja-JP" altLang="en-US" sz="2000" b="1" dirty="0">
                <a:solidFill>
                  <a:srgbClr val="1E2430"/>
                </a:solidFill>
                <a:latin typeface="BIZ UDPゴシック"/>
                <a:ea typeface="BIZ UDPゴシック"/>
                <a:cs typeface="BIZ UDPゴシック"/>
              </a:rPr>
              <a:t>配分</a:t>
            </a:r>
            <a:endParaRPr lang="ja-JP" altLang="en-US" sz="2000" dirty="0">
              <a:solidFill>
                <a:srgbClr val="1E2430"/>
              </a:solidFill>
              <a:latin typeface="BIZ UDPゴシック"/>
              <a:ea typeface="BIZ UDPゴシック"/>
              <a:cs typeface="BIZ UDPゴシック"/>
            </a:endParaRPr>
          </a:p>
          <a:p>
            <a:pPr marL="0" indent="0" algn="ctr">
              <a:lnSpc>
                <a:spcPct val="115000"/>
              </a:lnSpc>
              <a:spcBef>
                <a:spcPts val="500"/>
              </a:spcBef>
              <a:spcAft>
                <a:spcPts val="0"/>
              </a:spcAft>
              <a:buNone/>
            </a:pPr>
            <a:r>
              <a:rPr lang="ja-JP" altLang="en-US" sz="1150" dirty="0">
                <a:solidFill>
                  <a:srgbClr val="1E2430"/>
                </a:solidFill>
                <a:latin typeface="BIZ UDPゴシック"/>
                <a:ea typeface="BIZ UDPゴシック"/>
                <a:cs typeface="BIZ UDPゴシック"/>
              </a:rPr>
              <a:t>6 帯域ごとに、受け取った量を 1 回ずつ配る</a:t>
            </a:r>
          </a:p>
          <a:p>
            <a:pPr marL="0" indent="0" algn="ctr">
              <a:lnSpc>
                <a:spcPct val="110000"/>
              </a:lnSpc>
              <a:spcBef>
                <a:spcPts val="400"/>
              </a:spcBef>
              <a:spcAft>
                <a:spcPts val="0"/>
              </a:spcAft>
              <a:buNone/>
            </a:pPr>
            <a:r>
              <a:rPr lang="ja-JP" altLang="en-US" sz="1100" b="1" dirty="0">
                <a:solidFill>
                  <a:srgbClr val="9A6212"/>
                </a:solidFill>
                <a:latin typeface="BIZ UDPゴシック"/>
                <a:ea typeface="BIZ UDPゴシック"/>
                <a:cs typeface="BIZ UDPゴシック"/>
              </a:rPr>
              <a:t>受け取った量 ＝ 出した量</a:t>
            </a:r>
            <a:endParaRPr lang="ja-JP" altLang="en-US" sz="1100" dirty="0">
              <a:solidFill>
                <a:srgbClr val="9A6212"/>
              </a:solidFill>
              <a:latin typeface="BIZ UDPゴシック"/>
              <a:ea typeface="BIZ UDPゴシック"/>
              <a:cs typeface="BIZ UDPゴシック"/>
            </a:endParaRPr>
          </a:p>
          <a:p>
            <a:pPr marL="0" indent="0" algn="ctr">
              <a:lnSpc>
                <a:spcPct val="110000"/>
              </a:lnSpc>
              <a:spcBef>
                <a:spcPts val="0"/>
              </a:spcBef>
              <a:spcAft>
                <a:spcPts val="0"/>
              </a:spcAft>
              <a:buNone/>
            </a:pPr>
            <a:r>
              <a:rPr lang="ja-JP" altLang="en-US" sz="1100" b="1" dirty="0">
                <a:solidFill>
                  <a:srgbClr val="9A6212"/>
                </a:solidFill>
                <a:latin typeface="BIZ UDPゴシック"/>
                <a:ea typeface="BIZ UDPゴシック"/>
                <a:cs typeface="BIZ UDPゴシック"/>
              </a:rPr>
              <a:t>を毎フレーム検査</a:t>
            </a:r>
            <a:endParaRPr lang="ja-JP" altLang="en-US" sz="1100" dirty="0">
              <a:solidFill>
                <a:srgbClr val="9A6212"/>
              </a:solidFill>
              <a:latin typeface="BIZ UDPゴシック"/>
              <a:ea typeface="BIZ UDPゴシック"/>
              <a:cs typeface="BIZ UDPゴシック"/>
            </a:endParaRPr>
          </a:p>
        </p:txBody>
      </p:sp>
      <p:cxnSp>
        <p:nvCxnSpPr>
          <p:cNvPr id="12" name="線 12"/>
          <p:cNvCxnSpPr/>
          <p:nvPr/>
        </p:nvCxnSpPr>
        <p:spPr>
          <a:xfrm>
            <a:off x="3588640" y="2290000"/>
            <a:ext cx="520000" cy="735000"/>
          </a:xfrm>
          <a:prstGeom prst="line">
            <a:avLst/>
          </a:prstGeom>
          <a:ln w="19050" cap="rnd">
            <a:solidFill>
              <a:srgbClr val="9AA3B0"/>
            </a:solidFill>
            <a:round/>
            <a:tailEnd type="triangle" w="med" len="med"/>
          </a:ln>
        </p:spPr>
      </p:cxnSp>
      <p:cxnSp>
        <p:nvCxnSpPr>
          <p:cNvPr id="13" name="線 13"/>
          <p:cNvCxnSpPr/>
          <p:nvPr/>
        </p:nvCxnSpPr>
        <p:spPr>
          <a:xfrm>
            <a:off x="3588640" y="3310000"/>
            <a:ext cx="520000" cy="65000"/>
          </a:xfrm>
          <a:prstGeom prst="line">
            <a:avLst/>
          </a:prstGeom>
          <a:ln w="19050" cap="rnd">
            <a:solidFill>
              <a:srgbClr val="9AA3B0"/>
            </a:solidFill>
            <a:round/>
            <a:tailEnd type="triangle" w="med" len="med"/>
          </a:ln>
        </p:spPr>
      </p:cxnSp>
      <p:cxnSp>
        <p:nvCxnSpPr>
          <p:cNvPr id="14" name="線 14"/>
          <p:cNvCxnSpPr/>
          <p:nvPr/>
        </p:nvCxnSpPr>
        <p:spPr>
          <a:xfrm flipV="1">
            <a:off x="3588640" y="3725000"/>
            <a:ext cx="520000" cy="605000"/>
          </a:xfrm>
          <a:prstGeom prst="line">
            <a:avLst/>
          </a:prstGeom>
          <a:ln w="19050" cap="rnd">
            <a:solidFill>
              <a:srgbClr val="9AA3B0"/>
            </a:solidFill>
            <a:round/>
            <a:tailEnd type="triangle" w="med" len="med"/>
          </a:ln>
        </p:spPr>
      </p:cxnSp>
      <p:sp>
        <p:nvSpPr>
          <p:cNvPr id="15" name="カード 15"/>
          <p:cNvSpPr/>
          <p:nvPr/>
        </p:nvSpPr>
        <p:spPr>
          <a:xfrm>
            <a:off x="7248640" y="1850000"/>
            <a:ext cx="4391672" cy="720000"/>
          </a:xfrm>
          <a:prstGeom prst="roundRect">
            <a:avLst>
              <a:gd name="adj" fmla="val 5000"/>
            </a:avLst>
          </a:prstGeom>
          <a:solidFill>
            <a:srgbClr val="FFFFFF"/>
          </a:solidFill>
          <a:ln w="12700">
            <a:solidFill>
              <a:srgbClr val="C9CFD8"/>
            </a:solidFill>
          </a:ln>
        </p:spPr>
        <p:txBody>
          <a:bodyPr/>
          <a:lstStyle/>
          <a:p>
            <a:endParaRPr lang="ja-JP" altLang="en-US"/>
          </a:p>
        </p:txBody>
      </p:sp>
      <p:sp>
        <p:nvSpPr>
          <p:cNvPr id="16" name="テキスト 16"/>
          <p:cNvSpPr txBox="1"/>
          <p:nvPr/>
        </p:nvSpPr>
        <p:spPr>
          <a:xfrm>
            <a:off x="7448640" y="1960000"/>
            <a:ext cx="3091672" cy="57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直接音・透過音</a:t>
            </a:r>
            <a:endParaRPr lang="ja-JP" altLang="en-US" sz="1300" dirty="0">
              <a:solidFill>
                <a:srgbClr val="1E2430"/>
              </a:solidFill>
              <a:latin typeface="BIZ UDPゴシック"/>
              <a:ea typeface="BIZ UDPゴシック"/>
              <a:cs typeface="BIZ UDPゴシック"/>
            </a:endParaRPr>
          </a:p>
          <a:p>
            <a:pPr marL="0" indent="0" algn="l">
              <a:lnSpc>
                <a:spcPct val="115000"/>
              </a:lnSpc>
              <a:spcBef>
                <a:spcPts val="200"/>
              </a:spcBef>
              <a:spcAft>
                <a:spcPts val="0"/>
              </a:spcAft>
              <a:buNone/>
            </a:pPr>
            <a:r>
              <a:rPr lang="ja-JP" altLang="en-US" sz="1150" dirty="0">
                <a:solidFill>
                  <a:srgbClr val="1E2430"/>
                </a:solidFill>
                <a:latin typeface="BIZ UDPゴシック"/>
                <a:ea typeface="BIZ UDPゴシック"/>
                <a:cs typeface="BIZ UDPゴシック"/>
              </a:rPr>
              <a:t>→ 耳の形で両耳へ（HRTF）</a:t>
            </a:r>
          </a:p>
        </p:txBody>
      </p:sp>
      <p:cxnSp>
        <p:nvCxnSpPr>
          <p:cNvPr id="17" name="線 17"/>
          <p:cNvCxnSpPr/>
          <p:nvPr/>
        </p:nvCxnSpPr>
        <p:spPr>
          <a:xfrm flipV="1">
            <a:off x="6688640" y="2210000"/>
            <a:ext cx="520000" cy="715000"/>
          </a:xfrm>
          <a:prstGeom prst="line">
            <a:avLst/>
          </a:prstGeom>
          <a:ln w="19050" cap="rnd">
            <a:solidFill>
              <a:srgbClr val="E3A33B"/>
            </a:solidFill>
            <a:round/>
            <a:tailEnd type="triangle" w="med" len="med"/>
          </a:ln>
        </p:spPr>
      </p:cxnSp>
      <p:sp>
        <p:nvSpPr>
          <p:cNvPr id="18" name="カード 18"/>
          <p:cNvSpPr/>
          <p:nvPr/>
        </p:nvSpPr>
        <p:spPr>
          <a:xfrm>
            <a:off x="7248640" y="2680000"/>
            <a:ext cx="4391672" cy="720000"/>
          </a:xfrm>
          <a:prstGeom prst="roundRect">
            <a:avLst>
              <a:gd name="adj" fmla="val 5000"/>
            </a:avLst>
          </a:prstGeom>
          <a:solidFill>
            <a:srgbClr val="FFFFFF"/>
          </a:solidFill>
          <a:ln w="12700">
            <a:solidFill>
              <a:srgbClr val="C9CFD8"/>
            </a:solidFill>
          </a:ln>
        </p:spPr>
        <p:txBody>
          <a:bodyPr/>
          <a:lstStyle/>
          <a:p>
            <a:endParaRPr lang="ja-JP" altLang="en-US"/>
          </a:p>
        </p:txBody>
      </p:sp>
      <p:sp>
        <p:nvSpPr>
          <p:cNvPr id="19" name="テキスト 19"/>
          <p:cNvSpPr txBox="1"/>
          <p:nvPr/>
        </p:nvSpPr>
        <p:spPr>
          <a:xfrm>
            <a:off x="7448640" y="2790000"/>
            <a:ext cx="3091672" cy="57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回折音・初期反射</a:t>
            </a:r>
            <a:endParaRPr lang="ja-JP" altLang="en-US" sz="1300" dirty="0">
              <a:solidFill>
                <a:srgbClr val="1E2430"/>
              </a:solidFill>
              <a:latin typeface="BIZ UDPゴシック"/>
              <a:ea typeface="BIZ UDPゴシック"/>
              <a:cs typeface="BIZ UDPゴシック"/>
            </a:endParaRPr>
          </a:p>
          <a:p>
            <a:pPr marL="0" indent="0" algn="l">
              <a:lnSpc>
                <a:spcPct val="115000"/>
              </a:lnSpc>
              <a:spcBef>
                <a:spcPts val="200"/>
              </a:spcBef>
              <a:spcAft>
                <a:spcPts val="0"/>
              </a:spcAft>
              <a:buNone/>
            </a:pPr>
            <a:r>
              <a:rPr lang="ja-JP" altLang="en-US" sz="1150" dirty="0">
                <a:solidFill>
                  <a:srgbClr val="1E2430"/>
                </a:solidFill>
                <a:latin typeface="BIZ UDPゴシック"/>
                <a:ea typeface="BIZ UDPゴシック"/>
                <a:cs typeface="BIZ UDPゴシック"/>
              </a:rPr>
              <a:t>→ 方向性バッファ（8 方向 × 両耳）</a:t>
            </a:r>
          </a:p>
        </p:txBody>
      </p:sp>
      <p:sp>
        <p:nvSpPr>
          <p:cNvPr id="20" name="ラベル 20"/>
          <p:cNvSpPr/>
          <p:nvPr/>
        </p:nvSpPr>
        <p:spPr>
          <a:xfrm>
            <a:off x="10640312" y="2890000"/>
            <a:ext cx="80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ASW</a:t>
            </a:r>
            <a:endParaRPr lang="ja-JP" altLang="en-US" sz="1150" dirty="0">
              <a:solidFill>
                <a:srgbClr val="1E2430"/>
              </a:solidFill>
              <a:latin typeface="BIZ UDPゴシック"/>
              <a:ea typeface="BIZ UDPゴシック"/>
              <a:cs typeface="BIZ UDPゴシック"/>
            </a:endParaRPr>
          </a:p>
        </p:txBody>
      </p:sp>
      <p:cxnSp>
        <p:nvCxnSpPr>
          <p:cNvPr id="21" name="線 21"/>
          <p:cNvCxnSpPr/>
          <p:nvPr/>
        </p:nvCxnSpPr>
        <p:spPr>
          <a:xfrm flipV="1">
            <a:off x="6688640" y="3040000"/>
            <a:ext cx="520000" cy="185000"/>
          </a:xfrm>
          <a:prstGeom prst="line">
            <a:avLst/>
          </a:prstGeom>
          <a:ln w="19050" cap="rnd">
            <a:solidFill>
              <a:srgbClr val="E3A33B"/>
            </a:solidFill>
            <a:round/>
            <a:tailEnd type="triangle" w="med" len="med"/>
          </a:ln>
        </p:spPr>
      </p:cxnSp>
      <p:sp>
        <p:nvSpPr>
          <p:cNvPr id="22" name="カード 22"/>
          <p:cNvSpPr/>
          <p:nvPr/>
        </p:nvSpPr>
        <p:spPr>
          <a:xfrm>
            <a:off x="7248640" y="3510000"/>
            <a:ext cx="4391672" cy="720000"/>
          </a:xfrm>
          <a:prstGeom prst="roundRect">
            <a:avLst>
              <a:gd name="adj" fmla="val 5000"/>
            </a:avLst>
          </a:prstGeom>
          <a:solidFill>
            <a:srgbClr val="FFFFFF"/>
          </a:solidFill>
          <a:ln w="12700">
            <a:solidFill>
              <a:srgbClr val="C9CFD8"/>
            </a:solidFill>
          </a:ln>
        </p:spPr>
        <p:txBody>
          <a:bodyPr/>
          <a:lstStyle/>
          <a:p>
            <a:endParaRPr lang="ja-JP" altLang="en-US"/>
          </a:p>
        </p:txBody>
      </p:sp>
      <p:sp>
        <p:nvSpPr>
          <p:cNvPr id="23" name="テキスト 23"/>
          <p:cNvSpPr txBox="1"/>
          <p:nvPr/>
        </p:nvSpPr>
        <p:spPr>
          <a:xfrm>
            <a:off x="7448640" y="3620000"/>
            <a:ext cx="3091672" cy="57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後期残響</a:t>
            </a:r>
            <a:endParaRPr lang="ja-JP" altLang="en-US" sz="1300" dirty="0">
              <a:solidFill>
                <a:srgbClr val="1E2430"/>
              </a:solidFill>
              <a:latin typeface="BIZ UDPゴシック"/>
              <a:ea typeface="BIZ UDPゴシック"/>
              <a:cs typeface="BIZ UDPゴシック"/>
            </a:endParaRPr>
          </a:p>
          <a:p>
            <a:pPr marL="0" indent="0" algn="l">
              <a:lnSpc>
                <a:spcPct val="115000"/>
              </a:lnSpc>
              <a:spcBef>
                <a:spcPts val="200"/>
              </a:spcBef>
              <a:spcAft>
                <a:spcPts val="0"/>
              </a:spcAft>
              <a:buNone/>
            </a:pPr>
            <a:r>
              <a:rPr lang="ja-JP" altLang="en-US" sz="1150" dirty="0">
                <a:solidFill>
                  <a:srgbClr val="1E2430"/>
                </a:solidFill>
                <a:latin typeface="BIZ UDPゴシック"/>
                <a:ea typeface="BIZ UDPゴシック"/>
                <a:cs typeface="BIZ UDPゴシック"/>
              </a:rPr>
              <a:t>→ 部屋ごとの FDN</a:t>
            </a:r>
          </a:p>
        </p:txBody>
      </p:sp>
      <p:sp>
        <p:nvSpPr>
          <p:cNvPr id="24" name="ラベル 24"/>
          <p:cNvSpPr/>
          <p:nvPr/>
        </p:nvSpPr>
        <p:spPr>
          <a:xfrm>
            <a:off x="10640312" y="3720000"/>
            <a:ext cx="80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LEV</a:t>
            </a:r>
            <a:endParaRPr lang="ja-JP" altLang="en-US" sz="1150" dirty="0">
              <a:solidFill>
                <a:srgbClr val="1E2430"/>
              </a:solidFill>
              <a:latin typeface="BIZ UDPゴシック"/>
              <a:ea typeface="BIZ UDPゴシック"/>
              <a:cs typeface="BIZ UDPゴシック"/>
            </a:endParaRPr>
          </a:p>
        </p:txBody>
      </p:sp>
      <p:cxnSp>
        <p:nvCxnSpPr>
          <p:cNvPr id="25" name="線 25"/>
          <p:cNvCxnSpPr/>
          <p:nvPr/>
        </p:nvCxnSpPr>
        <p:spPr>
          <a:xfrm>
            <a:off x="6688640" y="3525000"/>
            <a:ext cx="520000" cy="345000"/>
          </a:xfrm>
          <a:prstGeom prst="line">
            <a:avLst/>
          </a:prstGeom>
          <a:ln w="19050" cap="rnd">
            <a:solidFill>
              <a:srgbClr val="E3A33B"/>
            </a:solidFill>
            <a:round/>
            <a:tailEnd type="triangle" w="med" len="med"/>
          </a:ln>
        </p:spPr>
      </p:cxnSp>
      <p:sp>
        <p:nvSpPr>
          <p:cNvPr id="26" name="カード 26"/>
          <p:cNvSpPr/>
          <p:nvPr/>
        </p:nvSpPr>
        <p:spPr>
          <a:xfrm>
            <a:off x="7248640" y="4340000"/>
            <a:ext cx="4391672" cy="720000"/>
          </a:xfrm>
          <a:prstGeom prst="roundRect">
            <a:avLst>
              <a:gd name="adj" fmla="val 5000"/>
            </a:avLst>
          </a:prstGeom>
          <a:solidFill>
            <a:srgbClr val="FFFFFF"/>
          </a:solidFill>
          <a:ln w="12700">
            <a:solidFill>
              <a:srgbClr val="C9CFD8"/>
            </a:solidFill>
          </a:ln>
        </p:spPr>
        <p:txBody>
          <a:bodyPr/>
          <a:lstStyle/>
          <a:p>
            <a:endParaRPr lang="ja-JP" altLang="en-US"/>
          </a:p>
        </p:txBody>
      </p:sp>
      <p:sp>
        <p:nvSpPr>
          <p:cNvPr id="27" name="テキスト 27"/>
          <p:cNvSpPr txBox="1"/>
          <p:nvPr/>
        </p:nvSpPr>
        <p:spPr>
          <a:xfrm>
            <a:off x="7448640" y="4450000"/>
            <a:ext cx="3091672" cy="57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隣の部屋の響き</a:t>
            </a:r>
            <a:endParaRPr lang="ja-JP" altLang="en-US" sz="1300" dirty="0">
              <a:solidFill>
                <a:srgbClr val="1E2430"/>
              </a:solidFill>
              <a:latin typeface="BIZ UDPゴシック"/>
              <a:ea typeface="BIZ UDPゴシック"/>
              <a:cs typeface="BIZ UDPゴシック"/>
            </a:endParaRPr>
          </a:p>
          <a:p>
            <a:pPr marL="0" indent="0" algn="l">
              <a:lnSpc>
                <a:spcPct val="115000"/>
              </a:lnSpc>
              <a:spcBef>
                <a:spcPts val="200"/>
              </a:spcBef>
              <a:spcAft>
                <a:spcPts val="0"/>
              </a:spcAft>
              <a:buNone/>
            </a:pPr>
            <a:r>
              <a:rPr lang="ja-JP" altLang="en-US" sz="1150" dirty="0">
                <a:solidFill>
                  <a:srgbClr val="1E2430"/>
                </a:solidFill>
                <a:latin typeface="BIZ UDPゴシック"/>
                <a:ea typeface="BIZ UDPゴシック"/>
                <a:cs typeface="BIZ UDPゴシック"/>
              </a:rPr>
              <a:t>→ 戸口の線音源（5 点）</a:t>
            </a:r>
          </a:p>
        </p:txBody>
      </p:sp>
      <p:cxnSp>
        <p:nvCxnSpPr>
          <p:cNvPr id="28" name="線 28"/>
          <p:cNvCxnSpPr/>
          <p:nvPr/>
        </p:nvCxnSpPr>
        <p:spPr>
          <a:xfrm>
            <a:off x="6688640" y="3825000"/>
            <a:ext cx="520000" cy="875000"/>
          </a:xfrm>
          <a:prstGeom prst="line">
            <a:avLst/>
          </a:prstGeom>
          <a:ln w="19050" cap="rnd">
            <a:solidFill>
              <a:srgbClr val="E3A33B"/>
            </a:solidFill>
            <a:round/>
            <a:tailEnd type="triangle" w="med" len="med"/>
          </a:ln>
        </p:spPr>
      </p:cxnSp>
      <p:sp>
        <p:nvSpPr>
          <p:cNvPr id="29" name="要点 29"/>
          <p:cNvSpPr/>
          <p:nvPr/>
        </p:nvSpPr>
        <p:spPr>
          <a:xfrm>
            <a:off x="548640" y="5320000"/>
            <a:ext cx="11091672" cy="1130000"/>
          </a:xfrm>
          <a:prstGeom prst="roundRect">
            <a:avLst>
              <a:gd name="adj" fmla="val 12000"/>
            </a:avLst>
          </a:prstGeom>
          <a:solidFill>
            <a:srgbClr val="FBF1DF"/>
          </a:solidFill>
          <a:ln>
            <a:noFill/>
          </a:ln>
        </p:spPr>
        <p:txBody>
          <a:bodyPr wrap="square" lIns="300000" tIns="90000" rIns="300000" bIns="90000" rtlCol="0" anchor="t">
            <a:noAutofit/>
          </a:bodyPr>
          <a:lstStyle/>
          <a:p>
            <a:pPr marL="0" indent="0" algn="l">
              <a:lnSpc>
                <a:spcPct val="100000"/>
              </a:lnSpc>
              <a:spcBef>
                <a:spcPts val="0"/>
              </a:spcBef>
              <a:spcAft>
                <a:spcPts val="0"/>
              </a:spcAft>
              <a:buNone/>
            </a:pPr>
            <a:r>
              <a:rPr lang="ja-JP" altLang="en-US" sz="1400" b="1" dirty="0">
                <a:solidFill>
                  <a:srgbClr val="1E2430"/>
                </a:solidFill>
                <a:latin typeface="BIZ UDPゴシック"/>
                <a:ea typeface="BIZ UDPゴシック"/>
                <a:cs typeface="BIZ UDPゴシック"/>
              </a:rPr>
              <a:t>なぜ足さずに配るのか</a:t>
            </a:r>
            <a:endParaRPr lang="ja-JP" altLang="en-US" sz="1400" dirty="0">
              <a:solidFill>
                <a:srgbClr val="1E2430"/>
              </a:solidFill>
              <a:latin typeface="BIZ UDPゴシック"/>
              <a:ea typeface="BIZ UDPゴシック"/>
              <a:cs typeface="BIZ UDPゴシック"/>
            </a:endParaRPr>
          </a:p>
          <a:p>
            <a:pPr marL="0" indent="0" algn="l">
              <a:lnSpc>
                <a:spcPct val="125000"/>
              </a:lnSpc>
              <a:spcBef>
                <a:spcPts val="300"/>
              </a:spcBef>
              <a:spcAft>
                <a:spcPts val="0"/>
              </a:spcAft>
              <a:buNone/>
            </a:pPr>
            <a:r>
              <a:rPr lang="ja-JP" altLang="en-US" sz="1200" dirty="0">
                <a:solidFill>
                  <a:srgbClr val="1E2430"/>
                </a:solidFill>
                <a:latin typeface="BIZ UDPゴシック"/>
                <a:ea typeface="BIZ UDPゴシック"/>
                <a:cs typeface="BIZ UDPゴシック"/>
              </a:rPr>
              <a:t>旧実装では扉越しの音の量に答えが 2 つあり、</a:t>
            </a:r>
            <a:r>
              <a:rPr lang="ja-JP" altLang="en-US" sz="1200" b="1" dirty="0">
                <a:solidFill>
                  <a:srgbClr val="9A6212"/>
                </a:solidFill>
                <a:latin typeface="BIZ UDPゴシック"/>
                <a:ea typeface="BIZ UDPゴシック"/>
                <a:cs typeface="BIZ UDPゴシック"/>
              </a:rPr>
              <a:t>15.7 dB</a:t>
            </a:r>
            <a:r>
              <a:rPr lang="ja-JP" altLang="en-US" sz="1200" dirty="0">
                <a:solidFill>
                  <a:srgbClr val="1E2430"/>
                </a:solidFill>
                <a:latin typeface="BIZ UDPゴシック"/>
                <a:ea typeface="BIZ UDPゴシック"/>
                <a:cs typeface="BIZ UDPゴシック"/>
              </a:rPr>
              <a:t> 食い違っていた。配分なら「受け取った量 ＝ 出した量」を毎フレーム確かめられる。実際に鳴らした音のエネルギーも帳簿と一致（直接 </a:t>
            </a:r>
            <a:r>
              <a:rPr lang="ja-JP" altLang="en-US" sz="1200" b="1" dirty="0">
                <a:solidFill>
                  <a:srgbClr val="9A6212"/>
                </a:solidFill>
                <a:latin typeface="BIZ UDPゴシック"/>
                <a:ea typeface="BIZ UDPゴシック"/>
                <a:cs typeface="BIZ UDPゴシック"/>
              </a:rPr>
              <a:t>−0.01 dB</a:t>
            </a:r>
            <a:r>
              <a:rPr lang="ja-JP" altLang="en-US" sz="1200" dirty="0">
                <a:solidFill>
                  <a:srgbClr val="1E2430"/>
                </a:solidFill>
                <a:latin typeface="BIZ UDPゴシック"/>
                <a:ea typeface="BIZ UDPゴシック"/>
                <a:cs typeface="BIZ UDPゴシック"/>
              </a:rPr>
              <a:t>／反射 </a:t>
            </a:r>
            <a:r>
              <a:rPr lang="ja-JP" altLang="en-US" sz="1200" b="1" dirty="0">
                <a:solidFill>
                  <a:srgbClr val="9A6212"/>
                </a:solidFill>
                <a:latin typeface="BIZ UDPゴシック"/>
                <a:ea typeface="BIZ UDPゴシック"/>
                <a:cs typeface="BIZ UDPゴシック"/>
              </a:rPr>
              <a:t>+0.05 dB</a:t>
            </a:r>
            <a:r>
              <a:rPr lang="ja-JP" altLang="en-US" sz="1200" dirty="0">
                <a:solidFill>
                  <a:srgbClr val="1E2430"/>
                </a:solidFill>
                <a:latin typeface="BIZ UDPゴシック"/>
                <a:ea typeface="BIZ UDPゴシック"/>
                <a:cs typeface="BIZ UDPゴシック"/>
              </a:rPr>
              <a:t>／FDN </a:t>
            </a:r>
            <a:r>
              <a:rPr lang="ja-JP" altLang="en-US" sz="1200" b="1" dirty="0">
                <a:solidFill>
                  <a:srgbClr val="9A6212"/>
                </a:solidFill>
                <a:latin typeface="BIZ UDPゴシック"/>
                <a:ea typeface="BIZ UDPゴシック"/>
                <a:cs typeface="BIZ UDPゴシック"/>
              </a:rPr>
              <a:t>−0.14 dB</a:t>
            </a:r>
            <a:r>
              <a:rPr lang="ja-JP" altLang="en-US" sz="1200" dirty="0">
                <a:solidFill>
                  <a:srgbClr val="1E2430"/>
                </a:solidFill>
                <a:latin typeface="BIZ UDPゴシック"/>
                <a:ea typeface="BIZ UDPゴシック"/>
                <a:cs typeface="BIZ UDPゴシック"/>
              </a:rPr>
              <a:t>）</a:t>
            </a:r>
          </a:p>
        </p:txBody>
      </p:sp>
      <p:sp>
        <p:nvSpPr>
          <p:cNvPr id="30" name="テキスト 30"/>
          <p:cNvSpPr txBox="1"/>
          <p:nvPr/>
        </p:nvSpPr>
        <p:spPr>
          <a:xfrm>
            <a:off x="548640" y="6540000"/>
            <a:ext cx="11091672"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dirty="0">
                <a:solidFill>
                  <a:srgbClr val="5C6677"/>
                </a:solidFill>
                <a:latin typeface="BIZ UDPゴシック"/>
                <a:ea typeface="BIZ UDPゴシック"/>
                <a:cs typeface="BIZ UDPゴシック"/>
              </a:rPr>
              <a:t>※ 数値は 2026-09-13 の回帰テスト（Flow 164 件）の実測。「旧実装」と書いた物は、コアを作り直す前の実測</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03　技術選定　｜　選ばなかった技術</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選ばなかった技術と、その理由</a:t>
            </a:r>
            <a:endParaRPr lang="ja-JP" altLang="en-US" sz="2600" dirty="0">
              <a:solidFill>
                <a:srgbClr val="1E2430"/>
              </a:solidFill>
              <a:latin typeface="BIZ UDPゴシック"/>
              <a:ea typeface="BIZ UDPゴシック"/>
              <a:cs typeface="BIZ UDPゴシック"/>
            </a:endParaRPr>
          </a:p>
        </p:txBody>
      </p:sp>
      <p:sp>
        <p:nvSpPr>
          <p:cNvPr id="4" name="テキスト 4"/>
          <p:cNvSpPr txBox="1"/>
          <p:nvPr/>
        </p:nvSpPr>
        <p:spPr>
          <a:xfrm>
            <a:off x="548640" y="1300000"/>
            <a:ext cx="11091672" cy="420000"/>
          </a:xfrm>
          <a:prstGeom prst="rect">
            <a:avLst/>
          </a:prstGeom>
          <a:noFill/>
          <a:ln>
            <a:noFill/>
          </a:ln>
        </p:spPr>
        <p:txBody>
          <a:bodyPr wrap="square" lIns="0" tIns="0" rIns="0" bIns="0" rtlCol="0" anchor="t">
            <a:noAutofit/>
          </a:bodyPr>
          <a:lstStyle/>
          <a:p>
            <a:pPr marL="0" indent="0" algn="l">
              <a:lnSpc>
                <a:spcPct val="120000"/>
              </a:lnSpc>
              <a:spcBef>
                <a:spcPts val="0"/>
              </a:spcBef>
              <a:spcAft>
                <a:spcPts val="0"/>
              </a:spcAft>
              <a:buNone/>
            </a:pPr>
            <a:r>
              <a:rPr lang="ja-JP" altLang="en-US" sz="1500" dirty="0">
                <a:solidFill>
                  <a:srgbClr val="1E2430"/>
                </a:solidFill>
                <a:latin typeface="BIZ UDPゴシック"/>
                <a:ea typeface="BIZ UDPゴシック"/>
                <a:cs typeface="BIZ UDPゴシック"/>
              </a:rPr>
              <a:t>どれも、大事にする 3 つ（連続性・即時性・方向性）のどれかを破るので外した。</a:t>
            </a:r>
          </a:p>
        </p:txBody>
      </p:sp>
      <p:sp>
        <p:nvSpPr>
          <p:cNvPr id="5" name="表の見出し 5"/>
          <p:cNvSpPr/>
          <p:nvPr/>
        </p:nvSpPr>
        <p:spPr>
          <a:xfrm>
            <a:off x="548640" y="1850000"/>
            <a:ext cx="11091672" cy="380000"/>
          </a:xfrm>
          <a:prstGeom prst="rect">
            <a:avLst/>
          </a:prstGeom>
          <a:solidFill>
            <a:srgbClr val="1E2430"/>
          </a:solidFill>
          <a:ln>
            <a:noFill/>
          </a:ln>
        </p:spPr>
        <p:txBody>
          <a:bodyPr/>
          <a:lstStyle/>
          <a:p>
            <a:endParaRPr lang="ja-JP" altLang="en-US"/>
          </a:p>
        </p:txBody>
      </p:sp>
      <p:sp>
        <p:nvSpPr>
          <p:cNvPr id="6" name="テキスト 6"/>
          <p:cNvSpPr txBox="1"/>
          <p:nvPr/>
        </p:nvSpPr>
        <p:spPr>
          <a:xfrm>
            <a:off x="698640" y="1940000"/>
            <a:ext cx="27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FFFFFF"/>
                </a:solidFill>
                <a:latin typeface="BIZ UDPゴシック"/>
                <a:ea typeface="BIZ UDPゴシック"/>
                <a:cs typeface="BIZ UDPゴシック"/>
              </a:rPr>
              <a:t>候補</a:t>
            </a:r>
            <a:endParaRPr lang="ja-JP" altLang="en-US" sz="1200" dirty="0">
              <a:solidFill>
                <a:srgbClr val="FFFFFF"/>
              </a:solidFill>
              <a:latin typeface="BIZ UDPゴシック"/>
              <a:ea typeface="BIZ UDPゴシック"/>
              <a:cs typeface="BIZ UDPゴシック"/>
            </a:endParaRPr>
          </a:p>
        </p:txBody>
      </p:sp>
      <p:sp>
        <p:nvSpPr>
          <p:cNvPr id="7" name="テキスト 7"/>
          <p:cNvSpPr txBox="1"/>
          <p:nvPr/>
        </p:nvSpPr>
        <p:spPr>
          <a:xfrm>
            <a:off x="3698640" y="1940000"/>
            <a:ext cx="605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FFFFFF"/>
                </a:solidFill>
                <a:latin typeface="BIZ UDPゴシック"/>
                <a:ea typeface="BIZ UDPゴシック"/>
                <a:cs typeface="BIZ UDPゴシック"/>
              </a:rPr>
              <a:t>選ばなかった理由 → 代わりに選んだ物</a:t>
            </a:r>
            <a:endParaRPr lang="ja-JP" altLang="en-US" sz="1200" dirty="0">
              <a:solidFill>
                <a:srgbClr val="FFFFFF"/>
              </a:solidFill>
              <a:latin typeface="BIZ UDPゴシック"/>
              <a:ea typeface="BIZ UDPゴシック"/>
              <a:cs typeface="BIZ UDPゴシック"/>
            </a:endParaRPr>
          </a:p>
        </p:txBody>
      </p:sp>
      <p:sp>
        <p:nvSpPr>
          <p:cNvPr id="8" name="テキスト 8"/>
          <p:cNvSpPr txBox="1"/>
          <p:nvPr/>
        </p:nvSpPr>
        <p:spPr>
          <a:xfrm>
            <a:off x="10048640" y="1940000"/>
            <a:ext cx="1441672"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FFFFFF"/>
                </a:solidFill>
                <a:latin typeface="BIZ UDPゴシック"/>
                <a:ea typeface="BIZ UDPゴシック"/>
                <a:cs typeface="BIZ UDPゴシック"/>
              </a:rPr>
              <a:t>物差し</a:t>
            </a:r>
            <a:endParaRPr lang="ja-JP" altLang="en-US" sz="1200" dirty="0">
              <a:solidFill>
                <a:srgbClr val="FFFFFF"/>
              </a:solidFill>
              <a:latin typeface="BIZ UDPゴシック"/>
              <a:ea typeface="BIZ UDPゴシック"/>
              <a:cs typeface="BIZ UDPゴシック"/>
            </a:endParaRPr>
          </a:p>
        </p:txBody>
      </p:sp>
      <p:sp>
        <p:nvSpPr>
          <p:cNvPr id="9" name="行 9"/>
          <p:cNvSpPr/>
          <p:nvPr/>
        </p:nvSpPr>
        <p:spPr>
          <a:xfrm>
            <a:off x="548640" y="2230000"/>
            <a:ext cx="11091672" cy="602857"/>
          </a:xfrm>
          <a:prstGeom prst="rect">
            <a:avLst/>
          </a:prstGeom>
          <a:solidFill>
            <a:srgbClr val="F0F2F5"/>
          </a:solidFill>
          <a:ln>
            <a:noFill/>
          </a:ln>
        </p:spPr>
        <p:txBody>
          <a:bodyPr/>
          <a:lstStyle/>
          <a:p>
            <a:endParaRPr lang="ja-JP" altLang="en-US"/>
          </a:p>
        </p:txBody>
      </p:sp>
      <p:sp>
        <p:nvSpPr>
          <p:cNvPr id="10" name="テキスト 10"/>
          <p:cNvSpPr txBox="1"/>
          <p:nvPr/>
        </p:nvSpPr>
        <p:spPr>
          <a:xfrm>
            <a:off x="698640" y="2310000"/>
            <a:ext cx="2700000" cy="482857"/>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開き具合を 0〜1 の数値で混ぜる（RTPC）</a:t>
            </a:r>
            <a:endParaRPr lang="ja-JP" altLang="en-US" sz="1250" dirty="0">
              <a:solidFill>
                <a:srgbClr val="1E2430"/>
              </a:solidFill>
              <a:latin typeface="BIZ UDPゴシック"/>
              <a:ea typeface="BIZ UDPゴシック"/>
              <a:cs typeface="BIZ UDPゴシック"/>
            </a:endParaRPr>
          </a:p>
        </p:txBody>
      </p:sp>
      <p:sp>
        <p:nvSpPr>
          <p:cNvPr id="11" name="テキスト 11"/>
          <p:cNvSpPr txBox="1"/>
          <p:nvPr/>
        </p:nvSpPr>
        <p:spPr>
          <a:xfrm>
            <a:off x="3698640" y="2290000"/>
            <a:ext cx="6050000" cy="502857"/>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どちら側の音源かが消える。扉 20° の隙間側と蝶番側の差 </a:t>
            </a:r>
            <a:r>
              <a:rPr lang="ja-JP" altLang="en-US" sz="1150" b="1" dirty="0">
                <a:solidFill>
                  <a:srgbClr val="9A6212"/>
                </a:solidFill>
                <a:latin typeface="BIZ UDPゴシック"/>
                <a:ea typeface="BIZ UDPゴシック"/>
                <a:cs typeface="BIZ UDPゴシック"/>
              </a:rPr>
              <a:t>12.8 dB</a:t>
            </a:r>
            <a:r>
              <a:rPr lang="ja-JP" altLang="en-US" sz="1150" dirty="0">
                <a:solidFill>
                  <a:srgbClr val="1E2430"/>
                </a:solidFill>
                <a:latin typeface="BIZ UDPゴシック"/>
                <a:ea typeface="BIZ UDPゴシック"/>
                <a:cs typeface="BIZ UDPゴシック"/>
              </a:rPr>
              <a:t> が出せない → 扉を動く板として幾何で解く</a:t>
            </a:r>
          </a:p>
        </p:txBody>
      </p:sp>
      <p:sp>
        <p:nvSpPr>
          <p:cNvPr id="12" name="テキスト 12"/>
          <p:cNvSpPr txBox="1"/>
          <p:nvPr/>
        </p:nvSpPr>
        <p:spPr>
          <a:xfrm>
            <a:off x="10048640" y="2290000"/>
            <a:ext cx="1441672" cy="502857"/>
          </a:xfrm>
          <a:prstGeom prst="rect">
            <a:avLst/>
          </a:prstGeom>
          <a:noFill/>
          <a:ln>
            <a:noFill/>
          </a:ln>
        </p:spPr>
        <p:txBody>
          <a:bodyPr wrap="square" lIns="0" tIns="0" rIns="0" bIns="0" rtlCol="0" anchor="ctr">
            <a:noAutofit/>
          </a:bodyPr>
          <a:lstStyle/>
          <a:p>
            <a:pPr marL="0" indent="0" algn="l">
              <a:lnSpc>
                <a:spcPct val="110000"/>
              </a:lnSpc>
              <a:spcBef>
                <a:spcPts val="0"/>
              </a:spcBef>
              <a:spcAft>
                <a:spcPts val="0"/>
              </a:spcAft>
              <a:buNone/>
            </a:pPr>
            <a:r>
              <a:rPr lang="ja-JP" altLang="en-US" sz="1150" b="1" dirty="0">
                <a:solidFill>
                  <a:srgbClr val="9A6212"/>
                </a:solidFill>
                <a:latin typeface="BIZ UDPゴシック"/>
                <a:ea typeface="BIZ UDPゴシック"/>
                <a:cs typeface="BIZ UDPゴシック"/>
              </a:rPr>
              <a:t>方向性</a:t>
            </a:r>
            <a:endParaRPr lang="ja-JP" altLang="en-US" sz="1150" dirty="0">
              <a:solidFill>
                <a:srgbClr val="9A6212"/>
              </a:solidFill>
              <a:latin typeface="BIZ UDPゴシック"/>
              <a:ea typeface="BIZ UDPゴシック"/>
              <a:cs typeface="BIZ UDPゴシック"/>
            </a:endParaRPr>
          </a:p>
        </p:txBody>
      </p:sp>
      <p:sp>
        <p:nvSpPr>
          <p:cNvPr id="13" name="テキスト 13"/>
          <p:cNvSpPr txBox="1"/>
          <p:nvPr/>
        </p:nvSpPr>
        <p:spPr>
          <a:xfrm>
            <a:off x="698640" y="2912857"/>
            <a:ext cx="2700000" cy="482857"/>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ja-JP" altLang="en-US" sz="1250" b="1" dirty="0">
                <a:solidFill>
                  <a:srgbClr val="1E2430"/>
                </a:solidFill>
                <a:latin typeface="BIZ UDPゴシック"/>
                <a:ea typeface="BIZ UDPゴシック"/>
                <a:cs typeface="BIZ UDPゴシック"/>
              </a:rPr>
              <a:t>扉の開口をレイで出す</a:t>
            </a:r>
            <a:endParaRPr lang="ja-JP" altLang="en-US" sz="1250" dirty="0">
              <a:solidFill>
                <a:srgbClr val="1E2430"/>
              </a:solidFill>
              <a:latin typeface="BIZ UDPゴシック"/>
              <a:ea typeface="BIZ UDPゴシック"/>
              <a:cs typeface="BIZ UDPゴシック"/>
            </a:endParaRPr>
          </a:p>
        </p:txBody>
      </p:sp>
      <p:sp>
        <p:nvSpPr>
          <p:cNvPr id="14" name="テキスト 14"/>
          <p:cNvSpPr txBox="1"/>
          <p:nvPr/>
        </p:nvSpPr>
        <p:spPr>
          <a:xfrm>
            <a:off x="3698640" y="2892857"/>
            <a:ext cx="6050000" cy="502857"/>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レイの揺れが扉に乗り、均すと立ち上がりが鈍る → 解析（1 フレーム </a:t>
            </a:r>
            <a:r>
              <a:rPr lang="ja-JP" altLang="en-US" sz="1150" b="1" dirty="0">
                <a:solidFill>
                  <a:srgbClr val="9A6212"/>
                </a:solidFill>
                <a:latin typeface="BIZ UDPゴシック"/>
                <a:ea typeface="BIZ UDPゴシック"/>
                <a:cs typeface="BIZ UDPゴシック"/>
              </a:rPr>
              <a:t>0.004 ms</a:t>
            </a:r>
            <a:r>
              <a:rPr lang="ja-JP" altLang="en-US" sz="1150" dirty="0">
                <a:solidFill>
                  <a:srgbClr val="1E2430"/>
                </a:solidFill>
                <a:latin typeface="BIZ UDPゴシック"/>
                <a:ea typeface="BIZ UDPゴシック"/>
                <a:cs typeface="BIZ UDPゴシック"/>
              </a:rPr>
              <a:t>）</a:t>
            </a:r>
          </a:p>
        </p:txBody>
      </p:sp>
      <p:sp>
        <p:nvSpPr>
          <p:cNvPr id="15" name="テキスト 15"/>
          <p:cNvSpPr txBox="1"/>
          <p:nvPr/>
        </p:nvSpPr>
        <p:spPr>
          <a:xfrm>
            <a:off x="10048640" y="2892857"/>
            <a:ext cx="1441672" cy="502857"/>
          </a:xfrm>
          <a:prstGeom prst="rect">
            <a:avLst/>
          </a:prstGeom>
          <a:noFill/>
          <a:ln>
            <a:noFill/>
          </a:ln>
        </p:spPr>
        <p:txBody>
          <a:bodyPr wrap="square" lIns="0" tIns="0" rIns="0" bIns="0" rtlCol="0" anchor="ctr">
            <a:noAutofit/>
          </a:bodyPr>
          <a:lstStyle/>
          <a:p>
            <a:pPr marL="0" indent="0" algn="l">
              <a:lnSpc>
                <a:spcPct val="110000"/>
              </a:lnSpc>
              <a:spcBef>
                <a:spcPts val="0"/>
              </a:spcBef>
              <a:spcAft>
                <a:spcPts val="0"/>
              </a:spcAft>
              <a:buNone/>
            </a:pPr>
            <a:r>
              <a:rPr lang="ja-JP" altLang="en-US" sz="1150" b="1" dirty="0">
                <a:solidFill>
                  <a:srgbClr val="9A6212"/>
                </a:solidFill>
                <a:latin typeface="BIZ UDPゴシック"/>
                <a:ea typeface="BIZ UDPゴシック"/>
                <a:cs typeface="BIZ UDPゴシック"/>
              </a:rPr>
              <a:t>連続性・即時性</a:t>
            </a:r>
            <a:endParaRPr lang="ja-JP" altLang="en-US" sz="1150" dirty="0">
              <a:solidFill>
                <a:srgbClr val="9A6212"/>
              </a:solidFill>
              <a:latin typeface="BIZ UDPゴシック"/>
              <a:ea typeface="BIZ UDPゴシック"/>
              <a:cs typeface="BIZ UDPゴシック"/>
            </a:endParaRPr>
          </a:p>
        </p:txBody>
      </p:sp>
      <p:sp>
        <p:nvSpPr>
          <p:cNvPr id="16" name="行 16"/>
          <p:cNvSpPr/>
          <p:nvPr/>
        </p:nvSpPr>
        <p:spPr>
          <a:xfrm>
            <a:off x="548640" y="3435714"/>
            <a:ext cx="11091672" cy="602857"/>
          </a:xfrm>
          <a:prstGeom prst="rect">
            <a:avLst/>
          </a:prstGeom>
          <a:solidFill>
            <a:srgbClr val="F0F2F5"/>
          </a:solidFill>
          <a:ln>
            <a:noFill/>
          </a:ln>
        </p:spPr>
        <p:txBody>
          <a:bodyPr/>
          <a:lstStyle/>
          <a:p>
            <a:endParaRPr lang="ja-JP" altLang="en-US"/>
          </a:p>
        </p:txBody>
      </p:sp>
      <p:sp>
        <p:nvSpPr>
          <p:cNvPr id="17" name="テキスト 17"/>
          <p:cNvSpPr txBox="1"/>
          <p:nvPr/>
        </p:nvSpPr>
        <p:spPr>
          <a:xfrm>
            <a:off x="698640" y="3515714"/>
            <a:ext cx="2700000" cy="482857"/>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ja-JP" altLang="en-US" sz="1250" b="1" dirty="0">
                <a:solidFill>
                  <a:srgbClr val="1E2430"/>
                </a:solidFill>
                <a:latin typeface="BIZ UDPゴシック"/>
                <a:ea typeface="BIZ UDPゴシック"/>
                <a:cs typeface="BIZ UDPゴシック"/>
              </a:rPr>
              <a:t>UTD の回折</a:t>
            </a:r>
            <a:endParaRPr lang="ja-JP" altLang="en-US" sz="1250" dirty="0">
              <a:solidFill>
                <a:srgbClr val="1E2430"/>
              </a:solidFill>
              <a:latin typeface="BIZ UDPゴシック"/>
              <a:ea typeface="BIZ UDPゴシック"/>
              <a:cs typeface="BIZ UDPゴシック"/>
            </a:endParaRPr>
          </a:p>
        </p:txBody>
      </p:sp>
      <p:sp>
        <p:nvSpPr>
          <p:cNvPr id="18" name="テキスト 18"/>
          <p:cNvSpPr txBox="1"/>
          <p:nvPr/>
        </p:nvSpPr>
        <p:spPr>
          <a:xfrm>
            <a:off x="3698640" y="3495714"/>
            <a:ext cx="6050000" cy="502857"/>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稜線が入れ替わると最大 </a:t>
            </a:r>
            <a:r>
              <a:rPr lang="ja-JP" altLang="en-US" sz="1150" b="1" dirty="0">
                <a:solidFill>
                  <a:srgbClr val="9A6212"/>
                </a:solidFill>
                <a:latin typeface="BIZ UDPゴシック"/>
                <a:ea typeface="BIZ UDPゴシック"/>
                <a:cs typeface="BIZ UDPゴシック"/>
              </a:rPr>
              <a:t>7.9 dB</a:t>
            </a:r>
            <a:r>
              <a:rPr lang="ja-JP" altLang="en-US" sz="1150" dirty="0">
                <a:solidFill>
                  <a:srgbClr val="1E2430"/>
                </a:solidFill>
                <a:latin typeface="BIZ UDPゴシック"/>
                <a:ea typeface="BIZ UDPゴシック"/>
                <a:cs typeface="BIZ UDPゴシック"/>
              </a:rPr>
              <a:t> 跳んだ（旧実装）→ 前川式（</a:t>
            </a:r>
            <a:r>
              <a:rPr lang="ja-JP" altLang="en-US" sz="1150" b="1" dirty="0">
                <a:solidFill>
                  <a:srgbClr val="9A6212"/>
                </a:solidFill>
                <a:latin typeface="BIZ UDPゴシック"/>
                <a:ea typeface="BIZ UDPゴシック"/>
                <a:cs typeface="BIZ UDPゴシック"/>
              </a:rPr>
              <a:t>0.35 dB</a:t>
            </a:r>
            <a:r>
              <a:rPr lang="ja-JP" altLang="en-US" sz="1150" dirty="0">
                <a:solidFill>
                  <a:srgbClr val="1E2430"/>
                </a:solidFill>
                <a:latin typeface="BIZ UDPゴシック"/>
                <a:ea typeface="BIZ UDPゴシック"/>
                <a:cs typeface="BIZ UDPゴシック"/>
              </a:rPr>
              <a:t>）</a:t>
            </a:r>
          </a:p>
        </p:txBody>
      </p:sp>
      <p:sp>
        <p:nvSpPr>
          <p:cNvPr id="19" name="テキスト 19"/>
          <p:cNvSpPr txBox="1"/>
          <p:nvPr/>
        </p:nvSpPr>
        <p:spPr>
          <a:xfrm>
            <a:off x="10048640" y="3495714"/>
            <a:ext cx="1441672" cy="502857"/>
          </a:xfrm>
          <a:prstGeom prst="rect">
            <a:avLst/>
          </a:prstGeom>
          <a:noFill/>
          <a:ln>
            <a:noFill/>
          </a:ln>
        </p:spPr>
        <p:txBody>
          <a:bodyPr wrap="square" lIns="0" tIns="0" rIns="0" bIns="0" rtlCol="0" anchor="ctr">
            <a:noAutofit/>
          </a:bodyPr>
          <a:lstStyle/>
          <a:p>
            <a:pPr marL="0" indent="0" algn="l">
              <a:lnSpc>
                <a:spcPct val="110000"/>
              </a:lnSpc>
              <a:spcBef>
                <a:spcPts val="0"/>
              </a:spcBef>
              <a:spcAft>
                <a:spcPts val="0"/>
              </a:spcAft>
              <a:buNone/>
            </a:pPr>
            <a:r>
              <a:rPr lang="ja-JP" altLang="en-US" sz="1150" b="1" dirty="0">
                <a:solidFill>
                  <a:srgbClr val="9A6212"/>
                </a:solidFill>
                <a:latin typeface="BIZ UDPゴシック"/>
                <a:ea typeface="BIZ UDPゴシック"/>
                <a:cs typeface="BIZ UDPゴシック"/>
              </a:rPr>
              <a:t>連続性</a:t>
            </a:r>
            <a:endParaRPr lang="ja-JP" altLang="en-US" sz="1150" dirty="0">
              <a:solidFill>
                <a:srgbClr val="9A6212"/>
              </a:solidFill>
              <a:latin typeface="BIZ UDPゴシック"/>
              <a:ea typeface="BIZ UDPゴシック"/>
              <a:cs typeface="BIZ UDPゴシック"/>
            </a:endParaRPr>
          </a:p>
        </p:txBody>
      </p:sp>
      <p:sp>
        <p:nvSpPr>
          <p:cNvPr id="20" name="テキスト 20"/>
          <p:cNvSpPr txBox="1"/>
          <p:nvPr/>
        </p:nvSpPr>
        <p:spPr>
          <a:xfrm>
            <a:off x="698640" y="4118571"/>
            <a:ext cx="2700000" cy="482857"/>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ja-JP" altLang="en-US" sz="1250" b="1" dirty="0">
                <a:solidFill>
                  <a:srgbClr val="1E2430"/>
                </a:solidFill>
                <a:latin typeface="BIZ UDPゴシック"/>
                <a:ea typeface="BIZ UDPゴシック"/>
                <a:cs typeface="BIZ UDPゴシック"/>
              </a:rPr>
              <a:t>点の虚像（見えた／消えた）</a:t>
            </a:r>
            <a:endParaRPr lang="ja-JP" altLang="en-US" sz="1250" dirty="0">
              <a:solidFill>
                <a:srgbClr val="1E2430"/>
              </a:solidFill>
              <a:latin typeface="BIZ UDPゴシック"/>
              <a:ea typeface="BIZ UDPゴシック"/>
              <a:cs typeface="BIZ UDPゴシック"/>
            </a:endParaRPr>
          </a:p>
        </p:txBody>
      </p:sp>
      <p:sp>
        <p:nvSpPr>
          <p:cNvPr id="21" name="テキスト 21"/>
          <p:cNvSpPr txBox="1"/>
          <p:nvPr/>
        </p:nvSpPr>
        <p:spPr>
          <a:xfrm>
            <a:off x="3698640" y="4098571"/>
            <a:ext cx="6050000" cy="502857"/>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壁の縁で 0/1 に跳び、歩いたときの揺れが </a:t>
            </a:r>
            <a:r>
              <a:rPr lang="ja-JP" altLang="en-US" sz="1150" b="1" dirty="0">
                <a:solidFill>
                  <a:srgbClr val="9A6212"/>
                </a:solidFill>
                <a:latin typeface="BIZ UDPゴシック"/>
                <a:ea typeface="BIZ UDPゴシック"/>
                <a:cs typeface="BIZ UDPゴシック"/>
              </a:rPr>
              <a:t>4〜7.6 倍</a:t>
            </a:r>
            <a:r>
              <a:rPr lang="ja-JP" altLang="en-US" sz="1150" dirty="0">
                <a:solidFill>
                  <a:srgbClr val="1E2430"/>
                </a:solidFill>
                <a:latin typeface="BIZ UDPゴシック"/>
                <a:ea typeface="BIZ UDPゴシック"/>
                <a:cs typeface="BIZ UDPゴシック"/>
              </a:rPr>
              <a:t>（旧実装）→ 見える割合の面</a:t>
            </a:r>
          </a:p>
        </p:txBody>
      </p:sp>
      <p:sp>
        <p:nvSpPr>
          <p:cNvPr id="22" name="テキスト 22"/>
          <p:cNvSpPr txBox="1"/>
          <p:nvPr/>
        </p:nvSpPr>
        <p:spPr>
          <a:xfrm>
            <a:off x="10048640" y="4098571"/>
            <a:ext cx="1441672" cy="502857"/>
          </a:xfrm>
          <a:prstGeom prst="rect">
            <a:avLst/>
          </a:prstGeom>
          <a:noFill/>
          <a:ln>
            <a:noFill/>
          </a:ln>
        </p:spPr>
        <p:txBody>
          <a:bodyPr wrap="square" lIns="0" tIns="0" rIns="0" bIns="0" rtlCol="0" anchor="ctr">
            <a:noAutofit/>
          </a:bodyPr>
          <a:lstStyle/>
          <a:p>
            <a:pPr marL="0" indent="0" algn="l">
              <a:lnSpc>
                <a:spcPct val="110000"/>
              </a:lnSpc>
              <a:spcBef>
                <a:spcPts val="0"/>
              </a:spcBef>
              <a:spcAft>
                <a:spcPts val="0"/>
              </a:spcAft>
              <a:buNone/>
            </a:pPr>
            <a:r>
              <a:rPr lang="ja-JP" altLang="en-US" sz="1150" b="1" dirty="0">
                <a:solidFill>
                  <a:srgbClr val="9A6212"/>
                </a:solidFill>
                <a:latin typeface="BIZ UDPゴシック"/>
                <a:ea typeface="BIZ UDPゴシック"/>
                <a:cs typeface="BIZ UDPゴシック"/>
              </a:rPr>
              <a:t>連続性</a:t>
            </a:r>
            <a:endParaRPr lang="ja-JP" altLang="en-US" sz="1150" dirty="0">
              <a:solidFill>
                <a:srgbClr val="9A6212"/>
              </a:solidFill>
              <a:latin typeface="BIZ UDPゴシック"/>
              <a:ea typeface="BIZ UDPゴシック"/>
              <a:cs typeface="BIZ UDPゴシック"/>
            </a:endParaRPr>
          </a:p>
        </p:txBody>
      </p:sp>
      <p:sp>
        <p:nvSpPr>
          <p:cNvPr id="23" name="行 23"/>
          <p:cNvSpPr/>
          <p:nvPr/>
        </p:nvSpPr>
        <p:spPr>
          <a:xfrm>
            <a:off x="548640" y="4641428"/>
            <a:ext cx="11091672" cy="602857"/>
          </a:xfrm>
          <a:prstGeom prst="rect">
            <a:avLst/>
          </a:prstGeom>
          <a:solidFill>
            <a:srgbClr val="F0F2F5"/>
          </a:solidFill>
          <a:ln>
            <a:noFill/>
          </a:ln>
        </p:spPr>
        <p:txBody>
          <a:bodyPr/>
          <a:lstStyle/>
          <a:p>
            <a:endParaRPr lang="ja-JP" altLang="en-US"/>
          </a:p>
        </p:txBody>
      </p:sp>
      <p:sp>
        <p:nvSpPr>
          <p:cNvPr id="24" name="テキスト 24"/>
          <p:cNvSpPr txBox="1"/>
          <p:nvPr/>
        </p:nvSpPr>
        <p:spPr>
          <a:xfrm>
            <a:off x="698640" y="4721428"/>
            <a:ext cx="2700000" cy="482857"/>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ja-JP" altLang="en-US" sz="1250" b="1" dirty="0">
                <a:solidFill>
                  <a:srgbClr val="1E2430"/>
                </a:solidFill>
                <a:latin typeface="BIZ UDPゴシック"/>
                <a:ea typeface="BIZ UDPゴシック"/>
                <a:cs typeface="BIZ UDPゴシック"/>
              </a:rPr>
              <a:t>畳み込み IR の残響</a:t>
            </a:r>
            <a:endParaRPr lang="ja-JP" altLang="en-US" sz="1250" dirty="0">
              <a:solidFill>
                <a:srgbClr val="1E2430"/>
              </a:solidFill>
              <a:latin typeface="BIZ UDPゴシック"/>
              <a:ea typeface="BIZ UDPゴシック"/>
              <a:cs typeface="BIZ UDPゴシック"/>
            </a:endParaRPr>
          </a:p>
        </p:txBody>
      </p:sp>
      <p:sp>
        <p:nvSpPr>
          <p:cNvPr id="25" name="テキスト 25"/>
          <p:cNvSpPr txBox="1"/>
          <p:nvPr/>
        </p:nvSpPr>
        <p:spPr>
          <a:xfrm>
            <a:off x="3698640" y="4701428"/>
            <a:ext cx="6050000" cy="502857"/>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作り直しと差し替えの継ぎ目で響きが扉に遅れる。開けた IR から閉めた分を引けない → 部屋ごとの FDN</a:t>
            </a:r>
          </a:p>
        </p:txBody>
      </p:sp>
      <p:sp>
        <p:nvSpPr>
          <p:cNvPr id="26" name="テキスト 26"/>
          <p:cNvSpPr txBox="1"/>
          <p:nvPr/>
        </p:nvSpPr>
        <p:spPr>
          <a:xfrm>
            <a:off x="10048640" y="4701428"/>
            <a:ext cx="1441672" cy="502857"/>
          </a:xfrm>
          <a:prstGeom prst="rect">
            <a:avLst/>
          </a:prstGeom>
          <a:noFill/>
          <a:ln>
            <a:noFill/>
          </a:ln>
        </p:spPr>
        <p:txBody>
          <a:bodyPr wrap="square" lIns="0" tIns="0" rIns="0" bIns="0" rtlCol="0" anchor="ctr">
            <a:noAutofit/>
          </a:bodyPr>
          <a:lstStyle/>
          <a:p>
            <a:pPr marL="0" indent="0" algn="l">
              <a:lnSpc>
                <a:spcPct val="110000"/>
              </a:lnSpc>
              <a:spcBef>
                <a:spcPts val="0"/>
              </a:spcBef>
              <a:spcAft>
                <a:spcPts val="0"/>
              </a:spcAft>
              <a:buNone/>
            </a:pPr>
            <a:r>
              <a:rPr lang="ja-JP" altLang="en-US" sz="1150" b="1" dirty="0">
                <a:solidFill>
                  <a:srgbClr val="9A6212"/>
                </a:solidFill>
                <a:latin typeface="BIZ UDPゴシック"/>
                <a:ea typeface="BIZ UDPゴシック"/>
                <a:cs typeface="BIZ UDPゴシック"/>
              </a:rPr>
              <a:t>連続性・即時性</a:t>
            </a:r>
            <a:endParaRPr lang="ja-JP" altLang="en-US" sz="1150" dirty="0">
              <a:solidFill>
                <a:srgbClr val="9A6212"/>
              </a:solidFill>
              <a:latin typeface="BIZ UDPゴシック"/>
              <a:ea typeface="BIZ UDPゴシック"/>
              <a:cs typeface="BIZ UDPゴシック"/>
            </a:endParaRPr>
          </a:p>
        </p:txBody>
      </p:sp>
      <p:sp>
        <p:nvSpPr>
          <p:cNvPr id="27" name="テキスト 27"/>
          <p:cNvSpPr txBox="1"/>
          <p:nvPr/>
        </p:nvSpPr>
        <p:spPr>
          <a:xfrm>
            <a:off x="698640" y="5324285"/>
            <a:ext cx="2700000" cy="482857"/>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ja-JP" altLang="en-US" sz="1250" b="1" dirty="0">
                <a:solidFill>
                  <a:srgbClr val="1E2430"/>
                </a:solidFill>
                <a:latin typeface="BIZ UDPゴシック"/>
                <a:ea typeface="BIZ UDPゴシック"/>
                <a:cs typeface="BIZ UDPゴシック"/>
              </a:rPr>
              <a:t>事前計算（ベイク）だけで作る</a:t>
            </a:r>
            <a:endParaRPr lang="ja-JP" altLang="en-US" sz="1250" dirty="0">
              <a:solidFill>
                <a:srgbClr val="1E2430"/>
              </a:solidFill>
              <a:latin typeface="BIZ UDPゴシック"/>
              <a:ea typeface="BIZ UDPゴシック"/>
              <a:cs typeface="BIZ UDPゴシック"/>
            </a:endParaRPr>
          </a:p>
        </p:txBody>
      </p:sp>
      <p:sp>
        <p:nvSpPr>
          <p:cNvPr id="28" name="テキスト 28"/>
          <p:cNvSpPr txBox="1"/>
          <p:nvPr/>
        </p:nvSpPr>
        <p:spPr>
          <a:xfrm>
            <a:off x="3698640" y="5304285"/>
            <a:ext cx="6050000" cy="502857"/>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扉の角度ごとに焼き直せない。部屋の形から決まる物だけ先に作り、扉や耳の状況は毎フレーム解く</a:t>
            </a:r>
          </a:p>
        </p:txBody>
      </p:sp>
      <p:sp>
        <p:nvSpPr>
          <p:cNvPr id="29" name="テキスト 29"/>
          <p:cNvSpPr txBox="1"/>
          <p:nvPr/>
        </p:nvSpPr>
        <p:spPr>
          <a:xfrm>
            <a:off x="10048640" y="5304285"/>
            <a:ext cx="1441672" cy="502857"/>
          </a:xfrm>
          <a:prstGeom prst="rect">
            <a:avLst/>
          </a:prstGeom>
          <a:noFill/>
          <a:ln>
            <a:noFill/>
          </a:ln>
        </p:spPr>
        <p:txBody>
          <a:bodyPr wrap="square" lIns="0" tIns="0" rIns="0" bIns="0" rtlCol="0" anchor="ctr">
            <a:noAutofit/>
          </a:bodyPr>
          <a:lstStyle/>
          <a:p>
            <a:pPr marL="0" indent="0" algn="l">
              <a:lnSpc>
                <a:spcPct val="110000"/>
              </a:lnSpc>
              <a:spcBef>
                <a:spcPts val="0"/>
              </a:spcBef>
              <a:spcAft>
                <a:spcPts val="0"/>
              </a:spcAft>
              <a:buNone/>
            </a:pPr>
            <a:r>
              <a:rPr lang="ja-JP" altLang="en-US" sz="1150" b="1" dirty="0">
                <a:solidFill>
                  <a:srgbClr val="9A6212"/>
                </a:solidFill>
                <a:latin typeface="BIZ UDPゴシック"/>
                <a:ea typeface="BIZ UDPゴシック"/>
                <a:cs typeface="BIZ UDPゴシック"/>
              </a:rPr>
              <a:t>即時性</a:t>
            </a:r>
            <a:endParaRPr lang="ja-JP" altLang="en-US" sz="1150" dirty="0">
              <a:solidFill>
                <a:srgbClr val="9A6212"/>
              </a:solidFill>
              <a:latin typeface="BIZ UDPゴシック"/>
              <a:ea typeface="BIZ UDPゴシック"/>
              <a:cs typeface="BIZ UDPゴシック"/>
            </a:endParaRPr>
          </a:p>
        </p:txBody>
      </p:sp>
      <p:sp>
        <p:nvSpPr>
          <p:cNvPr id="30" name="行 30"/>
          <p:cNvSpPr/>
          <p:nvPr/>
        </p:nvSpPr>
        <p:spPr>
          <a:xfrm>
            <a:off x="548640" y="5847142"/>
            <a:ext cx="11091672" cy="602857"/>
          </a:xfrm>
          <a:prstGeom prst="rect">
            <a:avLst/>
          </a:prstGeom>
          <a:solidFill>
            <a:srgbClr val="F0F2F5"/>
          </a:solidFill>
          <a:ln>
            <a:noFill/>
          </a:ln>
        </p:spPr>
        <p:txBody>
          <a:bodyPr/>
          <a:lstStyle/>
          <a:p>
            <a:endParaRPr lang="ja-JP" altLang="en-US"/>
          </a:p>
        </p:txBody>
      </p:sp>
      <p:sp>
        <p:nvSpPr>
          <p:cNvPr id="31" name="テキスト 31"/>
          <p:cNvSpPr txBox="1"/>
          <p:nvPr/>
        </p:nvSpPr>
        <p:spPr>
          <a:xfrm>
            <a:off x="698640" y="5927142"/>
            <a:ext cx="2700000" cy="482857"/>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ja-JP" altLang="en-US" sz="1250" b="1" dirty="0">
                <a:solidFill>
                  <a:srgbClr val="1E2430"/>
                </a:solidFill>
                <a:latin typeface="BIZ UDPゴシック"/>
                <a:ea typeface="BIZ UDPゴシック"/>
                <a:cs typeface="BIZ UDPゴシック"/>
              </a:rPr>
              <a:t>部屋どうしを信号で結ぶ FDN</a:t>
            </a:r>
            <a:endParaRPr lang="ja-JP" altLang="en-US" sz="1250" dirty="0">
              <a:solidFill>
                <a:srgbClr val="1E2430"/>
              </a:solidFill>
              <a:latin typeface="BIZ UDPゴシック"/>
              <a:ea typeface="BIZ UDPゴシック"/>
              <a:cs typeface="BIZ UDPゴシック"/>
            </a:endParaRPr>
          </a:p>
        </p:txBody>
      </p:sp>
      <p:sp>
        <p:nvSpPr>
          <p:cNvPr id="32" name="テキスト 32"/>
          <p:cNvSpPr txBox="1"/>
          <p:nvPr/>
        </p:nvSpPr>
        <p:spPr>
          <a:xfrm>
            <a:off x="3698640" y="5907142"/>
            <a:ext cx="6050000" cy="502857"/>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150" dirty="0">
                <a:solidFill>
                  <a:srgbClr val="1E2430"/>
                </a:solidFill>
                <a:latin typeface="BIZ UDPゴシック"/>
                <a:ea typeface="BIZ UDPゴシック"/>
                <a:cs typeface="BIZ UDPゴシック"/>
              </a:rPr>
              <a:t>山の周波数で往復の利得が 1 を超えて発散した（</a:t>
            </a:r>
            <a:r>
              <a:rPr lang="ja-JP" altLang="en-US" sz="1150" b="1" dirty="0">
                <a:solidFill>
                  <a:srgbClr val="9A6212"/>
                </a:solidFill>
                <a:latin typeface="BIZ UDPゴシック"/>
                <a:ea typeface="BIZ UDPゴシック"/>
                <a:cs typeface="BIZ UDPゴシック"/>
              </a:rPr>
              <a:t>0.01 → 13,508</a:t>
            </a:r>
            <a:r>
              <a:rPr lang="ja-JP" altLang="en-US" sz="1150" dirty="0">
                <a:solidFill>
                  <a:srgbClr val="1E2430"/>
                </a:solidFill>
                <a:latin typeface="BIZ UDPゴシック"/>
                <a:ea typeface="BIZ UDPゴシック"/>
                <a:cs typeface="BIZ UDPゴシック"/>
              </a:rPr>
              <a:t>）→ 音源 → 部屋 → 耳の前向きだけ</a:t>
            </a:r>
          </a:p>
        </p:txBody>
      </p:sp>
      <p:sp>
        <p:nvSpPr>
          <p:cNvPr id="33" name="テキスト 33"/>
          <p:cNvSpPr txBox="1"/>
          <p:nvPr/>
        </p:nvSpPr>
        <p:spPr>
          <a:xfrm>
            <a:off x="10048640" y="5907142"/>
            <a:ext cx="1441672" cy="502857"/>
          </a:xfrm>
          <a:prstGeom prst="rect">
            <a:avLst/>
          </a:prstGeom>
          <a:noFill/>
          <a:ln>
            <a:noFill/>
          </a:ln>
        </p:spPr>
        <p:txBody>
          <a:bodyPr wrap="square" lIns="0" tIns="0" rIns="0" bIns="0" rtlCol="0" anchor="ctr">
            <a:noAutofit/>
          </a:bodyPr>
          <a:lstStyle/>
          <a:p>
            <a:pPr marL="0" indent="0" algn="l">
              <a:lnSpc>
                <a:spcPct val="110000"/>
              </a:lnSpc>
              <a:spcBef>
                <a:spcPts val="0"/>
              </a:spcBef>
              <a:spcAft>
                <a:spcPts val="0"/>
              </a:spcAft>
              <a:buNone/>
            </a:pPr>
            <a:r>
              <a:rPr lang="ja-JP" altLang="en-US" sz="1150" b="1" dirty="0">
                <a:solidFill>
                  <a:srgbClr val="9A6212"/>
                </a:solidFill>
                <a:latin typeface="BIZ UDPゴシック"/>
                <a:ea typeface="BIZ UDPゴシック"/>
                <a:cs typeface="BIZ UDPゴシック"/>
              </a:rPr>
              <a:t>壊れない</a:t>
            </a:r>
            <a:endParaRPr lang="ja-JP" altLang="en-US" sz="1150" dirty="0">
              <a:solidFill>
                <a:srgbClr val="9A6212"/>
              </a:solidFill>
              <a:latin typeface="BIZ UDPゴシック"/>
              <a:ea typeface="BIZ UDPゴシック"/>
              <a:cs typeface="BIZ UDPゴシック"/>
            </a:endParaRPr>
          </a:p>
        </p:txBody>
      </p:sp>
      <p:sp>
        <p:nvSpPr>
          <p:cNvPr id="34" name="テキスト 34"/>
          <p:cNvSpPr txBox="1"/>
          <p:nvPr/>
        </p:nvSpPr>
        <p:spPr>
          <a:xfrm>
            <a:off x="548640" y="6540000"/>
            <a:ext cx="11091672"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00" dirty="0">
                <a:solidFill>
                  <a:srgbClr val="5C6677"/>
                </a:solidFill>
                <a:latin typeface="BIZ UDPゴシック"/>
                <a:ea typeface="BIZ UDPゴシック"/>
                <a:cs typeface="BIZ UDPゴシック"/>
              </a:rPr>
              <a:t>※ 数値は 2026-09-13 の回帰テスト（Flow 164 件）の実測。「旧実装」と書いた物は、コアを作り直す前の実測</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2190</TotalTime>
  <Words>3452</Words>
  <Application>Microsoft Office PowerPoint</Application>
  <PresentationFormat>ワイド画面</PresentationFormat>
  <Paragraphs>367</Paragraphs>
  <Slides>17</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17</vt:i4>
      </vt:variant>
    </vt:vector>
  </HeadingPairs>
  <TitlesOfParts>
    <vt:vector size="22" baseType="lpstr">
      <vt:lpstr>BIZ UDPゴシック</vt:lpstr>
      <vt:lpstr>游ゴシック</vt:lpstr>
      <vt:lpstr>游ゴシック Light</vt:lpstr>
      <vt:lpstr>Arial</vt:lpstr>
      <vt:lpstr>Office テーマ</vt:lpstr>
      <vt:lpstr>01　作りたい物</vt:lpstr>
      <vt:lpstr>どんなものが作りたい？</vt:lpstr>
      <vt:lpstr>ゲームとしてのアプローチ</vt:lpstr>
      <vt:lpstr>作りたい物の実現のためにどんなものが必要？</vt:lpstr>
      <vt:lpstr>これを音で面白くするためには？</vt:lpstr>
      <vt:lpstr>作りたい物の実現のためにどんなものが必要？</vt:lpstr>
      <vt:lpstr>これらがどういった表現に使える？</vt:lpstr>
      <vt:lpstr>ドアの開閉の仕組み</vt:lpstr>
      <vt:lpstr>開いた瞬間にドアが開いたが伝わるように</vt:lpstr>
      <vt:lpstr>音がドアの裏側にあるのがわかるように</vt:lpstr>
      <vt:lpstr>隣の部屋の響きは、戸口の横幅から鳴らす</vt:lpstr>
      <vt:lpstr>戸口から鳴らして、何が変わったか</vt:lpstr>
      <vt:lpstr>初期反射の虚像を「点」から「面」にする</vt:lpstr>
      <vt:lpstr>残響は IR で作ってから、FDN に作り直した</vt:lpstr>
      <vt:lpstr>部屋ごとの FDN を、扉と同じ量で動かす</vt:lpstr>
      <vt:lpstr>4 つの手法を足さずに、全体のエネルギーから配る</vt:lpstr>
      <vt:lpstr>選ばなかった技術と、その理由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OHAT13B60714 竹内寛登</dc:creator>
  <cp:lastModifiedBy>OHAT13B60714 竹内寛登</cp:lastModifiedBy>
  <cp:revision>7</cp:revision>
  <dcterms:created xsi:type="dcterms:W3CDTF">2026-09-10T13:27:45Z</dcterms:created>
  <dcterms:modified xsi:type="dcterms:W3CDTF">2026-09-14T03:18:46Z</dcterms:modified>
</cp:coreProperties>
</file>