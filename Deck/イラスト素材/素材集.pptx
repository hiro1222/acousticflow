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ACFE8-6AD6-4725-99DB-1E5CBC20DF13}" v="1" dt="2026-09-18T07:30:40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A3C4E-8514-8B83-FE2A-285A012FE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BB4E6E5-5D29-FC97-B0D8-65C087F3C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3E8099-FAC6-747A-D4F4-C5D98AC9B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CF228D-9DF8-77C4-8FAD-B8A2FAD34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43E47A-C368-58CF-EC75-65ECEFFD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601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73D49-A275-870A-2280-4BE155512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2E6ECC-378D-3FC7-1318-86F2BFE48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01848-5A1C-B5BF-E1D6-869489184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558946-5E32-ACE4-4D3D-8C5578D7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EA2615-1972-AFA4-90B4-F236DC64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2531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544C78-41E0-EDC0-5F61-FF9329BF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5BAF89-C37F-D418-E319-325F4BFC7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5EEB06-4C91-47F8-EB6D-8EEFBB6CE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5D894D-8DCA-A853-8ACC-67D8BE4F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189333-C615-560C-08B0-1860C954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395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3B1F7C-5BC9-0D03-C7ED-53375408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2D0388-AD30-0476-3C05-4523E7CCF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903D71-8BCD-CA04-C544-99FA04FFD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A6EB03-B126-EB4C-89BD-5EDD62065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84C633-FB12-2B0E-36DE-6DEC19FAA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BCA8FA-CC12-C6B5-F9E0-77FB7D14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840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CD847D-0366-FAFD-20B6-BCB76D42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3258C6-BC24-5E5F-7AB6-7C7B557AF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AF5A97-9C99-7076-8AB0-F48596395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4BDCDBC-3A2C-29AA-DA0E-5D9CACA783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2B02B2C-A244-F27A-F4D4-A82DAD8E6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DA2B241-384A-A6D6-A7B6-A9EB01CD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93518D2-4033-1046-59FD-4B8BDFB57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7D896ED-DBAC-7356-794C-C2563C3C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926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D40D97-250A-F6AF-7107-82CC2270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3897A72-885D-43D8-5F29-987730DD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288A01D-0F33-AC42-2C7A-A4FBCB26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3B317C4-30E9-8000-CA0B-417FF604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6747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8161FC-2683-B082-D1AA-DF15DA7D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92F8E52-BA0A-2DCE-8595-BCF5ED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0DE87E-52EB-3072-20E7-B71EDC1D2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376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41E990-569E-7C34-631B-E74777196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81E26E-634C-BA68-1542-D72F21B05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2C09022-BD68-977E-32AD-28AB5BF24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99B59C-4C15-2F0E-9589-0D25653DD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A8DB41-75FF-9056-090C-AF72D5BA9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69E810-C42A-7B20-B313-B5A1519A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4897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A1B674-10E8-BF62-682E-62E6BF0E7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DF79050-13CF-4D18-6339-D3941F7553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0F4891-72AF-F1D9-27C9-0D91778B6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9BDCEC-9BC6-64CE-3B18-DE4C16A7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04B2C2-3F51-3980-5BEA-413AF34F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C86812-6860-EB54-CABE-293D5199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535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210067-7390-8361-643D-9CE68DFA7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C9466DC-F3C0-FE93-87E6-5D649BFCC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BA193E-A29E-562D-6992-188B6061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E2863E-9363-28E8-DB96-D0DCC39B0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3B6499-12E3-CDE4-77FB-B44A5D4B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523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289E0D6-E2FA-7E83-A7CC-EBAF7EFF5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A491F3-3267-80EA-B5B0-FB0E2B67E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CDD8D1-FE86-9118-9D7C-AF1CF8DD3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15A288-4716-1884-4394-A3A5B712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9C6286-2694-A796-1940-D59A1ABE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704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1FBD23-492B-2985-6729-33FF9478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EE682E-232A-1757-E4CF-8A1043C9D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8D80-FD2E-CC38-685D-49B13065B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9BC3C-C340-4B51-95ED-243F9F16900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504E48-68AE-B0F0-F2C3-8287254E1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101281-24CC-108D-038D-DE019E05F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24D13-AE03-4197-9CD9-8F37CF8DB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64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リスナー（上から見た頭）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鼻の向きが正面。耳の位置を示すとき用</a:t>
            </a:r>
            <a:endParaRPr lang="ja-JP" altLang="en-US" sz="1300" dirty="0"/>
          </a:p>
        </p:txBody>
      </p:sp>
      <p:grpSp>
        <p:nvGrpSpPr>
          <p:cNvPr id="11" name="01_リスナー">
            <a:extLst>
              <a:ext uri="{FF2B5EF4-FFF2-40B4-BE49-F238E27FC236}">
                <a16:creationId xmlns:a16="http://schemas.microsoft.com/office/drawing/2014/main" id="{D46ED544-2B22-8503-4D7C-AAA7E7435B10}"/>
              </a:ext>
            </a:extLst>
          </p:cNvPr>
          <p:cNvGrpSpPr/>
          <p:nvPr/>
        </p:nvGrpSpPr>
        <p:grpSpPr>
          <a:xfrm>
            <a:off x="3110789" y="2455164"/>
            <a:ext cx="5898082" cy="2087047"/>
            <a:chOff x="3110789" y="2455164"/>
            <a:chExt cx="5898082" cy="2087047"/>
          </a:xfrm>
        </p:grpSpPr>
        <p:sp>
          <p:nvSpPr>
            <p:cNvPr id="3" name="鼻 3"/>
            <p:cNvSpPr/>
            <p:nvPr/>
          </p:nvSpPr>
          <p:spPr>
            <a:xfrm>
              <a:off x="3884371" y="2455164"/>
              <a:ext cx="460858" cy="452628"/>
            </a:xfrm>
            <a:custGeom>
              <a:avLst/>
              <a:gdLst/>
              <a:ahLst/>
              <a:cxnLst/>
              <a:rect l="0" t="0" r="r" b="b"/>
              <a:pathLst>
                <a:path w="460858" h="452628">
                  <a:moveTo>
                    <a:pt x="230429" y="0"/>
                  </a:moveTo>
                  <a:lnTo>
                    <a:pt x="460858" y="452628"/>
                  </a:lnTo>
                  <a:lnTo>
                    <a:pt x="0" y="452628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4" name="耳 4"/>
            <p:cNvSpPr/>
            <p:nvPr/>
          </p:nvSpPr>
          <p:spPr>
            <a:xfrm>
              <a:off x="3110789" y="3302813"/>
              <a:ext cx="362102" cy="52669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5" name="耳 5"/>
            <p:cNvSpPr/>
            <p:nvPr/>
          </p:nvSpPr>
          <p:spPr>
            <a:xfrm>
              <a:off x="4756709" y="3302813"/>
              <a:ext cx="362102" cy="52669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6" name="頭 6"/>
            <p:cNvSpPr/>
            <p:nvPr/>
          </p:nvSpPr>
          <p:spPr>
            <a:xfrm>
              <a:off x="3291840" y="2743200"/>
              <a:ext cx="1645920" cy="16459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E2430"/>
              </a:solidFill>
            </a:ln>
          </p:spPr>
        </p:sp>
        <p:sp>
          <p:nvSpPr>
            <p:cNvPr id="7" name="鼻 7"/>
            <p:cNvSpPr/>
            <p:nvPr/>
          </p:nvSpPr>
          <p:spPr>
            <a:xfrm>
              <a:off x="8501669" y="3010662"/>
              <a:ext cx="507202" cy="425871"/>
            </a:xfrm>
            <a:custGeom>
              <a:avLst/>
              <a:gdLst/>
              <a:ahLst/>
              <a:cxnLst/>
              <a:rect l="0" t="0" r="r" b="b"/>
              <a:pathLst>
                <a:path w="507202" h="425871">
                  <a:moveTo>
                    <a:pt x="507202" y="0"/>
                  </a:moveTo>
                  <a:lnTo>
                    <a:pt x="230429" y="425871"/>
                  </a:lnTo>
                  <a:lnTo>
                    <a:pt x="0" y="26757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8" name="耳 8"/>
            <p:cNvSpPr/>
            <p:nvPr/>
          </p:nvSpPr>
          <p:spPr>
            <a:xfrm>
              <a:off x="7454189" y="2590109"/>
              <a:ext cx="362102" cy="52669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9" name="耳 9"/>
            <p:cNvSpPr/>
            <p:nvPr/>
          </p:nvSpPr>
          <p:spPr>
            <a:xfrm>
              <a:off x="8277149" y="4015517"/>
              <a:ext cx="362102" cy="52669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0" name="頭 10"/>
            <p:cNvSpPr/>
            <p:nvPr/>
          </p:nvSpPr>
          <p:spPr>
            <a:xfrm>
              <a:off x="7223760" y="2743200"/>
              <a:ext cx="1645920" cy="16459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E2430"/>
              </a:solidFill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音源（スピーカー）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色違いで 2 つ</a:t>
            </a:r>
            <a:endParaRPr lang="ja-JP" altLang="en-US" sz="1300" dirty="0"/>
          </a:p>
        </p:txBody>
      </p:sp>
      <p:grpSp>
        <p:nvGrpSpPr>
          <p:cNvPr id="13" name="02_音源">
            <a:extLst>
              <a:ext uri="{FF2B5EF4-FFF2-40B4-BE49-F238E27FC236}">
                <a16:creationId xmlns:a16="http://schemas.microsoft.com/office/drawing/2014/main" id="{804EEE13-AE96-CFFB-68EE-7648C0AB15D6}"/>
              </a:ext>
            </a:extLst>
          </p:cNvPr>
          <p:cNvGrpSpPr/>
          <p:nvPr/>
        </p:nvGrpSpPr>
        <p:grpSpPr>
          <a:xfrm>
            <a:off x="3291840" y="2798064"/>
            <a:ext cx="6144768" cy="1536192"/>
            <a:chOff x="3291840" y="2798064"/>
            <a:chExt cx="6144768" cy="1536192"/>
          </a:xfrm>
        </p:grpSpPr>
        <p:sp>
          <p:nvSpPr>
            <p:cNvPr id="3" name="本体 3"/>
            <p:cNvSpPr/>
            <p:nvPr/>
          </p:nvSpPr>
          <p:spPr>
            <a:xfrm>
              <a:off x="3291840" y="3255264"/>
              <a:ext cx="512064" cy="621792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4" name="コーン 4"/>
            <p:cNvSpPr/>
            <p:nvPr/>
          </p:nvSpPr>
          <p:spPr>
            <a:xfrm>
              <a:off x="3803904" y="2798064"/>
              <a:ext cx="585216" cy="1536192"/>
            </a:xfrm>
            <a:custGeom>
              <a:avLst/>
              <a:gdLst/>
              <a:ahLst/>
              <a:cxnLst/>
              <a:rect l="0" t="0" r="r" b="b"/>
              <a:pathLst>
                <a:path w="585216" h="1536192">
                  <a:moveTo>
                    <a:pt x="0" y="457200"/>
                  </a:moveTo>
                  <a:lnTo>
                    <a:pt x="585216" y="0"/>
                  </a:lnTo>
                  <a:lnTo>
                    <a:pt x="585216" y="1536192"/>
                  </a:lnTo>
                  <a:lnTo>
                    <a:pt x="0" y="1078992"/>
                  </a:lnTo>
                  <a:close/>
                </a:path>
              </a:pathLst>
            </a:custGeom>
            <a:solidFill>
              <a:srgbClr val="00C2C7"/>
            </a:solidFill>
            <a:ln>
              <a:noFill/>
            </a:ln>
          </p:spPr>
        </p:sp>
        <p:sp>
          <p:nvSpPr>
            <p:cNvPr id="5" name="弧 5"/>
            <p:cNvSpPr/>
            <p:nvPr/>
          </p:nvSpPr>
          <p:spPr>
            <a:xfrm>
              <a:off x="4673615" y="3281665"/>
              <a:ext cx="117841" cy="568989"/>
            </a:xfrm>
            <a:custGeom>
              <a:avLst/>
              <a:gdLst/>
              <a:ahLst/>
              <a:cxnLst/>
              <a:rect l="0" t="0" r="r" b="b"/>
              <a:pathLst>
                <a:path w="117841" h="568989" fill="none">
                  <a:moveTo>
                    <a:pt x="0" y="568989"/>
                  </a:moveTo>
                  <a:lnTo>
                    <a:pt x="34700" y="529421"/>
                  </a:lnTo>
                  <a:lnTo>
                    <a:pt x="63939" y="485663"/>
                  </a:lnTo>
                  <a:lnTo>
                    <a:pt x="87215" y="438462"/>
                  </a:lnTo>
                  <a:lnTo>
                    <a:pt x="104132" y="388627"/>
                  </a:lnTo>
                  <a:lnTo>
                    <a:pt x="114399" y="337010"/>
                  </a:lnTo>
                  <a:lnTo>
                    <a:pt x="117841" y="284495"/>
                  </a:lnTo>
                  <a:lnTo>
                    <a:pt x="114399" y="231979"/>
                  </a:lnTo>
                  <a:lnTo>
                    <a:pt x="104132" y="180362"/>
                  </a:lnTo>
                  <a:lnTo>
                    <a:pt x="87215" y="130527"/>
                  </a:lnTo>
                  <a:lnTo>
                    <a:pt x="63939" y="83327"/>
                  </a:lnTo>
                  <a:lnTo>
                    <a:pt x="34700" y="39568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6" name="弧 6"/>
            <p:cNvSpPr/>
            <p:nvPr/>
          </p:nvSpPr>
          <p:spPr>
            <a:xfrm>
              <a:off x="4893451" y="3061829"/>
              <a:ext cx="208901" cy="1008662"/>
            </a:xfrm>
            <a:custGeom>
              <a:avLst/>
              <a:gdLst/>
              <a:ahLst/>
              <a:cxnLst/>
              <a:rect l="0" t="0" r="r" b="b"/>
              <a:pathLst>
                <a:path w="208901" h="1008662" fill="none">
                  <a:moveTo>
                    <a:pt x="0" y="1008662"/>
                  </a:moveTo>
                  <a:lnTo>
                    <a:pt x="61514" y="938519"/>
                  </a:lnTo>
                  <a:lnTo>
                    <a:pt x="113346" y="860947"/>
                  </a:lnTo>
                  <a:lnTo>
                    <a:pt x="154609" y="777273"/>
                  </a:lnTo>
                  <a:lnTo>
                    <a:pt x="184598" y="688929"/>
                  </a:lnTo>
                  <a:lnTo>
                    <a:pt x="202799" y="597427"/>
                  </a:lnTo>
                  <a:lnTo>
                    <a:pt x="208901" y="504331"/>
                  </a:lnTo>
                  <a:lnTo>
                    <a:pt x="202799" y="411236"/>
                  </a:lnTo>
                  <a:lnTo>
                    <a:pt x="184598" y="319733"/>
                  </a:lnTo>
                  <a:lnTo>
                    <a:pt x="154609" y="231389"/>
                  </a:lnTo>
                  <a:lnTo>
                    <a:pt x="113346" y="147715"/>
                  </a:lnTo>
                  <a:lnTo>
                    <a:pt x="61514" y="7014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7" name="弧 7"/>
            <p:cNvSpPr/>
            <p:nvPr/>
          </p:nvSpPr>
          <p:spPr>
            <a:xfrm>
              <a:off x="5113288" y="2841992"/>
              <a:ext cx="299960" cy="1448336"/>
            </a:xfrm>
            <a:custGeom>
              <a:avLst/>
              <a:gdLst/>
              <a:ahLst/>
              <a:cxnLst/>
              <a:rect l="0" t="0" r="r" b="b"/>
              <a:pathLst>
                <a:path w="299960" h="1448336" fill="none">
                  <a:moveTo>
                    <a:pt x="0" y="1448336"/>
                  </a:moveTo>
                  <a:lnTo>
                    <a:pt x="88328" y="1347617"/>
                  </a:lnTo>
                  <a:lnTo>
                    <a:pt x="162753" y="1236232"/>
                  </a:lnTo>
                  <a:lnTo>
                    <a:pt x="222003" y="1116085"/>
                  </a:lnTo>
                  <a:lnTo>
                    <a:pt x="265064" y="989232"/>
                  </a:lnTo>
                  <a:lnTo>
                    <a:pt x="291199" y="857843"/>
                  </a:lnTo>
                  <a:lnTo>
                    <a:pt x="299960" y="724168"/>
                  </a:lnTo>
                  <a:lnTo>
                    <a:pt x="291199" y="590492"/>
                  </a:lnTo>
                  <a:lnTo>
                    <a:pt x="265064" y="459104"/>
                  </a:lnTo>
                  <a:lnTo>
                    <a:pt x="222003" y="332251"/>
                  </a:lnTo>
                  <a:lnTo>
                    <a:pt x="162753" y="212104"/>
                  </a:lnTo>
                  <a:lnTo>
                    <a:pt x="88328" y="100718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8" name="本体 8"/>
            <p:cNvSpPr/>
            <p:nvPr/>
          </p:nvSpPr>
          <p:spPr>
            <a:xfrm>
              <a:off x="7315200" y="3255264"/>
              <a:ext cx="512064" cy="621792"/>
            </a:xfrm>
            <a:prstGeom prst="rect">
              <a:avLst/>
            </a:prstGeom>
            <a:solidFill>
              <a:srgbClr val="1E2430"/>
            </a:solidFill>
            <a:ln>
              <a:noFill/>
            </a:ln>
          </p:spPr>
        </p:sp>
        <p:sp>
          <p:nvSpPr>
            <p:cNvPr id="9" name="コーン 9"/>
            <p:cNvSpPr/>
            <p:nvPr/>
          </p:nvSpPr>
          <p:spPr>
            <a:xfrm>
              <a:off x="7827264" y="2798064"/>
              <a:ext cx="585216" cy="1536192"/>
            </a:xfrm>
            <a:custGeom>
              <a:avLst/>
              <a:gdLst/>
              <a:ahLst/>
              <a:cxnLst/>
              <a:rect l="0" t="0" r="r" b="b"/>
              <a:pathLst>
                <a:path w="585216" h="1536192">
                  <a:moveTo>
                    <a:pt x="0" y="457200"/>
                  </a:moveTo>
                  <a:lnTo>
                    <a:pt x="585216" y="0"/>
                  </a:lnTo>
                  <a:lnTo>
                    <a:pt x="585216" y="1536192"/>
                  </a:lnTo>
                  <a:lnTo>
                    <a:pt x="0" y="1078992"/>
                  </a:lnTo>
                  <a:close/>
                </a:path>
              </a:pathLst>
            </a:custGeom>
            <a:solidFill>
              <a:srgbClr val="1E2430"/>
            </a:solidFill>
            <a:ln>
              <a:noFill/>
            </a:ln>
          </p:spPr>
        </p:sp>
        <p:sp>
          <p:nvSpPr>
            <p:cNvPr id="10" name="弧 10"/>
            <p:cNvSpPr/>
            <p:nvPr/>
          </p:nvSpPr>
          <p:spPr>
            <a:xfrm>
              <a:off x="8696975" y="3281665"/>
              <a:ext cx="117841" cy="568989"/>
            </a:xfrm>
            <a:custGeom>
              <a:avLst/>
              <a:gdLst/>
              <a:ahLst/>
              <a:cxnLst/>
              <a:rect l="0" t="0" r="r" b="b"/>
              <a:pathLst>
                <a:path w="117841" h="568989" fill="none">
                  <a:moveTo>
                    <a:pt x="0" y="568989"/>
                  </a:moveTo>
                  <a:lnTo>
                    <a:pt x="34700" y="529421"/>
                  </a:lnTo>
                  <a:lnTo>
                    <a:pt x="63939" y="485663"/>
                  </a:lnTo>
                  <a:lnTo>
                    <a:pt x="87215" y="438462"/>
                  </a:lnTo>
                  <a:lnTo>
                    <a:pt x="104132" y="388627"/>
                  </a:lnTo>
                  <a:lnTo>
                    <a:pt x="114399" y="337010"/>
                  </a:lnTo>
                  <a:lnTo>
                    <a:pt x="117841" y="284495"/>
                  </a:lnTo>
                  <a:lnTo>
                    <a:pt x="114399" y="231979"/>
                  </a:lnTo>
                  <a:lnTo>
                    <a:pt x="104132" y="180362"/>
                  </a:lnTo>
                  <a:lnTo>
                    <a:pt x="87215" y="130527"/>
                  </a:lnTo>
                  <a:lnTo>
                    <a:pt x="63939" y="83327"/>
                  </a:lnTo>
                  <a:lnTo>
                    <a:pt x="34700" y="39568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1E2430"/>
              </a:solidFill>
            </a:ln>
          </p:spPr>
        </p:sp>
        <p:sp>
          <p:nvSpPr>
            <p:cNvPr id="11" name="弧 11"/>
            <p:cNvSpPr/>
            <p:nvPr/>
          </p:nvSpPr>
          <p:spPr>
            <a:xfrm>
              <a:off x="8916811" y="3061829"/>
              <a:ext cx="208901" cy="1008662"/>
            </a:xfrm>
            <a:custGeom>
              <a:avLst/>
              <a:gdLst/>
              <a:ahLst/>
              <a:cxnLst/>
              <a:rect l="0" t="0" r="r" b="b"/>
              <a:pathLst>
                <a:path w="208901" h="1008662" fill="none">
                  <a:moveTo>
                    <a:pt x="0" y="1008662"/>
                  </a:moveTo>
                  <a:lnTo>
                    <a:pt x="61514" y="938519"/>
                  </a:lnTo>
                  <a:lnTo>
                    <a:pt x="113346" y="860947"/>
                  </a:lnTo>
                  <a:lnTo>
                    <a:pt x="154609" y="777273"/>
                  </a:lnTo>
                  <a:lnTo>
                    <a:pt x="184598" y="688929"/>
                  </a:lnTo>
                  <a:lnTo>
                    <a:pt x="202799" y="597427"/>
                  </a:lnTo>
                  <a:lnTo>
                    <a:pt x="208901" y="504331"/>
                  </a:lnTo>
                  <a:lnTo>
                    <a:pt x="202799" y="411236"/>
                  </a:lnTo>
                  <a:lnTo>
                    <a:pt x="184598" y="319733"/>
                  </a:lnTo>
                  <a:lnTo>
                    <a:pt x="154609" y="231389"/>
                  </a:lnTo>
                  <a:lnTo>
                    <a:pt x="113346" y="147715"/>
                  </a:lnTo>
                  <a:lnTo>
                    <a:pt x="61514" y="7014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1E2430"/>
              </a:solidFill>
            </a:ln>
          </p:spPr>
        </p:sp>
        <p:sp>
          <p:nvSpPr>
            <p:cNvPr id="12" name="弧 12"/>
            <p:cNvSpPr/>
            <p:nvPr/>
          </p:nvSpPr>
          <p:spPr>
            <a:xfrm>
              <a:off x="9136648" y="2841992"/>
              <a:ext cx="299960" cy="1448336"/>
            </a:xfrm>
            <a:custGeom>
              <a:avLst/>
              <a:gdLst/>
              <a:ahLst/>
              <a:cxnLst/>
              <a:rect l="0" t="0" r="r" b="b"/>
              <a:pathLst>
                <a:path w="299960" h="1448336" fill="none">
                  <a:moveTo>
                    <a:pt x="0" y="1448336"/>
                  </a:moveTo>
                  <a:lnTo>
                    <a:pt x="88328" y="1347617"/>
                  </a:lnTo>
                  <a:lnTo>
                    <a:pt x="162753" y="1236232"/>
                  </a:lnTo>
                  <a:lnTo>
                    <a:pt x="222003" y="1116085"/>
                  </a:lnTo>
                  <a:lnTo>
                    <a:pt x="265064" y="989232"/>
                  </a:lnTo>
                  <a:lnTo>
                    <a:pt x="291199" y="857843"/>
                  </a:lnTo>
                  <a:lnTo>
                    <a:pt x="299960" y="724168"/>
                  </a:lnTo>
                  <a:lnTo>
                    <a:pt x="291199" y="590492"/>
                  </a:lnTo>
                  <a:lnTo>
                    <a:pt x="265064" y="459104"/>
                  </a:lnTo>
                  <a:lnTo>
                    <a:pt x="222003" y="332251"/>
                  </a:lnTo>
                  <a:lnTo>
                    <a:pt x="162753" y="212104"/>
                  </a:lnTo>
                  <a:lnTo>
                    <a:pt x="88328" y="100718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1E2430"/>
              </a:solidFill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扉：閉じている（透過だけ）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上から見た図。音源は奥の部屋、耳は手前</a:t>
            </a:r>
            <a:endParaRPr lang="ja-JP" altLang="en-US" sz="1300" dirty="0"/>
          </a:p>
        </p:txBody>
      </p:sp>
      <p:grpSp>
        <p:nvGrpSpPr>
          <p:cNvPr id="18" name="03_扉_閉じている">
            <a:extLst>
              <a:ext uri="{FF2B5EF4-FFF2-40B4-BE49-F238E27FC236}">
                <a16:creationId xmlns:a16="http://schemas.microsoft.com/office/drawing/2014/main" id="{768559C7-516E-8ED9-813C-EF22F9D64E35}"/>
              </a:ext>
            </a:extLst>
          </p:cNvPr>
          <p:cNvGrpSpPr/>
          <p:nvPr/>
        </p:nvGrpSpPr>
        <p:grpSpPr>
          <a:xfrm>
            <a:off x="2926080" y="1004011"/>
            <a:ext cx="6400800" cy="5232197"/>
            <a:chOff x="2926080" y="1004011"/>
            <a:chExt cx="6400800" cy="5232197"/>
          </a:xfrm>
        </p:grpSpPr>
        <p:sp>
          <p:nvSpPr>
            <p:cNvPr id="3" name="壁 3"/>
            <p:cNvSpPr/>
            <p:nvPr/>
          </p:nvSpPr>
          <p:spPr>
            <a:xfrm>
              <a:off x="2926080" y="3602736"/>
              <a:ext cx="2432304" cy="109728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4" name="壁 4"/>
            <p:cNvSpPr/>
            <p:nvPr/>
          </p:nvSpPr>
          <p:spPr>
            <a:xfrm>
              <a:off x="6894576" y="3602736"/>
              <a:ext cx="2432304" cy="109728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cxnSp>
          <p:nvCxnSpPr>
            <p:cNvPr id="5" name="線 5"/>
            <p:cNvCxnSpPr/>
            <p:nvPr/>
          </p:nvCxnSpPr>
          <p:spPr>
            <a:xfrm>
              <a:off x="5358384" y="3657600"/>
              <a:ext cx="1508760" cy="0"/>
            </a:xfrm>
            <a:prstGeom prst="line">
              <a:avLst/>
            </a:prstGeom>
            <a:ln w="50800">
              <a:solidFill>
                <a:srgbClr val="00868C"/>
              </a:solidFill>
            </a:ln>
          </p:spPr>
        </p:cxnSp>
        <p:sp>
          <p:nvSpPr>
            <p:cNvPr id="6" name="蝶番 6"/>
            <p:cNvSpPr/>
            <p:nvPr/>
          </p:nvSpPr>
          <p:spPr>
            <a:xfrm>
              <a:off x="5312664" y="3611880"/>
              <a:ext cx="91440" cy="91440"/>
            </a:xfrm>
            <a:prstGeom prst="ellipse">
              <a:avLst/>
            </a:prstGeom>
            <a:solidFill>
              <a:srgbClr val="1E2430"/>
            </a:solidFill>
            <a:ln>
              <a:noFill/>
            </a:ln>
          </p:spPr>
        </p:sp>
        <p:cxnSp>
          <p:nvCxnSpPr>
            <p:cNvPr id="7" name="線 7"/>
            <p:cNvCxnSpPr/>
            <p:nvPr/>
          </p:nvCxnSpPr>
          <p:spPr>
            <a:xfrm>
              <a:off x="6126480" y="1234440"/>
              <a:ext cx="0" cy="4800600"/>
            </a:xfrm>
            <a:prstGeom prst="line">
              <a:avLst/>
            </a:prstGeom>
            <a:ln w="25400">
              <a:solidFill>
                <a:srgbClr val="B8C0CC"/>
              </a:solidFill>
              <a:prstDash val="dash"/>
            </a:ln>
          </p:spPr>
        </p:cxnSp>
        <p:sp>
          <p:nvSpPr>
            <p:cNvPr id="8" name="テキスト 8"/>
            <p:cNvSpPr txBox="1"/>
            <p:nvPr/>
          </p:nvSpPr>
          <p:spPr>
            <a:xfrm>
              <a:off x="6236208" y="3886200"/>
              <a:ext cx="914400" cy="2377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100" b="1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透過</a:t>
              </a:r>
              <a:endParaRPr lang="ja-JP" altLang="en-US" sz="1100" dirty="0"/>
            </a:p>
          </p:txBody>
        </p:sp>
        <p:sp>
          <p:nvSpPr>
            <p:cNvPr id="9" name="本体 9"/>
            <p:cNvSpPr/>
            <p:nvPr/>
          </p:nvSpPr>
          <p:spPr>
            <a:xfrm>
              <a:off x="5852160" y="1141171"/>
              <a:ext cx="153619" cy="186538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10" name="コーン 10"/>
            <p:cNvSpPr/>
            <p:nvPr/>
          </p:nvSpPr>
          <p:spPr>
            <a:xfrm>
              <a:off x="6005779" y="1004011"/>
              <a:ext cx="175565" cy="460858"/>
            </a:xfrm>
            <a:custGeom>
              <a:avLst/>
              <a:gdLst/>
              <a:ahLst/>
              <a:cxnLst/>
              <a:rect l="0" t="0" r="r" b="b"/>
              <a:pathLst>
                <a:path w="175565" h="460858">
                  <a:moveTo>
                    <a:pt x="0" y="137160"/>
                  </a:moveTo>
                  <a:lnTo>
                    <a:pt x="175565" y="0"/>
                  </a:lnTo>
                  <a:lnTo>
                    <a:pt x="175565" y="460858"/>
                  </a:lnTo>
                  <a:lnTo>
                    <a:pt x="0" y="323698"/>
                  </a:lnTo>
                  <a:close/>
                </a:path>
              </a:pathLst>
            </a:custGeom>
            <a:solidFill>
              <a:srgbClr val="00C2C7"/>
            </a:solidFill>
            <a:ln>
              <a:noFill/>
            </a:ln>
          </p:spPr>
        </p:sp>
        <p:sp>
          <p:nvSpPr>
            <p:cNvPr id="11" name="弧 11"/>
            <p:cNvSpPr/>
            <p:nvPr/>
          </p:nvSpPr>
          <p:spPr>
            <a:xfrm>
              <a:off x="6266692" y="1149092"/>
              <a:ext cx="35352" cy="170697"/>
            </a:xfrm>
            <a:custGeom>
              <a:avLst/>
              <a:gdLst/>
              <a:ahLst/>
              <a:cxnLst/>
              <a:rect l="0" t="0" r="r" b="b"/>
              <a:pathLst>
                <a:path w="35352" h="170697" fill="none">
                  <a:moveTo>
                    <a:pt x="0" y="170697"/>
                  </a:moveTo>
                  <a:lnTo>
                    <a:pt x="10410" y="158826"/>
                  </a:lnTo>
                  <a:lnTo>
                    <a:pt x="19182" y="145699"/>
                  </a:lnTo>
                  <a:lnTo>
                    <a:pt x="26165" y="131539"/>
                  </a:lnTo>
                  <a:lnTo>
                    <a:pt x="31240" y="116588"/>
                  </a:lnTo>
                  <a:lnTo>
                    <a:pt x="34320" y="101103"/>
                  </a:lnTo>
                  <a:lnTo>
                    <a:pt x="35352" y="85348"/>
                  </a:lnTo>
                  <a:lnTo>
                    <a:pt x="34320" y="69594"/>
                  </a:lnTo>
                  <a:lnTo>
                    <a:pt x="31240" y="54109"/>
                  </a:lnTo>
                  <a:lnTo>
                    <a:pt x="26165" y="39158"/>
                  </a:lnTo>
                  <a:lnTo>
                    <a:pt x="19182" y="24998"/>
                  </a:lnTo>
                  <a:lnTo>
                    <a:pt x="10410" y="1187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2" name="弧 12"/>
            <p:cNvSpPr/>
            <p:nvPr/>
          </p:nvSpPr>
          <p:spPr>
            <a:xfrm>
              <a:off x="6332643" y="1083141"/>
              <a:ext cx="62670" cy="302599"/>
            </a:xfrm>
            <a:custGeom>
              <a:avLst/>
              <a:gdLst/>
              <a:ahLst/>
              <a:cxnLst/>
              <a:rect l="0" t="0" r="r" b="b"/>
              <a:pathLst>
                <a:path w="62670" h="302599" fill="none">
                  <a:moveTo>
                    <a:pt x="0" y="302599"/>
                  </a:moveTo>
                  <a:lnTo>
                    <a:pt x="18454" y="281556"/>
                  </a:lnTo>
                  <a:lnTo>
                    <a:pt x="34004" y="258284"/>
                  </a:lnTo>
                  <a:lnTo>
                    <a:pt x="46383" y="233182"/>
                  </a:lnTo>
                  <a:lnTo>
                    <a:pt x="55379" y="206679"/>
                  </a:lnTo>
                  <a:lnTo>
                    <a:pt x="60840" y="179228"/>
                  </a:lnTo>
                  <a:lnTo>
                    <a:pt x="62670" y="151299"/>
                  </a:lnTo>
                  <a:lnTo>
                    <a:pt x="60840" y="123371"/>
                  </a:lnTo>
                  <a:lnTo>
                    <a:pt x="55379" y="95920"/>
                  </a:lnTo>
                  <a:lnTo>
                    <a:pt x="46383" y="69417"/>
                  </a:lnTo>
                  <a:lnTo>
                    <a:pt x="34004" y="44315"/>
                  </a:lnTo>
                  <a:lnTo>
                    <a:pt x="18454" y="2104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3" name="弧 13"/>
            <p:cNvSpPr/>
            <p:nvPr/>
          </p:nvSpPr>
          <p:spPr>
            <a:xfrm>
              <a:off x="6398594" y="1017190"/>
              <a:ext cx="89988" cy="434501"/>
            </a:xfrm>
            <a:custGeom>
              <a:avLst/>
              <a:gdLst/>
              <a:ahLst/>
              <a:cxnLst/>
              <a:rect l="0" t="0" r="r" b="b"/>
              <a:pathLst>
                <a:path w="89988" h="434501" fill="none">
                  <a:moveTo>
                    <a:pt x="0" y="434501"/>
                  </a:moveTo>
                  <a:lnTo>
                    <a:pt x="26498" y="404285"/>
                  </a:lnTo>
                  <a:lnTo>
                    <a:pt x="48826" y="370870"/>
                  </a:lnTo>
                  <a:lnTo>
                    <a:pt x="66601" y="334825"/>
                  </a:lnTo>
                  <a:lnTo>
                    <a:pt x="79519" y="296770"/>
                  </a:lnTo>
                  <a:lnTo>
                    <a:pt x="87360" y="257353"/>
                  </a:lnTo>
                  <a:lnTo>
                    <a:pt x="89988" y="217250"/>
                  </a:lnTo>
                  <a:lnTo>
                    <a:pt x="87360" y="177148"/>
                  </a:lnTo>
                  <a:lnTo>
                    <a:pt x="79519" y="137731"/>
                  </a:lnTo>
                  <a:lnTo>
                    <a:pt x="66601" y="99675"/>
                  </a:lnTo>
                  <a:lnTo>
                    <a:pt x="48826" y="63631"/>
                  </a:lnTo>
                  <a:lnTo>
                    <a:pt x="26498" y="30215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4" name="鼻 14"/>
            <p:cNvSpPr/>
            <p:nvPr/>
          </p:nvSpPr>
          <p:spPr>
            <a:xfrm>
              <a:off x="6070153" y="5763463"/>
              <a:ext cx="112654" cy="110642"/>
            </a:xfrm>
            <a:custGeom>
              <a:avLst/>
              <a:gdLst/>
              <a:ahLst/>
              <a:cxnLst/>
              <a:rect l="0" t="0" r="r" b="b"/>
              <a:pathLst>
                <a:path w="112654" h="110642">
                  <a:moveTo>
                    <a:pt x="56327" y="0"/>
                  </a:moveTo>
                  <a:lnTo>
                    <a:pt x="112654" y="110642"/>
                  </a:lnTo>
                  <a:lnTo>
                    <a:pt x="0" y="110642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5" name="耳 15"/>
            <p:cNvSpPr/>
            <p:nvPr/>
          </p:nvSpPr>
          <p:spPr>
            <a:xfrm>
              <a:off x="5881055" y="5970666"/>
              <a:ext cx="88514" cy="1287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6" name="耳 16"/>
            <p:cNvSpPr/>
            <p:nvPr/>
          </p:nvSpPr>
          <p:spPr>
            <a:xfrm>
              <a:off x="6283391" y="5970666"/>
              <a:ext cx="88514" cy="1287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7" name="頭 17"/>
            <p:cNvSpPr/>
            <p:nvPr/>
          </p:nvSpPr>
          <p:spPr>
            <a:xfrm>
              <a:off x="5925312" y="5833872"/>
              <a:ext cx="402336" cy="40233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E2430"/>
              </a:solidFill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扉：開き始め（回折は板の端で曲がる）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上から見た図。音源は奥の部屋、耳は手前</a:t>
            </a:r>
            <a:endParaRPr lang="ja-JP" altLang="en-US" sz="1300" dirty="0"/>
          </a:p>
        </p:txBody>
      </p:sp>
      <p:grpSp>
        <p:nvGrpSpPr>
          <p:cNvPr id="21" name="04_扉_開き始め">
            <a:extLst>
              <a:ext uri="{FF2B5EF4-FFF2-40B4-BE49-F238E27FC236}">
                <a16:creationId xmlns:a16="http://schemas.microsoft.com/office/drawing/2014/main" id="{A82D69DF-9630-506F-15EB-AD7FBF437001}"/>
              </a:ext>
            </a:extLst>
          </p:cNvPr>
          <p:cNvGrpSpPr/>
          <p:nvPr/>
        </p:nvGrpSpPr>
        <p:grpSpPr>
          <a:xfrm>
            <a:off x="2926080" y="1004011"/>
            <a:ext cx="6400800" cy="5232197"/>
            <a:chOff x="2926080" y="1004011"/>
            <a:chExt cx="6400800" cy="5232197"/>
          </a:xfrm>
        </p:grpSpPr>
        <p:sp>
          <p:nvSpPr>
            <p:cNvPr id="3" name="壁 3"/>
            <p:cNvSpPr/>
            <p:nvPr/>
          </p:nvSpPr>
          <p:spPr>
            <a:xfrm>
              <a:off x="2926080" y="3602736"/>
              <a:ext cx="2432304" cy="109728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4" name="壁 4"/>
            <p:cNvSpPr/>
            <p:nvPr/>
          </p:nvSpPr>
          <p:spPr>
            <a:xfrm>
              <a:off x="6894576" y="3602736"/>
              <a:ext cx="2432304" cy="109728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5" name="弧 5"/>
            <p:cNvSpPr/>
            <p:nvPr/>
          </p:nvSpPr>
          <p:spPr>
            <a:xfrm>
              <a:off x="6815734" y="3267104"/>
              <a:ext cx="51410" cy="390496"/>
            </a:xfrm>
            <a:custGeom>
              <a:avLst/>
              <a:gdLst/>
              <a:ahLst/>
              <a:cxnLst/>
              <a:rect l="0" t="0" r="r" b="b"/>
              <a:pathLst>
                <a:path w="51410" h="390496" fill="none">
                  <a:moveTo>
                    <a:pt x="51410" y="390496"/>
                  </a:moveTo>
                  <a:lnTo>
                    <a:pt x="51208" y="365810"/>
                  </a:lnTo>
                  <a:lnTo>
                    <a:pt x="50602" y="341131"/>
                  </a:lnTo>
                  <a:lnTo>
                    <a:pt x="49592" y="316464"/>
                  </a:lnTo>
                  <a:lnTo>
                    <a:pt x="48179" y="291818"/>
                  </a:lnTo>
                  <a:lnTo>
                    <a:pt x="46363" y="267198"/>
                  </a:lnTo>
                  <a:lnTo>
                    <a:pt x="44145" y="242611"/>
                  </a:lnTo>
                  <a:lnTo>
                    <a:pt x="41524" y="218064"/>
                  </a:lnTo>
                  <a:lnTo>
                    <a:pt x="38502" y="193563"/>
                  </a:lnTo>
                  <a:lnTo>
                    <a:pt x="35080" y="169115"/>
                  </a:lnTo>
                  <a:lnTo>
                    <a:pt x="31258" y="144726"/>
                  </a:lnTo>
                  <a:lnTo>
                    <a:pt x="27037" y="120402"/>
                  </a:lnTo>
                  <a:lnTo>
                    <a:pt x="22419" y="96151"/>
                  </a:lnTo>
                  <a:lnTo>
                    <a:pt x="17405" y="71979"/>
                  </a:lnTo>
                  <a:lnTo>
                    <a:pt x="11996" y="47892"/>
                  </a:lnTo>
                  <a:lnTo>
                    <a:pt x="6194" y="2389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  <a:prstDash val="dash"/>
            </a:ln>
          </p:spPr>
        </p:sp>
        <p:cxnSp>
          <p:nvCxnSpPr>
            <p:cNvPr id="6" name="線 6"/>
            <p:cNvCxnSpPr/>
            <p:nvPr/>
          </p:nvCxnSpPr>
          <p:spPr>
            <a:xfrm flipV="1">
              <a:off x="5358384" y="3267104"/>
              <a:ext cx="1457350" cy="390496"/>
            </a:xfrm>
            <a:prstGeom prst="line">
              <a:avLst/>
            </a:prstGeom>
            <a:ln w="50800">
              <a:solidFill>
                <a:srgbClr val="00868C"/>
              </a:solidFill>
            </a:ln>
          </p:spPr>
        </p:cxnSp>
        <p:sp>
          <p:nvSpPr>
            <p:cNvPr id="7" name="蝶番 7"/>
            <p:cNvSpPr/>
            <p:nvPr/>
          </p:nvSpPr>
          <p:spPr>
            <a:xfrm>
              <a:off x="5312664" y="3611880"/>
              <a:ext cx="91440" cy="91440"/>
            </a:xfrm>
            <a:prstGeom prst="ellipse">
              <a:avLst/>
            </a:prstGeom>
            <a:solidFill>
              <a:srgbClr val="1E2430"/>
            </a:solidFill>
            <a:ln>
              <a:noFill/>
            </a:ln>
          </p:spPr>
        </p:sp>
        <p:cxnSp>
          <p:nvCxnSpPr>
            <p:cNvPr id="8" name="線 8"/>
            <p:cNvCxnSpPr/>
            <p:nvPr/>
          </p:nvCxnSpPr>
          <p:spPr>
            <a:xfrm>
              <a:off x="6126480" y="1234440"/>
              <a:ext cx="0" cy="4800600"/>
            </a:xfrm>
            <a:prstGeom prst="line">
              <a:avLst/>
            </a:prstGeom>
            <a:ln w="25400">
              <a:solidFill>
                <a:srgbClr val="B8C0CC"/>
              </a:solidFill>
              <a:prstDash val="dash"/>
            </a:ln>
          </p:spPr>
        </p:cxnSp>
        <p:sp>
          <p:nvSpPr>
            <p:cNvPr id="9" name="テキスト 9"/>
            <p:cNvSpPr txBox="1"/>
            <p:nvPr/>
          </p:nvSpPr>
          <p:spPr>
            <a:xfrm>
              <a:off x="6236208" y="3886200"/>
              <a:ext cx="914400" cy="2377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100" b="1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透過</a:t>
              </a:r>
              <a:endParaRPr lang="ja-JP" altLang="en-US" sz="1100" dirty="0"/>
            </a:p>
          </p:txBody>
        </p:sp>
        <p:sp>
          <p:nvSpPr>
            <p:cNvPr id="10" name="折れ線 10"/>
            <p:cNvSpPr/>
            <p:nvPr/>
          </p:nvSpPr>
          <p:spPr>
            <a:xfrm>
              <a:off x="6126480" y="1234440"/>
              <a:ext cx="689254" cy="4800600"/>
            </a:xfrm>
            <a:custGeom>
              <a:avLst/>
              <a:gdLst/>
              <a:ahLst/>
              <a:cxnLst/>
              <a:rect l="0" t="0" r="r" b="b"/>
              <a:pathLst>
                <a:path w="689254" h="4800600" fill="none">
                  <a:moveTo>
                    <a:pt x="0" y="0"/>
                  </a:moveTo>
                  <a:lnTo>
                    <a:pt x="689254" y="2032664"/>
                  </a:lnTo>
                  <a:lnTo>
                    <a:pt x="0" y="4800600"/>
                  </a:lnTo>
                </a:path>
              </a:pathLst>
            </a:custGeom>
            <a:noFill/>
            <a:ln w="31750">
              <a:solidFill>
                <a:srgbClr val="00C2C7"/>
              </a:solidFill>
            </a:ln>
          </p:spPr>
        </p:sp>
        <p:sp>
          <p:nvSpPr>
            <p:cNvPr id="11" name="テキスト 11"/>
            <p:cNvSpPr txBox="1"/>
            <p:nvPr/>
          </p:nvSpPr>
          <p:spPr>
            <a:xfrm>
              <a:off x="6925462" y="2992784"/>
              <a:ext cx="1463040" cy="2377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100" b="1" dirty="0">
                  <a:solidFill>
                    <a:srgbClr val="00868C"/>
                  </a:solidFill>
                  <a:latin typeface="BIZ UDPゴシック"/>
                  <a:ea typeface="BIZ UDPゴシック"/>
                  <a:cs typeface="BIZ UDPゴシック"/>
                </a:rPr>
                <a:t>回折（板の端で曲がる）</a:t>
              </a:r>
              <a:endParaRPr lang="ja-JP" altLang="en-US" sz="1100" dirty="0"/>
            </a:p>
          </p:txBody>
        </p:sp>
        <p:sp>
          <p:nvSpPr>
            <p:cNvPr id="12" name="本体 12"/>
            <p:cNvSpPr/>
            <p:nvPr/>
          </p:nvSpPr>
          <p:spPr>
            <a:xfrm>
              <a:off x="5852160" y="1141171"/>
              <a:ext cx="153619" cy="186538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13" name="コーン 13"/>
            <p:cNvSpPr/>
            <p:nvPr/>
          </p:nvSpPr>
          <p:spPr>
            <a:xfrm>
              <a:off x="6005779" y="1004011"/>
              <a:ext cx="175565" cy="460858"/>
            </a:xfrm>
            <a:custGeom>
              <a:avLst/>
              <a:gdLst/>
              <a:ahLst/>
              <a:cxnLst/>
              <a:rect l="0" t="0" r="r" b="b"/>
              <a:pathLst>
                <a:path w="175565" h="460858">
                  <a:moveTo>
                    <a:pt x="0" y="137160"/>
                  </a:moveTo>
                  <a:lnTo>
                    <a:pt x="175565" y="0"/>
                  </a:lnTo>
                  <a:lnTo>
                    <a:pt x="175565" y="460858"/>
                  </a:lnTo>
                  <a:lnTo>
                    <a:pt x="0" y="323698"/>
                  </a:lnTo>
                  <a:close/>
                </a:path>
              </a:pathLst>
            </a:custGeom>
            <a:solidFill>
              <a:srgbClr val="00C2C7"/>
            </a:solidFill>
            <a:ln>
              <a:noFill/>
            </a:ln>
          </p:spPr>
        </p:sp>
        <p:sp>
          <p:nvSpPr>
            <p:cNvPr id="14" name="弧 14"/>
            <p:cNvSpPr/>
            <p:nvPr/>
          </p:nvSpPr>
          <p:spPr>
            <a:xfrm>
              <a:off x="6266692" y="1149092"/>
              <a:ext cx="35352" cy="170697"/>
            </a:xfrm>
            <a:custGeom>
              <a:avLst/>
              <a:gdLst/>
              <a:ahLst/>
              <a:cxnLst/>
              <a:rect l="0" t="0" r="r" b="b"/>
              <a:pathLst>
                <a:path w="35352" h="170697" fill="none">
                  <a:moveTo>
                    <a:pt x="0" y="170697"/>
                  </a:moveTo>
                  <a:lnTo>
                    <a:pt x="10410" y="158826"/>
                  </a:lnTo>
                  <a:lnTo>
                    <a:pt x="19182" y="145699"/>
                  </a:lnTo>
                  <a:lnTo>
                    <a:pt x="26165" y="131539"/>
                  </a:lnTo>
                  <a:lnTo>
                    <a:pt x="31240" y="116588"/>
                  </a:lnTo>
                  <a:lnTo>
                    <a:pt x="34320" y="101103"/>
                  </a:lnTo>
                  <a:lnTo>
                    <a:pt x="35352" y="85348"/>
                  </a:lnTo>
                  <a:lnTo>
                    <a:pt x="34320" y="69594"/>
                  </a:lnTo>
                  <a:lnTo>
                    <a:pt x="31240" y="54109"/>
                  </a:lnTo>
                  <a:lnTo>
                    <a:pt x="26165" y="39158"/>
                  </a:lnTo>
                  <a:lnTo>
                    <a:pt x="19182" y="24998"/>
                  </a:lnTo>
                  <a:lnTo>
                    <a:pt x="10410" y="1187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5" name="弧 15"/>
            <p:cNvSpPr/>
            <p:nvPr/>
          </p:nvSpPr>
          <p:spPr>
            <a:xfrm>
              <a:off x="6332643" y="1083141"/>
              <a:ext cx="62670" cy="302599"/>
            </a:xfrm>
            <a:custGeom>
              <a:avLst/>
              <a:gdLst/>
              <a:ahLst/>
              <a:cxnLst/>
              <a:rect l="0" t="0" r="r" b="b"/>
              <a:pathLst>
                <a:path w="62670" h="302599" fill="none">
                  <a:moveTo>
                    <a:pt x="0" y="302599"/>
                  </a:moveTo>
                  <a:lnTo>
                    <a:pt x="18454" y="281556"/>
                  </a:lnTo>
                  <a:lnTo>
                    <a:pt x="34004" y="258284"/>
                  </a:lnTo>
                  <a:lnTo>
                    <a:pt x="46383" y="233182"/>
                  </a:lnTo>
                  <a:lnTo>
                    <a:pt x="55379" y="206679"/>
                  </a:lnTo>
                  <a:lnTo>
                    <a:pt x="60840" y="179228"/>
                  </a:lnTo>
                  <a:lnTo>
                    <a:pt x="62670" y="151299"/>
                  </a:lnTo>
                  <a:lnTo>
                    <a:pt x="60840" y="123371"/>
                  </a:lnTo>
                  <a:lnTo>
                    <a:pt x="55379" y="95920"/>
                  </a:lnTo>
                  <a:lnTo>
                    <a:pt x="46383" y="69417"/>
                  </a:lnTo>
                  <a:lnTo>
                    <a:pt x="34004" y="44315"/>
                  </a:lnTo>
                  <a:lnTo>
                    <a:pt x="18454" y="2104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6" name="弧 16"/>
            <p:cNvSpPr/>
            <p:nvPr/>
          </p:nvSpPr>
          <p:spPr>
            <a:xfrm>
              <a:off x="6398594" y="1017190"/>
              <a:ext cx="89988" cy="434501"/>
            </a:xfrm>
            <a:custGeom>
              <a:avLst/>
              <a:gdLst/>
              <a:ahLst/>
              <a:cxnLst/>
              <a:rect l="0" t="0" r="r" b="b"/>
              <a:pathLst>
                <a:path w="89988" h="434501" fill="none">
                  <a:moveTo>
                    <a:pt x="0" y="434501"/>
                  </a:moveTo>
                  <a:lnTo>
                    <a:pt x="26498" y="404285"/>
                  </a:lnTo>
                  <a:lnTo>
                    <a:pt x="48826" y="370870"/>
                  </a:lnTo>
                  <a:lnTo>
                    <a:pt x="66601" y="334825"/>
                  </a:lnTo>
                  <a:lnTo>
                    <a:pt x="79519" y="296770"/>
                  </a:lnTo>
                  <a:lnTo>
                    <a:pt x="87360" y="257353"/>
                  </a:lnTo>
                  <a:lnTo>
                    <a:pt x="89988" y="217250"/>
                  </a:lnTo>
                  <a:lnTo>
                    <a:pt x="87360" y="177148"/>
                  </a:lnTo>
                  <a:lnTo>
                    <a:pt x="79519" y="137731"/>
                  </a:lnTo>
                  <a:lnTo>
                    <a:pt x="66601" y="99675"/>
                  </a:lnTo>
                  <a:lnTo>
                    <a:pt x="48826" y="63631"/>
                  </a:lnTo>
                  <a:lnTo>
                    <a:pt x="26498" y="30215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7" name="鼻 17"/>
            <p:cNvSpPr/>
            <p:nvPr/>
          </p:nvSpPr>
          <p:spPr>
            <a:xfrm>
              <a:off x="6070153" y="5763463"/>
              <a:ext cx="112654" cy="110642"/>
            </a:xfrm>
            <a:custGeom>
              <a:avLst/>
              <a:gdLst/>
              <a:ahLst/>
              <a:cxnLst/>
              <a:rect l="0" t="0" r="r" b="b"/>
              <a:pathLst>
                <a:path w="112654" h="110642">
                  <a:moveTo>
                    <a:pt x="56327" y="0"/>
                  </a:moveTo>
                  <a:lnTo>
                    <a:pt x="112654" y="110642"/>
                  </a:lnTo>
                  <a:lnTo>
                    <a:pt x="0" y="110642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8" name="耳 18"/>
            <p:cNvSpPr/>
            <p:nvPr/>
          </p:nvSpPr>
          <p:spPr>
            <a:xfrm>
              <a:off x="5881055" y="5970666"/>
              <a:ext cx="88514" cy="1287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9" name="耳 19"/>
            <p:cNvSpPr/>
            <p:nvPr/>
          </p:nvSpPr>
          <p:spPr>
            <a:xfrm>
              <a:off x="6283391" y="5970666"/>
              <a:ext cx="88514" cy="1287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20" name="頭 20"/>
            <p:cNvSpPr/>
            <p:nvPr/>
          </p:nvSpPr>
          <p:spPr>
            <a:xfrm>
              <a:off x="5925312" y="5833872"/>
              <a:ext cx="402336" cy="40233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E2430"/>
              </a:solidFill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扉：開いた後（直接音）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上から見た図。音源は奥の部屋、耳は手前</a:t>
            </a:r>
            <a:endParaRPr lang="ja-JP" altLang="en-US" sz="1300" dirty="0"/>
          </a:p>
        </p:txBody>
      </p:sp>
      <p:grpSp>
        <p:nvGrpSpPr>
          <p:cNvPr id="19" name="05_扉_開いた後">
            <a:extLst>
              <a:ext uri="{FF2B5EF4-FFF2-40B4-BE49-F238E27FC236}">
                <a16:creationId xmlns:a16="http://schemas.microsoft.com/office/drawing/2014/main" id="{C67087BE-4A54-C039-7A29-DF8C441FFABA}"/>
              </a:ext>
            </a:extLst>
          </p:cNvPr>
          <p:cNvGrpSpPr/>
          <p:nvPr/>
        </p:nvGrpSpPr>
        <p:grpSpPr>
          <a:xfrm>
            <a:off x="2926080" y="1004011"/>
            <a:ext cx="6400800" cy="5232197"/>
            <a:chOff x="2926080" y="1004011"/>
            <a:chExt cx="6400800" cy="5232197"/>
          </a:xfrm>
        </p:grpSpPr>
        <p:sp>
          <p:nvSpPr>
            <p:cNvPr id="3" name="壁 3"/>
            <p:cNvSpPr/>
            <p:nvPr/>
          </p:nvSpPr>
          <p:spPr>
            <a:xfrm>
              <a:off x="2926080" y="3602736"/>
              <a:ext cx="2432304" cy="109728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4" name="壁 4"/>
            <p:cNvSpPr/>
            <p:nvPr/>
          </p:nvSpPr>
          <p:spPr>
            <a:xfrm>
              <a:off x="6894576" y="3602736"/>
              <a:ext cx="2432304" cy="109728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5" name="弧 5"/>
            <p:cNvSpPr/>
            <p:nvPr/>
          </p:nvSpPr>
          <p:spPr>
            <a:xfrm>
              <a:off x="5874410" y="2239829"/>
              <a:ext cx="992734" cy="1417771"/>
            </a:xfrm>
            <a:custGeom>
              <a:avLst/>
              <a:gdLst/>
              <a:ahLst/>
              <a:cxnLst/>
              <a:rect l="0" t="0" r="r" b="b"/>
              <a:pathLst>
                <a:path w="992734" h="1417771" fill="none">
                  <a:moveTo>
                    <a:pt x="992734" y="1417771"/>
                  </a:moveTo>
                  <a:lnTo>
                    <a:pt x="988337" y="1302676"/>
                  </a:lnTo>
                  <a:lnTo>
                    <a:pt x="975174" y="1188253"/>
                  </a:lnTo>
                  <a:lnTo>
                    <a:pt x="953320" y="1075167"/>
                  </a:lnTo>
                  <a:lnTo>
                    <a:pt x="922904" y="964078"/>
                  </a:lnTo>
                  <a:lnTo>
                    <a:pt x="884101" y="855632"/>
                  </a:lnTo>
                  <a:lnTo>
                    <a:pt x="837139" y="750463"/>
                  </a:lnTo>
                  <a:lnTo>
                    <a:pt x="782292" y="649183"/>
                  </a:lnTo>
                  <a:lnTo>
                    <a:pt x="719878" y="552381"/>
                  </a:lnTo>
                  <a:lnTo>
                    <a:pt x="650261" y="460623"/>
                  </a:lnTo>
                  <a:lnTo>
                    <a:pt x="573848" y="374443"/>
                  </a:lnTo>
                  <a:lnTo>
                    <a:pt x="491083" y="294344"/>
                  </a:lnTo>
                  <a:lnTo>
                    <a:pt x="402449" y="220791"/>
                  </a:lnTo>
                  <a:lnTo>
                    <a:pt x="308462" y="154214"/>
                  </a:lnTo>
                  <a:lnTo>
                    <a:pt x="209670" y="95000"/>
                  </a:lnTo>
                  <a:lnTo>
                    <a:pt x="106650" y="4349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  <a:prstDash val="dash"/>
            </a:ln>
          </p:spPr>
        </p:sp>
        <p:cxnSp>
          <p:nvCxnSpPr>
            <p:cNvPr id="6" name="線 6"/>
            <p:cNvCxnSpPr/>
            <p:nvPr/>
          </p:nvCxnSpPr>
          <p:spPr>
            <a:xfrm flipV="1">
              <a:off x="5358384" y="2239829"/>
              <a:ext cx="516026" cy="1417771"/>
            </a:xfrm>
            <a:prstGeom prst="line">
              <a:avLst/>
            </a:prstGeom>
            <a:ln w="50800">
              <a:solidFill>
                <a:srgbClr val="00868C"/>
              </a:solidFill>
            </a:ln>
          </p:spPr>
        </p:cxnSp>
        <p:sp>
          <p:nvSpPr>
            <p:cNvPr id="7" name="蝶番 7"/>
            <p:cNvSpPr/>
            <p:nvPr/>
          </p:nvSpPr>
          <p:spPr>
            <a:xfrm>
              <a:off x="5312664" y="3611880"/>
              <a:ext cx="91440" cy="91440"/>
            </a:xfrm>
            <a:prstGeom prst="ellipse">
              <a:avLst/>
            </a:prstGeom>
            <a:solidFill>
              <a:srgbClr val="1E2430"/>
            </a:solidFill>
            <a:ln>
              <a:noFill/>
            </a:ln>
          </p:spPr>
        </p:sp>
        <p:cxnSp>
          <p:nvCxnSpPr>
            <p:cNvPr id="8" name="線 8"/>
            <p:cNvCxnSpPr/>
            <p:nvPr/>
          </p:nvCxnSpPr>
          <p:spPr>
            <a:xfrm>
              <a:off x="6126480" y="1234440"/>
              <a:ext cx="0" cy="4800600"/>
            </a:xfrm>
            <a:prstGeom prst="line">
              <a:avLst/>
            </a:prstGeom>
            <a:ln w="31750">
              <a:solidFill>
                <a:srgbClr val="1E2430"/>
              </a:solidFill>
            </a:ln>
          </p:spPr>
        </p:cxnSp>
        <p:sp>
          <p:nvSpPr>
            <p:cNvPr id="9" name="テキスト 9"/>
            <p:cNvSpPr txBox="1"/>
            <p:nvPr/>
          </p:nvSpPr>
          <p:spPr>
            <a:xfrm>
              <a:off x="6236208" y="3108960"/>
              <a:ext cx="914400" cy="2377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1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直接</a:t>
              </a:r>
              <a:endParaRPr lang="ja-JP" altLang="en-US" sz="1100" dirty="0"/>
            </a:p>
          </p:txBody>
        </p:sp>
        <p:sp>
          <p:nvSpPr>
            <p:cNvPr id="10" name="本体 10"/>
            <p:cNvSpPr/>
            <p:nvPr/>
          </p:nvSpPr>
          <p:spPr>
            <a:xfrm>
              <a:off x="5852160" y="1141171"/>
              <a:ext cx="153619" cy="186538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11" name="コーン 11"/>
            <p:cNvSpPr/>
            <p:nvPr/>
          </p:nvSpPr>
          <p:spPr>
            <a:xfrm>
              <a:off x="6005779" y="1004011"/>
              <a:ext cx="175565" cy="460858"/>
            </a:xfrm>
            <a:custGeom>
              <a:avLst/>
              <a:gdLst/>
              <a:ahLst/>
              <a:cxnLst/>
              <a:rect l="0" t="0" r="r" b="b"/>
              <a:pathLst>
                <a:path w="175565" h="460858">
                  <a:moveTo>
                    <a:pt x="0" y="137160"/>
                  </a:moveTo>
                  <a:lnTo>
                    <a:pt x="175565" y="0"/>
                  </a:lnTo>
                  <a:lnTo>
                    <a:pt x="175565" y="460858"/>
                  </a:lnTo>
                  <a:lnTo>
                    <a:pt x="0" y="323698"/>
                  </a:lnTo>
                  <a:close/>
                </a:path>
              </a:pathLst>
            </a:custGeom>
            <a:solidFill>
              <a:srgbClr val="00C2C7"/>
            </a:solidFill>
            <a:ln>
              <a:noFill/>
            </a:ln>
          </p:spPr>
        </p:sp>
        <p:sp>
          <p:nvSpPr>
            <p:cNvPr id="12" name="弧 12"/>
            <p:cNvSpPr/>
            <p:nvPr/>
          </p:nvSpPr>
          <p:spPr>
            <a:xfrm>
              <a:off x="6266692" y="1149092"/>
              <a:ext cx="35352" cy="170697"/>
            </a:xfrm>
            <a:custGeom>
              <a:avLst/>
              <a:gdLst/>
              <a:ahLst/>
              <a:cxnLst/>
              <a:rect l="0" t="0" r="r" b="b"/>
              <a:pathLst>
                <a:path w="35352" h="170697" fill="none">
                  <a:moveTo>
                    <a:pt x="0" y="170697"/>
                  </a:moveTo>
                  <a:lnTo>
                    <a:pt x="10410" y="158826"/>
                  </a:lnTo>
                  <a:lnTo>
                    <a:pt x="19182" y="145699"/>
                  </a:lnTo>
                  <a:lnTo>
                    <a:pt x="26165" y="131539"/>
                  </a:lnTo>
                  <a:lnTo>
                    <a:pt x="31240" y="116588"/>
                  </a:lnTo>
                  <a:lnTo>
                    <a:pt x="34320" y="101103"/>
                  </a:lnTo>
                  <a:lnTo>
                    <a:pt x="35352" y="85348"/>
                  </a:lnTo>
                  <a:lnTo>
                    <a:pt x="34320" y="69594"/>
                  </a:lnTo>
                  <a:lnTo>
                    <a:pt x="31240" y="54109"/>
                  </a:lnTo>
                  <a:lnTo>
                    <a:pt x="26165" y="39158"/>
                  </a:lnTo>
                  <a:lnTo>
                    <a:pt x="19182" y="24998"/>
                  </a:lnTo>
                  <a:lnTo>
                    <a:pt x="10410" y="1187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3" name="弧 13"/>
            <p:cNvSpPr/>
            <p:nvPr/>
          </p:nvSpPr>
          <p:spPr>
            <a:xfrm>
              <a:off x="6332643" y="1083141"/>
              <a:ext cx="62670" cy="302599"/>
            </a:xfrm>
            <a:custGeom>
              <a:avLst/>
              <a:gdLst/>
              <a:ahLst/>
              <a:cxnLst/>
              <a:rect l="0" t="0" r="r" b="b"/>
              <a:pathLst>
                <a:path w="62670" h="302599" fill="none">
                  <a:moveTo>
                    <a:pt x="0" y="302599"/>
                  </a:moveTo>
                  <a:lnTo>
                    <a:pt x="18454" y="281556"/>
                  </a:lnTo>
                  <a:lnTo>
                    <a:pt x="34004" y="258284"/>
                  </a:lnTo>
                  <a:lnTo>
                    <a:pt x="46383" y="233182"/>
                  </a:lnTo>
                  <a:lnTo>
                    <a:pt x="55379" y="206679"/>
                  </a:lnTo>
                  <a:lnTo>
                    <a:pt x="60840" y="179228"/>
                  </a:lnTo>
                  <a:lnTo>
                    <a:pt x="62670" y="151299"/>
                  </a:lnTo>
                  <a:lnTo>
                    <a:pt x="60840" y="123371"/>
                  </a:lnTo>
                  <a:lnTo>
                    <a:pt x="55379" y="95920"/>
                  </a:lnTo>
                  <a:lnTo>
                    <a:pt x="46383" y="69417"/>
                  </a:lnTo>
                  <a:lnTo>
                    <a:pt x="34004" y="44315"/>
                  </a:lnTo>
                  <a:lnTo>
                    <a:pt x="18454" y="2104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4" name="弧 14"/>
            <p:cNvSpPr/>
            <p:nvPr/>
          </p:nvSpPr>
          <p:spPr>
            <a:xfrm>
              <a:off x="6398594" y="1017190"/>
              <a:ext cx="89988" cy="434501"/>
            </a:xfrm>
            <a:custGeom>
              <a:avLst/>
              <a:gdLst/>
              <a:ahLst/>
              <a:cxnLst/>
              <a:rect l="0" t="0" r="r" b="b"/>
              <a:pathLst>
                <a:path w="89988" h="434501" fill="none">
                  <a:moveTo>
                    <a:pt x="0" y="434501"/>
                  </a:moveTo>
                  <a:lnTo>
                    <a:pt x="26498" y="404285"/>
                  </a:lnTo>
                  <a:lnTo>
                    <a:pt x="48826" y="370870"/>
                  </a:lnTo>
                  <a:lnTo>
                    <a:pt x="66601" y="334825"/>
                  </a:lnTo>
                  <a:lnTo>
                    <a:pt x="79519" y="296770"/>
                  </a:lnTo>
                  <a:lnTo>
                    <a:pt x="87360" y="257353"/>
                  </a:lnTo>
                  <a:lnTo>
                    <a:pt x="89988" y="217250"/>
                  </a:lnTo>
                  <a:lnTo>
                    <a:pt x="87360" y="177148"/>
                  </a:lnTo>
                  <a:lnTo>
                    <a:pt x="79519" y="137731"/>
                  </a:lnTo>
                  <a:lnTo>
                    <a:pt x="66601" y="99675"/>
                  </a:lnTo>
                  <a:lnTo>
                    <a:pt x="48826" y="63631"/>
                  </a:lnTo>
                  <a:lnTo>
                    <a:pt x="26498" y="30215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5" name="鼻 15"/>
            <p:cNvSpPr/>
            <p:nvPr/>
          </p:nvSpPr>
          <p:spPr>
            <a:xfrm>
              <a:off x="6070153" y="5763463"/>
              <a:ext cx="112654" cy="110642"/>
            </a:xfrm>
            <a:custGeom>
              <a:avLst/>
              <a:gdLst/>
              <a:ahLst/>
              <a:cxnLst/>
              <a:rect l="0" t="0" r="r" b="b"/>
              <a:pathLst>
                <a:path w="112654" h="110642">
                  <a:moveTo>
                    <a:pt x="56327" y="0"/>
                  </a:moveTo>
                  <a:lnTo>
                    <a:pt x="112654" y="110642"/>
                  </a:lnTo>
                  <a:lnTo>
                    <a:pt x="0" y="110642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6" name="耳 16"/>
            <p:cNvSpPr/>
            <p:nvPr/>
          </p:nvSpPr>
          <p:spPr>
            <a:xfrm>
              <a:off x="5881055" y="5970666"/>
              <a:ext cx="88514" cy="1287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7" name="耳 17"/>
            <p:cNvSpPr/>
            <p:nvPr/>
          </p:nvSpPr>
          <p:spPr>
            <a:xfrm>
              <a:off x="6283391" y="5970666"/>
              <a:ext cx="88514" cy="1287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8" name="頭 18"/>
            <p:cNvSpPr/>
            <p:nvPr/>
          </p:nvSpPr>
          <p:spPr>
            <a:xfrm>
              <a:off x="5925312" y="5833872"/>
              <a:ext cx="402336" cy="40233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E2430"/>
              </a:solidFill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扉を少し開けたとき：蝶番側と自由端側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同じ開き角でも、音源がどちら側かで聞こえ方が違う</a:t>
            </a:r>
            <a:endParaRPr lang="ja-JP" altLang="en-US" sz="1300" dirty="0"/>
          </a:p>
        </p:txBody>
      </p:sp>
      <p:grpSp>
        <p:nvGrpSpPr>
          <p:cNvPr id="26" name="06_扉_蝶番側と自由端側">
            <a:extLst>
              <a:ext uri="{FF2B5EF4-FFF2-40B4-BE49-F238E27FC236}">
                <a16:creationId xmlns:a16="http://schemas.microsoft.com/office/drawing/2014/main" id="{BD6E80DA-E1DA-BDCE-85BC-49A47ACBB78F}"/>
              </a:ext>
            </a:extLst>
          </p:cNvPr>
          <p:cNvGrpSpPr/>
          <p:nvPr/>
        </p:nvGrpSpPr>
        <p:grpSpPr>
          <a:xfrm>
            <a:off x="2926080" y="1141171"/>
            <a:ext cx="7132320" cy="5095037"/>
            <a:chOff x="2926080" y="1141171"/>
            <a:chExt cx="7132320" cy="5095037"/>
          </a:xfrm>
        </p:grpSpPr>
        <p:sp>
          <p:nvSpPr>
            <p:cNvPr id="3" name="壁 3"/>
            <p:cNvSpPr/>
            <p:nvPr/>
          </p:nvSpPr>
          <p:spPr>
            <a:xfrm>
              <a:off x="2926080" y="3602736"/>
              <a:ext cx="2432304" cy="109728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4" name="壁 4"/>
            <p:cNvSpPr/>
            <p:nvPr/>
          </p:nvSpPr>
          <p:spPr>
            <a:xfrm>
              <a:off x="6894576" y="3602736"/>
              <a:ext cx="2432304" cy="109728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5" name="弧 5"/>
            <p:cNvSpPr/>
            <p:nvPr/>
          </p:nvSpPr>
          <p:spPr>
            <a:xfrm>
              <a:off x="6776155" y="3141574"/>
              <a:ext cx="90989" cy="516026"/>
            </a:xfrm>
            <a:custGeom>
              <a:avLst/>
              <a:gdLst/>
              <a:ahLst/>
              <a:cxnLst/>
              <a:rect l="0" t="0" r="r" b="b"/>
              <a:pathLst>
                <a:path w="90989" h="516026" fill="none">
                  <a:moveTo>
                    <a:pt x="90989" y="516026"/>
                  </a:moveTo>
                  <a:lnTo>
                    <a:pt x="90630" y="483113"/>
                  </a:lnTo>
                  <a:lnTo>
                    <a:pt x="89553" y="450215"/>
                  </a:lnTo>
                  <a:lnTo>
                    <a:pt x="87759" y="417349"/>
                  </a:lnTo>
                  <a:lnTo>
                    <a:pt x="85248" y="384529"/>
                  </a:lnTo>
                  <a:lnTo>
                    <a:pt x="82022" y="351772"/>
                  </a:lnTo>
                  <a:lnTo>
                    <a:pt x="78082" y="319094"/>
                  </a:lnTo>
                  <a:lnTo>
                    <a:pt x="73430" y="286509"/>
                  </a:lnTo>
                  <a:lnTo>
                    <a:pt x="68068" y="254033"/>
                  </a:lnTo>
                  <a:lnTo>
                    <a:pt x="61999" y="221682"/>
                  </a:lnTo>
                  <a:lnTo>
                    <a:pt x="55226" y="189471"/>
                  </a:lnTo>
                  <a:lnTo>
                    <a:pt x="47751" y="157415"/>
                  </a:lnTo>
                  <a:lnTo>
                    <a:pt x="39580" y="125530"/>
                  </a:lnTo>
                  <a:lnTo>
                    <a:pt x="30714" y="93831"/>
                  </a:lnTo>
                  <a:lnTo>
                    <a:pt x="21159" y="62333"/>
                  </a:lnTo>
                  <a:lnTo>
                    <a:pt x="10920" y="3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  <a:prstDash val="dash"/>
            </a:ln>
          </p:spPr>
        </p:sp>
        <p:cxnSp>
          <p:nvCxnSpPr>
            <p:cNvPr id="6" name="線 6"/>
            <p:cNvCxnSpPr/>
            <p:nvPr/>
          </p:nvCxnSpPr>
          <p:spPr>
            <a:xfrm flipV="1">
              <a:off x="5358384" y="3141574"/>
              <a:ext cx="1417771" cy="516026"/>
            </a:xfrm>
            <a:prstGeom prst="line">
              <a:avLst/>
            </a:prstGeom>
            <a:ln w="50800">
              <a:solidFill>
                <a:srgbClr val="00868C"/>
              </a:solidFill>
            </a:ln>
          </p:spPr>
        </p:cxnSp>
        <p:sp>
          <p:nvSpPr>
            <p:cNvPr id="7" name="蝶番 7"/>
            <p:cNvSpPr/>
            <p:nvPr/>
          </p:nvSpPr>
          <p:spPr>
            <a:xfrm>
              <a:off x="5312664" y="3611880"/>
              <a:ext cx="91440" cy="91440"/>
            </a:xfrm>
            <a:prstGeom prst="ellipse">
              <a:avLst/>
            </a:prstGeom>
            <a:solidFill>
              <a:srgbClr val="1E2430"/>
            </a:solidFill>
            <a:ln>
              <a:noFill/>
            </a:ln>
          </p:spPr>
        </p:sp>
        <p:sp>
          <p:nvSpPr>
            <p:cNvPr id="8" name="本体 8"/>
            <p:cNvSpPr/>
            <p:nvPr/>
          </p:nvSpPr>
          <p:spPr>
            <a:xfrm>
              <a:off x="3657600" y="1278331"/>
              <a:ext cx="153619" cy="186538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9" name="コーン 9"/>
            <p:cNvSpPr/>
            <p:nvPr/>
          </p:nvSpPr>
          <p:spPr>
            <a:xfrm>
              <a:off x="3811219" y="1141171"/>
              <a:ext cx="175565" cy="460858"/>
            </a:xfrm>
            <a:custGeom>
              <a:avLst/>
              <a:gdLst/>
              <a:ahLst/>
              <a:cxnLst/>
              <a:rect l="0" t="0" r="r" b="b"/>
              <a:pathLst>
                <a:path w="175565" h="460858">
                  <a:moveTo>
                    <a:pt x="0" y="137160"/>
                  </a:moveTo>
                  <a:lnTo>
                    <a:pt x="175565" y="0"/>
                  </a:lnTo>
                  <a:lnTo>
                    <a:pt x="175565" y="460858"/>
                  </a:lnTo>
                  <a:lnTo>
                    <a:pt x="0" y="323698"/>
                  </a:lnTo>
                  <a:close/>
                </a:path>
              </a:pathLst>
            </a:custGeom>
            <a:solidFill>
              <a:srgbClr val="00C2C7"/>
            </a:solidFill>
            <a:ln>
              <a:noFill/>
            </a:ln>
          </p:spPr>
        </p:sp>
        <p:sp>
          <p:nvSpPr>
            <p:cNvPr id="10" name="弧 10"/>
            <p:cNvSpPr/>
            <p:nvPr/>
          </p:nvSpPr>
          <p:spPr>
            <a:xfrm>
              <a:off x="4072132" y="1286252"/>
              <a:ext cx="35352" cy="170697"/>
            </a:xfrm>
            <a:custGeom>
              <a:avLst/>
              <a:gdLst/>
              <a:ahLst/>
              <a:cxnLst/>
              <a:rect l="0" t="0" r="r" b="b"/>
              <a:pathLst>
                <a:path w="35352" h="170697" fill="none">
                  <a:moveTo>
                    <a:pt x="0" y="170697"/>
                  </a:moveTo>
                  <a:lnTo>
                    <a:pt x="10410" y="158826"/>
                  </a:lnTo>
                  <a:lnTo>
                    <a:pt x="19182" y="145699"/>
                  </a:lnTo>
                  <a:lnTo>
                    <a:pt x="26165" y="131539"/>
                  </a:lnTo>
                  <a:lnTo>
                    <a:pt x="31240" y="116588"/>
                  </a:lnTo>
                  <a:lnTo>
                    <a:pt x="34320" y="101103"/>
                  </a:lnTo>
                  <a:lnTo>
                    <a:pt x="35352" y="85348"/>
                  </a:lnTo>
                  <a:lnTo>
                    <a:pt x="34320" y="69594"/>
                  </a:lnTo>
                  <a:lnTo>
                    <a:pt x="31240" y="54109"/>
                  </a:lnTo>
                  <a:lnTo>
                    <a:pt x="26165" y="39158"/>
                  </a:lnTo>
                  <a:lnTo>
                    <a:pt x="19182" y="24998"/>
                  </a:lnTo>
                  <a:lnTo>
                    <a:pt x="10410" y="1187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1" name="弧 11"/>
            <p:cNvSpPr/>
            <p:nvPr/>
          </p:nvSpPr>
          <p:spPr>
            <a:xfrm>
              <a:off x="4138083" y="1220301"/>
              <a:ext cx="62670" cy="302599"/>
            </a:xfrm>
            <a:custGeom>
              <a:avLst/>
              <a:gdLst/>
              <a:ahLst/>
              <a:cxnLst/>
              <a:rect l="0" t="0" r="r" b="b"/>
              <a:pathLst>
                <a:path w="62670" h="302599" fill="none">
                  <a:moveTo>
                    <a:pt x="0" y="302599"/>
                  </a:moveTo>
                  <a:lnTo>
                    <a:pt x="18454" y="281556"/>
                  </a:lnTo>
                  <a:lnTo>
                    <a:pt x="34004" y="258284"/>
                  </a:lnTo>
                  <a:lnTo>
                    <a:pt x="46383" y="233182"/>
                  </a:lnTo>
                  <a:lnTo>
                    <a:pt x="55379" y="206679"/>
                  </a:lnTo>
                  <a:lnTo>
                    <a:pt x="60840" y="179228"/>
                  </a:lnTo>
                  <a:lnTo>
                    <a:pt x="62670" y="151299"/>
                  </a:lnTo>
                  <a:lnTo>
                    <a:pt x="60840" y="123371"/>
                  </a:lnTo>
                  <a:lnTo>
                    <a:pt x="55379" y="95920"/>
                  </a:lnTo>
                  <a:lnTo>
                    <a:pt x="46383" y="69417"/>
                  </a:lnTo>
                  <a:lnTo>
                    <a:pt x="34004" y="44315"/>
                  </a:lnTo>
                  <a:lnTo>
                    <a:pt x="18454" y="2104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2" name="弧 12"/>
            <p:cNvSpPr/>
            <p:nvPr/>
          </p:nvSpPr>
          <p:spPr>
            <a:xfrm>
              <a:off x="4204034" y="1154350"/>
              <a:ext cx="89988" cy="434501"/>
            </a:xfrm>
            <a:custGeom>
              <a:avLst/>
              <a:gdLst/>
              <a:ahLst/>
              <a:cxnLst/>
              <a:rect l="0" t="0" r="r" b="b"/>
              <a:pathLst>
                <a:path w="89988" h="434501" fill="none">
                  <a:moveTo>
                    <a:pt x="0" y="434501"/>
                  </a:moveTo>
                  <a:lnTo>
                    <a:pt x="26498" y="404285"/>
                  </a:lnTo>
                  <a:lnTo>
                    <a:pt x="48826" y="370870"/>
                  </a:lnTo>
                  <a:lnTo>
                    <a:pt x="66601" y="334825"/>
                  </a:lnTo>
                  <a:lnTo>
                    <a:pt x="79519" y="296770"/>
                  </a:lnTo>
                  <a:lnTo>
                    <a:pt x="87360" y="257353"/>
                  </a:lnTo>
                  <a:lnTo>
                    <a:pt x="89988" y="217250"/>
                  </a:lnTo>
                  <a:lnTo>
                    <a:pt x="87360" y="177148"/>
                  </a:lnTo>
                  <a:lnTo>
                    <a:pt x="79519" y="137731"/>
                  </a:lnTo>
                  <a:lnTo>
                    <a:pt x="66601" y="99675"/>
                  </a:lnTo>
                  <a:lnTo>
                    <a:pt x="48826" y="63631"/>
                  </a:lnTo>
                  <a:lnTo>
                    <a:pt x="26498" y="30215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3" name="鼻 13"/>
            <p:cNvSpPr/>
            <p:nvPr/>
          </p:nvSpPr>
          <p:spPr>
            <a:xfrm>
              <a:off x="6070153" y="5763463"/>
              <a:ext cx="112654" cy="110642"/>
            </a:xfrm>
            <a:custGeom>
              <a:avLst/>
              <a:gdLst/>
              <a:ahLst/>
              <a:cxnLst/>
              <a:rect l="0" t="0" r="r" b="b"/>
              <a:pathLst>
                <a:path w="112654" h="110642">
                  <a:moveTo>
                    <a:pt x="56327" y="0"/>
                  </a:moveTo>
                  <a:lnTo>
                    <a:pt x="112654" y="110642"/>
                  </a:lnTo>
                  <a:lnTo>
                    <a:pt x="0" y="110642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4" name="耳 14"/>
            <p:cNvSpPr/>
            <p:nvPr/>
          </p:nvSpPr>
          <p:spPr>
            <a:xfrm>
              <a:off x="5881055" y="5970666"/>
              <a:ext cx="88514" cy="1287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5" name="耳 15"/>
            <p:cNvSpPr/>
            <p:nvPr/>
          </p:nvSpPr>
          <p:spPr>
            <a:xfrm>
              <a:off x="6283391" y="5970666"/>
              <a:ext cx="88514" cy="1287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6" name="頭 16"/>
            <p:cNvSpPr/>
            <p:nvPr/>
          </p:nvSpPr>
          <p:spPr>
            <a:xfrm>
              <a:off x="5925312" y="5833872"/>
              <a:ext cx="402336" cy="40233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E2430"/>
              </a:solidFill>
            </a:ln>
          </p:spPr>
        </p:sp>
        <p:sp>
          <p:nvSpPr>
            <p:cNvPr id="17" name="折れ線 17"/>
            <p:cNvSpPr/>
            <p:nvPr/>
          </p:nvSpPr>
          <p:spPr>
            <a:xfrm>
              <a:off x="6126480" y="1371600"/>
              <a:ext cx="2103120" cy="4663440"/>
            </a:xfrm>
            <a:custGeom>
              <a:avLst/>
              <a:gdLst/>
              <a:ahLst/>
              <a:cxnLst/>
              <a:rect l="0" t="0" r="r" b="b"/>
              <a:pathLst>
                <a:path w="2103120" h="4663440" fill="none">
                  <a:moveTo>
                    <a:pt x="2103120" y="0"/>
                  </a:moveTo>
                  <a:lnTo>
                    <a:pt x="754605" y="2240280"/>
                  </a:lnTo>
                  <a:lnTo>
                    <a:pt x="0" y="4663440"/>
                  </a:lnTo>
                </a:path>
              </a:pathLst>
            </a:custGeom>
            <a:noFill/>
            <a:ln w="31750">
              <a:solidFill>
                <a:srgbClr val="00C2C7"/>
              </a:solidFill>
            </a:ln>
          </p:spPr>
        </p:sp>
        <p:sp>
          <p:nvSpPr>
            <p:cNvPr id="18" name="折れ線 18"/>
            <p:cNvSpPr/>
            <p:nvPr/>
          </p:nvSpPr>
          <p:spPr>
            <a:xfrm>
              <a:off x="3931920" y="1371600"/>
              <a:ext cx="2844235" cy="4663440"/>
            </a:xfrm>
            <a:custGeom>
              <a:avLst/>
              <a:gdLst/>
              <a:ahLst/>
              <a:cxnLst/>
              <a:rect l="0" t="0" r="r" b="b"/>
              <a:pathLst>
                <a:path w="2844235" h="4663440" fill="none">
                  <a:moveTo>
                    <a:pt x="0" y="0"/>
                  </a:moveTo>
                  <a:lnTo>
                    <a:pt x="2844235" y="1769974"/>
                  </a:lnTo>
                  <a:lnTo>
                    <a:pt x="2194560" y="4663440"/>
                  </a:lnTo>
                </a:path>
              </a:pathLst>
            </a:custGeom>
            <a:noFill/>
            <a:ln w="25400">
              <a:solidFill>
                <a:srgbClr val="5C6677"/>
              </a:solidFill>
              <a:prstDash val="dash"/>
            </a:ln>
          </p:spPr>
        </p:sp>
        <p:sp>
          <p:nvSpPr>
            <p:cNvPr id="19" name="本体 19"/>
            <p:cNvSpPr/>
            <p:nvPr/>
          </p:nvSpPr>
          <p:spPr>
            <a:xfrm>
              <a:off x="7955280" y="1278331"/>
              <a:ext cx="153619" cy="186538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20" name="コーン 20"/>
            <p:cNvSpPr/>
            <p:nvPr/>
          </p:nvSpPr>
          <p:spPr>
            <a:xfrm>
              <a:off x="8108899" y="1141171"/>
              <a:ext cx="175565" cy="460858"/>
            </a:xfrm>
            <a:custGeom>
              <a:avLst/>
              <a:gdLst/>
              <a:ahLst/>
              <a:cxnLst/>
              <a:rect l="0" t="0" r="r" b="b"/>
              <a:pathLst>
                <a:path w="175565" h="460858">
                  <a:moveTo>
                    <a:pt x="0" y="137160"/>
                  </a:moveTo>
                  <a:lnTo>
                    <a:pt x="175565" y="0"/>
                  </a:lnTo>
                  <a:lnTo>
                    <a:pt x="175565" y="460858"/>
                  </a:lnTo>
                  <a:lnTo>
                    <a:pt x="0" y="323698"/>
                  </a:lnTo>
                  <a:close/>
                </a:path>
              </a:pathLst>
            </a:custGeom>
            <a:solidFill>
              <a:srgbClr val="00C2C7"/>
            </a:solidFill>
            <a:ln>
              <a:noFill/>
            </a:ln>
          </p:spPr>
        </p:sp>
        <p:sp>
          <p:nvSpPr>
            <p:cNvPr id="21" name="弧 21"/>
            <p:cNvSpPr/>
            <p:nvPr/>
          </p:nvSpPr>
          <p:spPr>
            <a:xfrm>
              <a:off x="8369812" y="1286252"/>
              <a:ext cx="35352" cy="170697"/>
            </a:xfrm>
            <a:custGeom>
              <a:avLst/>
              <a:gdLst/>
              <a:ahLst/>
              <a:cxnLst/>
              <a:rect l="0" t="0" r="r" b="b"/>
              <a:pathLst>
                <a:path w="35352" h="170697" fill="none">
                  <a:moveTo>
                    <a:pt x="0" y="170697"/>
                  </a:moveTo>
                  <a:lnTo>
                    <a:pt x="10410" y="158826"/>
                  </a:lnTo>
                  <a:lnTo>
                    <a:pt x="19182" y="145699"/>
                  </a:lnTo>
                  <a:lnTo>
                    <a:pt x="26165" y="131539"/>
                  </a:lnTo>
                  <a:lnTo>
                    <a:pt x="31240" y="116588"/>
                  </a:lnTo>
                  <a:lnTo>
                    <a:pt x="34320" y="101103"/>
                  </a:lnTo>
                  <a:lnTo>
                    <a:pt x="35352" y="85348"/>
                  </a:lnTo>
                  <a:lnTo>
                    <a:pt x="34320" y="69594"/>
                  </a:lnTo>
                  <a:lnTo>
                    <a:pt x="31240" y="54109"/>
                  </a:lnTo>
                  <a:lnTo>
                    <a:pt x="26165" y="39158"/>
                  </a:lnTo>
                  <a:lnTo>
                    <a:pt x="19182" y="24998"/>
                  </a:lnTo>
                  <a:lnTo>
                    <a:pt x="10410" y="1187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22" name="弧 22"/>
            <p:cNvSpPr/>
            <p:nvPr/>
          </p:nvSpPr>
          <p:spPr>
            <a:xfrm>
              <a:off x="8435763" y="1220301"/>
              <a:ext cx="62670" cy="302599"/>
            </a:xfrm>
            <a:custGeom>
              <a:avLst/>
              <a:gdLst/>
              <a:ahLst/>
              <a:cxnLst/>
              <a:rect l="0" t="0" r="r" b="b"/>
              <a:pathLst>
                <a:path w="62670" h="302599" fill="none">
                  <a:moveTo>
                    <a:pt x="0" y="302599"/>
                  </a:moveTo>
                  <a:lnTo>
                    <a:pt x="18454" y="281556"/>
                  </a:lnTo>
                  <a:lnTo>
                    <a:pt x="34004" y="258284"/>
                  </a:lnTo>
                  <a:lnTo>
                    <a:pt x="46383" y="233182"/>
                  </a:lnTo>
                  <a:lnTo>
                    <a:pt x="55379" y="206679"/>
                  </a:lnTo>
                  <a:lnTo>
                    <a:pt x="60840" y="179228"/>
                  </a:lnTo>
                  <a:lnTo>
                    <a:pt x="62670" y="151299"/>
                  </a:lnTo>
                  <a:lnTo>
                    <a:pt x="60840" y="123371"/>
                  </a:lnTo>
                  <a:lnTo>
                    <a:pt x="55379" y="95920"/>
                  </a:lnTo>
                  <a:lnTo>
                    <a:pt x="46383" y="69417"/>
                  </a:lnTo>
                  <a:lnTo>
                    <a:pt x="34004" y="44315"/>
                  </a:lnTo>
                  <a:lnTo>
                    <a:pt x="18454" y="2104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23" name="弧 23"/>
            <p:cNvSpPr/>
            <p:nvPr/>
          </p:nvSpPr>
          <p:spPr>
            <a:xfrm>
              <a:off x="8501714" y="1154350"/>
              <a:ext cx="89988" cy="434501"/>
            </a:xfrm>
            <a:custGeom>
              <a:avLst/>
              <a:gdLst/>
              <a:ahLst/>
              <a:cxnLst/>
              <a:rect l="0" t="0" r="r" b="b"/>
              <a:pathLst>
                <a:path w="89988" h="434501" fill="none">
                  <a:moveTo>
                    <a:pt x="0" y="434501"/>
                  </a:moveTo>
                  <a:lnTo>
                    <a:pt x="26498" y="404285"/>
                  </a:lnTo>
                  <a:lnTo>
                    <a:pt x="48826" y="370870"/>
                  </a:lnTo>
                  <a:lnTo>
                    <a:pt x="66601" y="334825"/>
                  </a:lnTo>
                  <a:lnTo>
                    <a:pt x="79519" y="296770"/>
                  </a:lnTo>
                  <a:lnTo>
                    <a:pt x="87360" y="257353"/>
                  </a:lnTo>
                  <a:lnTo>
                    <a:pt x="89988" y="217250"/>
                  </a:lnTo>
                  <a:lnTo>
                    <a:pt x="87360" y="177148"/>
                  </a:lnTo>
                  <a:lnTo>
                    <a:pt x="79519" y="137731"/>
                  </a:lnTo>
                  <a:lnTo>
                    <a:pt x="66601" y="99675"/>
                  </a:lnTo>
                  <a:lnTo>
                    <a:pt x="48826" y="63631"/>
                  </a:lnTo>
                  <a:lnTo>
                    <a:pt x="26498" y="30215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24" name="テキスト 24"/>
            <p:cNvSpPr txBox="1"/>
            <p:nvPr/>
          </p:nvSpPr>
          <p:spPr>
            <a:xfrm>
              <a:off x="7680960" y="1645920"/>
              <a:ext cx="237744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200" b="1" dirty="0">
                  <a:solidFill>
                    <a:srgbClr val="00868C"/>
                  </a:solidFill>
                  <a:latin typeface="BIZ UDPゴシック"/>
                  <a:ea typeface="BIZ UDPゴシック"/>
                  <a:cs typeface="BIZ UDPゴシック"/>
                </a:rPr>
                <a:t>自由端側</a:t>
              </a:r>
              <a:endParaRPr lang="ja-JP" altLang="en-US" sz="1200" dirty="0"/>
            </a:p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05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隙間から通る：開いて聞こえる</a:t>
              </a:r>
              <a:endParaRPr lang="ja-JP" altLang="en-US" sz="1050" dirty="0"/>
            </a:p>
          </p:txBody>
        </p:sp>
        <p:sp>
          <p:nvSpPr>
            <p:cNvPr id="25" name="テキスト 25"/>
            <p:cNvSpPr txBox="1"/>
            <p:nvPr/>
          </p:nvSpPr>
          <p:spPr>
            <a:xfrm>
              <a:off x="2926080" y="1645920"/>
              <a:ext cx="237744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200" b="1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蝶番側</a:t>
              </a:r>
              <a:endParaRPr lang="ja-JP" altLang="en-US" sz="1200" dirty="0"/>
            </a:p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05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板を回り込む：こもる</a:t>
              </a:r>
              <a:endParaRPr lang="ja-JP" altLang="en-US" sz="10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ISM：虚像を点で（鏡に映した部屋）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破線は鏡に映した部屋。点が虚像</a:t>
            </a:r>
            <a:endParaRPr lang="ja-JP" altLang="en-US" sz="1300" dirty="0"/>
          </a:p>
        </p:txBody>
      </p:sp>
      <p:grpSp>
        <p:nvGrpSpPr>
          <p:cNvPr id="33" name="07_虚像_点">
            <a:extLst>
              <a:ext uri="{FF2B5EF4-FFF2-40B4-BE49-F238E27FC236}">
                <a16:creationId xmlns:a16="http://schemas.microsoft.com/office/drawing/2014/main" id="{6D32E8A6-C796-BFF0-3050-2DF0908EF5EB}"/>
              </a:ext>
            </a:extLst>
          </p:cNvPr>
          <p:cNvGrpSpPr/>
          <p:nvPr/>
        </p:nvGrpSpPr>
        <p:grpSpPr>
          <a:xfrm>
            <a:off x="4572000" y="2377440"/>
            <a:ext cx="3017520" cy="2194560"/>
            <a:chOff x="4572000" y="2377440"/>
            <a:chExt cx="3017520" cy="2194560"/>
          </a:xfrm>
        </p:grpSpPr>
        <p:sp>
          <p:nvSpPr>
            <p:cNvPr id="3" name="鏡に映した部屋 3"/>
            <p:cNvSpPr/>
            <p:nvPr/>
          </p:nvSpPr>
          <p:spPr>
            <a:xfrm>
              <a:off x="4572000" y="237744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4" name="鏡に映した部屋 4"/>
            <p:cNvSpPr/>
            <p:nvPr/>
          </p:nvSpPr>
          <p:spPr>
            <a:xfrm>
              <a:off x="4572000" y="310896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5" name="鏡に映した部屋 5"/>
            <p:cNvSpPr/>
            <p:nvPr/>
          </p:nvSpPr>
          <p:spPr>
            <a:xfrm>
              <a:off x="4572000" y="384048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6" name="鏡に映した部屋 6"/>
            <p:cNvSpPr/>
            <p:nvPr/>
          </p:nvSpPr>
          <p:spPr>
            <a:xfrm>
              <a:off x="5577840" y="237744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7" name="鏡に映した部屋 7"/>
            <p:cNvSpPr/>
            <p:nvPr/>
          </p:nvSpPr>
          <p:spPr>
            <a:xfrm>
              <a:off x="5577840" y="384048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8" name="鏡に映した部屋 8"/>
            <p:cNvSpPr/>
            <p:nvPr/>
          </p:nvSpPr>
          <p:spPr>
            <a:xfrm>
              <a:off x="6583680" y="237744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9" name="鏡に映した部屋 9"/>
            <p:cNvSpPr/>
            <p:nvPr/>
          </p:nvSpPr>
          <p:spPr>
            <a:xfrm>
              <a:off x="6583680" y="310896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10" name="鏡に映した部屋 10"/>
            <p:cNvSpPr/>
            <p:nvPr/>
          </p:nvSpPr>
          <p:spPr>
            <a:xfrm>
              <a:off x="6583680" y="384048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cxnSp>
          <p:nvCxnSpPr>
            <p:cNvPr id="11" name="線 11"/>
            <p:cNvCxnSpPr/>
            <p:nvPr/>
          </p:nvCxnSpPr>
          <p:spPr>
            <a:xfrm>
              <a:off x="5276088" y="3364992"/>
              <a:ext cx="1005840" cy="226771"/>
            </a:xfrm>
            <a:prstGeom prst="line">
              <a:avLst/>
            </a:prstGeom>
            <a:ln w="9525">
              <a:solidFill>
                <a:srgbClr val="C9CED6"/>
              </a:solidFill>
              <a:prstDash val="sysDash"/>
            </a:ln>
          </p:spPr>
        </p:cxnSp>
        <p:cxnSp>
          <p:nvCxnSpPr>
            <p:cNvPr id="12" name="線 12"/>
            <p:cNvCxnSpPr/>
            <p:nvPr/>
          </p:nvCxnSpPr>
          <p:spPr>
            <a:xfrm>
              <a:off x="5276088" y="2852928"/>
              <a:ext cx="1005840" cy="738835"/>
            </a:xfrm>
            <a:prstGeom prst="line">
              <a:avLst/>
            </a:prstGeom>
            <a:ln w="9525">
              <a:solidFill>
                <a:srgbClr val="C9CED6"/>
              </a:solidFill>
              <a:prstDash val="sysDash"/>
            </a:ln>
          </p:spPr>
        </p:cxnSp>
        <p:cxnSp>
          <p:nvCxnSpPr>
            <p:cNvPr id="13" name="線 13"/>
            <p:cNvCxnSpPr/>
            <p:nvPr/>
          </p:nvCxnSpPr>
          <p:spPr>
            <a:xfrm>
              <a:off x="5879592" y="2852928"/>
              <a:ext cx="402336" cy="738835"/>
            </a:xfrm>
            <a:prstGeom prst="line">
              <a:avLst/>
            </a:prstGeom>
            <a:ln w="9525">
              <a:solidFill>
                <a:srgbClr val="C9CED6"/>
              </a:solidFill>
              <a:prstDash val="sysDash"/>
            </a:ln>
          </p:spPr>
        </p:cxnSp>
        <p:cxnSp>
          <p:nvCxnSpPr>
            <p:cNvPr id="14" name="線 14"/>
            <p:cNvCxnSpPr/>
            <p:nvPr/>
          </p:nvCxnSpPr>
          <p:spPr>
            <a:xfrm flipH="1">
              <a:off x="6281928" y="2852928"/>
              <a:ext cx="1005840" cy="738835"/>
            </a:xfrm>
            <a:prstGeom prst="line">
              <a:avLst/>
            </a:prstGeom>
            <a:ln w="9525">
              <a:solidFill>
                <a:srgbClr val="C9CED6"/>
              </a:solidFill>
              <a:prstDash val="sysDash"/>
            </a:ln>
          </p:spPr>
        </p:cxnSp>
        <p:cxnSp>
          <p:nvCxnSpPr>
            <p:cNvPr id="15" name="線 15"/>
            <p:cNvCxnSpPr/>
            <p:nvPr/>
          </p:nvCxnSpPr>
          <p:spPr>
            <a:xfrm flipH="1">
              <a:off x="6281928" y="3364992"/>
              <a:ext cx="1005840" cy="226771"/>
            </a:xfrm>
            <a:prstGeom prst="line">
              <a:avLst/>
            </a:prstGeom>
            <a:ln w="9525">
              <a:solidFill>
                <a:srgbClr val="C9CED6"/>
              </a:solidFill>
              <a:prstDash val="sysDash"/>
            </a:ln>
          </p:spPr>
        </p:cxnSp>
        <p:cxnSp>
          <p:nvCxnSpPr>
            <p:cNvPr id="16" name="線 16"/>
            <p:cNvCxnSpPr/>
            <p:nvPr/>
          </p:nvCxnSpPr>
          <p:spPr>
            <a:xfrm flipH="1" flipV="1">
              <a:off x="6281928" y="3591763"/>
              <a:ext cx="1005840" cy="724205"/>
            </a:xfrm>
            <a:prstGeom prst="line">
              <a:avLst/>
            </a:prstGeom>
            <a:ln w="9525">
              <a:solidFill>
                <a:srgbClr val="C9CED6"/>
              </a:solidFill>
              <a:prstDash val="sysDash"/>
            </a:ln>
          </p:spPr>
        </p:cxnSp>
        <p:cxnSp>
          <p:nvCxnSpPr>
            <p:cNvPr id="17" name="線 17"/>
            <p:cNvCxnSpPr/>
            <p:nvPr/>
          </p:nvCxnSpPr>
          <p:spPr>
            <a:xfrm flipV="1">
              <a:off x="5879592" y="3591763"/>
              <a:ext cx="402336" cy="724205"/>
            </a:xfrm>
            <a:prstGeom prst="line">
              <a:avLst/>
            </a:prstGeom>
            <a:ln w="9525">
              <a:solidFill>
                <a:srgbClr val="C9CED6"/>
              </a:solidFill>
              <a:prstDash val="sysDash"/>
            </a:ln>
          </p:spPr>
        </p:cxnSp>
        <p:cxnSp>
          <p:nvCxnSpPr>
            <p:cNvPr id="18" name="線 18"/>
            <p:cNvCxnSpPr/>
            <p:nvPr/>
          </p:nvCxnSpPr>
          <p:spPr>
            <a:xfrm flipV="1">
              <a:off x="5276088" y="3591763"/>
              <a:ext cx="1005840" cy="724205"/>
            </a:xfrm>
            <a:prstGeom prst="line">
              <a:avLst/>
            </a:prstGeom>
            <a:ln w="9525">
              <a:solidFill>
                <a:srgbClr val="C9CED6"/>
              </a:solidFill>
              <a:prstDash val="sysDash"/>
            </a:ln>
          </p:spPr>
        </p:cxnSp>
        <p:sp>
          <p:nvSpPr>
            <p:cNvPr id="19" name="部屋 19"/>
            <p:cNvSpPr/>
            <p:nvPr/>
          </p:nvSpPr>
          <p:spPr>
            <a:xfrm>
              <a:off x="5577840" y="3108960"/>
              <a:ext cx="1005840" cy="7315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A94A6"/>
              </a:solidFill>
            </a:ln>
          </p:spPr>
        </p:sp>
        <p:sp>
          <p:nvSpPr>
            <p:cNvPr id="20" name="虚像 20"/>
            <p:cNvSpPr/>
            <p:nvPr/>
          </p:nvSpPr>
          <p:spPr>
            <a:xfrm>
              <a:off x="5221224" y="3310128"/>
              <a:ext cx="109728" cy="109728"/>
            </a:xfrm>
            <a:prstGeom prst="ellipse">
              <a:avLst/>
            </a:prstGeom>
            <a:solidFill>
              <a:srgbClr val="5C6677"/>
            </a:solidFill>
            <a:ln>
              <a:noFill/>
            </a:ln>
          </p:spPr>
        </p:sp>
        <p:sp>
          <p:nvSpPr>
            <p:cNvPr id="21" name="虚像 21"/>
            <p:cNvSpPr/>
            <p:nvPr/>
          </p:nvSpPr>
          <p:spPr>
            <a:xfrm>
              <a:off x="5221224" y="2798064"/>
              <a:ext cx="109728" cy="109728"/>
            </a:xfrm>
            <a:prstGeom prst="ellipse">
              <a:avLst/>
            </a:prstGeom>
            <a:solidFill>
              <a:srgbClr val="5C6677"/>
            </a:solidFill>
            <a:ln>
              <a:noFill/>
            </a:ln>
          </p:spPr>
        </p:sp>
        <p:sp>
          <p:nvSpPr>
            <p:cNvPr id="22" name="虚像 22"/>
            <p:cNvSpPr/>
            <p:nvPr/>
          </p:nvSpPr>
          <p:spPr>
            <a:xfrm>
              <a:off x="5824728" y="2798064"/>
              <a:ext cx="109728" cy="109728"/>
            </a:xfrm>
            <a:prstGeom prst="ellipse">
              <a:avLst/>
            </a:prstGeom>
            <a:solidFill>
              <a:srgbClr val="5C6677"/>
            </a:solidFill>
            <a:ln>
              <a:noFill/>
            </a:ln>
          </p:spPr>
        </p:sp>
        <p:sp>
          <p:nvSpPr>
            <p:cNvPr id="23" name="虚像 23"/>
            <p:cNvSpPr/>
            <p:nvPr/>
          </p:nvSpPr>
          <p:spPr>
            <a:xfrm>
              <a:off x="7232904" y="2798064"/>
              <a:ext cx="109728" cy="109728"/>
            </a:xfrm>
            <a:prstGeom prst="ellipse">
              <a:avLst/>
            </a:prstGeom>
            <a:solidFill>
              <a:srgbClr val="5C6677"/>
            </a:solidFill>
            <a:ln>
              <a:noFill/>
            </a:ln>
          </p:spPr>
        </p:sp>
        <p:sp>
          <p:nvSpPr>
            <p:cNvPr id="24" name="虚像 24"/>
            <p:cNvSpPr/>
            <p:nvPr/>
          </p:nvSpPr>
          <p:spPr>
            <a:xfrm>
              <a:off x="7232904" y="3310128"/>
              <a:ext cx="109728" cy="109728"/>
            </a:xfrm>
            <a:prstGeom prst="ellipse">
              <a:avLst/>
            </a:prstGeom>
            <a:solidFill>
              <a:srgbClr val="5C6677"/>
            </a:solidFill>
            <a:ln>
              <a:noFill/>
            </a:ln>
          </p:spPr>
        </p:sp>
        <p:sp>
          <p:nvSpPr>
            <p:cNvPr id="25" name="虚像 25"/>
            <p:cNvSpPr/>
            <p:nvPr/>
          </p:nvSpPr>
          <p:spPr>
            <a:xfrm>
              <a:off x="7232904" y="4261104"/>
              <a:ext cx="109728" cy="109728"/>
            </a:xfrm>
            <a:prstGeom prst="ellipse">
              <a:avLst/>
            </a:prstGeom>
            <a:solidFill>
              <a:srgbClr val="5C6677"/>
            </a:solidFill>
            <a:ln>
              <a:noFill/>
            </a:ln>
          </p:spPr>
        </p:sp>
        <p:sp>
          <p:nvSpPr>
            <p:cNvPr id="26" name="虚像 26"/>
            <p:cNvSpPr/>
            <p:nvPr/>
          </p:nvSpPr>
          <p:spPr>
            <a:xfrm>
              <a:off x="5824728" y="4261104"/>
              <a:ext cx="109728" cy="109728"/>
            </a:xfrm>
            <a:prstGeom prst="ellipse">
              <a:avLst/>
            </a:prstGeom>
            <a:solidFill>
              <a:srgbClr val="5C6677"/>
            </a:solidFill>
            <a:ln>
              <a:noFill/>
            </a:ln>
          </p:spPr>
        </p:sp>
        <p:sp>
          <p:nvSpPr>
            <p:cNvPr id="27" name="虚像 27"/>
            <p:cNvSpPr/>
            <p:nvPr/>
          </p:nvSpPr>
          <p:spPr>
            <a:xfrm>
              <a:off x="5221224" y="4261104"/>
              <a:ext cx="109728" cy="109728"/>
            </a:xfrm>
            <a:prstGeom prst="ellipse">
              <a:avLst/>
            </a:prstGeom>
            <a:solidFill>
              <a:srgbClr val="5C6677"/>
            </a:solidFill>
            <a:ln>
              <a:noFill/>
            </a:ln>
          </p:spPr>
        </p:sp>
        <p:sp>
          <p:nvSpPr>
            <p:cNvPr id="28" name="点 28"/>
            <p:cNvSpPr/>
            <p:nvPr/>
          </p:nvSpPr>
          <p:spPr>
            <a:xfrm>
              <a:off x="5820156" y="3305556"/>
              <a:ext cx="118872" cy="118872"/>
            </a:xfrm>
            <a:prstGeom prst="ellipse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29" name="点 29"/>
            <p:cNvSpPr/>
            <p:nvPr/>
          </p:nvSpPr>
          <p:spPr>
            <a:xfrm>
              <a:off x="6222492" y="3532327"/>
              <a:ext cx="118872" cy="118872"/>
            </a:xfrm>
            <a:prstGeom prst="ellipse">
              <a:avLst/>
            </a:prstGeom>
            <a:solidFill>
              <a:srgbClr val="1E2430"/>
            </a:solidFill>
            <a:ln>
              <a:noFill/>
            </a:ln>
          </p:spPr>
        </p:sp>
        <p:sp>
          <p:nvSpPr>
            <p:cNvPr id="30" name="テキスト 30"/>
            <p:cNvSpPr txBox="1"/>
            <p:nvPr/>
          </p:nvSpPr>
          <p:spPr>
            <a:xfrm>
              <a:off x="5605272" y="3419856"/>
              <a:ext cx="5486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音源</a:t>
              </a:r>
              <a:endParaRPr lang="ja-JP" altLang="en-US" sz="900" dirty="0"/>
            </a:p>
          </p:txBody>
        </p:sp>
        <p:sp>
          <p:nvSpPr>
            <p:cNvPr id="31" name="テキスト 31"/>
            <p:cNvSpPr txBox="1"/>
            <p:nvPr/>
          </p:nvSpPr>
          <p:spPr>
            <a:xfrm>
              <a:off x="6007608" y="3646627"/>
              <a:ext cx="5486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耳</a:t>
              </a:r>
              <a:endParaRPr lang="ja-JP" altLang="en-US" sz="900" dirty="0"/>
            </a:p>
          </p:txBody>
        </p:sp>
        <p:sp>
          <p:nvSpPr>
            <p:cNvPr id="32" name="テキスト 32"/>
            <p:cNvSpPr txBox="1"/>
            <p:nvPr/>
          </p:nvSpPr>
          <p:spPr>
            <a:xfrm>
              <a:off x="5001768" y="2578608"/>
              <a:ext cx="5486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虚像</a:t>
              </a:r>
              <a:endParaRPr lang="ja-JP" altLang="en-US" sz="9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ISM：虚像をつないで面に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面の広さが音の幅（ASW）</a:t>
            </a:r>
            <a:endParaRPr lang="ja-JP" altLang="en-US" sz="1300" dirty="0"/>
          </a:p>
        </p:txBody>
      </p:sp>
      <p:grpSp>
        <p:nvGrpSpPr>
          <p:cNvPr id="26" name="08_虚像_つないだ面">
            <a:extLst>
              <a:ext uri="{FF2B5EF4-FFF2-40B4-BE49-F238E27FC236}">
                <a16:creationId xmlns:a16="http://schemas.microsoft.com/office/drawing/2014/main" id="{C79F04D3-C805-3A1B-3B6B-045C9ABB997D}"/>
              </a:ext>
            </a:extLst>
          </p:cNvPr>
          <p:cNvGrpSpPr/>
          <p:nvPr/>
        </p:nvGrpSpPr>
        <p:grpSpPr>
          <a:xfrm>
            <a:off x="4572000" y="2377440"/>
            <a:ext cx="3017520" cy="2194560"/>
            <a:chOff x="4572000" y="2377440"/>
            <a:chExt cx="3017520" cy="2194560"/>
          </a:xfrm>
        </p:grpSpPr>
        <p:sp>
          <p:nvSpPr>
            <p:cNvPr id="3" name="鏡に映した部屋 3"/>
            <p:cNvSpPr/>
            <p:nvPr/>
          </p:nvSpPr>
          <p:spPr>
            <a:xfrm>
              <a:off x="4572000" y="237744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4" name="鏡に映した部屋 4"/>
            <p:cNvSpPr/>
            <p:nvPr/>
          </p:nvSpPr>
          <p:spPr>
            <a:xfrm>
              <a:off x="4572000" y="310896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5" name="鏡に映した部屋 5"/>
            <p:cNvSpPr/>
            <p:nvPr/>
          </p:nvSpPr>
          <p:spPr>
            <a:xfrm>
              <a:off x="4572000" y="384048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6" name="鏡に映した部屋 6"/>
            <p:cNvSpPr/>
            <p:nvPr/>
          </p:nvSpPr>
          <p:spPr>
            <a:xfrm>
              <a:off x="5577840" y="237744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7" name="鏡に映した部屋 7"/>
            <p:cNvSpPr/>
            <p:nvPr/>
          </p:nvSpPr>
          <p:spPr>
            <a:xfrm>
              <a:off x="5577840" y="384048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8" name="鏡に映した部屋 8"/>
            <p:cNvSpPr/>
            <p:nvPr/>
          </p:nvSpPr>
          <p:spPr>
            <a:xfrm>
              <a:off x="6583680" y="237744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9" name="鏡に映した部屋 9"/>
            <p:cNvSpPr/>
            <p:nvPr/>
          </p:nvSpPr>
          <p:spPr>
            <a:xfrm>
              <a:off x="6583680" y="310896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10" name="鏡に映した部屋 10"/>
            <p:cNvSpPr/>
            <p:nvPr/>
          </p:nvSpPr>
          <p:spPr>
            <a:xfrm>
              <a:off x="6583680" y="3840480"/>
              <a:ext cx="1005840" cy="731520"/>
            </a:xfrm>
            <a:prstGeom prst="rect">
              <a:avLst/>
            </a:pr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11" name="虚像の面 11"/>
            <p:cNvSpPr/>
            <p:nvPr/>
          </p:nvSpPr>
          <p:spPr>
            <a:xfrm>
              <a:off x="5276088" y="2852928"/>
              <a:ext cx="2011680" cy="1463040"/>
            </a:xfrm>
            <a:custGeom>
              <a:avLst/>
              <a:gdLst/>
              <a:ahLst/>
              <a:cxnLst/>
              <a:rect l="0" t="0" r="r" b="b"/>
              <a:pathLst>
                <a:path w="2011680" h="1463040">
                  <a:moveTo>
                    <a:pt x="0" y="512064"/>
                  </a:moveTo>
                  <a:lnTo>
                    <a:pt x="0" y="0"/>
                  </a:lnTo>
                  <a:lnTo>
                    <a:pt x="603504" y="0"/>
                  </a:lnTo>
                  <a:lnTo>
                    <a:pt x="2011680" y="0"/>
                  </a:lnTo>
                  <a:lnTo>
                    <a:pt x="2011680" y="512064"/>
                  </a:lnTo>
                  <a:lnTo>
                    <a:pt x="2011680" y="1463040"/>
                  </a:lnTo>
                  <a:lnTo>
                    <a:pt x="60350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0C2C7">
                <a:alpha val="28000"/>
              </a:srgbClr>
            </a:solidFill>
            <a:ln w="31750">
              <a:solidFill>
                <a:srgbClr val="00C2C7"/>
              </a:solidFill>
            </a:ln>
          </p:spPr>
        </p:sp>
        <p:sp>
          <p:nvSpPr>
            <p:cNvPr id="12" name="部屋 12"/>
            <p:cNvSpPr/>
            <p:nvPr/>
          </p:nvSpPr>
          <p:spPr>
            <a:xfrm>
              <a:off x="5577840" y="3108960"/>
              <a:ext cx="1005840" cy="7315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A94A6"/>
              </a:solidFill>
            </a:ln>
          </p:spPr>
        </p:sp>
        <p:sp>
          <p:nvSpPr>
            <p:cNvPr id="13" name="虚像 13"/>
            <p:cNvSpPr/>
            <p:nvPr/>
          </p:nvSpPr>
          <p:spPr>
            <a:xfrm>
              <a:off x="5221224" y="3310128"/>
              <a:ext cx="109728" cy="10972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868C"/>
              </a:solidFill>
            </a:ln>
          </p:spPr>
        </p:sp>
        <p:sp>
          <p:nvSpPr>
            <p:cNvPr id="14" name="虚像 14"/>
            <p:cNvSpPr/>
            <p:nvPr/>
          </p:nvSpPr>
          <p:spPr>
            <a:xfrm>
              <a:off x="5221224" y="2798064"/>
              <a:ext cx="109728" cy="10972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868C"/>
              </a:solidFill>
            </a:ln>
          </p:spPr>
        </p:sp>
        <p:sp>
          <p:nvSpPr>
            <p:cNvPr id="15" name="虚像 15"/>
            <p:cNvSpPr/>
            <p:nvPr/>
          </p:nvSpPr>
          <p:spPr>
            <a:xfrm>
              <a:off x="5824728" y="2798064"/>
              <a:ext cx="109728" cy="10972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868C"/>
              </a:solidFill>
            </a:ln>
          </p:spPr>
        </p:sp>
        <p:sp>
          <p:nvSpPr>
            <p:cNvPr id="16" name="虚像 16"/>
            <p:cNvSpPr/>
            <p:nvPr/>
          </p:nvSpPr>
          <p:spPr>
            <a:xfrm>
              <a:off x="7232904" y="2798064"/>
              <a:ext cx="109728" cy="10972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868C"/>
              </a:solidFill>
            </a:ln>
          </p:spPr>
        </p:sp>
        <p:sp>
          <p:nvSpPr>
            <p:cNvPr id="17" name="虚像 17"/>
            <p:cNvSpPr/>
            <p:nvPr/>
          </p:nvSpPr>
          <p:spPr>
            <a:xfrm>
              <a:off x="7232904" y="3310128"/>
              <a:ext cx="109728" cy="10972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868C"/>
              </a:solidFill>
            </a:ln>
          </p:spPr>
        </p:sp>
        <p:sp>
          <p:nvSpPr>
            <p:cNvPr id="18" name="虚像 18"/>
            <p:cNvSpPr/>
            <p:nvPr/>
          </p:nvSpPr>
          <p:spPr>
            <a:xfrm>
              <a:off x="7232904" y="4261104"/>
              <a:ext cx="109728" cy="10972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868C"/>
              </a:solidFill>
            </a:ln>
          </p:spPr>
        </p:sp>
        <p:sp>
          <p:nvSpPr>
            <p:cNvPr id="19" name="虚像 19"/>
            <p:cNvSpPr/>
            <p:nvPr/>
          </p:nvSpPr>
          <p:spPr>
            <a:xfrm>
              <a:off x="5824728" y="4261104"/>
              <a:ext cx="109728" cy="10972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868C"/>
              </a:solidFill>
            </a:ln>
          </p:spPr>
        </p:sp>
        <p:sp>
          <p:nvSpPr>
            <p:cNvPr id="20" name="虚像 20"/>
            <p:cNvSpPr/>
            <p:nvPr/>
          </p:nvSpPr>
          <p:spPr>
            <a:xfrm>
              <a:off x="5221224" y="4261104"/>
              <a:ext cx="109728" cy="10972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868C"/>
              </a:solidFill>
            </a:ln>
          </p:spPr>
        </p:sp>
        <p:sp>
          <p:nvSpPr>
            <p:cNvPr id="21" name="点 21"/>
            <p:cNvSpPr/>
            <p:nvPr/>
          </p:nvSpPr>
          <p:spPr>
            <a:xfrm>
              <a:off x="5820156" y="3305556"/>
              <a:ext cx="118872" cy="118872"/>
            </a:xfrm>
            <a:prstGeom prst="ellipse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22" name="点 22"/>
            <p:cNvSpPr/>
            <p:nvPr/>
          </p:nvSpPr>
          <p:spPr>
            <a:xfrm>
              <a:off x="6222492" y="3532327"/>
              <a:ext cx="118872" cy="118872"/>
            </a:xfrm>
            <a:prstGeom prst="ellipse">
              <a:avLst/>
            </a:prstGeom>
            <a:solidFill>
              <a:srgbClr val="1E2430"/>
            </a:solidFill>
            <a:ln>
              <a:noFill/>
            </a:ln>
          </p:spPr>
        </p:sp>
        <p:sp>
          <p:nvSpPr>
            <p:cNvPr id="23" name="テキスト 23"/>
            <p:cNvSpPr txBox="1"/>
            <p:nvPr/>
          </p:nvSpPr>
          <p:spPr>
            <a:xfrm>
              <a:off x="5605272" y="3419856"/>
              <a:ext cx="5486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音源</a:t>
              </a:r>
              <a:endParaRPr lang="ja-JP" altLang="en-US" sz="900" dirty="0"/>
            </a:p>
          </p:txBody>
        </p:sp>
        <p:sp>
          <p:nvSpPr>
            <p:cNvPr id="24" name="テキスト 24"/>
            <p:cNvSpPr txBox="1"/>
            <p:nvPr/>
          </p:nvSpPr>
          <p:spPr>
            <a:xfrm>
              <a:off x="6007608" y="3646627"/>
              <a:ext cx="5486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耳</a:t>
              </a:r>
              <a:endParaRPr lang="ja-JP" altLang="en-US" sz="900" dirty="0"/>
            </a:p>
          </p:txBody>
        </p:sp>
        <p:sp>
          <p:nvSpPr>
            <p:cNvPr id="25" name="テキスト 25"/>
            <p:cNvSpPr txBox="1"/>
            <p:nvPr/>
          </p:nvSpPr>
          <p:spPr>
            <a:xfrm>
              <a:off x="6281928" y="2578608"/>
              <a:ext cx="109728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b="1" dirty="0">
                  <a:solidFill>
                    <a:srgbClr val="00868C"/>
                  </a:solidFill>
                  <a:latin typeface="BIZ UDPゴシック"/>
                  <a:ea typeface="BIZ UDPゴシック"/>
                  <a:cs typeface="BIZ UDPゴシック"/>
                </a:rPr>
                <a:t>つないだ面</a:t>
              </a:r>
              <a:endParaRPr lang="ja-JP" altLang="en-US" sz="9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壁を受け取る面にする（途中で試した形）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作り直しの経緯の説明用</a:t>
            </a:r>
            <a:endParaRPr lang="ja-JP" altLang="en-US" sz="1300" dirty="0"/>
          </a:p>
        </p:txBody>
      </p:sp>
      <p:grpSp>
        <p:nvGrpSpPr>
          <p:cNvPr id="32" name="09_壁を受け取る面">
            <a:extLst>
              <a:ext uri="{FF2B5EF4-FFF2-40B4-BE49-F238E27FC236}">
                <a16:creationId xmlns:a16="http://schemas.microsoft.com/office/drawing/2014/main" id="{E62B05D0-C5A2-172B-0D31-D6254C130F91}"/>
              </a:ext>
            </a:extLst>
          </p:cNvPr>
          <p:cNvGrpSpPr/>
          <p:nvPr/>
        </p:nvGrpSpPr>
        <p:grpSpPr>
          <a:xfrm>
            <a:off x="5125212" y="2775204"/>
            <a:ext cx="1911096" cy="1399032"/>
            <a:chOff x="5125212" y="2775204"/>
            <a:chExt cx="1911096" cy="1399032"/>
          </a:xfrm>
        </p:grpSpPr>
        <p:sp>
          <p:nvSpPr>
            <p:cNvPr id="3" name="部屋 3"/>
            <p:cNvSpPr/>
            <p:nvPr/>
          </p:nvSpPr>
          <p:spPr>
            <a:xfrm>
              <a:off x="5166360" y="2816352"/>
              <a:ext cx="1828800" cy="1316736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A94A6"/>
              </a:solidFill>
            </a:ln>
          </p:spPr>
        </p:sp>
        <p:sp>
          <p:nvSpPr>
            <p:cNvPr id="4" name="受け取る面 4"/>
            <p:cNvSpPr/>
            <p:nvPr/>
          </p:nvSpPr>
          <p:spPr>
            <a:xfrm>
              <a:off x="5353812" y="2775204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cxnSp>
          <p:nvCxnSpPr>
            <p:cNvPr id="5" name="線 5"/>
            <p:cNvCxnSpPr/>
            <p:nvPr/>
          </p:nvCxnSpPr>
          <p:spPr>
            <a:xfrm>
              <a:off x="5394960" y="2816352"/>
              <a:ext cx="1051560" cy="869046"/>
            </a:xfrm>
            <a:prstGeom prst="line">
              <a:avLst/>
            </a:prstGeom>
            <a:ln w="9525">
              <a:solidFill>
                <a:srgbClr val="9DC9F2"/>
              </a:solidFill>
            </a:ln>
          </p:spPr>
        </p:cxnSp>
        <p:sp>
          <p:nvSpPr>
            <p:cNvPr id="6" name="受け取る面 6"/>
            <p:cNvSpPr/>
            <p:nvPr/>
          </p:nvSpPr>
          <p:spPr>
            <a:xfrm>
              <a:off x="5353812" y="4091940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cxnSp>
          <p:nvCxnSpPr>
            <p:cNvPr id="7" name="線 7"/>
            <p:cNvCxnSpPr/>
            <p:nvPr/>
          </p:nvCxnSpPr>
          <p:spPr>
            <a:xfrm flipV="1">
              <a:off x="5394960" y="3685398"/>
              <a:ext cx="1051560" cy="447690"/>
            </a:xfrm>
            <a:prstGeom prst="line">
              <a:avLst/>
            </a:prstGeom>
            <a:ln w="9525">
              <a:solidFill>
                <a:srgbClr val="9DC9F2"/>
              </a:solidFill>
            </a:ln>
          </p:spPr>
        </p:cxnSp>
        <p:sp>
          <p:nvSpPr>
            <p:cNvPr id="8" name="受け取る面 8"/>
            <p:cNvSpPr/>
            <p:nvPr/>
          </p:nvSpPr>
          <p:spPr>
            <a:xfrm>
              <a:off x="5125212" y="2939796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cxnSp>
          <p:nvCxnSpPr>
            <p:cNvPr id="9" name="線 9"/>
            <p:cNvCxnSpPr/>
            <p:nvPr/>
          </p:nvCxnSpPr>
          <p:spPr>
            <a:xfrm>
              <a:off x="5166360" y="2980944"/>
              <a:ext cx="1280160" cy="704454"/>
            </a:xfrm>
            <a:prstGeom prst="line">
              <a:avLst/>
            </a:prstGeom>
            <a:ln w="9525">
              <a:solidFill>
                <a:srgbClr val="9DC9F2"/>
              </a:solidFill>
            </a:ln>
          </p:spPr>
        </p:cxnSp>
        <p:sp>
          <p:nvSpPr>
            <p:cNvPr id="10" name="受け取る面 10"/>
            <p:cNvSpPr/>
            <p:nvPr/>
          </p:nvSpPr>
          <p:spPr>
            <a:xfrm>
              <a:off x="6954012" y="2939796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cxnSp>
          <p:nvCxnSpPr>
            <p:cNvPr id="11" name="線 11"/>
            <p:cNvCxnSpPr/>
            <p:nvPr/>
          </p:nvCxnSpPr>
          <p:spPr>
            <a:xfrm flipH="1">
              <a:off x="6446520" y="2980944"/>
              <a:ext cx="548640" cy="704454"/>
            </a:xfrm>
            <a:prstGeom prst="line">
              <a:avLst/>
            </a:prstGeom>
            <a:ln w="9525">
              <a:solidFill>
                <a:srgbClr val="9DC9F2"/>
              </a:solidFill>
            </a:ln>
          </p:spPr>
        </p:cxnSp>
        <p:sp>
          <p:nvSpPr>
            <p:cNvPr id="12" name="受け取る面 12"/>
            <p:cNvSpPr/>
            <p:nvPr/>
          </p:nvSpPr>
          <p:spPr>
            <a:xfrm>
              <a:off x="5811012" y="2775204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13" name="受け取る面 13"/>
            <p:cNvSpPr/>
            <p:nvPr/>
          </p:nvSpPr>
          <p:spPr>
            <a:xfrm>
              <a:off x="5811012" y="4091940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14" name="受け取る面 14"/>
            <p:cNvSpPr/>
            <p:nvPr/>
          </p:nvSpPr>
          <p:spPr>
            <a:xfrm>
              <a:off x="5125212" y="3268980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15" name="受け取る面 15"/>
            <p:cNvSpPr/>
            <p:nvPr/>
          </p:nvSpPr>
          <p:spPr>
            <a:xfrm>
              <a:off x="6954012" y="3268980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16" name="受け取る面 16"/>
            <p:cNvSpPr/>
            <p:nvPr/>
          </p:nvSpPr>
          <p:spPr>
            <a:xfrm>
              <a:off x="6268212" y="2775204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cxnSp>
          <p:nvCxnSpPr>
            <p:cNvPr id="17" name="線 17"/>
            <p:cNvCxnSpPr/>
            <p:nvPr/>
          </p:nvCxnSpPr>
          <p:spPr>
            <a:xfrm>
              <a:off x="6309360" y="2816352"/>
              <a:ext cx="137160" cy="869046"/>
            </a:xfrm>
            <a:prstGeom prst="line">
              <a:avLst/>
            </a:prstGeom>
            <a:ln w="9525">
              <a:solidFill>
                <a:srgbClr val="9DC9F2"/>
              </a:solidFill>
            </a:ln>
          </p:spPr>
        </p:cxnSp>
        <p:sp>
          <p:nvSpPr>
            <p:cNvPr id="18" name="受け取る面 18"/>
            <p:cNvSpPr/>
            <p:nvPr/>
          </p:nvSpPr>
          <p:spPr>
            <a:xfrm>
              <a:off x="6268212" y="4091940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cxnSp>
          <p:nvCxnSpPr>
            <p:cNvPr id="19" name="線 19"/>
            <p:cNvCxnSpPr/>
            <p:nvPr/>
          </p:nvCxnSpPr>
          <p:spPr>
            <a:xfrm flipV="1">
              <a:off x="6309360" y="3685398"/>
              <a:ext cx="137160" cy="447690"/>
            </a:xfrm>
            <a:prstGeom prst="line">
              <a:avLst/>
            </a:prstGeom>
            <a:ln w="9525">
              <a:solidFill>
                <a:srgbClr val="9DC9F2"/>
              </a:solidFill>
            </a:ln>
          </p:spPr>
        </p:cxnSp>
        <p:sp>
          <p:nvSpPr>
            <p:cNvPr id="20" name="受け取る面 20"/>
            <p:cNvSpPr/>
            <p:nvPr/>
          </p:nvSpPr>
          <p:spPr>
            <a:xfrm>
              <a:off x="5125212" y="3598164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cxnSp>
          <p:nvCxnSpPr>
            <p:cNvPr id="21" name="線 21"/>
            <p:cNvCxnSpPr/>
            <p:nvPr/>
          </p:nvCxnSpPr>
          <p:spPr>
            <a:xfrm>
              <a:off x="5166360" y="3639312"/>
              <a:ext cx="1280160" cy="46086"/>
            </a:xfrm>
            <a:prstGeom prst="line">
              <a:avLst/>
            </a:prstGeom>
            <a:ln w="9525">
              <a:solidFill>
                <a:srgbClr val="9DC9F2"/>
              </a:solidFill>
            </a:ln>
          </p:spPr>
        </p:cxnSp>
        <p:sp>
          <p:nvSpPr>
            <p:cNvPr id="22" name="受け取る面 22"/>
            <p:cNvSpPr/>
            <p:nvPr/>
          </p:nvSpPr>
          <p:spPr>
            <a:xfrm>
              <a:off x="6954012" y="3598164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cxnSp>
          <p:nvCxnSpPr>
            <p:cNvPr id="23" name="線 23"/>
            <p:cNvCxnSpPr/>
            <p:nvPr/>
          </p:nvCxnSpPr>
          <p:spPr>
            <a:xfrm flipH="1">
              <a:off x="6446520" y="3639312"/>
              <a:ext cx="548640" cy="46086"/>
            </a:xfrm>
            <a:prstGeom prst="line">
              <a:avLst/>
            </a:prstGeom>
            <a:ln w="9525">
              <a:solidFill>
                <a:srgbClr val="9DC9F2"/>
              </a:solidFill>
            </a:ln>
          </p:spPr>
        </p:cxnSp>
        <p:sp>
          <p:nvSpPr>
            <p:cNvPr id="24" name="受け取る面 24"/>
            <p:cNvSpPr/>
            <p:nvPr/>
          </p:nvSpPr>
          <p:spPr>
            <a:xfrm>
              <a:off x="6725412" y="2775204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25" name="受け取る面 25"/>
            <p:cNvSpPr/>
            <p:nvPr/>
          </p:nvSpPr>
          <p:spPr>
            <a:xfrm>
              <a:off x="6725412" y="4091940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26" name="受け取る面 26"/>
            <p:cNvSpPr/>
            <p:nvPr/>
          </p:nvSpPr>
          <p:spPr>
            <a:xfrm>
              <a:off x="5125212" y="3927348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27" name="受け取る面 27"/>
            <p:cNvSpPr/>
            <p:nvPr/>
          </p:nvSpPr>
          <p:spPr>
            <a:xfrm>
              <a:off x="6954012" y="3927348"/>
              <a:ext cx="82296" cy="82296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28" name="点 28"/>
            <p:cNvSpPr/>
            <p:nvPr/>
          </p:nvSpPr>
          <p:spPr>
            <a:xfrm>
              <a:off x="5655564" y="3217774"/>
              <a:ext cx="118872" cy="118872"/>
            </a:xfrm>
            <a:prstGeom prst="ellipse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29" name="点 29"/>
            <p:cNvSpPr/>
            <p:nvPr/>
          </p:nvSpPr>
          <p:spPr>
            <a:xfrm>
              <a:off x="6387084" y="3625962"/>
              <a:ext cx="118872" cy="118872"/>
            </a:xfrm>
            <a:prstGeom prst="ellipse">
              <a:avLst/>
            </a:prstGeom>
            <a:solidFill>
              <a:srgbClr val="1E2430"/>
            </a:solidFill>
            <a:ln>
              <a:noFill/>
            </a:ln>
          </p:spPr>
        </p:sp>
        <p:sp>
          <p:nvSpPr>
            <p:cNvPr id="30" name="テキスト 30"/>
            <p:cNvSpPr txBox="1"/>
            <p:nvPr/>
          </p:nvSpPr>
          <p:spPr>
            <a:xfrm>
              <a:off x="5440680" y="3332074"/>
              <a:ext cx="5486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音源</a:t>
              </a:r>
              <a:endParaRPr lang="ja-JP" altLang="en-US" sz="900" dirty="0"/>
            </a:p>
          </p:txBody>
        </p:sp>
        <p:sp>
          <p:nvSpPr>
            <p:cNvPr id="31" name="テキスト 31"/>
            <p:cNvSpPr txBox="1"/>
            <p:nvPr/>
          </p:nvSpPr>
          <p:spPr>
            <a:xfrm>
              <a:off x="6172200" y="3740262"/>
              <a:ext cx="5486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耳</a:t>
              </a:r>
              <a:endParaRPr lang="ja-JP" altLang="en-US" sz="9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5 つの道に配る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音源から届いた量を、直接・透過・回折・初期反射・後期残響に 1 回ずつ</a:t>
            </a:r>
            <a:endParaRPr lang="ja-JP" altLang="en-US" sz="1300" dirty="0"/>
          </a:p>
        </p:txBody>
      </p:sp>
      <p:grpSp>
        <p:nvGrpSpPr>
          <p:cNvPr id="8" name="10_5つの道に配る">
            <a:extLst>
              <a:ext uri="{FF2B5EF4-FFF2-40B4-BE49-F238E27FC236}">
                <a16:creationId xmlns:a16="http://schemas.microsoft.com/office/drawing/2014/main" id="{AC49DA38-C197-0EE4-0CF7-14E800509BA8}"/>
              </a:ext>
            </a:extLst>
          </p:cNvPr>
          <p:cNvGrpSpPr/>
          <p:nvPr/>
        </p:nvGrpSpPr>
        <p:grpSpPr>
          <a:xfrm>
            <a:off x="1097280" y="3017520"/>
            <a:ext cx="9966960" cy="822960"/>
            <a:chOff x="1097280" y="3017520"/>
            <a:chExt cx="9966960" cy="822960"/>
          </a:xfrm>
        </p:grpSpPr>
        <p:sp>
          <p:nvSpPr>
            <p:cNvPr id="3" name="図形 3"/>
            <p:cNvSpPr/>
            <p:nvPr/>
          </p:nvSpPr>
          <p:spPr>
            <a:xfrm>
              <a:off x="1097280" y="3017520"/>
              <a:ext cx="1794053" cy="822960"/>
            </a:xfrm>
            <a:prstGeom prst="rect">
              <a:avLst/>
            </a:prstGeom>
            <a:solidFill>
              <a:srgbClr val="00C2C7"/>
            </a:solidFill>
            <a:ln w="19050">
              <a:solidFill>
                <a:srgbClr val="FFFF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5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直接</a:t>
              </a:r>
              <a:endParaRPr lang="ja-JP" altLang="en-US" sz="1500" dirty="0"/>
            </a:p>
          </p:txBody>
        </p:sp>
        <p:sp>
          <p:nvSpPr>
            <p:cNvPr id="4" name="図形 4"/>
            <p:cNvSpPr/>
            <p:nvPr/>
          </p:nvSpPr>
          <p:spPr>
            <a:xfrm>
              <a:off x="2891333" y="3017520"/>
              <a:ext cx="797357" cy="822960"/>
            </a:xfrm>
            <a:prstGeom prst="rect">
              <a:avLst/>
            </a:prstGeom>
            <a:solidFill>
              <a:srgbClr val="B8C0CC"/>
            </a:solidFill>
            <a:ln w="19050">
              <a:solidFill>
                <a:srgbClr val="FFFF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5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透過</a:t>
              </a:r>
              <a:endParaRPr lang="ja-JP" altLang="en-US" sz="1500" dirty="0"/>
            </a:p>
          </p:txBody>
        </p:sp>
        <p:sp>
          <p:nvSpPr>
            <p:cNvPr id="5" name="図形 5"/>
            <p:cNvSpPr/>
            <p:nvPr/>
          </p:nvSpPr>
          <p:spPr>
            <a:xfrm>
              <a:off x="3688690" y="3017520"/>
              <a:ext cx="1196035" cy="822960"/>
            </a:xfrm>
            <a:prstGeom prst="rect">
              <a:avLst/>
            </a:prstGeom>
            <a:solidFill>
              <a:srgbClr val="2F95DF"/>
            </a:solidFill>
            <a:ln w="19050">
              <a:solidFill>
                <a:srgbClr val="FFFF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500" b="1" dirty="0">
                  <a:solidFill>
                    <a:srgbClr val="FFFFFF"/>
                  </a:solidFill>
                  <a:latin typeface="BIZ UDPゴシック"/>
                  <a:ea typeface="BIZ UDPゴシック"/>
                  <a:cs typeface="BIZ UDPゴシック"/>
                </a:rPr>
                <a:t>回折</a:t>
              </a:r>
              <a:endParaRPr lang="ja-JP" altLang="en-US" sz="1500" dirty="0"/>
            </a:p>
          </p:txBody>
        </p:sp>
        <p:sp>
          <p:nvSpPr>
            <p:cNvPr id="6" name="図形 6"/>
            <p:cNvSpPr/>
            <p:nvPr/>
          </p:nvSpPr>
          <p:spPr>
            <a:xfrm>
              <a:off x="4884725" y="3017520"/>
              <a:ext cx="2392070" cy="822960"/>
            </a:xfrm>
            <a:prstGeom prst="rect">
              <a:avLst/>
            </a:prstGeom>
            <a:solidFill>
              <a:srgbClr val="5F69F7"/>
            </a:solidFill>
            <a:ln w="19050">
              <a:solidFill>
                <a:srgbClr val="FFFF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500" b="1" dirty="0">
                  <a:solidFill>
                    <a:srgbClr val="FFFFFF"/>
                  </a:solidFill>
                  <a:latin typeface="BIZ UDPゴシック"/>
                  <a:ea typeface="BIZ UDPゴシック"/>
                  <a:cs typeface="BIZ UDPゴシック"/>
                </a:rPr>
                <a:t>初期反射</a:t>
              </a:r>
              <a:endParaRPr lang="ja-JP" altLang="en-US" sz="1500" dirty="0"/>
            </a:p>
          </p:txBody>
        </p:sp>
        <p:sp>
          <p:nvSpPr>
            <p:cNvPr id="7" name="図形 7"/>
            <p:cNvSpPr/>
            <p:nvPr/>
          </p:nvSpPr>
          <p:spPr>
            <a:xfrm>
              <a:off x="7276795" y="3017520"/>
              <a:ext cx="3787445" cy="822960"/>
            </a:xfrm>
            <a:prstGeom prst="rect">
              <a:avLst/>
            </a:prstGeom>
            <a:solidFill>
              <a:srgbClr val="2F3A4E"/>
            </a:solidFill>
            <a:ln w="19050">
              <a:solidFill>
                <a:srgbClr val="FFFF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500" b="1" dirty="0">
                  <a:solidFill>
                    <a:srgbClr val="FFFFFF"/>
                  </a:solidFill>
                  <a:latin typeface="BIZ UDPゴシック"/>
                  <a:ea typeface="BIZ UDPゴシック"/>
                  <a:cs typeface="BIZ UDPゴシック"/>
                </a:rPr>
                <a:t>後期残響</a:t>
              </a:r>
              <a:endParaRPr lang="ja-JP" altLang="en-US" sz="15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箱から部屋を見つける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壁・床・扉の箱 → 部屋 A と部屋 B（戸口でつながる）</a:t>
            </a:r>
            <a:endParaRPr lang="ja-JP" altLang="en-US" sz="1300" dirty="0"/>
          </a:p>
        </p:txBody>
      </p:sp>
      <p:grpSp>
        <p:nvGrpSpPr>
          <p:cNvPr id="15" name="11_部屋を見つける">
            <a:extLst>
              <a:ext uri="{FF2B5EF4-FFF2-40B4-BE49-F238E27FC236}">
                <a16:creationId xmlns:a16="http://schemas.microsoft.com/office/drawing/2014/main" id="{52614BCF-2070-9662-0A6A-F08AE5D6C8BC}"/>
              </a:ext>
            </a:extLst>
          </p:cNvPr>
          <p:cNvGrpSpPr/>
          <p:nvPr/>
        </p:nvGrpSpPr>
        <p:grpSpPr>
          <a:xfrm>
            <a:off x="1828800" y="2011680"/>
            <a:ext cx="8503920" cy="2231136"/>
            <a:chOff x="1828800" y="2011680"/>
            <a:chExt cx="8503920" cy="2231136"/>
          </a:xfrm>
        </p:grpSpPr>
        <p:sp>
          <p:nvSpPr>
            <p:cNvPr id="3" name="箱 3"/>
            <p:cNvSpPr/>
            <p:nvPr/>
          </p:nvSpPr>
          <p:spPr>
            <a:xfrm>
              <a:off x="1828800" y="2011680"/>
              <a:ext cx="3474720" cy="219456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4" name="箱 4"/>
            <p:cNvSpPr/>
            <p:nvPr/>
          </p:nvSpPr>
          <p:spPr>
            <a:xfrm>
              <a:off x="1828800" y="4023360"/>
              <a:ext cx="3474720" cy="219456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5" name="箱 5"/>
            <p:cNvSpPr/>
            <p:nvPr/>
          </p:nvSpPr>
          <p:spPr>
            <a:xfrm>
              <a:off x="1828800" y="2011680"/>
              <a:ext cx="219456" cy="2231136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6" name="箱 6"/>
            <p:cNvSpPr/>
            <p:nvPr/>
          </p:nvSpPr>
          <p:spPr>
            <a:xfrm>
              <a:off x="5084064" y="2011680"/>
              <a:ext cx="219456" cy="2231136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7" name="箱 7"/>
            <p:cNvSpPr/>
            <p:nvPr/>
          </p:nvSpPr>
          <p:spPr>
            <a:xfrm>
              <a:off x="3474720" y="2011680"/>
              <a:ext cx="219456" cy="822960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8" name="箱 8"/>
            <p:cNvSpPr/>
            <p:nvPr/>
          </p:nvSpPr>
          <p:spPr>
            <a:xfrm>
              <a:off x="3474720" y="3383280"/>
              <a:ext cx="219456" cy="859536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9" name="矢印 9"/>
            <p:cNvSpPr/>
            <p:nvPr/>
          </p:nvSpPr>
          <p:spPr>
            <a:xfrm>
              <a:off x="5760720" y="2926080"/>
              <a:ext cx="640080" cy="411480"/>
            </a:xfrm>
            <a:prstGeom prst="rightArrow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10" name="図形 10"/>
            <p:cNvSpPr/>
            <p:nvPr/>
          </p:nvSpPr>
          <p:spPr>
            <a:xfrm>
              <a:off x="6858000" y="2011680"/>
              <a:ext cx="1737360" cy="2231136"/>
            </a:xfrm>
            <a:prstGeom prst="rect">
              <a:avLst/>
            </a:prstGeom>
            <a:solidFill>
              <a:srgbClr val="D5F3F4"/>
            </a:solidFill>
            <a:ln w="25400">
              <a:solidFill>
                <a:srgbClr val="8A94A6"/>
              </a:solidFill>
            </a:ln>
          </p:spPr>
        </p:sp>
        <p:sp>
          <p:nvSpPr>
            <p:cNvPr id="11" name="図形 11"/>
            <p:cNvSpPr/>
            <p:nvPr/>
          </p:nvSpPr>
          <p:spPr>
            <a:xfrm>
              <a:off x="8595360" y="2011680"/>
              <a:ext cx="1737360" cy="2231136"/>
            </a:xfrm>
            <a:prstGeom prst="rect">
              <a:avLst/>
            </a:prstGeom>
            <a:solidFill>
              <a:srgbClr val="E8E9FE"/>
            </a:solidFill>
            <a:ln w="25400">
              <a:solidFill>
                <a:srgbClr val="8A94A6"/>
              </a:solidFill>
            </a:ln>
          </p:spPr>
        </p:sp>
        <p:sp>
          <p:nvSpPr>
            <p:cNvPr id="12" name="開口 12"/>
            <p:cNvSpPr/>
            <p:nvPr/>
          </p:nvSpPr>
          <p:spPr>
            <a:xfrm>
              <a:off x="8549640" y="2834640"/>
              <a:ext cx="91440" cy="548640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13" name="テキスト 13"/>
            <p:cNvSpPr txBox="1"/>
            <p:nvPr/>
          </p:nvSpPr>
          <p:spPr>
            <a:xfrm>
              <a:off x="6858000" y="2926080"/>
              <a:ext cx="1737360" cy="365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4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部屋 A</a:t>
              </a:r>
              <a:endParaRPr lang="ja-JP" altLang="en-US" sz="1400" dirty="0"/>
            </a:p>
          </p:txBody>
        </p:sp>
        <p:sp>
          <p:nvSpPr>
            <p:cNvPr id="14" name="テキスト 14"/>
            <p:cNvSpPr txBox="1"/>
            <p:nvPr/>
          </p:nvSpPr>
          <p:spPr>
            <a:xfrm>
              <a:off x="8595360" y="2926080"/>
              <a:ext cx="1737360" cy="365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4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部屋 B</a:t>
              </a:r>
              <a:endParaRPr lang="ja-JP" altLang="en-US" sz="14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残響時間（RT60）を帯域ごとに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低い音ほど長く響く形の例（模式）</a:t>
            </a:r>
            <a:endParaRPr lang="ja-JP" altLang="en-US" sz="1300" dirty="0"/>
          </a:p>
        </p:txBody>
      </p:sp>
      <p:grpSp>
        <p:nvGrpSpPr>
          <p:cNvPr id="16" name="12_RT60_帯域">
            <a:extLst>
              <a:ext uri="{FF2B5EF4-FFF2-40B4-BE49-F238E27FC236}">
                <a16:creationId xmlns:a16="http://schemas.microsoft.com/office/drawing/2014/main" id="{3781F054-9CD3-0E3F-284C-C622BA5E6B8F}"/>
              </a:ext>
            </a:extLst>
          </p:cNvPr>
          <p:cNvGrpSpPr/>
          <p:nvPr/>
        </p:nvGrpSpPr>
        <p:grpSpPr>
          <a:xfrm>
            <a:off x="3108960" y="1463040"/>
            <a:ext cx="5943600" cy="4526280"/>
            <a:chOff x="3108960" y="1463040"/>
            <a:chExt cx="5943600" cy="4526280"/>
          </a:xfrm>
        </p:grpSpPr>
        <p:sp>
          <p:nvSpPr>
            <p:cNvPr id="3" name="棒 3"/>
            <p:cNvSpPr/>
            <p:nvPr/>
          </p:nvSpPr>
          <p:spPr>
            <a:xfrm>
              <a:off x="3291840" y="1463040"/>
              <a:ext cx="685800" cy="3840480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4" name="テキスト 4"/>
            <p:cNvSpPr txBox="1"/>
            <p:nvPr/>
          </p:nvSpPr>
          <p:spPr>
            <a:xfrm>
              <a:off x="3108960" y="5394960"/>
              <a:ext cx="10515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2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125</a:t>
              </a:r>
              <a:endParaRPr lang="ja-JP" altLang="en-US" sz="1200" dirty="0"/>
            </a:p>
          </p:txBody>
        </p:sp>
        <p:sp>
          <p:nvSpPr>
            <p:cNvPr id="5" name="棒 5"/>
            <p:cNvSpPr/>
            <p:nvPr/>
          </p:nvSpPr>
          <p:spPr>
            <a:xfrm>
              <a:off x="4251960" y="1655064"/>
              <a:ext cx="685800" cy="3648456"/>
            </a:xfrm>
            <a:prstGeom prst="rect">
              <a:avLst/>
            </a:prstGeom>
            <a:solidFill>
              <a:srgbClr val="12B2CF"/>
            </a:solidFill>
            <a:ln>
              <a:noFill/>
            </a:ln>
          </p:spPr>
        </p:sp>
        <p:sp>
          <p:nvSpPr>
            <p:cNvPr id="6" name="テキスト 6"/>
            <p:cNvSpPr txBox="1"/>
            <p:nvPr/>
          </p:nvSpPr>
          <p:spPr>
            <a:xfrm>
              <a:off x="4069080" y="5394960"/>
              <a:ext cx="10515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2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250</a:t>
              </a:r>
              <a:endParaRPr lang="ja-JP" altLang="en-US" sz="1200" dirty="0"/>
            </a:p>
          </p:txBody>
        </p:sp>
        <p:sp>
          <p:nvSpPr>
            <p:cNvPr id="7" name="棒 7"/>
            <p:cNvSpPr/>
            <p:nvPr/>
          </p:nvSpPr>
          <p:spPr>
            <a:xfrm>
              <a:off x="5212080" y="2039112"/>
              <a:ext cx="685800" cy="3264408"/>
            </a:xfrm>
            <a:prstGeom prst="rect">
              <a:avLst/>
            </a:prstGeom>
            <a:solidFill>
              <a:srgbClr val="1FA4D7"/>
            </a:solidFill>
            <a:ln>
              <a:noFill/>
            </a:ln>
          </p:spPr>
        </p:sp>
        <p:sp>
          <p:nvSpPr>
            <p:cNvPr id="8" name="テキスト 8"/>
            <p:cNvSpPr txBox="1"/>
            <p:nvPr/>
          </p:nvSpPr>
          <p:spPr>
            <a:xfrm>
              <a:off x="5029200" y="5394960"/>
              <a:ext cx="10515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2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500</a:t>
              </a:r>
              <a:endParaRPr lang="ja-JP" altLang="en-US" sz="1200" dirty="0"/>
            </a:p>
          </p:txBody>
        </p:sp>
        <p:sp>
          <p:nvSpPr>
            <p:cNvPr id="9" name="棒 9"/>
            <p:cNvSpPr/>
            <p:nvPr/>
          </p:nvSpPr>
          <p:spPr>
            <a:xfrm>
              <a:off x="6172200" y="2538374"/>
              <a:ext cx="685800" cy="2765146"/>
            </a:xfrm>
            <a:prstGeom prst="rect">
              <a:avLst/>
            </a:prstGeom>
            <a:solidFill>
              <a:srgbClr val="2F95DF"/>
            </a:solidFill>
            <a:ln>
              <a:noFill/>
            </a:ln>
          </p:spPr>
        </p:sp>
        <p:sp>
          <p:nvSpPr>
            <p:cNvPr id="10" name="テキスト 10"/>
            <p:cNvSpPr txBox="1"/>
            <p:nvPr/>
          </p:nvSpPr>
          <p:spPr>
            <a:xfrm>
              <a:off x="5989320" y="5394960"/>
              <a:ext cx="10515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2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1k</a:t>
              </a:r>
              <a:endParaRPr lang="ja-JP" altLang="en-US" sz="1200" dirty="0"/>
            </a:p>
          </p:txBody>
        </p:sp>
        <p:sp>
          <p:nvSpPr>
            <p:cNvPr id="11" name="棒 11"/>
            <p:cNvSpPr/>
            <p:nvPr/>
          </p:nvSpPr>
          <p:spPr>
            <a:xfrm>
              <a:off x="7132320" y="3076042"/>
              <a:ext cx="685800" cy="2227478"/>
            </a:xfrm>
            <a:prstGeom prst="rect">
              <a:avLst/>
            </a:prstGeom>
            <a:solidFill>
              <a:srgbClr val="4F78EF"/>
            </a:solidFill>
            <a:ln>
              <a:noFill/>
            </a:ln>
          </p:spPr>
        </p:sp>
        <p:sp>
          <p:nvSpPr>
            <p:cNvPr id="12" name="テキスト 12"/>
            <p:cNvSpPr txBox="1"/>
            <p:nvPr/>
          </p:nvSpPr>
          <p:spPr>
            <a:xfrm>
              <a:off x="6949440" y="5394960"/>
              <a:ext cx="10515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2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2k</a:t>
              </a:r>
              <a:endParaRPr lang="ja-JP" altLang="en-US" sz="1200" dirty="0"/>
            </a:p>
          </p:txBody>
        </p:sp>
        <p:sp>
          <p:nvSpPr>
            <p:cNvPr id="13" name="棒 13"/>
            <p:cNvSpPr/>
            <p:nvPr/>
          </p:nvSpPr>
          <p:spPr>
            <a:xfrm>
              <a:off x="8092440" y="3690518"/>
              <a:ext cx="685800" cy="1613002"/>
            </a:xfrm>
            <a:prstGeom prst="rect">
              <a:avLst/>
            </a:prstGeom>
            <a:solidFill>
              <a:srgbClr val="5F69F7"/>
            </a:solidFill>
            <a:ln>
              <a:noFill/>
            </a:ln>
          </p:spPr>
        </p:sp>
        <p:sp>
          <p:nvSpPr>
            <p:cNvPr id="14" name="テキスト 14"/>
            <p:cNvSpPr txBox="1"/>
            <p:nvPr/>
          </p:nvSpPr>
          <p:spPr>
            <a:xfrm>
              <a:off x="7909560" y="5394960"/>
              <a:ext cx="10515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2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4k</a:t>
              </a:r>
              <a:endParaRPr lang="ja-JP" altLang="en-US" sz="1200" dirty="0"/>
            </a:p>
          </p:txBody>
        </p:sp>
        <p:sp>
          <p:nvSpPr>
            <p:cNvPr id="15" name="テキスト 15"/>
            <p:cNvSpPr txBox="1"/>
            <p:nvPr/>
          </p:nvSpPr>
          <p:spPr>
            <a:xfrm>
              <a:off x="3108960" y="5715000"/>
              <a:ext cx="594360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1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周波数（Hz）</a:t>
              </a:r>
              <a:endParaRPr lang="ja-JP" altLang="en-US" sz="11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FDN のしくみ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遅延線に通して混ぜ、減らしながら戻す</a:t>
            </a:r>
            <a:endParaRPr lang="ja-JP" altLang="en-US" sz="1300" dirty="0"/>
          </a:p>
        </p:txBody>
      </p:sp>
      <p:grpSp>
        <p:nvGrpSpPr>
          <p:cNvPr id="17" name="13_FDNのしくみ">
            <a:extLst>
              <a:ext uri="{FF2B5EF4-FFF2-40B4-BE49-F238E27FC236}">
                <a16:creationId xmlns:a16="http://schemas.microsoft.com/office/drawing/2014/main" id="{4022C076-B9F2-09E8-0A49-41F4F8EEF1E5}"/>
              </a:ext>
            </a:extLst>
          </p:cNvPr>
          <p:cNvGrpSpPr/>
          <p:nvPr/>
        </p:nvGrpSpPr>
        <p:grpSpPr>
          <a:xfrm>
            <a:off x="2011680" y="1828800"/>
            <a:ext cx="8321040" cy="3931920"/>
            <a:chOff x="2011680" y="1828800"/>
            <a:chExt cx="8321040" cy="3931920"/>
          </a:xfrm>
        </p:grpSpPr>
        <p:sp>
          <p:nvSpPr>
            <p:cNvPr id="3" name="テキスト 3"/>
            <p:cNvSpPr txBox="1"/>
            <p:nvPr/>
          </p:nvSpPr>
          <p:spPr>
            <a:xfrm>
              <a:off x="2011680" y="3017520"/>
              <a:ext cx="914400" cy="365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5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入力</a:t>
              </a:r>
              <a:endParaRPr lang="ja-JP" altLang="en-US" sz="1500" dirty="0"/>
            </a:p>
          </p:txBody>
        </p:sp>
        <p:cxnSp>
          <p:nvCxnSpPr>
            <p:cNvPr id="4" name="線 4"/>
            <p:cNvCxnSpPr/>
            <p:nvPr/>
          </p:nvCxnSpPr>
          <p:spPr>
            <a:xfrm>
              <a:off x="2834640" y="3200400"/>
              <a:ext cx="640080" cy="0"/>
            </a:xfrm>
            <a:prstGeom prst="line">
              <a:avLst/>
            </a:prstGeom>
            <a:ln w="25400">
              <a:solidFill>
                <a:srgbClr val="1E2430"/>
              </a:solidFill>
              <a:tailEnd type="triangle" w="med" len="med"/>
            </a:ln>
          </p:spPr>
        </p:cxnSp>
        <p:sp>
          <p:nvSpPr>
            <p:cNvPr id="5" name="遅延線 5"/>
            <p:cNvSpPr/>
            <p:nvPr/>
          </p:nvSpPr>
          <p:spPr>
            <a:xfrm>
              <a:off x="3566160" y="1828800"/>
              <a:ext cx="2377440" cy="310896"/>
            </a:xfrm>
            <a:prstGeom prst="rect">
              <a:avLst/>
            </a:prstGeom>
            <a:solidFill>
              <a:srgbClr val="2F3A4E"/>
            </a:solidFill>
            <a:ln>
              <a:noFill/>
            </a:ln>
          </p:spPr>
        </p:sp>
        <p:sp>
          <p:nvSpPr>
            <p:cNvPr id="6" name="遅延線 6"/>
            <p:cNvSpPr/>
            <p:nvPr/>
          </p:nvSpPr>
          <p:spPr>
            <a:xfrm>
              <a:off x="3566160" y="2395728"/>
              <a:ext cx="2011680" cy="310896"/>
            </a:xfrm>
            <a:prstGeom prst="rect">
              <a:avLst/>
            </a:prstGeom>
            <a:solidFill>
              <a:srgbClr val="2F3A4E"/>
            </a:solidFill>
            <a:ln>
              <a:noFill/>
            </a:ln>
          </p:spPr>
        </p:sp>
        <p:sp>
          <p:nvSpPr>
            <p:cNvPr id="7" name="遅延線 7"/>
            <p:cNvSpPr/>
            <p:nvPr/>
          </p:nvSpPr>
          <p:spPr>
            <a:xfrm>
              <a:off x="3566160" y="2962656"/>
              <a:ext cx="1645920" cy="310896"/>
            </a:xfrm>
            <a:prstGeom prst="rect">
              <a:avLst/>
            </a:prstGeom>
            <a:solidFill>
              <a:srgbClr val="2F3A4E"/>
            </a:solidFill>
            <a:ln>
              <a:noFill/>
            </a:ln>
          </p:spPr>
        </p:sp>
        <p:sp>
          <p:nvSpPr>
            <p:cNvPr id="8" name="遅延線 8"/>
            <p:cNvSpPr/>
            <p:nvPr/>
          </p:nvSpPr>
          <p:spPr>
            <a:xfrm>
              <a:off x="3566160" y="3529584"/>
              <a:ext cx="2377440" cy="310896"/>
            </a:xfrm>
            <a:prstGeom prst="rect">
              <a:avLst/>
            </a:prstGeom>
            <a:solidFill>
              <a:srgbClr val="2F3A4E"/>
            </a:solidFill>
            <a:ln>
              <a:noFill/>
            </a:ln>
          </p:spPr>
        </p:sp>
        <p:sp>
          <p:nvSpPr>
            <p:cNvPr id="9" name="遅延線 9"/>
            <p:cNvSpPr/>
            <p:nvPr/>
          </p:nvSpPr>
          <p:spPr>
            <a:xfrm>
              <a:off x="3566160" y="4096512"/>
              <a:ext cx="2011680" cy="310896"/>
            </a:xfrm>
            <a:prstGeom prst="rect">
              <a:avLst/>
            </a:prstGeom>
            <a:solidFill>
              <a:srgbClr val="2F3A4E"/>
            </a:solidFill>
            <a:ln>
              <a:noFill/>
            </a:ln>
          </p:spPr>
        </p:sp>
        <p:sp>
          <p:nvSpPr>
            <p:cNvPr id="10" name="テキスト 10"/>
            <p:cNvSpPr txBox="1"/>
            <p:nvPr/>
          </p:nvSpPr>
          <p:spPr>
            <a:xfrm>
              <a:off x="3474720" y="4663440"/>
              <a:ext cx="274320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2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遅延線 × 16</a:t>
              </a:r>
              <a:endParaRPr lang="ja-JP" altLang="en-US" sz="1200" dirty="0"/>
            </a:p>
          </p:txBody>
        </p:sp>
        <p:cxnSp>
          <p:nvCxnSpPr>
            <p:cNvPr id="11" name="線 11"/>
            <p:cNvCxnSpPr/>
            <p:nvPr/>
          </p:nvCxnSpPr>
          <p:spPr>
            <a:xfrm>
              <a:off x="6126480" y="3200400"/>
              <a:ext cx="640080" cy="0"/>
            </a:xfrm>
            <a:prstGeom prst="line">
              <a:avLst/>
            </a:prstGeom>
            <a:ln w="25400">
              <a:solidFill>
                <a:srgbClr val="1E2430"/>
              </a:solidFill>
              <a:tailEnd type="triangle" w="med" len="med"/>
            </a:ln>
          </p:spPr>
        </p:cxnSp>
        <p:sp>
          <p:nvSpPr>
            <p:cNvPr id="12" name="図形 12"/>
            <p:cNvSpPr/>
            <p:nvPr/>
          </p:nvSpPr>
          <p:spPr>
            <a:xfrm>
              <a:off x="6858000" y="2468880"/>
              <a:ext cx="1737360" cy="146304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8A94A6"/>
              </a:solidFill>
            </a:ln>
          </p:spPr>
          <p:txBody>
            <a:bodyPr wrap="square" lIns="54864" tIns="27432" rIns="54864" bIns="27432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6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混ぜる</a:t>
              </a:r>
              <a:endParaRPr lang="ja-JP" altLang="en-US" sz="1600" dirty="0"/>
            </a:p>
          </p:txBody>
        </p:sp>
        <p:cxnSp>
          <p:nvCxnSpPr>
            <p:cNvPr id="13" name="線 13"/>
            <p:cNvCxnSpPr/>
            <p:nvPr/>
          </p:nvCxnSpPr>
          <p:spPr>
            <a:xfrm>
              <a:off x="8595360" y="3200400"/>
              <a:ext cx="731520" cy="0"/>
            </a:xfrm>
            <a:prstGeom prst="line">
              <a:avLst/>
            </a:prstGeom>
            <a:ln w="25400">
              <a:solidFill>
                <a:srgbClr val="1E2430"/>
              </a:solidFill>
              <a:tailEnd type="triangle" w="med" len="med"/>
            </a:ln>
          </p:spPr>
        </p:cxnSp>
        <p:sp>
          <p:nvSpPr>
            <p:cNvPr id="14" name="テキスト 14"/>
            <p:cNvSpPr txBox="1"/>
            <p:nvPr/>
          </p:nvSpPr>
          <p:spPr>
            <a:xfrm>
              <a:off x="9418320" y="3017520"/>
              <a:ext cx="914400" cy="365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5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出力</a:t>
              </a:r>
              <a:endParaRPr lang="ja-JP" altLang="en-US" sz="1500" dirty="0"/>
            </a:p>
          </p:txBody>
        </p:sp>
        <p:sp>
          <p:nvSpPr>
            <p:cNvPr id="15" name="折れ線 15"/>
            <p:cNvSpPr/>
            <p:nvPr/>
          </p:nvSpPr>
          <p:spPr>
            <a:xfrm>
              <a:off x="3246120" y="3383280"/>
              <a:ext cx="4480560" cy="2011680"/>
            </a:xfrm>
            <a:custGeom>
              <a:avLst/>
              <a:gdLst/>
              <a:ahLst/>
              <a:cxnLst/>
              <a:rect l="0" t="0" r="r" b="b"/>
              <a:pathLst>
                <a:path w="4480560" h="2011680" fill="none">
                  <a:moveTo>
                    <a:pt x="4480560" y="548640"/>
                  </a:moveTo>
                  <a:lnTo>
                    <a:pt x="4480560" y="2011680"/>
                  </a:lnTo>
                  <a:lnTo>
                    <a:pt x="0" y="2011680"/>
                  </a:lnTo>
                  <a:lnTo>
                    <a:pt x="0" y="0"/>
                  </a:lnTo>
                  <a:lnTo>
                    <a:pt x="274320" y="0"/>
                  </a:lnTo>
                </a:path>
              </a:pathLst>
            </a:custGeom>
            <a:noFill/>
            <a:ln w="31750">
              <a:solidFill>
                <a:srgbClr val="00C2C7"/>
              </a:solidFill>
              <a:tailEnd type="triangle" w="med" len="med"/>
            </a:ln>
          </p:spPr>
        </p:sp>
        <p:sp>
          <p:nvSpPr>
            <p:cNvPr id="16" name="テキスト 16"/>
            <p:cNvSpPr txBox="1"/>
            <p:nvPr/>
          </p:nvSpPr>
          <p:spPr>
            <a:xfrm>
              <a:off x="3474720" y="5440680"/>
              <a:ext cx="411480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300" b="1" dirty="0">
                  <a:solidFill>
                    <a:srgbClr val="00868C"/>
                  </a:solidFill>
                  <a:latin typeface="BIZ UDPゴシック"/>
                  <a:ea typeface="BIZ UDPゴシック"/>
                  <a:cs typeface="BIZ UDPゴシック"/>
                </a:rPr>
                <a:t>× 減衰（RT60 から帯域ごとに）</a:t>
              </a:r>
              <a:endParaRPr lang="ja-JP" altLang="en-US" sz="13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部屋どうしのつなぎ方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前向きだけ。扉の開き具合が戸口の流れに効く</a:t>
            </a:r>
            <a:endParaRPr lang="ja-JP" altLang="en-US" sz="1300" dirty="0"/>
          </a:p>
        </p:txBody>
      </p:sp>
      <p:grpSp>
        <p:nvGrpSpPr>
          <p:cNvPr id="10" name="14_部屋どうしのつなぎ方">
            <a:extLst>
              <a:ext uri="{FF2B5EF4-FFF2-40B4-BE49-F238E27FC236}">
                <a16:creationId xmlns:a16="http://schemas.microsoft.com/office/drawing/2014/main" id="{8C750AA2-7A64-9F46-A514-F24D0E7891A7}"/>
              </a:ext>
            </a:extLst>
          </p:cNvPr>
          <p:cNvGrpSpPr/>
          <p:nvPr/>
        </p:nvGrpSpPr>
        <p:grpSpPr>
          <a:xfrm>
            <a:off x="1463040" y="2377440"/>
            <a:ext cx="9144000" cy="2103120"/>
            <a:chOff x="1463040" y="2377440"/>
            <a:chExt cx="9144000" cy="2103120"/>
          </a:xfrm>
        </p:grpSpPr>
        <p:sp>
          <p:nvSpPr>
            <p:cNvPr id="3" name="図形 3"/>
            <p:cNvSpPr/>
            <p:nvPr/>
          </p:nvSpPr>
          <p:spPr>
            <a:xfrm>
              <a:off x="1463040" y="2377440"/>
              <a:ext cx="2560320" cy="146304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8A94A6"/>
              </a:solidFill>
            </a:ln>
          </p:spPr>
          <p:txBody>
            <a:bodyPr wrap="square" lIns="54864" tIns="27432" rIns="54864" bIns="27432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6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隣の部屋</a:t>
              </a:r>
              <a:endParaRPr lang="ja-JP" altLang="en-US" sz="1600" dirty="0"/>
            </a:p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3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FDN</a:t>
              </a:r>
              <a:endParaRPr lang="ja-JP" altLang="en-US" sz="1300" dirty="0"/>
            </a:p>
          </p:txBody>
        </p:sp>
        <p:sp>
          <p:nvSpPr>
            <p:cNvPr id="4" name="図形 4"/>
            <p:cNvSpPr/>
            <p:nvPr/>
          </p:nvSpPr>
          <p:spPr>
            <a:xfrm>
              <a:off x="4846320" y="2697480"/>
              <a:ext cx="2377440" cy="822960"/>
            </a:xfrm>
            <a:prstGeom prst="roundRect">
              <a:avLst>
                <a:gd name="adj" fmla="val 30000"/>
              </a:avLst>
            </a:prstGeom>
            <a:solidFill>
              <a:srgbClr val="00C2C7"/>
            </a:solidFill>
            <a:ln>
              <a:noFill/>
            </a:ln>
          </p:spPr>
          <p:txBody>
            <a:bodyPr wrap="square" lIns="54864" tIns="27432" rIns="54864" bIns="27432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5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戸口 × 開き具合</a:t>
              </a:r>
              <a:endParaRPr lang="ja-JP" altLang="en-US" sz="1500" dirty="0"/>
            </a:p>
          </p:txBody>
        </p:sp>
        <p:sp>
          <p:nvSpPr>
            <p:cNvPr id="5" name="図形 5"/>
            <p:cNvSpPr/>
            <p:nvPr/>
          </p:nvSpPr>
          <p:spPr>
            <a:xfrm>
              <a:off x="8046720" y="2377440"/>
              <a:ext cx="2560320" cy="146304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8A94A6"/>
              </a:solidFill>
            </a:ln>
          </p:spPr>
          <p:txBody>
            <a:bodyPr wrap="square" lIns="54864" tIns="27432" rIns="54864" bIns="27432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6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今いる部屋</a:t>
              </a:r>
              <a:endParaRPr lang="ja-JP" altLang="en-US" sz="1600" dirty="0"/>
            </a:p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3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FDN</a:t>
              </a:r>
              <a:endParaRPr lang="ja-JP" altLang="en-US" sz="1300" dirty="0"/>
            </a:p>
          </p:txBody>
        </p:sp>
        <p:cxnSp>
          <p:nvCxnSpPr>
            <p:cNvPr id="6" name="線 6"/>
            <p:cNvCxnSpPr/>
            <p:nvPr/>
          </p:nvCxnSpPr>
          <p:spPr>
            <a:xfrm>
              <a:off x="4023360" y="3108960"/>
              <a:ext cx="822960" cy="0"/>
            </a:xfrm>
            <a:prstGeom prst="line">
              <a:avLst/>
            </a:prstGeom>
            <a:ln w="25400">
              <a:solidFill>
                <a:srgbClr val="1E2430"/>
              </a:solidFill>
              <a:tailEnd type="triangle" w="med" len="med"/>
            </a:ln>
          </p:spPr>
        </p:cxnSp>
        <p:cxnSp>
          <p:nvCxnSpPr>
            <p:cNvPr id="7" name="線 7"/>
            <p:cNvCxnSpPr/>
            <p:nvPr/>
          </p:nvCxnSpPr>
          <p:spPr>
            <a:xfrm>
              <a:off x="7223760" y="3108960"/>
              <a:ext cx="822960" cy="0"/>
            </a:xfrm>
            <a:prstGeom prst="line">
              <a:avLst/>
            </a:prstGeom>
            <a:ln w="25400">
              <a:solidFill>
                <a:srgbClr val="1E2430"/>
              </a:solidFill>
              <a:tailEnd type="triangle" w="med" len="med"/>
            </a:ln>
          </p:spPr>
        </p:cxnSp>
        <p:sp>
          <p:nvSpPr>
            <p:cNvPr id="8" name="折れ線 8"/>
            <p:cNvSpPr/>
            <p:nvPr/>
          </p:nvSpPr>
          <p:spPr>
            <a:xfrm>
              <a:off x="2743200" y="3840480"/>
              <a:ext cx="6583680" cy="640080"/>
            </a:xfrm>
            <a:custGeom>
              <a:avLst/>
              <a:gdLst/>
              <a:ahLst/>
              <a:cxnLst/>
              <a:rect l="0" t="0" r="r" b="b"/>
              <a:pathLst>
                <a:path w="6583680" h="640080" fill="none">
                  <a:moveTo>
                    <a:pt x="6583680" y="0"/>
                  </a:moveTo>
                  <a:lnTo>
                    <a:pt x="6583680" y="640080"/>
                  </a:lnTo>
                  <a:lnTo>
                    <a:pt x="0" y="640080"/>
                  </a:lnTo>
                  <a:lnTo>
                    <a:pt x="0" y="18288"/>
                  </a:lnTo>
                </a:path>
              </a:pathLst>
            </a:custGeom>
            <a:noFill/>
            <a:ln w="25400">
              <a:solidFill>
                <a:srgbClr val="C9CED6"/>
              </a:solidFill>
              <a:prstDash val="dash"/>
              <a:tailEnd type="triangle" w="med" len="med"/>
            </a:ln>
          </p:spPr>
        </p:sp>
        <p:sp>
          <p:nvSpPr>
            <p:cNvPr id="9" name="テキスト 9"/>
            <p:cNvSpPr txBox="1"/>
            <p:nvPr/>
          </p:nvSpPr>
          <p:spPr>
            <a:xfrm>
              <a:off x="4389120" y="4114800"/>
              <a:ext cx="329184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300" b="1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×　結び返さない</a:t>
              </a:r>
              <a:endParaRPr lang="ja-JP" altLang="en-US" sz="13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隣の部屋：そのまま響かせる（方向がぼやける）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上から見た図</a:t>
            </a:r>
            <a:endParaRPr lang="ja-JP" altLang="en-US" sz="1300" dirty="0"/>
          </a:p>
        </p:txBody>
      </p:sp>
      <p:grpSp>
        <p:nvGrpSpPr>
          <p:cNvPr id="16" name="15_隣の部屋_そのまま響く">
            <a:extLst>
              <a:ext uri="{FF2B5EF4-FFF2-40B4-BE49-F238E27FC236}">
                <a16:creationId xmlns:a16="http://schemas.microsoft.com/office/drawing/2014/main" id="{F3810BB7-0CF2-A2BB-5D70-77DF1B9CCBD1}"/>
              </a:ext>
            </a:extLst>
          </p:cNvPr>
          <p:cNvGrpSpPr/>
          <p:nvPr/>
        </p:nvGrpSpPr>
        <p:grpSpPr>
          <a:xfrm>
            <a:off x="4480560" y="2194560"/>
            <a:ext cx="3227832" cy="2377440"/>
            <a:chOff x="4480560" y="2194560"/>
            <a:chExt cx="3227832" cy="2377440"/>
          </a:xfrm>
        </p:grpSpPr>
        <p:sp>
          <p:nvSpPr>
            <p:cNvPr id="3" name="部屋 3"/>
            <p:cNvSpPr/>
            <p:nvPr/>
          </p:nvSpPr>
          <p:spPr>
            <a:xfrm>
              <a:off x="4480560" y="2194560"/>
              <a:ext cx="1613916" cy="2377440"/>
            </a:xfrm>
            <a:prstGeom prst="rect">
              <a:avLst/>
            </a:prstGeom>
            <a:solidFill>
              <a:srgbClr val="EEF9FA"/>
            </a:solidFill>
            <a:ln w="25400">
              <a:solidFill>
                <a:srgbClr val="8A94A6"/>
              </a:solidFill>
            </a:ln>
          </p:spPr>
        </p:sp>
        <p:sp>
          <p:nvSpPr>
            <p:cNvPr id="4" name="部屋 4"/>
            <p:cNvSpPr/>
            <p:nvPr/>
          </p:nvSpPr>
          <p:spPr>
            <a:xfrm>
              <a:off x="6094476" y="2194560"/>
              <a:ext cx="1613916" cy="23774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A94A6"/>
              </a:solidFill>
            </a:ln>
          </p:spPr>
        </p:sp>
        <p:sp>
          <p:nvSpPr>
            <p:cNvPr id="5" name="開口 5"/>
            <p:cNvSpPr/>
            <p:nvPr/>
          </p:nvSpPr>
          <p:spPr>
            <a:xfrm>
              <a:off x="6067044" y="3097987"/>
              <a:ext cx="54864" cy="570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テキスト 6"/>
            <p:cNvSpPr txBox="1"/>
            <p:nvPr/>
          </p:nvSpPr>
          <p:spPr>
            <a:xfrm>
              <a:off x="4480560" y="2231136"/>
              <a:ext cx="1613916" cy="2194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響く部屋</a:t>
              </a:r>
              <a:endParaRPr lang="ja-JP" altLang="en-US" sz="900" dirty="0"/>
            </a:p>
          </p:txBody>
        </p:sp>
        <p:sp>
          <p:nvSpPr>
            <p:cNvPr id="7" name="テキスト 7"/>
            <p:cNvSpPr txBox="1"/>
            <p:nvPr/>
          </p:nvSpPr>
          <p:spPr>
            <a:xfrm>
              <a:off x="6094476" y="2231136"/>
              <a:ext cx="1613916" cy="2194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今いる部屋</a:t>
              </a:r>
              <a:endParaRPr lang="ja-JP" altLang="en-US" sz="900" dirty="0"/>
            </a:p>
          </p:txBody>
        </p:sp>
        <p:sp>
          <p:nvSpPr>
            <p:cNvPr id="8" name="点 8"/>
            <p:cNvSpPr/>
            <p:nvPr/>
          </p:nvSpPr>
          <p:spPr>
            <a:xfrm>
              <a:off x="4985995" y="2848356"/>
              <a:ext cx="118872" cy="118872"/>
            </a:xfrm>
            <a:prstGeom prst="ellipse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9" name="テキスト 9"/>
            <p:cNvSpPr txBox="1"/>
            <p:nvPr/>
          </p:nvSpPr>
          <p:spPr>
            <a:xfrm>
              <a:off x="4771111" y="2971800"/>
              <a:ext cx="5486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5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音源</a:t>
              </a:r>
              <a:endParaRPr lang="ja-JP" altLang="en-US" sz="850" dirty="0"/>
            </a:p>
          </p:txBody>
        </p:sp>
        <p:sp>
          <p:nvSpPr>
            <p:cNvPr id="10" name="弧 10"/>
            <p:cNvSpPr/>
            <p:nvPr/>
          </p:nvSpPr>
          <p:spPr>
            <a:xfrm>
              <a:off x="6388227" y="2798064"/>
              <a:ext cx="219456" cy="219456"/>
            </a:xfrm>
            <a:custGeom>
              <a:avLst/>
              <a:gdLst/>
              <a:ahLst/>
              <a:cxnLst/>
              <a:rect l="0" t="0" r="r" b="b"/>
              <a:pathLst>
                <a:path w="219456" h="219456" fill="none">
                  <a:moveTo>
                    <a:pt x="219456" y="109728"/>
                  </a:moveTo>
                  <a:lnTo>
                    <a:pt x="211103" y="67737"/>
                  </a:lnTo>
                  <a:lnTo>
                    <a:pt x="187317" y="32139"/>
                  </a:lnTo>
                  <a:lnTo>
                    <a:pt x="151719" y="8353"/>
                  </a:lnTo>
                  <a:lnTo>
                    <a:pt x="109728" y="0"/>
                  </a:lnTo>
                  <a:lnTo>
                    <a:pt x="67737" y="8353"/>
                  </a:lnTo>
                  <a:lnTo>
                    <a:pt x="32139" y="32139"/>
                  </a:lnTo>
                  <a:lnTo>
                    <a:pt x="8353" y="67737"/>
                  </a:lnTo>
                  <a:lnTo>
                    <a:pt x="0" y="109728"/>
                  </a:lnTo>
                  <a:lnTo>
                    <a:pt x="8353" y="151719"/>
                  </a:lnTo>
                  <a:lnTo>
                    <a:pt x="32139" y="187317"/>
                  </a:lnTo>
                  <a:lnTo>
                    <a:pt x="67737" y="211103"/>
                  </a:lnTo>
                  <a:lnTo>
                    <a:pt x="109728" y="219456"/>
                  </a:lnTo>
                  <a:lnTo>
                    <a:pt x="151719" y="211103"/>
                  </a:lnTo>
                  <a:lnTo>
                    <a:pt x="187317" y="187317"/>
                  </a:lnTo>
                  <a:lnTo>
                    <a:pt x="211103" y="151719"/>
                  </a:lnTo>
                  <a:lnTo>
                    <a:pt x="219456" y="109728"/>
                  </a:lnTo>
                </a:path>
              </a:pathLst>
            </a:custGeom>
            <a:noFill/>
            <a:ln w="12700">
              <a:solidFill>
                <a:srgbClr val="00C2C7"/>
              </a:solidFill>
            </a:ln>
          </p:spPr>
        </p:sp>
        <p:sp>
          <p:nvSpPr>
            <p:cNvPr id="11" name="弧 11"/>
            <p:cNvSpPr/>
            <p:nvPr/>
          </p:nvSpPr>
          <p:spPr>
            <a:xfrm>
              <a:off x="7356577" y="2679192"/>
              <a:ext cx="219456" cy="219456"/>
            </a:xfrm>
            <a:custGeom>
              <a:avLst/>
              <a:gdLst/>
              <a:ahLst/>
              <a:cxnLst/>
              <a:rect l="0" t="0" r="r" b="b"/>
              <a:pathLst>
                <a:path w="219456" h="219456" fill="none">
                  <a:moveTo>
                    <a:pt x="219456" y="109728"/>
                  </a:moveTo>
                  <a:lnTo>
                    <a:pt x="211103" y="67737"/>
                  </a:lnTo>
                  <a:lnTo>
                    <a:pt x="187317" y="32139"/>
                  </a:lnTo>
                  <a:lnTo>
                    <a:pt x="151719" y="8353"/>
                  </a:lnTo>
                  <a:lnTo>
                    <a:pt x="109728" y="0"/>
                  </a:lnTo>
                  <a:lnTo>
                    <a:pt x="67737" y="8353"/>
                  </a:lnTo>
                  <a:lnTo>
                    <a:pt x="32139" y="32139"/>
                  </a:lnTo>
                  <a:lnTo>
                    <a:pt x="8353" y="67737"/>
                  </a:lnTo>
                  <a:lnTo>
                    <a:pt x="0" y="109728"/>
                  </a:lnTo>
                  <a:lnTo>
                    <a:pt x="8353" y="151719"/>
                  </a:lnTo>
                  <a:lnTo>
                    <a:pt x="32139" y="187317"/>
                  </a:lnTo>
                  <a:lnTo>
                    <a:pt x="67737" y="211103"/>
                  </a:lnTo>
                  <a:lnTo>
                    <a:pt x="109728" y="219456"/>
                  </a:lnTo>
                  <a:lnTo>
                    <a:pt x="151719" y="211103"/>
                  </a:lnTo>
                  <a:lnTo>
                    <a:pt x="187317" y="187317"/>
                  </a:lnTo>
                  <a:lnTo>
                    <a:pt x="211103" y="151719"/>
                  </a:lnTo>
                  <a:lnTo>
                    <a:pt x="219456" y="109728"/>
                  </a:lnTo>
                </a:path>
              </a:pathLst>
            </a:custGeom>
            <a:noFill/>
            <a:ln w="12700">
              <a:solidFill>
                <a:srgbClr val="00C2C7"/>
              </a:solidFill>
            </a:ln>
          </p:spPr>
        </p:sp>
        <p:sp>
          <p:nvSpPr>
            <p:cNvPr id="12" name="弧 12"/>
            <p:cNvSpPr/>
            <p:nvPr/>
          </p:nvSpPr>
          <p:spPr>
            <a:xfrm>
              <a:off x="7275881" y="4224528"/>
              <a:ext cx="219456" cy="219456"/>
            </a:xfrm>
            <a:custGeom>
              <a:avLst/>
              <a:gdLst/>
              <a:ahLst/>
              <a:cxnLst/>
              <a:rect l="0" t="0" r="r" b="b"/>
              <a:pathLst>
                <a:path w="219456" h="219456" fill="none">
                  <a:moveTo>
                    <a:pt x="219456" y="109728"/>
                  </a:moveTo>
                  <a:lnTo>
                    <a:pt x="211103" y="67737"/>
                  </a:lnTo>
                  <a:lnTo>
                    <a:pt x="187317" y="32139"/>
                  </a:lnTo>
                  <a:lnTo>
                    <a:pt x="151719" y="8353"/>
                  </a:lnTo>
                  <a:lnTo>
                    <a:pt x="109728" y="0"/>
                  </a:lnTo>
                  <a:lnTo>
                    <a:pt x="67737" y="8353"/>
                  </a:lnTo>
                  <a:lnTo>
                    <a:pt x="32139" y="32139"/>
                  </a:lnTo>
                  <a:lnTo>
                    <a:pt x="8353" y="67737"/>
                  </a:lnTo>
                  <a:lnTo>
                    <a:pt x="0" y="109728"/>
                  </a:lnTo>
                  <a:lnTo>
                    <a:pt x="8353" y="151719"/>
                  </a:lnTo>
                  <a:lnTo>
                    <a:pt x="32139" y="187317"/>
                  </a:lnTo>
                  <a:lnTo>
                    <a:pt x="67737" y="211103"/>
                  </a:lnTo>
                  <a:lnTo>
                    <a:pt x="109728" y="219456"/>
                  </a:lnTo>
                  <a:lnTo>
                    <a:pt x="151719" y="211103"/>
                  </a:lnTo>
                  <a:lnTo>
                    <a:pt x="187317" y="187317"/>
                  </a:lnTo>
                  <a:lnTo>
                    <a:pt x="211103" y="151719"/>
                  </a:lnTo>
                  <a:lnTo>
                    <a:pt x="219456" y="109728"/>
                  </a:lnTo>
                </a:path>
              </a:pathLst>
            </a:custGeom>
            <a:noFill/>
            <a:ln w="12700">
              <a:solidFill>
                <a:srgbClr val="00C2C7"/>
              </a:solidFill>
            </a:ln>
          </p:spPr>
        </p:sp>
        <p:sp>
          <p:nvSpPr>
            <p:cNvPr id="13" name="弧 13"/>
            <p:cNvSpPr/>
            <p:nvPr/>
          </p:nvSpPr>
          <p:spPr>
            <a:xfrm>
              <a:off x="6307531" y="4176979"/>
              <a:ext cx="219456" cy="219456"/>
            </a:xfrm>
            <a:custGeom>
              <a:avLst/>
              <a:gdLst/>
              <a:ahLst/>
              <a:cxnLst/>
              <a:rect l="0" t="0" r="r" b="b"/>
              <a:pathLst>
                <a:path w="219456" h="219456" fill="none">
                  <a:moveTo>
                    <a:pt x="219456" y="109728"/>
                  </a:moveTo>
                  <a:lnTo>
                    <a:pt x="211103" y="67737"/>
                  </a:lnTo>
                  <a:lnTo>
                    <a:pt x="187317" y="32139"/>
                  </a:lnTo>
                  <a:lnTo>
                    <a:pt x="151719" y="8353"/>
                  </a:lnTo>
                  <a:lnTo>
                    <a:pt x="109728" y="0"/>
                  </a:lnTo>
                  <a:lnTo>
                    <a:pt x="67737" y="8353"/>
                  </a:lnTo>
                  <a:lnTo>
                    <a:pt x="32139" y="32139"/>
                  </a:lnTo>
                  <a:lnTo>
                    <a:pt x="8353" y="67737"/>
                  </a:lnTo>
                  <a:lnTo>
                    <a:pt x="0" y="109728"/>
                  </a:lnTo>
                  <a:lnTo>
                    <a:pt x="8353" y="151719"/>
                  </a:lnTo>
                  <a:lnTo>
                    <a:pt x="32139" y="187317"/>
                  </a:lnTo>
                  <a:lnTo>
                    <a:pt x="67737" y="211103"/>
                  </a:lnTo>
                  <a:lnTo>
                    <a:pt x="109728" y="219456"/>
                  </a:lnTo>
                  <a:lnTo>
                    <a:pt x="151719" y="211103"/>
                  </a:lnTo>
                  <a:lnTo>
                    <a:pt x="187317" y="187317"/>
                  </a:lnTo>
                  <a:lnTo>
                    <a:pt x="211103" y="151719"/>
                  </a:lnTo>
                  <a:lnTo>
                    <a:pt x="219456" y="109728"/>
                  </a:lnTo>
                </a:path>
              </a:pathLst>
            </a:custGeom>
            <a:noFill/>
            <a:ln w="12700">
              <a:solidFill>
                <a:srgbClr val="00C2C7"/>
              </a:solidFill>
            </a:ln>
          </p:spPr>
        </p:sp>
        <p:sp>
          <p:nvSpPr>
            <p:cNvPr id="14" name="点 14"/>
            <p:cNvSpPr/>
            <p:nvPr/>
          </p:nvSpPr>
          <p:spPr>
            <a:xfrm>
              <a:off x="7003390" y="3609137"/>
              <a:ext cx="118872" cy="118872"/>
            </a:xfrm>
            <a:prstGeom prst="ellipse">
              <a:avLst/>
            </a:prstGeom>
            <a:solidFill>
              <a:srgbClr val="1E2430"/>
            </a:solidFill>
            <a:ln>
              <a:noFill/>
            </a:ln>
          </p:spPr>
        </p:sp>
        <p:sp>
          <p:nvSpPr>
            <p:cNvPr id="15" name="テキスト 15"/>
            <p:cNvSpPr txBox="1"/>
            <p:nvPr/>
          </p:nvSpPr>
          <p:spPr>
            <a:xfrm>
              <a:off x="6559906" y="3741725"/>
              <a:ext cx="10058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5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耳：どこから？</a:t>
              </a:r>
              <a:endParaRPr lang="ja-JP" altLang="en-US" sz="85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隣の部屋：ドアのリスナープローブから鳴らす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上から見た図</a:t>
            </a:r>
            <a:endParaRPr lang="ja-JP" altLang="en-US" sz="1300" dirty="0"/>
          </a:p>
        </p:txBody>
      </p:sp>
      <p:grpSp>
        <p:nvGrpSpPr>
          <p:cNvPr id="15" name="16_隣の部屋_ドアから">
            <a:extLst>
              <a:ext uri="{FF2B5EF4-FFF2-40B4-BE49-F238E27FC236}">
                <a16:creationId xmlns:a16="http://schemas.microsoft.com/office/drawing/2014/main" id="{C6D71348-7F65-736D-E1BA-49995C8E2C50}"/>
              </a:ext>
            </a:extLst>
          </p:cNvPr>
          <p:cNvGrpSpPr/>
          <p:nvPr/>
        </p:nvGrpSpPr>
        <p:grpSpPr>
          <a:xfrm>
            <a:off x="4480560" y="2194560"/>
            <a:ext cx="3227832" cy="2377440"/>
            <a:chOff x="4480560" y="2194560"/>
            <a:chExt cx="3227832" cy="2377440"/>
          </a:xfrm>
        </p:grpSpPr>
        <p:sp>
          <p:nvSpPr>
            <p:cNvPr id="3" name="部屋 3"/>
            <p:cNvSpPr/>
            <p:nvPr/>
          </p:nvSpPr>
          <p:spPr>
            <a:xfrm>
              <a:off x="4480560" y="2194560"/>
              <a:ext cx="1613916" cy="2377440"/>
            </a:xfrm>
            <a:prstGeom prst="rect">
              <a:avLst/>
            </a:prstGeom>
            <a:solidFill>
              <a:srgbClr val="EEF9FA"/>
            </a:solidFill>
            <a:ln w="25400">
              <a:solidFill>
                <a:srgbClr val="8A94A6"/>
              </a:solidFill>
            </a:ln>
          </p:spPr>
        </p:sp>
        <p:sp>
          <p:nvSpPr>
            <p:cNvPr id="4" name="部屋 4"/>
            <p:cNvSpPr/>
            <p:nvPr/>
          </p:nvSpPr>
          <p:spPr>
            <a:xfrm>
              <a:off x="6094476" y="2194560"/>
              <a:ext cx="1613916" cy="23774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A94A6"/>
              </a:solidFill>
            </a:ln>
          </p:spPr>
        </p:sp>
        <p:sp>
          <p:nvSpPr>
            <p:cNvPr id="5" name="開口 5"/>
            <p:cNvSpPr/>
            <p:nvPr/>
          </p:nvSpPr>
          <p:spPr>
            <a:xfrm>
              <a:off x="6067044" y="3097987"/>
              <a:ext cx="54864" cy="570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テキスト 6"/>
            <p:cNvSpPr txBox="1"/>
            <p:nvPr/>
          </p:nvSpPr>
          <p:spPr>
            <a:xfrm>
              <a:off x="4480560" y="2231136"/>
              <a:ext cx="1613916" cy="2194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響く部屋</a:t>
              </a:r>
              <a:endParaRPr lang="ja-JP" altLang="en-US" sz="900" dirty="0"/>
            </a:p>
          </p:txBody>
        </p:sp>
        <p:sp>
          <p:nvSpPr>
            <p:cNvPr id="7" name="テキスト 7"/>
            <p:cNvSpPr txBox="1"/>
            <p:nvPr/>
          </p:nvSpPr>
          <p:spPr>
            <a:xfrm>
              <a:off x="6094476" y="2231136"/>
              <a:ext cx="1613916" cy="2194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今いる部屋</a:t>
              </a:r>
              <a:endParaRPr lang="ja-JP" altLang="en-US" sz="900" dirty="0"/>
            </a:p>
          </p:txBody>
        </p:sp>
        <p:sp>
          <p:nvSpPr>
            <p:cNvPr id="8" name="点 8"/>
            <p:cNvSpPr/>
            <p:nvPr/>
          </p:nvSpPr>
          <p:spPr>
            <a:xfrm>
              <a:off x="4985995" y="2848356"/>
              <a:ext cx="118872" cy="118872"/>
            </a:xfrm>
            <a:prstGeom prst="ellipse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9" name="テキスト 9"/>
            <p:cNvSpPr txBox="1"/>
            <p:nvPr/>
          </p:nvSpPr>
          <p:spPr>
            <a:xfrm>
              <a:off x="4771111" y="2971800"/>
              <a:ext cx="5486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5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音源</a:t>
              </a:r>
              <a:endParaRPr lang="ja-JP" altLang="en-US" sz="850" dirty="0"/>
            </a:p>
          </p:txBody>
        </p:sp>
        <p:sp>
          <p:nvSpPr>
            <p:cNvPr id="10" name="プローブ 10"/>
            <p:cNvSpPr/>
            <p:nvPr/>
          </p:nvSpPr>
          <p:spPr>
            <a:xfrm>
              <a:off x="6003036" y="3291840"/>
              <a:ext cx="182880" cy="18288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00868C"/>
              </a:solidFill>
            </a:ln>
          </p:spPr>
        </p:sp>
        <p:cxnSp>
          <p:nvCxnSpPr>
            <p:cNvPr id="11" name="線 11"/>
            <p:cNvCxnSpPr/>
            <p:nvPr/>
          </p:nvCxnSpPr>
          <p:spPr>
            <a:xfrm>
              <a:off x="6185916" y="3410712"/>
              <a:ext cx="884453" cy="402336"/>
            </a:xfrm>
            <a:prstGeom prst="line">
              <a:avLst/>
            </a:prstGeom>
            <a:ln w="22225">
              <a:solidFill>
                <a:srgbClr val="00C2C7"/>
              </a:solidFill>
              <a:tailEnd type="triangle" w="med" len="med"/>
            </a:ln>
          </p:spPr>
        </p:cxnSp>
        <p:sp>
          <p:nvSpPr>
            <p:cNvPr id="12" name="点 12"/>
            <p:cNvSpPr/>
            <p:nvPr/>
          </p:nvSpPr>
          <p:spPr>
            <a:xfrm>
              <a:off x="7084085" y="3799332"/>
              <a:ext cx="118872" cy="118872"/>
            </a:xfrm>
            <a:prstGeom prst="ellipse">
              <a:avLst/>
            </a:prstGeom>
            <a:solidFill>
              <a:srgbClr val="1E2430"/>
            </a:solidFill>
            <a:ln>
              <a:noFill/>
            </a:ln>
          </p:spPr>
        </p:sp>
        <p:sp>
          <p:nvSpPr>
            <p:cNvPr id="13" name="テキスト 13"/>
            <p:cNvSpPr txBox="1"/>
            <p:nvPr/>
          </p:nvSpPr>
          <p:spPr>
            <a:xfrm>
              <a:off x="6640601" y="3931920"/>
              <a:ext cx="10058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5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耳</a:t>
              </a:r>
              <a:endParaRPr lang="ja-JP" altLang="en-US" sz="850" dirty="0"/>
            </a:p>
          </p:txBody>
        </p:sp>
        <p:sp>
          <p:nvSpPr>
            <p:cNvPr id="14" name="テキスト 14"/>
            <p:cNvSpPr txBox="1"/>
            <p:nvPr/>
          </p:nvSpPr>
          <p:spPr>
            <a:xfrm>
              <a:off x="5545836" y="3493008"/>
              <a:ext cx="109728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50" b="1" dirty="0">
                  <a:solidFill>
                    <a:srgbClr val="00868C"/>
                  </a:solidFill>
                  <a:latin typeface="BIZ UDPゴシック"/>
                  <a:ea typeface="BIZ UDPゴシック"/>
                  <a:cs typeface="BIZ UDPゴシック"/>
                </a:rPr>
                <a:t>プローブ</a:t>
              </a:r>
              <a:endParaRPr lang="ja-JP" altLang="en-US" sz="85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隣の部屋に入ったら：その部屋の響きに包まれる（LEV）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上から見た図</a:t>
            </a:r>
            <a:endParaRPr lang="ja-JP" altLang="en-US" sz="1300" dirty="0"/>
          </a:p>
        </p:txBody>
      </p:sp>
      <p:grpSp>
        <p:nvGrpSpPr>
          <p:cNvPr id="14" name="17_隣の部屋_入ったら">
            <a:extLst>
              <a:ext uri="{FF2B5EF4-FFF2-40B4-BE49-F238E27FC236}">
                <a16:creationId xmlns:a16="http://schemas.microsoft.com/office/drawing/2014/main" id="{D8A897BF-74C8-06B2-7523-AA87791FAC6E}"/>
              </a:ext>
            </a:extLst>
          </p:cNvPr>
          <p:cNvGrpSpPr/>
          <p:nvPr/>
        </p:nvGrpSpPr>
        <p:grpSpPr>
          <a:xfrm>
            <a:off x="4480560" y="2194560"/>
            <a:ext cx="3227832" cy="2377440"/>
            <a:chOff x="4480560" y="2194560"/>
            <a:chExt cx="3227832" cy="2377440"/>
          </a:xfrm>
        </p:grpSpPr>
        <p:sp>
          <p:nvSpPr>
            <p:cNvPr id="3" name="部屋 3"/>
            <p:cNvSpPr/>
            <p:nvPr/>
          </p:nvSpPr>
          <p:spPr>
            <a:xfrm>
              <a:off x="4480560" y="2194560"/>
              <a:ext cx="1613916" cy="2377440"/>
            </a:xfrm>
            <a:prstGeom prst="rect">
              <a:avLst/>
            </a:prstGeom>
            <a:solidFill>
              <a:srgbClr val="D5F3F4"/>
            </a:solidFill>
            <a:ln w="25400">
              <a:solidFill>
                <a:srgbClr val="8A94A6"/>
              </a:solidFill>
            </a:ln>
          </p:spPr>
        </p:sp>
        <p:sp>
          <p:nvSpPr>
            <p:cNvPr id="4" name="部屋 4"/>
            <p:cNvSpPr/>
            <p:nvPr/>
          </p:nvSpPr>
          <p:spPr>
            <a:xfrm>
              <a:off x="6094476" y="2194560"/>
              <a:ext cx="1613916" cy="23774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A94A6"/>
              </a:solidFill>
            </a:ln>
          </p:spPr>
        </p:sp>
        <p:sp>
          <p:nvSpPr>
            <p:cNvPr id="5" name="開口 5"/>
            <p:cNvSpPr/>
            <p:nvPr/>
          </p:nvSpPr>
          <p:spPr>
            <a:xfrm>
              <a:off x="6067044" y="3097987"/>
              <a:ext cx="54864" cy="570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テキスト 6"/>
            <p:cNvSpPr txBox="1"/>
            <p:nvPr/>
          </p:nvSpPr>
          <p:spPr>
            <a:xfrm>
              <a:off x="4480560" y="2231136"/>
              <a:ext cx="1613916" cy="2194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響く部屋（今いる）</a:t>
              </a:r>
              <a:endParaRPr lang="ja-JP" altLang="en-US" sz="900" dirty="0"/>
            </a:p>
          </p:txBody>
        </p:sp>
        <p:sp>
          <p:nvSpPr>
            <p:cNvPr id="7" name="テキスト 7"/>
            <p:cNvSpPr txBox="1"/>
            <p:nvPr/>
          </p:nvSpPr>
          <p:spPr>
            <a:xfrm>
              <a:off x="6094476" y="2231136"/>
              <a:ext cx="1613916" cy="2194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隣の部屋</a:t>
              </a:r>
              <a:endParaRPr lang="ja-JP" altLang="en-US" sz="900" dirty="0"/>
            </a:p>
          </p:txBody>
        </p:sp>
        <p:sp>
          <p:nvSpPr>
            <p:cNvPr id="8" name="点 8"/>
            <p:cNvSpPr/>
            <p:nvPr/>
          </p:nvSpPr>
          <p:spPr>
            <a:xfrm>
              <a:off x="4985995" y="2848356"/>
              <a:ext cx="118872" cy="118872"/>
            </a:xfrm>
            <a:prstGeom prst="ellipse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9" name="テキスト 9"/>
            <p:cNvSpPr txBox="1"/>
            <p:nvPr/>
          </p:nvSpPr>
          <p:spPr>
            <a:xfrm>
              <a:off x="4771111" y="2971800"/>
              <a:ext cx="5486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5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音源</a:t>
              </a:r>
              <a:endParaRPr lang="ja-JP" altLang="en-US" sz="850" dirty="0"/>
            </a:p>
          </p:txBody>
        </p:sp>
        <p:sp>
          <p:nvSpPr>
            <p:cNvPr id="10" name="弧 10"/>
            <p:cNvSpPr/>
            <p:nvPr/>
          </p:nvSpPr>
          <p:spPr>
            <a:xfrm>
              <a:off x="5365013" y="3503981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329184" h="329184" fill="none">
                  <a:moveTo>
                    <a:pt x="329184" y="164592"/>
                  </a:moveTo>
                  <a:lnTo>
                    <a:pt x="321128" y="113730"/>
                  </a:lnTo>
                  <a:lnTo>
                    <a:pt x="297750" y="67847"/>
                  </a:lnTo>
                  <a:lnTo>
                    <a:pt x="261337" y="31434"/>
                  </a:lnTo>
                  <a:lnTo>
                    <a:pt x="215454" y="8056"/>
                  </a:lnTo>
                  <a:lnTo>
                    <a:pt x="164592" y="0"/>
                  </a:lnTo>
                  <a:lnTo>
                    <a:pt x="113730" y="8056"/>
                  </a:lnTo>
                  <a:lnTo>
                    <a:pt x="67847" y="31434"/>
                  </a:lnTo>
                  <a:lnTo>
                    <a:pt x="31434" y="67847"/>
                  </a:lnTo>
                  <a:lnTo>
                    <a:pt x="8056" y="113730"/>
                  </a:lnTo>
                  <a:lnTo>
                    <a:pt x="0" y="164592"/>
                  </a:lnTo>
                  <a:lnTo>
                    <a:pt x="8056" y="215454"/>
                  </a:lnTo>
                  <a:lnTo>
                    <a:pt x="31434" y="261337"/>
                  </a:lnTo>
                  <a:lnTo>
                    <a:pt x="67847" y="297750"/>
                  </a:lnTo>
                  <a:lnTo>
                    <a:pt x="113730" y="321128"/>
                  </a:lnTo>
                  <a:lnTo>
                    <a:pt x="164592" y="329184"/>
                  </a:lnTo>
                  <a:lnTo>
                    <a:pt x="215454" y="321128"/>
                  </a:lnTo>
                  <a:lnTo>
                    <a:pt x="261337" y="297750"/>
                  </a:lnTo>
                  <a:lnTo>
                    <a:pt x="297750" y="261337"/>
                  </a:lnTo>
                  <a:lnTo>
                    <a:pt x="321128" y="215454"/>
                  </a:lnTo>
                  <a:lnTo>
                    <a:pt x="329184" y="164592"/>
                  </a:lnTo>
                </a:path>
              </a:pathLst>
            </a:custGeom>
            <a:noFill/>
            <a:ln w="12700">
              <a:solidFill>
                <a:srgbClr val="00C2C7"/>
              </a:solidFill>
            </a:ln>
          </p:spPr>
        </p:sp>
        <p:sp>
          <p:nvSpPr>
            <p:cNvPr id="11" name="弧 11"/>
            <p:cNvSpPr/>
            <p:nvPr/>
          </p:nvSpPr>
          <p:spPr>
            <a:xfrm>
              <a:off x="5255285" y="3394253"/>
              <a:ext cx="548640" cy="548640"/>
            </a:xfrm>
            <a:custGeom>
              <a:avLst/>
              <a:gdLst/>
              <a:ahLst/>
              <a:cxnLst/>
              <a:rect l="0" t="0" r="r" b="b"/>
              <a:pathLst>
                <a:path w="548640" h="548640" fill="none">
                  <a:moveTo>
                    <a:pt x="548640" y="274320"/>
                  </a:moveTo>
                  <a:lnTo>
                    <a:pt x="535214" y="189550"/>
                  </a:lnTo>
                  <a:lnTo>
                    <a:pt x="496250" y="113079"/>
                  </a:lnTo>
                  <a:lnTo>
                    <a:pt x="435561" y="52390"/>
                  </a:lnTo>
                  <a:lnTo>
                    <a:pt x="359090" y="13426"/>
                  </a:lnTo>
                  <a:lnTo>
                    <a:pt x="274320" y="0"/>
                  </a:lnTo>
                  <a:lnTo>
                    <a:pt x="189550" y="13426"/>
                  </a:lnTo>
                  <a:lnTo>
                    <a:pt x="113079" y="52390"/>
                  </a:lnTo>
                  <a:lnTo>
                    <a:pt x="52390" y="113079"/>
                  </a:lnTo>
                  <a:lnTo>
                    <a:pt x="13426" y="189550"/>
                  </a:lnTo>
                  <a:lnTo>
                    <a:pt x="0" y="274320"/>
                  </a:lnTo>
                  <a:lnTo>
                    <a:pt x="13426" y="359090"/>
                  </a:lnTo>
                  <a:lnTo>
                    <a:pt x="52390" y="435561"/>
                  </a:lnTo>
                  <a:lnTo>
                    <a:pt x="113079" y="496250"/>
                  </a:lnTo>
                  <a:lnTo>
                    <a:pt x="189550" y="535214"/>
                  </a:lnTo>
                  <a:lnTo>
                    <a:pt x="274320" y="548640"/>
                  </a:lnTo>
                  <a:lnTo>
                    <a:pt x="359090" y="535214"/>
                  </a:lnTo>
                  <a:lnTo>
                    <a:pt x="435561" y="496250"/>
                  </a:lnTo>
                  <a:lnTo>
                    <a:pt x="496250" y="435561"/>
                  </a:lnTo>
                  <a:lnTo>
                    <a:pt x="535214" y="359090"/>
                  </a:lnTo>
                  <a:lnTo>
                    <a:pt x="548640" y="274320"/>
                  </a:lnTo>
                </a:path>
              </a:pathLst>
            </a:custGeom>
            <a:noFill/>
            <a:ln w="12700">
              <a:solidFill>
                <a:srgbClr val="00C2C7"/>
              </a:solidFill>
            </a:ln>
          </p:spPr>
        </p:sp>
        <p:sp>
          <p:nvSpPr>
            <p:cNvPr id="12" name="点 12"/>
            <p:cNvSpPr/>
            <p:nvPr/>
          </p:nvSpPr>
          <p:spPr>
            <a:xfrm>
              <a:off x="5470169" y="3609137"/>
              <a:ext cx="118872" cy="118872"/>
            </a:xfrm>
            <a:prstGeom prst="ellipse">
              <a:avLst/>
            </a:prstGeom>
            <a:solidFill>
              <a:srgbClr val="1E2430"/>
            </a:solidFill>
            <a:ln>
              <a:noFill/>
            </a:ln>
          </p:spPr>
        </p:sp>
        <p:sp>
          <p:nvSpPr>
            <p:cNvPr id="13" name="テキスト 13"/>
            <p:cNvSpPr txBox="1"/>
            <p:nvPr/>
          </p:nvSpPr>
          <p:spPr>
            <a:xfrm>
              <a:off x="5026685" y="3979469"/>
              <a:ext cx="100584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5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耳：包まれる</a:t>
              </a:r>
              <a:endParaRPr lang="ja-JP" altLang="en-US" sz="85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残響の始まり：前 と 今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今は、最初の反射が届いてから残響が始まる</a:t>
            </a:r>
            <a:endParaRPr lang="ja-JP" altLang="en-US" sz="1300" dirty="0"/>
          </a:p>
        </p:txBody>
      </p:sp>
      <p:grpSp>
        <p:nvGrpSpPr>
          <p:cNvPr id="20" name="18_残響の始まり">
            <a:extLst>
              <a:ext uri="{FF2B5EF4-FFF2-40B4-BE49-F238E27FC236}">
                <a16:creationId xmlns:a16="http://schemas.microsoft.com/office/drawing/2014/main" id="{38F5F59C-1431-D0CE-FB64-BE34BE5B8E8A}"/>
              </a:ext>
            </a:extLst>
          </p:cNvPr>
          <p:cNvGrpSpPr/>
          <p:nvPr/>
        </p:nvGrpSpPr>
        <p:grpSpPr>
          <a:xfrm>
            <a:off x="4114800" y="2359152"/>
            <a:ext cx="3886200" cy="1645920"/>
            <a:chOff x="4114800" y="2359152"/>
            <a:chExt cx="3886200" cy="1645920"/>
          </a:xfrm>
        </p:grpSpPr>
        <p:sp>
          <p:nvSpPr>
            <p:cNvPr id="3" name="テキスト 3"/>
            <p:cNvSpPr txBox="1"/>
            <p:nvPr/>
          </p:nvSpPr>
          <p:spPr>
            <a:xfrm>
              <a:off x="4114800" y="2606040"/>
              <a:ext cx="365760" cy="2194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0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前</a:t>
              </a:r>
              <a:endParaRPr lang="ja-JP" altLang="en-US" sz="1000" dirty="0"/>
            </a:p>
          </p:txBody>
        </p:sp>
        <p:sp>
          <p:nvSpPr>
            <p:cNvPr id="4" name="残響 4"/>
            <p:cNvSpPr/>
            <p:nvPr/>
          </p:nvSpPr>
          <p:spPr>
            <a:xfrm>
              <a:off x="5290718" y="2697480"/>
              <a:ext cx="2710282" cy="182880"/>
            </a:xfrm>
            <a:prstGeom prst="rect">
              <a:avLst/>
            </a:prstGeom>
            <a:solidFill>
              <a:srgbClr val="2F3A4E">
                <a:alpha val="40000"/>
              </a:srgbClr>
            </a:solidFill>
            <a:ln>
              <a:noFill/>
            </a:ln>
          </p:spPr>
        </p:sp>
        <p:cxnSp>
          <p:nvCxnSpPr>
            <p:cNvPr id="5" name="線 5"/>
            <p:cNvCxnSpPr/>
            <p:nvPr/>
          </p:nvCxnSpPr>
          <p:spPr>
            <a:xfrm>
              <a:off x="4526280" y="2880360"/>
              <a:ext cx="3474720" cy="0"/>
            </a:xfrm>
            <a:prstGeom prst="line">
              <a:avLst/>
            </a:prstGeom>
            <a:ln w="12700">
              <a:solidFill>
                <a:srgbClr val="8A94A6"/>
              </a:solidFill>
            </a:ln>
          </p:spPr>
        </p:cxnSp>
        <p:sp>
          <p:nvSpPr>
            <p:cNvPr id="6" name="到達 6"/>
            <p:cNvSpPr/>
            <p:nvPr/>
          </p:nvSpPr>
          <p:spPr>
            <a:xfrm>
              <a:off x="4721047" y="2551176"/>
              <a:ext cx="27432" cy="329184"/>
            </a:xfrm>
            <a:prstGeom prst="rect">
              <a:avLst/>
            </a:prstGeom>
            <a:solidFill>
              <a:srgbClr val="1E2430"/>
            </a:solidFill>
            <a:ln>
              <a:noFill/>
            </a:ln>
          </p:spPr>
        </p:sp>
        <p:sp>
          <p:nvSpPr>
            <p:cNvPr id="7" name="テキスト 7"/>
            <p:cNvSpPr txBox="1"/>
            <p:nvPr/>
          </p:nvSpPr>
          <p:spPr>
            <a:xfrm>
              <a:off x="4460443" y="2359152"/>
              <a:ext cx="548640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0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直接</a:t>
              </a:r>
              <a:endParaRPr lang="ja-JP" altLang="en-US" sz="800" dirty="0"/>
            </a:p>
          </p:txBody>
        </p:sp>
        <p:sp>
          <p:nvSpPr>
            <p:cNvPr id="8" name="到達 8"/>
            <p:cNvSpPr/>
            <p:nvPr/>
          </p:nvSpPr>
          <p:spPr>
            <a:xfrm>
              <a:off x="6076188" y="2606040"/>
              <a:ext cx="27432" cy="274320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9" name="テキスト 9"/>
            <p:cNvSpPr txBox="1"/>
            <p:nvPr/>
          </p:nvSpPr>
          <p:spPr>
            <a:xfrm>
              <a:off x="5815584" y="2414016"/>
              <a:ext cx="548640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0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反射</a:t>
              </a:r>
              <a:endParaRPr lang="ja-JP" altLang="en-US" sz="800" dirty="0"/>
            </a:p>
          </p:txBody>
        </p:sp>
        <p:sp>
          <p:nvSpPr>
            <p:cNvPr id="10" name="テキスト 10"/>
            <p:cNvSpPr txBox="1"/>
            <p:nvPr/>
          </p:nvSpPr>
          <p:spPr>
            <a:xfrm>
              <a:off x="7028078" y="2697480"/>
              <a:ext cx="972922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00" b="1" dirty="0">
                  <a:solidFill>
                    <a:srgbClr val="FFFFFF"/>
                  </a:solidFill>
                  <a:latin typeface="BIZ UDPゴシック"/>
                  <a:ea typeface="BIZ UDPゴシック"/>
                  <a:cs typeface="BIZ UDPゴシック"/>
                </a:rPr>
                <a:t>残響</a:t>
              </a:r>
              <a:endParaRPr lang="ja-JP" altLang="en-US" sz="800" dirty="0"/>
            </a:p>
          </p:txBody>
        </p:sp>
        <p:sp>
          <p:nvSpPr>
            <p:cNvPr id="11" name="テキスト 11"/>
            <p:cNvSpPr txBox="1"/>
            <p:nvPr/>
          </p:nvSpPr>
          <p:spPr>
            <a:xfrm>
              <a:off x="4114800" y="3337560"/>
              <a:ext cx="365760" cy="2194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000" b="1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今</a:t>
              </a:r>
              <a:endParaRPr lang="ja-JP" altLang="en-US" sz="1000" dirty="0"/>
            </a:p>
          </p:txBody>
        </p:sp>
        <p:sp>
          <p:nvSpPr>
            <p:cNvPr id="12" name="残響 12"/>
            <p:cNvSpPr/>
            <p:nvPr/>
          </p:nvSpPr>
          <p:spPr>
            <a:xfrm>
              <a:off x="5568696" y="3429000"/>
              <a:ext cx="2432304" cy="182880"/>
            </a:xfrm>
            <a:prstGeom prst="rect">
              <a:avLst/>
            </a:prstGeom>
            <a:solidFill>
              <a:srgbClr val="2F3A4E">
                <a:alpha val="40000"/>
              </a:srgbClr>
            </a:solidFill>
            <a:ln>
              <a:noFill/>
            </a:ln>
          </p:spPr>
        </p:sp>
        <p:cxnSp>
          <p:nvCxnSpPr>
            <p:cNvPr id="13" name="線 13"/>
            <p:cNvCxnSpPr/>
            <p:nvPr/>
          </p:nvCxnSpPr>
          <p:spPr>
            <a:xfrm>
              <a:off x="4526280" y="3611880"/>
              <a:ext cx="3474720" cy="0"/>
            </a:xfrm>
            <a:prstGeom prst="line">
              <a:avLst/>
            </a:prstGeom>
            <a:ln w="12700">
              <a:solidFill>
                <a:srgbClr val="8A94A6"/>
              </a:solidFill>
            </a:ln>
          </p:spPr>
        </p:cxnSp>
        <p:sp>
          <p:nvSpPr>
            <p:cNvPr id="14" name="到達 14"/>
            <p:cNvSpPr/>
            <p:nvPr/>
          </p:nvSpPr>
          <p:spPr>
            <a:xfrm>
              <a:off x="4721047" y="3282696"/>
              <a:ext cx="27432" cy="329184"/>
            </a:xfrm>
            <a:prstGeom prst="rect">
              <a:avLst/>
            </a:prstGeom>
            <a:solidFill>
              <a:srgbClr val="1E2430"/>
            </a:solidFill>
            <a:ln>
              <a:noFill/>
            </a:ln>
          </p:spPr>
        </p:sp>
        <p:sp>
          <p:nvSpPr>
            <p:cNvPr id="15" name="テキスト 15"/>
            <p:cNvSpPr txBox="1"/>
            <p:nvPr/>
          </p:nvSpPr>
          <p:spPr>
            <a:xfrm>
              <a:off x="4460443" y="3090672"/>
              <a:ext cx="548640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0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直接</a:t>
              </a:r>
              <a:endParaRPr lang="ja-JP" altLang="en-US" sz="800" dirty="0"/>
            </a:p>
          </p:txBody>
        </p:sp>
        <p:sp>
          <p:nvSpPr>
            <p:cNvPr id="16" name="到達 16"/>
            <p:cNvSpPr/>
            <p:nvPr/>
          </p:nvSpPr>
          <p:spPr>
            <a:xfrm>
              <a:off x="5554980" y="3337560"/>
              <a:ext cx="27432" cy="274320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17" name="テキスト 17"/>
            <p:cNvSpPr txBox="1"/>
            <p:nvPr/>
          </p:nvSpPr>
          <p:spPr>
            <a:xfrm>
              <a:off x="5294376" y="3145536"/>
              <a:ext cx="548640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0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反射</a:t>
              </a:r>
              <a:endParaRPr lang="ja-JP" altLang="en-US" sz="800" dirty="0"/>
            </a:p>
          </p:txBody>
        </p:sp>
        <p:sp>
          <p:nvSpPr>
            <p:cNvPr id="18" name="テキスト 18"/>
            <p:cNvSpPr txBox="1"/>
            <p:nvPr/>
          </p:nvSpPr>
          <p:spPr>
            <a:xfrm>
              <a:off x="7028078" y="3429000"/>
              <a:ext cx="972922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00" b="1" dirty="0">
                  <a:solidFill>
                    <a:srgbClr val="FFFFFF"/>
                  </a:solidFill>
                  <a:latin typeface="BIZ UDPゴシック"/>
                  <a:ea typeface="BIZ UDPゴシック"/>
                  <a:cs typeface="BIZ UDPゴシック"/>
                </a:rPr>
                <a:t>残響</a:t>
              </a:r>
              <a:endParaRPr lang="ja-JP" altLang="en-US" sz="800" dirty="0"/>
            </a:p>
          </p:txBody>
        </p:sp>
        <p:sp>
          <p:nvSpPr>
            <p:cNvPr id="19" name="テキスト 19"/>
            <p:cNvSpPr txBox="1"/>
            <p:nvPr/>
          </p:nvSpPr>
          <p:spPr>
            <a:xfrm>
              <a:off x="4526280" y="3822192"/>
              <a:ext cx="3474720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時間 →</a:t>
              </a:r>
              <a:endParaRPr lang="ja-JP" altLang="en-US" sz="80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量の変わり方：段 と なめらか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量は時間でなめらかにつなぐ</a:t>
            </a:r>
            <a:endParaRPr lang="ja-JP" altLang="en-US" sz="1300" dirty="0"/>
          </a:p>
        </p:txBody>
      </p:sp>
      <p:grpSp>
        <p:nvGrpSpPr>
          <p:cNvPr id="11" name="19_段となめらか">
            <a:extLst>
              <a:ext uri="{FF2B5EF4-FFF2-40B4-BE49-F238E27FC236}">
                <a16:creationId xmlns:a16="http://schemas.microsoft.com/office/drawing/2014/main" id="{5A970934-779C-E53D-B397-B31FD7E8C108}"/>
              </a:ext>
            </a:extLst>
          </p:cNvPr>
          <p:cNvGrpSpPr/>
          <p:nvPr/>
        </p:nvGrpSpPr>
        <p:grpSpPr>
          <a:xfrm>
            <a:off x="4114800" y="2377440"/>
            <a:ext cx="3931920" cy="1572768"/>
            <a:chOff x="4114800" y="2377440"/>
            <a:chExt cx="3931920" cy="1572768"/>
          </a:xfrm>
        </p:grpSpPr>
        <p:cxnSp>
          <p:nvCxnSpPr>
            <p:cNvPr id="3" name="線 3"/>
            <p:cNvCxnSpPr/>
            <p:nvPr/>
          </p:nvCxnSpPr>
          <p:spPr>
            <a:xfrm>
              <a:off x="4114800" y="3703320"/>
              <a:ext cx="1828800" cy="0"/>
            </a:xfrm>
            <a:prstGeom prst="line">
              <a:avLst/>
            </a:prstGeom>
            <a:ln w="12700">
              <a:solidFill>
                <a:srgbClr val="8A94A6"/>
              </a:solidFill>
            </a:ln>
          </p:spPr>
        </p:cxnSp>
        <p:cxnSp>
          <p:nvCxnSpPr>
            <p:cNvPr id="4" name="線 4"/>
            <p:cNvCxnSpPr/>
            <p:nvPr/>
          </p:nvCxnSpPr>
          <p:spPr>
            <a:xfrm>
              <a:off x="4114800" y="2377440"/>
              <a:ext cx="0" cy="1325880"/>
            </a:xfrm>
            <a:prstGeom prst="line">
              <a:avLst/>
            </a:prstGeom>
            <a:ln w="12700">
              <a:solidFill>
                <a:srgbClr val="8A94A6"/>
              </a:solidFill>
            </a:ln>
          </p:spPr>
        </p:cxnSp>
        <p:sp>
          <p:nvSpPr>
            <p:cNvPr id="5" name="折れ線 5"/>
            <p:cNvSpPr/>
            <p:nvPr/>
          </p:nvSpPr>
          <p:spPr>
            <a:xfrm>
              <a:off x="4114800" y="2602840"/>
              <a:ext cx="1828800" cy="901598"/>
            </a:xfrm>
            <a:custGeom>
              <a:avLst/>
              <a:gdLst/>
              <a:ahLst/>
              <a:cxnLst/>
              <a:rect l="0" t="0" r="r" b="b"/>
              <a:pathLst>
                <a:path w="1828800" h="901598" fill="none">
                  <a:moveTo>
                    <a:pt x="0" y="901598"/>
                  </a:moveTo>
                  <a:lnTo>
                    <a:pt x="365760" y="901598"/>
                  </a:lnTo>
                  <a:lnTo>
                    <a:pt x="365760" y="676199"/>
                  </a:lnTo>
                  <a:lnTo>
                    <a:pt x="731520" y="676199"/>
                  </a:lnTo>
                  <a:lnTo>
                    <a:pt x="731520" y="450799"/>
                  </a:lnTo>
                  <a:lnTo>
                    <a:pt x="1097280" y="450799"/>
                  </a:lnTo>
                  <a:lnTo>
                    <a:pt x="1097280" y="225400"/>
                  </a:lnTo>
                  <a:lnTo>
                    <a:pt x="1463040" y="225400"/>
                  </a:lnTo>
                  <a:lnTo>
                    <a:pt x="1463040" y="0"/>
                  </a:lnTo>
                  <a:lnTo>
                    <a:pt x="1828800" y="0"/>
                  </a:lnTo>
                </a:path>
              </a:pathLst>
            </a:custGeom>
            <a:noFill/>
            <a:ln w="25400">
              <a:solidFill>
                <a:srgbClr val="5C6677"/>
              </a:solidFill>
            </a:ln>
          </p:spPr>
        </p:sp>
        <p:sp>
          <p:nvSpPr>
            <p:cNvPr id="6" name="テキスト 6"/>
            <p:cNvSpPr txBox="1"/>
            <p:nvPr/>
          </p:nvSpPr>
          <p:spPr>
            <a:xfrm>
              <a:off x="4114800" y="3749040"/>
              <a:ext cx="182880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前：段になる</a:t>
              </a:r>
              <a:endParaRPr lang="ja-JP" altLang="en-US" sz="900" dirty="0"/>
            </a:p>
          </p:txBody>
        </p:sp>
        <p:cxnSp>
          <p:nvCxnSpPr>
            <p:cNvPr id="7" name="線 7"/>
            <p:cNvCxnSpPr/>
            <p:nvPr/>
          </p:nvCxnSpPr>
          <p:spPr>
            <a:xfrm>
              <a:off x="6217920" y="3703320"/>
              <a:ext cx="1828800" cy="0"/>
            </a:xfrm>
            <a:prstGeom prst="line">
              <a:avLst/>
            </a:prstGeom>
            <a:ln w="12700">
              <a:solidFill>
                <a:srgbClr val="8A94A6"/>
              </a:solidFill>
            </a:ln>
          </p:spPr>
        </p:cxnSp>
        <p:cxnSp>
          <p:nvCxnSpPr>
            <p:cNvPr id="8" name="線 8"/>
            <p:cNvCxnSpPr/>
            <p:nvPr/>
          </p:nvCxnSpPr>
          <p:spPr>
            <a:xfrm>
              <a:off x="6217920" y="2377440"/>
              <a:ext cx="0" cy="1325880"/>
            </a:xfrm>
            <a:prstGeom prst="line">
              <a:avLst/>
            </a:prstGeom>
            <a:ln w="12700">
              <a:solidFill>
                <a:srgbClr val="8A94A6"/>
              </a:solidFill>
            </a:ln>
          </p:spPr>
        </p:cxnSp>
        <p:sp>
          <p:nvSpPr>
            <p:cNvPr id="9" name="折れ線 9"/>
            <p:cNvSpPr/>
            <p:nvPr/>
          </p:nvSpPr>
          <p:spPr>
            <a:xfrm>
              <a:off x="6217920" y="2377440"/>
              <a:ext cx="1828800" cy="1126998"/>
            </a:xfrm>
            <a:custGeom>
              <a:avLst/>
              <a:gdLst/>
              <a:ahLst/>
              <a:cxnLst/>
              <a:rect l="0" t="0" r="r" b="b"/>
              <a:pathLst>
                <a:path w="1828800" h="1126998" fill="none">
                  <a:moveTo>
                    <a:pt x="0" y="1126998"/>
                  </a:moveTo>
                  <a:lnTo>
                    <a:pt x="1828800" y="0"/>
                  </a:lnTo>
                </a:path>
              </a:pathLst>
            </a:custGeom>
            <a:noFill/>
            <a:ln w="28575">
              <a:solidFill>
                <a:srgbClr val="00C2C7"/>
              </a:solidFill>
            </a:ln>
          </p:spPr>
        </p:sp>
        <p:sp>
          <p:nvSpPr>
            <p:cNvPr id="10" name="テキスト 10"/>
            <p:cNvSpPr txBox="1"/>
            <p:nvPr/>
          </p:nvSpPr>
          <p:spPr>
            <a:xfrm>
              <a:off x="6217920" y="3749040"/>
              <a:ext cx="182880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b="1" dirty="0">
                  <a:solidFill>
                    <a:srgbClr val="00868C"/>
                  </a:solidFill>
                  <a:latin typeface="BIZ UDPゴシック"/>
                  <a:ea typeface="BIZ UDPゴシック"/>
                  <a:cs typeface="BIZ UDPゴシック"/>
                </a:rPr>
                <a:t>今：なめらか</a:t>
              </a:r>
              <a:endParaRPr lang="ja-JP" altLang="en-US" sz="90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閉じた扉：反射と残響は壁を抜けない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上から見た図</a:t>
            </a:r>
            <a:endParaRPr lang="ja-JP" altLang="en-US" sz="1300" dirty="0"/>
          </a:p>
        </p:txBody>
      </p:sp>
      <p:grpSp>
        <p:nvGrpSpPr>
          <p:cNvPr id="16" name="20_閉じた扉と壁越し">
            <a:extLst>
              <a:ext uri="{FF2B5EF4-FFF2-40B4-BE49-F238E27FC236}">
                <a16:creationId xmlns:a16="http://schemas.microsoft.com/office/drawing/2014/main" id="{460089FA-389A-09F9-BB81-A0181F74534D}"/>
              </a:ext>
            </a:extLst>
          </p:cNvPr>
          <p:cNvGrpSpPr/>
          <p:nvPr/>
        </p:nvGrpSpPr>
        <p:grpSpPr>
          <a:xfrm>
            <a:off x="4297680" y="2057400"/>
            <a:ext cx="3566160" cy="2560320"/>
            <a:chOff x="4297680" y="2057400"/>
            <a:chExt cx="3566160" cy="2560320"/>
          </a:xfrm>
        </p:grpSpPr>
        <p:sp>
          <p:nvSpPr>
            <p:cNvPr id="3" name="部屋 3"/>
            <p:cNvSpPr/>
            <p:nvPr/>
          </p:nvSpPr>
          <p:spPr>
            <a:xfrm>
              <a:off x="4297680" y="2057400"/>
              <a:ext cx="1783080" cy="2560320"/>
            </a:xfrm>
            <a:prstGeom prst="rect">
              <a:avLst/>
            </a:prstGeom>
            <a:solidFill>
              <a:srgbClr val="EEF9FA"/>
            </a:solidFill>
            <a:ln w="25400">
              <a:solidFill>
                <a:srgbClr val="8A94A6"/>
              </a:solidFill>
            </a:ln>
          </p:spPr>
        </p:sp>
        <p:sp>
          <p:nvSpPr>
            <p:cNvPr id="4" name="部屋 4"/>
            <p:cNvSpPr/>
            <p:nvPr/>
          </p:nvSpPr>
          <p:spPr>
            <a:xfrm>
              <a:off x="6080760" y="2057400"/>
              <a:ext cx="1783080" cy="25603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A94A6"/>
              </a:solidFill>
            </a:ln>
          </p:spPr>
        </p:sp>
        <p:cxnSp>
          <p:nvCxnSpPr>
            <p:cNvPr id="5" name="線 5"/>
            <p:cNvCxnSpPr/>
            <p:nvPr/>
          </p:nvCxnSpPr>
          <p:spPr>
            <a:xfrm>
              <a:off x="6080760" y="3030322"/>
              <a:ext cx="0" cy="614477"/>
            </a:xfrm>
            <a:prstGeom prst="line">
              <a:avLst/>
            </a:prstGeom>
            <a:ln w="44450">
              <a:solidFill>
                <a:srgbClr val="00868C"/>
              </a:solidFill>
            </a:ln>
          </p:spPr>
        </p:cxnSp>
        <p:sp>
          <p:nvSpPr>
            <p:cNvPr id="6" name="点 6"/>
            <p:cNvSpPr/>
            <p:nvPr/>
          </p:nvSpPr>
          <p:spPr>
            <a:xfrm>
              <a:off x="5045202" y="3538728"/>
              <a:ext cx="109728" cy="109728"/>
            </a:xfrm>
            <a:prstGeom prst="ellipse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7" name="弧 7"/>
            <p:cNvSpPr/>
            <p:nvPr/>
          </p:nvSpPr>
          <p:spPr>
            <a:xfrm>
              <a:off x="4953762" y="3447288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292608" h="292608" fill="none">
                  <a:moveTo>
                    <a:pt x="292608" y="146304"/>
                  </a:moveTo>
                  <a:lnTo>
                    <a:pt x="285447" y="101094"/>
                  </a:lnTo>
                  <a:lnTo>
                    <a:pt x="264666" y="60309"/>
                  </a:lnTo>
                  <a:lnTo>
                    <a:pt x="232299" y="27942"/>
                  </a:lnTo>
                  <a:lnTo>
                    <a:pt x="191514" y="7161"/>
                  </a:lnTo>
                  <a:lnTo>
                    <a:pt x="146304" y="0"/>
                  </a:lnTo>
                  <a:lnTo>
                    <a:pt x="101094" y="7161"/>
                  </a:lnTo>
                  <a:lnTo>
                    <a:pt x="60309" y="27942"/>
                  </a:lnTo>
                  <a:lnTo>
                    <a:pt x="27942" y="60309"/>
                  </a:lnTo>
                  <a:lnTo>
                    <a:pt x="7161" y="101094"/>
                  </a:lnTo>
                  <a:lnTo>
                    <a:pt x="0" y="146304"/>
                  </a:lnTo>
                  <a:lnTo>
                    <a:pt x="7161" y="191514"/>
                  </a:lnTo>
                  <a:lnTo>
                    <a:pt x="27942" y="232299"/>
                  </a:lnTo>
                  <a:lnTo>
                    <a:pt x="60309" y="264666"/>
                  </a:lnTo>
                  <a:lnTo>
                    <a:pt x="101094" y="285447"/>
                  </a:lnTo>
                  <a:lnTo>
                    <a:pt x="146304" y="292608"/>
                  </a:lnTo>
                  <a:lnTo>
                    <a:pt x="191514" y="285447"/>
                  </a:lnTo>
                  <a:lnTo>
                    <a:pt x="232299" y="264666"/>
                  </a:lnTo>
                  <a:lnTo>
                    <a:pt x="264666" y="232299"/>
                  </a:lnTo>
                  <a:lnTo>
                    <a:pt x="285447" y="191514"/>
                  </a:lnTo>
                  <a:lnTo>
                    <a:pt x="292608" y="146304"/>
                  </a:lnTo>
                </a:path>
              </a:pathLst>
            </a:custGeom>
            <a:noFill/>
            <a:ln w="12700">
              <a:solidFill>
                <a:srgbClr val="00C2C7"/>
              </a:solidFill>
            </a:ln>
          </p:spPr>
        </p:sp>
        <p:sp>
          <p:nvSpPr>
            <p:cNvPr id="8" name="弧 8"/>
            <p:cNvSpPr/>
            <p:nvPr/>
          </p:nvSpPr>
          <p:spPr>
            <a:xfrm>
              <a:off x="4844034" y="3337560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512064" h="512064" fill="none">
                  <a:moveTo>
                    <a:pt x="512064" y="256032"/>
                  </a:moveTo>
                  <a:lnTo>
                    <a:pt x="499533" y="176914"/>
                  </a:lnTo>
                  <a:lnTo>
                    <a:pt x="463166" y="105540"/>
                  </a:lnTo>
                  <a:lnTo>
                    <a:pt x="406524" y="48898"/>
                  </a:lnTo>
                  <a:lnTo>
                    <a:pt x="335150" y="12531"/>
                  </a:lnTo>
                  <a:lnTo>
                    <a:pt x="256032" y="0"/>
                  </a:lnTo>
                  <a:lnTo>
                    <a:pt x="176914" y="12531"/>
                  </a:lnTo>
                  <a:lnTo>
                    <a:pt x="105540" y="48898"/>
                  </a:lnTo>
                  <a:lnTo>
                    <a:pt x="48898" y="105540"/>
                  </a:lnTo>
                  <a:lnTo>
                    <a:pt x="12531" y="176914"/>
                  </a:lnTo>
                  <a:lnTo>
                    <a:pt x="0" y="256032"/>
                  </a:lnTo>
                  <a:lnTo>
                    <a:pt x="12531" y="335150"/>
                  </a:lnTo>
                  <a:lnTo>
                    <a:pt x="48898" y="406524"/>
                  </a:lnTo>
                  <a:lnTo>
                    <a:pt x="105540" y="463166"/>
                  </a:lnTo>
                  <a:lnTo>
                    <a:pt x="176914" y="499533"/>
                  </a:lnTo>
                  <a:lnTo>
                    <a:pt x="256032" y="512064"/>
                  </a:lnTo>
                  <a:lnTo>
                    <a:pt x="335150" y="499533"/>
                  </a:lnTo>
                  <a:lnTo>
                    <a:pt x="406524" y="463166"/>
                  </a:lnTo>
                  <a:lnTo>
                    <a:pt x="463166" y="406524"/>
                  </a:lnTo>
                  <a:lnTo>
                    <a:pt x="499533" y="335150"/>
                  </a:lnTo>
                  <a:lnTo>
                    <a:pt x="512064" y="256032"/>
                  </a:lnTo>
                </a:path>
              </a:pathLst>
            </a:custGeom>
            <a:noFill/>
            <a:ln w="12700">
              <a:solidFill>
                <a:srgbClr val="00C2C7"/>
              </a:solidFill>
            </a:ln>
          </p:spPr>
        </p:sp>
        <p:cxnSp>
          <p:nvCxnSpPr>
            <p:cNvPr id="9" name="線 9"/>
            <p:cNvCxnSpPr/>
            <p:nvPr/>
          </p:nvCxnSpPr>
          <p:spPr>
            <a:xfrm>
              <a:off x="5278374" y="2569464"/>
              <a:ext cx="1783080" cy="0"/>
            </a:xfrm>
            <a:prstGeom prst="line">
              <a:avLst/>
            </a:prstGeom>
            <a:ln w="19050">
              <a:solidFill>
                <a:srgbClr val="C9CED6"/>
              </a:solidFill>
              <a:prstDash val="dash"/>
              <a:tailEnd type="triangle" w="med" len="med"/>
            </a:ln>
          </p:spPr>
        </p:cxnSp>
        <p:sp>
          <p:nvSpPr>
            <p:cNvPr id="10" name="テキスト 10"/>
            <p:cNvSpPr txBox="1"/>
            <p:nvPr/>
          </p:nvSpPr>
          <p:spPr>
            <a:xfrm>
              <a:off x="5897880" y="2331720"/>
              <a:ext cx="365760" cy="2194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200" b="1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×</a:t>
              </a:r>
              <a:endParaRPr lang="ja-JP" altLang="en-US" sz="1200" dirty="0"/>
            </a:p>
          </p:txBody>
        </p:sp>
        <p:sp>
          <p:nvSpPr>
            <p:cNvPr id="11" name="点 11"/>
            <p:cNvSpPr/>
            <p:nvPr/>
          </p:nvSpPr>
          <p:spPr>
            <a:xfrm>
              <a:off x="7006590" y="3589934"/>
              <a:ext cx="109728" cy="109728"/>
            </a:xfrm>
            <a:prstGeom prst="ellipse">
              <a:avLst/>
            </a:prstGeom>
            <a:solidFill>
              <a:srgbClr val="1E2430"/>
            </a:solidFill>
            <a:ln>
              <a:noFill/>
            </a:ln>
          </p:spPr>
        </p:sp>
        <p:sp>
          <p:nvSpPr>
            <p:cNvPr id="12" name="テキスト 12"/>
            <p:cNvSpPr txBox="1"/>
            <p:nvPr/>
          </p:nvSpPr>
          <p:spPr>
            <a:xfrm>
              <a:off x="6787134" y="3717950"/>
              <a:ext cx="548640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50" dirty="0">
                  <a:solidFill>
                    <a:srgbClr val="1E2430"/>
                  </a:solidFill>
                  <a:latin typeface="BIZ UDPゴシック"/>
                  <a:ea typeface="BIZ UDPゴシック"/>
                  <a:cs typeface="BIZ UDPゴシック"/>
                </a:rPr>
                <a:t>耳</a:t>
              </a:r>
              <a:endParaRPr lang="ja-JP" altLang="en-US" sz="850" dirty="0"/>
            </a:p>
          </p:txBody>
        </p:sp>
        <p:sp>
          <p:nvSpPr>
            <p:cNvPr id="13" name="テキスト 13"/>
            <p:cNvSpPr txBox="1"/>
            <p:nvPr/>
          </p:nvSpPr>
          <p:spPr>
            <a:xfrm>
              <a:off x="4297680" y="2084832"/>
              <a:ext cx="1783080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5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隣の部屋</a:t>
              </a:r>
              <a:endParaRPr lang="ja-JP" altLang="en-US" sz="850" dirty="0"/>
            </a:p>
          </p:txBody>
        </p:sp>
        <p:sp>
          <p:nvSpPr>
            <p:cNvPr id="14" name="テキスト 14"/>
            <p:cNvSpPr txBox="1"/>
            <p:nvPr/>
          </p:nvSpPr>
          <p:spPr>
            <a:xfrm>
              <a:off x="6080760" y="2084832"/>
              <a:ext cx="1783080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50" dirty="0">
                  <a:solidFill>
                    <a:srgbClr val="5C6677"/>
                  </a:solidFill>
                  <a:latin typeface="BIZ UDPゴシック"/>
                  <a:ea typeface="BIZ UDPゴシック"/>
                  <a:cs typeface="BIZ UDPゴシック"/>
                </a:rPr>
                <a:t>今いる部屋</a:t>
              </a:r>
              <a:endParaRPr lang="ja-JP" altLang="en-US" sz="850" dirty="0"/>
            </a:p>
          </p:txBody>
        </p:sp>
        <p:sp>
          <p:nvSpPr>
            <p:cNvPr id="15" name="テキスト 15"/>
            <p:cNvSpPr txBox="1"/>
            <p:nvPr/>
          </p:nvSpPr>
          <p:spPr>
            <a:xfrm>
              <a:off x="5532120" y="3663086"/>
              <a:ext cx="1097280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850" b="1" dirty="0">
                  <a:solidFill>
                    <a:srgbClr val="00868C"/>
                  </a:solidFill>
                  <a:latin typeface="BIZ UDPゴシック"/>
                  <a:ea typeface="BIZ UDPゴシック"/>
                  <a:cs typeface="BIZ UDPゴシック"/>
                </a:rPr>
                <a:t>閉じた扉</a:t>
              </a:r>
              <a:endParaRPr lang="ja-JP" altLang="en-US" sz="85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体験：ドアを開ける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上から見た図</a:t>
            </a:r>
            <a:endParaRPr lang="ja-JP" altLang="en-US" sz="1300" dirty="0"/>
          </a:p>
        </p:txBody>
      </p:sp>
      <p:grpSp>
        <p:nvGrpSpPr>
          <p:cNvPr id="17" name="21_体験_ドアを開ける">
            <a:extLst>
              <a:ext uri="{FF2B5EF4-FFF2-40B4-BE49-F238E27FC236}">
                <a16:creationId xmlns:a16="http://schemas.microsoft.com/office/drawing/2014/main" id="{0D61E9DC-2906-DED6-A03A-042ED7E0EBE4}"/>
              </a:ext>
            </a:extLst>
          </p:cNvPr>
          <p:cNvGrpSpPr/>
          <p:nvPr/>
        </p:nvGrpSpPr>
        <p:grpSpPr>
          <a:xfrm>
            <a:off x="3383280" y="1280160"/>
            <a:ext cx="5394960" cy="4937760"/>
            <a:chOff x="3383280" y="1280160"/>
            <a:chExt cx="5394960" cy="4937760"/>
          </a:xfrm>
        </p:grpSpPr>
        <p:sp>
          <p:nvSpPr>
            <p:cNvPr id="3" name="部屋 3"/>
            <p:cNvSpPr/>
            <p:nvPr/>
          </p:nvSpPr>
          <p:spPr>
            <a:xfrm>
              <a:off x="3383280" y="1280160"/>
              <a:ext cx="5394960" cy="493776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A94A6"/>
              </a:solidFill>
            </a:ln>
          </p:spPr>
        </p:sp>
        <p:cxnSp>
          <p:nvCxnSpPr>
            <p:cNvPr id="4" name="線 4"/>
            <p:cNvCxnSpPr/>
            <p:nvPr/>
          </p:nvCxnSpPr>
          <p:spPr>
            <a:xfrm>
              <a:off x="6080760" y="1280160"/>
              <a:ext cx="0" cy="4937760"/>
            </a:xfrm>
            <a:prstGeom prst="line">
              <a:avLst/>
            </a:prstGeom>
            <a:ln w="25400">
              <a:solidFill>
                <a:srgbClr val="8A94A6"/>
              </a:solidFill>
            </a:ln>
          </p:spPr>
        </p:cxnSp>
        <p:sp>
          <p:nvSpPr>
            <p:cNvPr id="5" name="開口 5"/>
            <p:cNvSpPr/>
            <p:nvPr/>
          </p:nvSpPr>
          <p:spPr>
            <a:xfrm>
              <a:off x="6053328" y="3255264"/>
              <a:ext cx="54864" cy="10863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cxnSp>
          <p:nvCxnSpPr>
            <p:cNvPr id="6" name="線 6"/>
            <p:cNvCxnSpPr/>
            <p:nvPr/>
          </p:nvCxnSpPr>
          <p:spPr>
            <a:xfrm>
              <a:off x="6080760" y="3255264"/>
              <a:ext cx="698265" cy="832160"/>
            </a:xfrm>
            <a:prstGeom prst="line">
              <a:avLst/>
            </a:prstGeom>
            <a:ln w="38100">
              <a:solidFill>
                <a:srgbClr val="1E2430"/>
              </a:solidFill>
            </a:ln>
          </p:spPr>
        </p:cxnSp>
        <p:sp>
          <p:nvSpPr>
            <p:cNvPr id="7" name="弧 7"/>
            <p:cNvSpPr/>
            <p:nvPr/>
          </p:nvSpPr>
          <p:spPr>
            <a:xfrm>
              <a:off x="6080760" y="4087424"/>
              <a:ext cx="698265" cy="254148"/>
            </a:xfrm>
            <a:custGeom>
              <a:avLst/>
              <a:gdLst/>
              <a:ahLst/>
              <a:cxnLst/>
              <a:rect l="0" t="0" r="r" b="b"/>
              <a:pathLst>
                <a:path w="698265" h="254148" fill="none">
                  <a:moveTo>
                    <a:pt x="0" y="254148"/>
                  </a:moveTo>
                  <a:lnTo>
                    <a:pt x="63163" y="252310"/>
                  </a:lnTo>
                  <a:lnTo>
                    <a:pt x="126113" y="246802"/>
                  </a:lnTo>
                  <a:lnTo>
                    <a:pt x="188635" y="237644"/>
                  </a:lnTo>
                  <a:lnTo>
                    <a:pt x="250520" y="224866"/>
                  </a:lnTo>
                  <a:lnTo>
                    <a:pt x="311556" y="208511"/>
                  </a:lnTo>
                  <a:lnTo>
                    <a:pt x="371539" y="188635"/>
                  </a:lnTo>
                  <a:lnTo>
                    <a:pt x="430264" y="165305"/>
                  </a:lnTo>
                  <a:lnTo>
                    <a:pt x="487534" y="138600"/>
                  </a:lnTo>
                  <a:lnTo>
                    <a:pt x="543154" y="108610"/>
                  </a:lnTo>
                  <a:lnTo>
                    <a:pt x="596936" y="75437"/>
                  </a:lnTo>
                  <a:lnTo>
                    <a:pt x="648698" y="39193"/>
                  </a:lnTo>
                  <a:lnTo>
                    <a:pt x="698265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  <a:prstDash val="dash"/>
            </a:ln>
          </p:spPr>
        </p:sp>
        <p:sp>
          <p:nvSpPr>
            <p:cNvPr id="8" name="鼻 8"/>
            <p:cNvSpPr/>
            <p:nvPr/>
          </p:nvSpPr>
          <p:spPr>
            <a:xfrm>
              <a:off x="7452360" y="3697834"/>
              <a:ext cx="100584" cy="102413"/>
            </a:xfrm>
            <a:custGeom>
              <a:avLst/>
              <a:gdLst/>
              <a:ahLst/>
              <a:cxnLst/>
              <a:rect l="0" t="0" r="r" b="b"/>
              <a:pathLst>
                <a:path w="100584" h="102413">
                  <a:moveTo>
                    <a:pt x="0" y="51206"/>
                  </a:moveTo>
                  <a:lnTo>
                    <a:pt x="100584" y="0"/>
                  </a:lnTo>
                  <a:lnTo>
                    <a:pt x="100584" y="102413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9" name="耳 9"/>
            <p:cNvSpPr/>
            <p:nvPr/>
          </p:nvSpPr>
          <p:spPr>
            <a:xfrm>
              <a:off x="7659014" y="3873398"/>
              <a:ext cx="80467" cy="11704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0" name="耳 10"/>
            <p:cNvSpPr/>
            <p:nvPr/>
          </p:nvSpPr>
          <p:spPr>
            <a:xfrm>
              <a:off x="7659014" y="3507638"/>
              <a:ext cx="80467" cy="11704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1" name="頭 11"/>
            <p:cNvSpPr/>
            <p:nvPr/>
          </p:nvSpPr>
          <p:spPr>
            <a:xfrm>
              <a:off x="7516368" y="3566160"/>
              <a:ext cx="365760" cy="36576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E2430"/>
              </a:solidFill>
            </a:ln>
          </p:spPr>
        </p:sp>
        <p:sp>
          <p:nvSpPr>
            <p:cNvPr id="12" name="本体 12"/>
            <p:cNvSpPr/>
            <p:nvPr/>
          </p:nvSpPr>
          <p:spPr>
            <a:xfrm>
              <a:off x="4192524" y="2897276"/>
              <a:ext cx="115214" cy="139903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13" name="コーン 13"/>
            <p:cNvSpPr/>
            <p:nvPr/>
          </p:nvSpPr>
          <p:spPr>
            <a:xfrm>
              <a:off x="4307738" y="2794406"/>
              <a:ext cx="131674" cy="345643"/>
            </a:xfrm>
            <a:custGeom>
              <a:avLst/>
              <a:gdLst/>
              <a:ahLst/>
              <a:cxnLst/>
              <a:rect l="0" t="0" r="r" b="b"/>
              <a:pathLst>
                <a:path w="131674" h="345643">
                  <a:moveTo>
                    <a:pt x="0" y="102870"/>
                  </a:moveTo>
                  <a:lnTo>
                    <a:pt x="131674" y="0"/>
                  </a:lnTo>
                  <a:lnTo>
                    <a:pt x="131674" y="345643"/>
                  </a:lnTo>
                  <a:lnTo>
                    <a:pt x="0" y="242773"/>
                  </a:lnTo>
                  <a:close/>
                </a:path>
              </a:pathLst>
            </a:custGeom>
            <a:solidFill>
              <a:srgbClr val="00C2C7"/>
            </a:solidFill>
            <a:ln>
              <a:noFill/>
            </a:ln>
          </p:spPr>
        </p:sp>
        <p:sp>
          <p:nvSpPr>
            <p:cNvPr id="14" name="弧 14"/>
            <p:cNvSpPr/>
            <p:nvPr/>
          </p:nvSpPr>
          <p:spPr>
            <a:xfrm>
              <a:off x="4503423" y="2903217"/>
              <a:ext cx="26514" cy="128023"/>
            </a:xfrm>
            <a:custGeom>
              <a:avLst/>
              <a:gdLst/>
              <a:ahLst/>
              <a:cxnLst/>
              <a:rect l="0" t="0" r="r" b="b"/>
              <a:pathLst>
                <a:path w="26514" h="128023" fill="none">
                  <a:moveTo>
                    <a:pt x="0" y="128023"/>
                  </a:moveTo>
                  <a:lnTo>
                    <a:pt x="7808" y="119120"/>
                  </a:lnTo>
                  <a:lnTo>
                    <a:pt x="14386" y="109274"/>
                  </a:lnTo>
                  <a:lnTo>
                    <a:pt x="19623" y="98654"/>
                  </a:lnTo>
                  <a:lnTo>
                    <a:pt x="23430" y="87441"/>
                  </a:lnTo>
                  <a:lnTo>
                    <a:pt x="25740" y="75827"/>
                  </a:lnTo>
                  <a:lnTo>
                    <a:pt x="26514" y="64011"/>
                  </a:lnTo>
                  <a:lnTo>
                    <a:pt x="25740" y="52195"/>
                  </a:lnTo>
                  <a:lnTo>
                    <a:pt x="23430" y="40582"/>
                  </a:lnTo>
                  <a:lnTo>
                    <a:pt x="19623" y="29369"/>
                  </a:lnTo>
                  <a:lnTo>
                    <a:pt x="14386" y="18748"/>
                  </a:lnTo>
                  <a:lnTo>
                    <a:pt x="7808" y="890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5" name="弧 15"/>
            <p:cNvSpPr/>
            <p:nvPr/>
          </p:nvSpPr>
          <p:spPr>
            <a:xfrm>
              <a:off x="4552887" y="2853753"/>
              <a:ext cx="47003" cy="226949"/>
            </a:xfrm>
            <a:custGeom>
              <a:avLst/>
              <a:gdLst/>
              <a:ahLst/>
              <a:cxnLst/>
              <a:rect l="0" t="0" r="r" b="b"/>
              <a:pathLst>
                <a:path w="47003" h="226949" fill="none">
                  <a:moveTo>
                    <a:pt x="0" y="226949"/>
                  </a:moveTo>
                  <a:lnTo>
                    <a:pt x="13841" y="211167"/>
                  </a:lnTo>
                  <a:lnTo>
                    <a:pt x="25503" y="193713"/>
                  </a:lnTo>
                  <a:lnTo>
                    <a:pt x="34787" y="174886"/>
                  </a:lnTo>
                  <a:lnTo>
                    <a:pt x="41535" y="155009"/>
                  </a:lnTo>
                  <a:lnTo>
                    <a:pt x="45630" y="134421"/>
                  </a:lnTo>
                  <a:lnTo>
                    <a:pt x="47003" y="113475"/>
                  </a:lnTo>
                  <a:lnTo>
                    <a:pt x="45630" y="92528"/>
                  </a:lnTo>
                  <a:lnTo>
                    <a:pt x="41535" y="71940"/>
                  </a:lnTo>
                  <a:lnTo>
                    <a:pt x="34787" y="52063"/>
                  </a:lnTo>
                  <a:lnTo>
                    <a:pt x="25503" y="33236"/>
                  </a:lnTo>
                  <a:lnTo>
                    <a:pt x="13841" y="15782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6" name="弧 16"/>
            <p:cNvSpPr/>
            <p:nvPr/>
          </p:nvSpPr>
          <p:spPr>
            <a:xfrm>
              <a:off x="4602350" y="2804290"/>
              <a:ext cx="67491" cy="325876"/>
            </a:xfrm>
            <a:custGeom>
              <a:avLst/>
              <a:gdLst/>
              <a:ahLst/>
              <a:cxnLst/>
              <a:rect l="0" t="0" r="r" b="b"/>
              <a:pathLst>
                <a:path w="67491" h="325876" fill="none">
                  <a:moveTo>
                    <a:pt x="0" y="325876"/>
                  </a:moveTo>
                  <a:lnTo>
                    <a:pt x="19874" y="303214"/>
                  </a:lnTo>
                  <a:lnTo>
                    <a:pt x="36619" y="278152"/>
                  </a:lnTo>
                  <a:lnTo>
                    <a:pt x="49951" y="251119"/>
                  </a:lnTo>
                  <a:lnTo>
                    <a:pt x="59639" y="222577"/>
                  </a:lnTo>
                  <a:lnTo>
                    <a:pt x="65520" y="193015"/>
                  </a:lnTo>
                  <a:lnTo>
                    <a:pt x="67491" y="162938"/>
                  </a:lnTo>
                  <a:lnTo>
                    <a:pt x="65520" y="132861"/>
                  </a:lnTo>
                  <a:lnTo>
                    <a:pt x="59639" y="103298"/>
                  </a:lnTo>
                  <a:lnTo>
                    <a:pt x="49951" y="74756"/>
                  </a:lnTo>
                  <a:lnTo>
                    <a:pt x="36619" y="47723"/>
                  </a:lnTo>
                  <a:lnTo>
                    <a:pt x="19874" y="22662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体験：部屋の中を歩く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上から見た図</a:t>
            </a:r>
            <a:endParaRPr lang="ja-JP" altLang="en-US" sz="1300" dirty="0"/>
          </a:p>
        </p:txBody>
      </p:sp>
      <p:grpSp>
        <p:nvGrpSpPr>
          <p:cNvPr id="17" name="22_体験_部屋の中を歩く">
            <a:extLst>
              <a:ext uri="{FF2B5EF4-FFF2-40B4-BE49-F238E27FC236}">
                <a16:creationId xmlns:a16="http://schemas.microsoft.com/office/drawing/2014/main" id="{FDA319E7-BE13-AEBC-8B0E-A81D01B0513F}"/>
              </a:ext>
            </a:extLst>
          </p:cNvPr>
          <p:cNvGrpSpPr/>
          <p:nvPr/>
        </p:nvGrpSpPr>
        <p:grpSpPr>
          <a:xfrm>
            <a:off x="3383280" y="1280160"/>
            <a:ext cx="5394960" cy="4937760"/>
            <a:chOff x="3383280" y="1280160"/>
            <a:chExt cx="5394960" cy="4937760"/>
          </a:xfrm>
        </p:grpSpPr>
        <p:sp>
          <p:nvSpPr>
            <p:cNvPr id="3" name="部屋 3"/>
            <p:cNvSpPr/>
            <p:nvPr/>
          </p:nvSpPr>
          <p:spPr>
            <a:xfrm>
              <a:off x="3383280" y="1280160"/>
              <a:ext cx="5394960" cy="493776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A94A6"/>
              </a:solidFill>
            </a:ln>
          </p:spPr>
        </p:sp>
        <p:sp>
          <p:nvSpPr>
            <p:cNvPr id="4" name="本体 4"/>
            <p:cNvSpPr/>
            <p:nvPr/>
          </p:nvSpPr>
          <p:spPr>
            <a:xfrm>
              <a:off x="4192524" y="4872380"/>
              <a:ext cx="115214" cy="139903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5" name="コーン 5"/>
            <p:cNvSpPr/>
            <p:nvPr/>
          </p:nvSpPr>
          <p:spPr>
            <a:xfrm>
              <a:off x="4307738" y="4769510"/>
              <a:ext cx="131674" cy="345643"/>
            </a:xfrm>
            <a:custGeom>
              <a:avLst/>
              <a:gdLst/>
              <a:ahLst/>
              <a:cxnLst/>
              <a:rect l="0" t="0" r="r" b="b"/>
              <a:pathLst>
                <a:path w="131674" h="345643">
                  <a:moveTo>
                    <a:pt x="0" y="102870"/>
                  </a:moveTo>
                  <a:lnTo>
                    <a:pt x="131674" y="0"/>
                  </a:lnTo>
                  <a:lnTo>
                    <a:pt x="131674" y="345643"/>
                  </a:lnTo>
                  <a:lnTo>
                    <a:pt x="0" y="242773"/>
                  </a:lnTo>
                  <a:close/>
                </a:path>
              </a:pathLst>
            </a:custGeom>
            <a:solidFill>
              <a:srgbClr val="00C2C7"/>
            </a:solidFill>
            <a:ln>
              <a:noFill/>
            </a:ln>
          </p:spPr>
        </p:sp>
        <p:sp>
          <p:nvSpPr>
            <p:cNvPr id="6" name="弧 6"/>
            <p:cNvSpPr/>
            <p:nvPr/>
          </p:nvSpPr>
          <p:spPr>
            <a:xfrm>
              <a:off x="4503423" y="4878321"/>
              <a:ext cx="26514" cy="128023"/>
            </a:xfrm>
            <a:custGeom>
              <a:avLst/>
              <a:gdLst/>
              <a:ahLst/>
              <a:cxnLst/>
              <a:rect l="0" t="0" r="r" b="b"/>
              <a:pathLst>
                <a:path w="26514" h="128023" fill="none">
                  <a:moveTo>
                    <a:pt x="0" y="128023"/>
                  </a:moveTo>
                  <a:lnTo>
                    <a:pt x="7808" y="119120"/>
                  </a:lnTo>
                  <a:lnTo>
                    <a:pt x="14386" y="109274"/>
                  </a:lnTo>
                  <a:lnTo>
                    <a:pt x="19623" y="98654"/>
                  </a:lnTo>
                  <a:lnTo>
                    <a:pt x="23430" y="87441"/>
                  </a:lnTo>
                  <a:lnTo>
                    <a:pt x="25740" y="75827"/>
                  </a:lnTo>
                  <a:lnTo>
                    <a:pt x="26514" y="64011"/>
                  </a:lnTo>
                  <a:lnTo>
                    <a:pt x="25740" y="52195"/>
                  </a:lnTo>
                  <a:lnTo>
                    <a:pt x="23430" y="40582"/>
                  </a:lnTo>
                  <a:lnTo>
                    <a:pt x="19623" y="29369"/>
                  </a:lnTo>
                  <a:lnTo>
                    <a:pt x="14386" y="18748"/>
                  </a:lnTo>
                  <a:lnTo>
                    <a:pt x="7808" y="890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7" name="弧 7"/>
            <p:cNvSpPr/>
            <p:nvPr/>
          </p:nvSpPr>
          <p:spPr>
            <a:xfrm>
              <a:off x="4552887" y="4828857"/>
              <a:ext cx="47003" cy="226949"/>
            </a:xfrm>
            <a:custGeom>
              <a:avLst/>
              <a:gdLst/>
              <a:ahLst/>
              <a:cxnLst/>
              <a:rect l="0" t="0" r="r" b="b"/>
              <a:pathLst>
                <a:path w="47003" h="226949" fill="none">
                  <a:moveTo>
                    <a:pt x="0" y="226949"/>
                  </a:moveTo>
                  <a:lnTo>
                    <a:pt x="13841" y="211167"/>
                  </a:lnTo>
                  <a:lnTo>
                    <a:pt x="25503" y="193713"/>
                  </a:lnTo>
                  <a:lnTo>
                    <a:pt x="34787" y="174886"/>
                  </a:lnTo>
                  <a:lnTo>
                    <a:pt x="41535" y="155009"/>
                  </a:lnTo>
                  <a:lnTo>
                    <a:pt x="45630" y="134421"/>
                  </a:lnTo>
                  <a:lnTo>
                    <a:pt x="47003" y="113475"/>
                  </a:lnTo>
                  <a:lnTo>
                    <a:pt x="45630" y="92528"/>
                  </a:lnTo>
                  <a:lnTo>
                    <a:pt x="41535" y="71940"/>
                  </a:lnTo>
                  <a:lnTo>
                    <a:pt x="34787" y="52063"/>
                  </a:lnTo>
                  <a:lnTo>
                    <a:pt x="25503" y="33236"/>
                  </a:lnTo>
                  <a:lnTo>
                    <a:pt x="13841" y="15782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8" name="弧 8"/>
            <p:cNvSpPr/>
            <p:nvPr/>
          </p:nvSpPr>
          <p:spPr>
            <a:xfrm>
              <a:off x="4602350" y="4779394"/>
              <a:ext cx="67491" cy="325876"/>
            </a:xfrm>
            <a:custGeom>
              <a:avLst/>
              <a:gdLst/>
              <a:ahLst/>
              <a:cxnLst/>
              <a:rect l="0" t="0" r="r" b="b"/>
              <a:pathLst>
                <a:path w="67491" h="325876" fill="none">
                  <a:moveTo>
                    <a:pt x="0" y="325876"/>
                  </a:moveTo>
                  <a:lnTo>
                    <a:pt x="19874" y="303214"/>
                  </a:lnTo>
                  <a:lnTo>
                    <a:pt x="36619" y="278152"/>
                  </a:lnTo>
                  <a:lnTo>
                    <a:pt x="49951" y="251119"/>
                  </a:lnTo>
                  <a:lnTo>
                    <a:pt x="59639" y="222577"/>
                  </a:lnTo>
                  <a:lnTo>
                    <a:pt x="65520" y="193015"/>
                  </a:lnTo>
                  <a:lnTo>
                    <a:pt x="67491" y="162938"/>
                  </a:lnTo>
                  <a:lnTo>
                    <a:pt x="65520" y="132861"/>
                  </a:lnTo>
                  <a:lnTo>
                    <a:pt x="59639" y="103298"/>
                  </a:lnTo>
                  <a:lnTo>
                    <a:pt x="49951" y="74756"/>
                  </a:lnTo>
                  <a:lnTo>
                    <a:pt x="36619" y="47723"/>
                  </a:lnTo>
                  <a:lnTo>
                    <a:pt x="19874" y="22662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cxnSp>
          <p:nvCxnSpPr>
            <p:cNvPr id="9" name="線 9"/>
            <p:cNvCxnSpPr/>
            <p:nvPr/>
          </p:nvCxnSpPr>
          <p:spPr>
            <a:xfrm>
              <a:off x="7002475" y="3502152"/>
              <a:ext cx="1020470" cy="0"/>
            </a:xfrm>
            <a:prstGeom prst="line">
              <a:avLst/>
            </a:prstGeom>
            <a:ln w="25400">
              <a:solidFill>
                <a:srgbClr val="1E2430"/>
              </a:solidFill>
              <a:prstDash val="sysDash"/>
              <a:tailEnd type="triangle" w="med" len="med"/>
            </a:ln>
          </p:spPr>
        </p:cxnSp>
        <p:sp>
          <p:nvSpPr>
            <p:cNvPr id="10" name="鼻 10"/>
            <p:cNvSpPr/>
            <p:nvPr/>
          </p:nvSpPr>
          <p:spPr>
            <a:xfrm>
              <a:off x="6874459" y="3450946"/>
              <a:ext cx="100584" cy="102413"/>
            </a:xfrm>
            <a:custGeom>
              <a:avLst/>
              <a:gdLst/>
              <a:ahLst/>
              <a:cxnLst/>
              <a:rect l="0" t="0" r="r" b="b"/>
              <a:pathLst>
                <a:path w="100584" h="102413">
                  <a:moveTo>
                    <a:pt x="100584" y="51206"/>
                  </a:moveTo>
                  <a:lnTo>
                    <a:pt x="0" y="102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1" name="耳 11"/>
            <p:cNvSpPr/>
            <p:nvPr/>
          </p:nvSpPr>
          <p:spPr>
            <a:xfrm>
              <a:off x="6687922" y="3260750"/>
              <a:ext cx="80467" cy="11704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2" name="耳 12"/>
            <p:cNvSpPr/>
            <p:nvPr/>
          </p:nvSpPr>
          <p:spPr>
            <a:xfrm>
              <a:off x="6687922" y="3626510"/>
              <a:ext cx="80467" cy="11704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3" name="頭 13"/>
            <p:cNvSpPr/>
            <p:nvPr/>
          </p:nvSpPr>
          <p:spPr>
            <a:xfrm>
              <a:off x="6545275" y="3319272"/>
              <a:ext cx="365760" cy="36576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E2430"/>
              </a:solidFill>
            </a:ln>
          </p:spPr>
        </p:sp>
        <p:sp>
          <p:nvSpPr>
            <p:cNvPr id="14" name="弧 14"/>
            <p:cNvSpPr/>
            <p:nvPr/>
          </p:nvSpPr>
          <p:spPr>
            <a:xfrm>
              <a:off x="8412480" y="3202539"/>
              <a:ext cx="155969" cy="599226"/>
            </a:xfrm>
            <a:custGeom>
              <a:avLst/>
              <a:gdLst/>
              <a:ahLst/>
              <a:cxnLst/>
              <a:rect l="0" t="0" r="r" b="b"/>
              <a:pathLst>
                <a:path w="155969" h="599226" fill="none">
                  <a:moveTo>
                    <a:pt x="155969" y="0"/>
                  </a:moveTo>
                  <a:lnTo>
                    <a:pt x="110917" y="37248"/>
                  </a:lnTo>
                  <a:lnTo>
                    <a:pt x="72375" y="81196"/>
                  </a:lnTo>
                  <a:lnTo>
                    <a:pt x="41327" y="130724"/>
                  </a:lnTo>
                  <a:lnTo>
                    <a:pt x="18565" y="184565"/>
                  </a:lnTo>
                  <a:lnTo>
                    <a:pt x="4671" y="241345"/>
                  </a:lnTo>
                  <a:lnTo>
                    <a:pt x="0" y="299613"/>
                  </a:lnTo>
                  <a:lnTo>
                    <a:pt x="4671" y="357881"/>
                  </a:lnTo>
                  <a:lnTo>
                    <a:pt x="18565" y="414661"/>
                  </a:lnTo>
                  <a:lnTo>
                    <a:pt x="41327" y="468502"/>
                  </a:lnTo>
                  <a:lnTo>
                    <a:pt x="72375" y="518030"/>
                  </a:lnTo>
                  <a:lnTo>
                    <a:pt x="110917" y="561979"/>
                  </a:lnTo>
                  <a:lnTo>
                    <a:pt x="155969" y="599226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5" name="弧 15"/>
            <p:cNvSpPr/>
            <p:nvPr/>
          </p:nvSpPr>
          <p:spPr>
            <a:xfrm>
              <a:off x="8183880" y="3015281"/>
              <a:ext cx="253449" cy="973742"/>
            </a:xfrm>
            <a:custGeom>
              <a:avLst/>
              <a:gdLst/>
              <a:ahLst/>
              <a:cxnLst/>
              <a:rect l="0" t="0" r="r" b="b"/>
              <a:pathLst>
                <a:path w="253449" h="973742" fill="none">
                  <a:moveTo>
                    <a:pt x="253449" y="0"/>
                  </a:moveTo>
                  <a:lnTo>
                    <a:pt x="180241" y="60527"/>
                  </a:lnTo>
                  <a:lnTo>
                    <a:pt x="117610" y="131944"/>
                  </a:lnTo>
                  <a:lnTo>
                    <a:pt x="67156" y="212426"/>
                  </a:lnTo>
                  <a:lnTo>
                    <a:pt x="30168" y="299918"/>
                  </a:lnTo>
                  <a:lnTo>
                    <a:pt x="7591" y="392186"/>
                  </a:lnTo>
                  <a:lnTo>
                    <a:pt x="0" y="486871"/>
                  </a:lnTo>
                  <a:lnTo>
                    <a:pt x="7591" y="581557"/>
                  </a:lnTo>
                  <a:lnTo>
                    <a:pt x="30168" y="673824"/>
                  </a:lnTo>
                  <a:lnTo>
                    <a:pt x="67156" y="761316"/>
                  </a:lnTo>
                  <a:lnTo>
                    <a:pt x="117610" y="841798"/>
                  </a:lnTo>
                  <a:lnTo>
                    <a:pt x="180241" y="913215"/>
                  </a:lnTo>
                  <a:lnTo>
                    <a:pt x="253449" y="973742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6" name="弧 16"/>
            <p:cNvSpPr/>
            <p:nvPr/>
          </p:nvSpPr>
          <p:spPr>
            <a:xfrm>
              <a:off x="7955280" y="2828023"/>
              <a:ext cx="350930" cy="1348259"/>
            </a:xfrm>
            <a:custGeom>
              <a:avLst/>
              <a:gdLst/>
              <a:ahLst/>
              <a:cxnLst/>
              <a:rect l="0" t="0" r="r" b="b"/>
              <a:pathLst>
                <a:path w="350930" h="1348259" fill="none">
                  <a:moveTo>
                    <a:pt x="350930" y="0"/>
                  </a:moveTo>
                  <a:lnTo>
                    <a:pt x="249564" y="83807"/>
                  </a:lnTo>
                  <a:lnTo>
                    <a:pt x="162845" y="182692"/>
                  </a:lnTo>
                  <a:lnTo>
                    <a:pt x="92986" y="294129"/>
                  </a:lnTo>
                  <a:lnTo>
                    <a:pt x="41771" y="415272"/>
                  </a:lnTo>
                  <a:lnTo>
                    <a:pt x="10510" y="543026"/>
                  </a:lnTo>
                  <a:lnTo>
                    <a:pt x="0" y="674129"/>
                  </a:lnTo>
                  <a:lnTo>
                    <a:pt x="10510" y="805233"/>
                  </a:lnTo>
                  <a:lnTo>
                    <a:pt x="41771" y="932987"/>
                  </a:lnTo>
                  <a:lnTo>
                    <a:pt x="92986" y="1054130"/>
                  </a:lnTo>
                  <a:lnTo>
                    <a:pt x="162845" y="1165567"/>
                  </a:lnTo>
                  <a:lnTo>
                    <a:pt x="249564" y="1264452"/>
                  </a:lnTo>
                  <a:lnTo>
                    <a:pt x="350930" y="1348259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体験：別の部屋に入る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上から見た図</a:t>
            </a:r>
            <a:endParaRPr lang="ja-JP" altLang="en-US" sz="1300" dirty="0"/>
          </a:p>
        </p:txBody>
      </p:sp>
      <p:grpSp>
        <p:nvGrpSpPr>
          <p:cNvPr id="12" name="23_体験_別の部屋に入る">
            <a:extLst>
              <a:ext uri="{FF2B5EF4-FFF2-40B4-BE49-F238E27FC236}">
                <a16:creationId xmlns:a16="http://schemas.microsoft.com/office/drawing/2014/main" id="{2239D72D-7220-BE80-94A0-10A0C58B140F}"/>
              </a:ext>
            </a:extLst>
          </p:cNvPr>
          <p:cNvGrpSpPr/>
          <p:nvPr/>
        </p:nvGrpSpPr>
        <p:grpSpPr>
          <a:xfrm>
            <a:off x="3383280" y="1280160"/>
            <a:ext cx="5394960" cy="4937760"/>
            <a:chOff x="3383280" y="1280160"/>
            <a:chExt cx="5394960" cy="4937760"/>
          </a:xfrm>
        </p:grpSpPr>
        <p:sp>
          <p:nvSpPr>
            <p:cNvPr id="3" name="部屋 3"/>
            <p:cNvSpPr/>
            <p:nvPr/>
          </p:nvSpPr>
          <p:spPr>
            <a:xfrm>
              <a:off x="3383280" y="1280160"/>
              <a:ext cx="5394960" cy="493776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A94A6"/>
              </a:solidFill>
            </a:ln>
          </p:spPr>
        </p:sp>
        <p:cxnSp>
          <p:nvCxnSpPr>
            <p:cNvPr id="4" name="線 4"/>
            <p:cNvCxnSpPr/>
            <p:nvPr/>
          </p:nvCxnSpPr>
          <p:spPr>
            <a:xfrm>
              <a:off x="6080760" y="1280160"/>
              <a:ext cx="0" cy="4937760"/>
            </a:xfrm>
            <a:prstGeom prst="line">
              <a:avLst/>
            </a:prstGeom>
            <a:ln w="25400">
              <a:solidFill>
                <a:srgbClr val="8A94A6"/>
              </a:solidFill>
            </a:ln>
          </p:spPr>
        </p:cxnSp>
        <p:sp>
          <p:nvSpPr>
            <p:cNvPr id="5" name="開口 5"/>
            <p:cNvSpPr/>
            <p:nvPr/>
          </p:nvSpPr>
          <p:spPr>
            <a:xfrm>
              <a:off x="6053328" y="3255264"/>
              <a:ext cx="54864" cy="10863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響き 6"/>
            <p:cNvSpPr/>
            <p:nvPr/>
          </p:nvSpPr>
          <p:spPr>
            <a:xfrm>
              <a:off x="6108192" y="1307592"/>
              <a:ext cx="2642616" cy="4882896"/>
            </a:xfrm>
            <a:prstGeom prst="rect">
              <a:avLst/>
            </a:prstGeom>
            <a:solidFill>
              <a:srgbClr val="00C2C7">
                <a:alpha val="22000"/>
              </a:srgbClr>
            </a:solidFill>
            <a:ln>
              <a:noFill/>
            </a:ln>
          </p:spPr>
        </p:sp>
        <p:cxnSp>
          <p:nvCxnSpPr>
            <p:cNvPr id="7" name="線 7"/>
            <p:cNvCxnSpPr/>
            <p:nvPr/>
          </p:nvCxnSpPr>
          <p:spPr>
            <a:xfrm>
              <a:off x="5276088" y="3798418"/>
              <a:ext cx="1991563" cy="0"/>
            </a:xfrm>
            <a:prstGeom prst="line">
              <a:avLst/>
            </a:prstGeom>
            <a:ln w="25400">
              <a:solidFill>
                <a:srgbClr val="1E2430"/>
              </a:solidFill>
              <a:prstDash val="sysDash"/>
              <a:tailEnd type="triangle" w="med" len="med"/>
            </a:ln>
          </p:spPr>
        </p:cxnSp>
        <p:sp>
          <p:nvSpPr>
            <p:cNvPr id="8" name="鼻 8"/>
            <p:cNvSpPr/>
            <p:nvPr/>
          </p:nvSpPr>
          <p:spPr>
            <a:xfrm>
              <a:off x="5148072" y="3747211"/>
              <a:ext cx="100584" cy="102413"/>
            </a:xfrm>
            <a:custGeom>
              <a:avLst/>
              <a:gdLst/>
              <a:ahLst/>
              <a:cxnLst/>
              <a:rect l="0" t="0" r="r" b="b"/>
              <a:pathLst>
                <a:path w="100584" h="102413">
                  <a:moveTo>
                    <a:pt x="100584" y="51206"/>
                  </a:moveTo>
                  <a:lnTo>
                    <a:pt x="0" y="102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9" name="耳 9"/>
            <p:cNvSpPr/>
            <p:nvPr/>
          </p:nvSpPr>
          <p:spPr>
            <a:xfrm>
              <a:off x="4961534" y="3557016"/>
              <a:ext cx="80467" cy="11704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0" name="耳 10"/>
            <p:cNvSpPr/>
            <p:nvPr/>
          </p:nvSpPr>
          <p:spPr>
            <a:xfrm>
              <a:off x="4961534" y="3922776"/>
              <a:ext cx="80467" cy="11704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1" name="頭 11"/>
            <p:cNvSpPr/>
            <p:nvPr/>
          </p:nvSpPr>
          <p:spPr>
            <a:xfrm>
              <a:off x="4818888" y="3615538"/>
              <a:ext cx="365760" cy="36576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E2430"/>
              </a:solidFill>
            </a:ln>
          </p:spPr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説明 2"/>
          <p:cNvSpPr txBox="1"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dirty="0">
                <a:solidFill>
                  <a:srgbClr val="00868C"/>
                </a:solidFill>
                <a:latin typeface="BIZ UDPゴシック"/>
                <a:ea typeface="BIZ UDPゴシック"/>
                <a:cs typeface="BIZ UDPゴシック"/>
              </a:rPr>
              <a:t>体験：隣の部屋に近づく</a:t>
            </a:r>
            <a:r>
              <a:rPr lang="ja-JP" altLang="en-US" sz="1300" dirty="0">
                <a:solidFill>
                  <a:srgbClr val="5C6677"/>
                </a:solidFill>
                <a:latin typeface="BIZ UDPゴシック"/>
                <a:ea typeface="BIZ UDPゴシック"/>
                <a:cs typeface="BIZ UDPゴシック"/>
              </a:rPr>
              <a:t>　上から見た図</a:t>
            </a:r>
            <a:endParaRPr lang="ja-JP" altLang="en-US" sz="1300" dirty="0"/>
          </a:p>
        </p:txBody>
      </p:sp>
      <p:grpSp>
        <p:nvGrpSpPr>
          <p:cNvPr id="18" name="24_体験_隣の部屋に近づく">
            <a:extLst>
              <a:ext uri="{FF2B5EF4-FFF2-40B4-BE49-F238E27FC236}">
                <a16:creationId xmlns:a16="http://schemas.microsoft.com/office/drawing/2014/main" id="{A1641CDF-5936-5E56-F0ED-0AFB28DF0BAB}"/>
              </a:ext>
            </a:extLst>
          </p:cNvPr>
          <p:cNvGrpSpPr/>
          <p:nvPr/>
        </p:nvGrpSpPr>
        <p:grpSpPr>
          <a:xfrm>
            <a:off x="3383280" y="1280160"/>
            <a:ext cx="5394960" cy="4937760"/>
            <a:chOff x="3383280" y="1280160"/>
            <a:chExt cx="5394960" cy="4937760"/>
          </a:xfrm>
        </p:grpSpPr>
        <p:sp>
          <p:nvSpPr>
            <p:cNvPr id="3" name="部屋 3"/>
            <p:cNvSpPr/>
            <p:nvPr/>
          </p:nvSpPr>
          <p:spPr>
            <a:xfrm>
              <a:off x="3383280" y="1280160"/>
              <a:ext cx="5394960" cy="493776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A94A6"/>
              </a:solidFill>
            </a:ln>
          </p:spPr>
        </p:sp>
        <p:cxnSp>
          <p:nvCxnSpPr>
            <p:cNvPr id="4" name="線 4"/>
            <p:cNvCxnSpPr/>
            <p:nvPr/>
          </p:nvCxnSpPr>
          <p:spPr>
            <a:xfrm>
              <a:off x="6080760" y="1280160"/>
              <a:ext cx="0" cy="4937760"/>
            </a:xfrm>
            <a:prstGeom prst="line">
              <a:avLst/>
            </a:prstGeom>
            <a:ln w="25400">
              <a:solidFill>
                <a:srgbClr val="8A94A6"/>
              </a:solidFill>
            </a:ln>
          </p:spPr>
        </p:cxnSp>
        <p:sp>
          <p:nvSpPr>
            <p:cNvPr id="5" name="開口 5"/>
            <p:cNvSpPr/>
            <p:nvPr/>
          </p:nvSpPr>
          <p:spPr>
            <a:xfrm>
              <a:off x="6053328" y="3255264"/>
              <a:ext cx="54864" cy="10863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本体 6"/>
            <p:cNvSpPr/>
            <p:nvPr/>
          </p:nvSpPr>
          <p:spPr>
            <a:xfrm>
              <a:off x="4354373" y="2650388"/>
              <a:ext cx="115214" cy="139903"/>
            </a:xfrm>
            <a:prstGeom prst="rect">
              <a:avLst/>
            </a:prstGeom>
            <a:solidFill>
              <a:srgbClr val="00C2C7"/>
            </a:solidFill>
            <a:ln>
              <a:noFill/>
            </a:ln>
          </p:spPr>
        </p:sp>
        <p:sp>
          <p:nvSpPr>
            <p:cNvPr id="7" name="コーン 7"/>
            <p:cNvSpPr/>
            <p:nvPr/>
          </p:nvSpPr>
          <p:spPr>
            <a:xfrm>
              <a:off x="4469587" y="2547518"/>
              <a:ext cx="131674" cy="345643"/>
            </a:xfrm>
            <a:custGeom>
              <a:avLst/>
              <a:gdLst/>
              <a:ahLst/>
              <a:cxnLst/>
              <a:rect l="0" t="0" r="r" b="b"/>
              <a:pathLst>
                <a:path w="131674" h="345643">
                  <a:moveTo>
                    <a:pt x="0" y="102870"/>
                  </a:moveTo>
                  <a:lnTo>
                    <a:pt x="131674" y="0"/>
                  </a:lnTo>
                  <a:lnTo>
                    <a:pt x="131674" y="345643"/>
                  </a:lnTo>
                  <a:lnTo>
                    <a:pt x="0" y="242773"/>
                  </a:lnTo>
                  <a:close/>
                </a:path>
              </a:pathLst>
            </a:custGeom>
            <a:solidFill>
              <a:srgbClr val="00C2C7"/>
            </a:solidFill>
            <a:ln>
              <a:noFill/>
            </a:ln>
          </p:spPr>
        </p:sp>
        <p:sp>
          <p:nvSpPr>
            <p:cNvPr id="8" name="弧 8"/>
            <p:cNvSpPr/>
            <p:nvPr/>
          </p:nvSpPr>
          <p:spPr>
            <a:xfrm>
              <a:off x="4665272" y="2656329"/>
              <a:ext cx="26514" cy="128023"/>
            </a:xfrm>
            <a:custGeom>
              <a:avLst/>
              <a:gdLst/>
              <a:ahLst/>
              <a:cxnLst/>
              <a:rect l="0" t="0" r="r" b="b"/>
              <a:pathLst>
                <a:path w="26514" h="128023" fill="none">
                  <a:moveTo>
                    <a:pt x="0" y="128023"/>
                  </a:moveTo>
                  <a:lnTo>
                    <a:pt x="7808" y="119120"/>
                  </a:lnTo>
                  <a:lnTo>
                    <a:pt x="14386" y="109274"/>
                  </a:lnTo>
                  <a:lnTo>
                    <a:pt x="19623" y="98654"/>
                  </a:lnTo>
                  <a:lnTo>
                    <a:pt x="23430" y="87441"/>
                  </a:lnTo>
                  <a:lnTo>
                    <a:pt x="25740" y="75827"/>
                  </a:lnTo>
                  <a:lnTo>
                    <a:pt x="26514" y="64011"/>
                  </a:lnTo>
                  <a:lnTo>
                    <a:pt x="25740" y="52195"/>
                  </a:lnTo>
                  <a:lnTo>
                    <a:pt x="23430" y="40582"/>
                  </a:lnTo>
                  <a:lnTo>
                    <a:pt x="19623" y="29369"/>
                  </a:lnTo>
                  <a:lnTo>
                    <a:pt x="14386" y="18748"/>
                  </a:lnTo>
                  <a:lnTo>
                    <a:pt x="7808" y="890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9" name="弧 9"/>
            <p:cNvSpPr/>
            <p:nvPr/>
          </p:nvSpPr>
          <p:spPr>
            <a:xfrm>
              <a:off x="4714735" y="2606865"/>
              <a:ext cx="47003" cy="226949"/>
            </a:xfrm>
            <a:custGeom>
              <a:avLst/>
              <a:gdLst/>
              <a:ahLst/>
              <a:cxnLst/>
              <a:rect l="0" t="0" r="r" b="b"/>
              <a:pathLst>
                <a:path w="47003" h="226949" fill="none">
                  <a:moveTo>
                    <a:pt x="0" y="226949"/>
                  </a:moveTo>
                  <a:lnTo>
                    <a:pt x="13841" y="211167"/>
                  </a:lnTo>
                  <a:lnTo>
                    <a:pt x="25503" y="193713"/>
                  </a:lnTo>
                  <a:lnTo>
                    <a:pt x="34787" y="174886"/>
                  </a:lnTo>
                  <a:lnTo>
                    <a:pt x="41535" y="155009"/>
                  </a:lnTo>
                  <a:lnTo>
                    <a:pt x="45630" y="134421"/>
                  </a:lnTo>
                  <a:lnTo>
                    <a:pt x="47003" y="113475"/>
                  </a:lnTo>
                  <a:lnTo>
                    <a:pt x="45630" y="92528"/>
                  </a:lnTo>
                  <a:lnTo>
                    <a:pt x="41535" y="71940"/>
                  </a:lnTo>
                  <a:lnTo>
                    <a:pt x="34787" y="52063"/>
                  </a:lnTo>
                  <a:lnTo>
                    <a:pt x="25503" y="33236"/>
                  </a:lnTo>
                  <a:lnTo>
                    <a:pt x="13841" y="15782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0" name="弧 10"/>
            <p:cNvSpPr/>
            <p:nvPr/>
          </p:nvSpPr>
          <p:spPr>
            <a:xfrm>
              <a:off x="4764199" y="2557402"/>
              <a:ext cx="67491" cy="325876"/>
            </a:xfrm>
            <a:custGeom>
              <a:avLst/>
              <a:gdLst/>
              <a:ahLst/>
              <a:cxnLst/>
              <a:rect l="0" t="0" r="r" b="b"/>
              <a:pathLst>
                <a:path w="67491" h="325876" fill="none">
                  <a:moveTo>
                    <a:pt x="0" y="325876"/>
                  </a:moveTo>
                  <a:lnTo>
                    <a:pt x="19874" y="303214"/>
                  </a:lnTo>
                  <a:lnTo>
                    <a:pt x="36619" y="278152"/>
                  </a:lnTo>
                  <a:lnTo>
                    <a:pt x="49951" y="251119"/>
                  </a:lnTo>
                  <a:lnTo>
                    <a:pt x="59639" y="222577"/>
                  </a:lnTo>
                  <a:lnTo>
                    <a:pt x="65520" y="193015"/>
                  </a:lnTo>
                  <a:lnTo>
                    <a:pt x="67491" y="162938"/>
                  </a:lnTo>
                  <a:lnTo>
                    <a:pt x="65520" y="132861"/>
                  </a:lnTo>
                  <a:lnTo>
                    <a:pt x="59639" y="103298"/>
                  </a:lnTo>
                  <a:lnTo>
                    <a:pt x="49951" y="74756"/>
                  </a:lnTo>
                  <a:lnTo>
                    <a:pt x="36619" y="47723"/>
                  </a:lnTo>
                  <a:lnTo>
                    <a:pt x="19874" y="22662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1" name="弧 11"/>
            <p:cNvSpPr/>
            <p:nvPr/>
          </p:nvSpPr>
          <p:spPr>
            <a:xfrm>
              <a:off x="6217920" y="3560850"/>
              <a:ext cx="137160" cy="475136"/>
            </a:xfrm>
            <a:custGeom>
              <a:avLst/>
              <a:gdLst/>
              <a:ahLst/>
              <a:cxnLst/>
              <a:rect l="0" t="0" r="r" b="b"/>
              <a:pathLst>
                <a:path w="137160" h="475136" fill="none">
                  <a:moveTo>
                    <a:pt x="0" y="475136"/>
                  </a:moveTo>
                  <a:lnTo>
                    <a:pt x="39169" y="447709"/>
                  </a:lnTo>
                  <a:lnTo>
                    <a:pt x="72981" y="413898"/>
                  </a:lnTo>
                  <a:lnTo>
                    <a:pt x="100408" y="374728"/>
                  </a:lnTo>
                  <a:lnTo>
                    <a:pt x="120616" y="331391"/>
                  </a:lnTo>
                  <a:lnTo>
                    <a:pt x="132992" y="285203"/>
                  </a:lnTo>
                  <a:lnTo>
                    <a:pt x="137160" y="237568"/>
                  </a:lnTo>
                  <a:lnTo>
                    <a:pt x="132992" y="189933"/>
                  </a:lnTo>
                  <a:lnTo>
                    <a:pt x="120616" y="143745"/>
                  </a:lnTo>
                  <a:lnTo>
                    <a:pt x="100408" y="100408"/>
                  </a:lnTo>
                  <a:lnTo>
                    <a:pt x="72981" y="61239"/>
                  </a:lnTo>
                  <a:lnTo>
                    <a:pt x="39169" y="27427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2" name="弧 12"/>
            <p:cNvSpPr/>
            <p:nvPr/>
          </p:nvSpPr>
          <p:spPr>
            <a:xfrm>
              <a:off x="6332220" y="3362876"/>
              <a:ext cx="251460" cy="871083"/>
            </a:xfrm>
            <a:custGeom>
              <a:avLst/>
              <a:gdLst/>
              <a:ahLst/>
              <a:cxnLst/>
              <a:rect l="0" t="0" r="r" b="b"/>
              <a:pathLst>
                <a:path w="251460" h="871083" fill="none">
                  <a:moveTo>
                    <a:pt x="0" y="871083"/>
                  </a:moveTo>
                  <a:lnTo>
                    <a:pt x="71811" y="820801"/>
                  </a:lnTo>
                  <a:lnTo>
                    <a:pt x="133799" y="758812"/>
                  </a:lnTo>
                  <a:lnTo>
                    <a:pt x="184081" y="687001"/>
                  </a:lnTo>
                  <a:lnTo>
                    <a:pt x="221130" y="607550"/>
                  </a:lnTo>
                  <a:lnTo>
                    <a:pt x="243820" y="522873"/>
                  </a:lnTo>
                  <a:lnTo>
                    <a:pt x="251460" y="435541"/>
                  </a:lnTo>
                  <a:lnTo>
                    <a:pt x="243820" y="348210"/>
                  </a:lnTo>
                  <a:lnTo>
                    <a:pt x="221130" y="263533"/>
                  </a:lnTo>
                  <a:lnTo>
                    <a:pt x="184081" y="184081"/>
                  </a:lnTo>
                  <a:lnTo>
                    <a:pt x="133799" y="112271"/>
                  </a:lnTo>
                  <a:lnTo>
                    <a:pt x="71811" y="50282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C2C7"/>
              </a:solidFill>
            </a:ln>
          </p:spPr>
        </p:sp>
        <p:sp>
          <p:nvSpPr>
            <p:cNvPr id="13" name="鼻 13"/>
            <p:cNvSpPr/>
            <p:nvPr/>
          </p:nvSpPr>
          <p:spPr>
            <a:xfrm>
              <a:off x="7524672" y="4808904"/>
              <a:ext cx="107332" cy="107332"/>
            </a:xfrm>
            <a:custGeom>
              <a:avLst/>
              <a:gdLst/>
              <a:ahLst/>
              <a:cxnLst/>
              <a:rect l="0" t="0" r="r" b="b"/>
              <a:pathLst>
                <a:path w="107332" h="107332">
                  <a:moveTo>
                    <a:pt x="0" y="0"/>
                  </a:moveTo>
                  <a:lnTo>
                    <a:pt x="107332" y="34915"/>
                  </a:lnTo>
                  <a:lnTo>
                    <a:pt x="34915" y="107332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4" name="耳 14"/>
            <p:cNvSpPr/>
            <p:nvPr/>
          </p:nvSpPr>
          <p:spPr>
            <a:xfrm>
              <a:off x="7529699" y="5054274"/>
              <a:ext cx="80467" cy="11704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5" name="耳 15"/>
            <p:cNvSpPr/>
            <p:nvPr/>
          </p:nvSpPr>
          <p:spPr>
            <a:xfrm>
              <a:off x="7788330" y="4795643"/>
              <a:ext cx="80467" cy="11704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2430"/>
              </a:solidFill>
            </a:ln>
          </p:spPr>
        </p:sp>
        <p:sp>
          <p:nvSpPr>
            <p:cNvPr id="16" name="頭 16"/>
            <p:cNvSpPr/>
            <p:nvPr/>
          </p:nvSpPr>
          <p:spPr>
            <a:xfrm>
              <a:off x="7516368" y="4800600"/>
              <a:ext cx="365760" cy="36576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E2430"/>
              </a:solidFill>
            </a:ln>
          </p:spPr>
        </p:sp>
        <p:cxnSp>
          <p:nvCxnSpPr>
            <p:cNvPr id="17" name="線 17"/>
            <p:cNvCxnSpPr/>
            <p:nvPr/>
          </p:nvCxnSpPr>
          <p:spPr>
            <a:xfrm>
              <a:off x="6217920" y="3889858"/>
              <a:ext cx="1252728" cy="910742"/>
            </a:xfrm>
            <a:prstGeom prst="line">
              <a:avLst/>
            </a:prstGeom>
            <a:ln w="25400">
              <a:solidFill>
                <a:srgbClr val="00C2C7"/>
              </a:solidFill>
              <a:tailEnd type="triangle" w="med" len="med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139D93495F2624C917EEF16A9DA3E1A" ma:contentTypeVersion="14" ma:contentTypeDescription="新しいドキュメントを作成します。" ma:contentTypeScope="" ma:versionID="712b043f39acaa843b47ce0ff47cdb14">
  <xsd:schema xmlns:xsd="http://www.w3.org/2001/XMLSchema" xmlns:xs="http://www.w3.org/2001/XMLSchema" xmlns:p="http://schemas.microsoft.com/office/2006/metadata/properties" xmlns:ns3="fa551098-4004-44fe-a016-5407d130625c" xmlns:ns4="e4463ffd-d7ab-4e4f-a3b1-de7144f98700" targetNamespace="http://schemas.microsoft.com/office/2006/metadata/properties" ma:root="true" ma:fieldsID="55eca7160f1be1aed6532e21a6912db8" ns3:_="" ns4:_="">
    <xsd:import namespace="fa551098-4004-44fe-a016-5407d130625c"/>
    <xsd:import namespace="e4463ffd-d7ab-4e4f-a3b1-de7144f9870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551098-4004-44fe-a016-5407d130625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63ffd-d7ab-4e4f-a3b1-de7144f9870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a551098-4004-44fe-a016-5407d130625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E42505-7A29-44B9-875B-02E46D6E4B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551098-4004-44fe-a016-5407d130625c"/>
    <ds:schemaRef ds:uri="e4463ffd-d7ab-4e4f-a3b1-de7144f987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1CE89B-2CA6-4D15-B5CD-0C4761464D49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fa551098-4004-44fe-a016-5407d130625c"/>
    <ds:schemaRef ds:uri="http://schemas.openxmlformats.org/package/2006/metadata/core-properties"/>
    <ds:schemaRef ds:uri="e4463ffd-d7ab-4e4f-a3b1-de7144f98700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DB041D7-CB89-4ED4-BE62-442EEFCDC8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552</Words>
  <Application>Microsoft Office PowerPoint</Application>
  <PresentationFormat>ワイド画面</PresentationFormat>
  <Paragraphs>94</Paragraphs>
  <Slides>24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9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OHAT13B60714 竹内寛登</dc:creator>
  <cp:lastModifiedBy>OHAT13B60714 竹内寛登</cp:lastModifiedBy>
  <cp:revision>3</cp:revision>
  <dcterms:created xsi:type="dcterms:W3CDTF">2026-09-18T05:41:46Z</dcterms:created>
  <dcterms:modified xsi:type="dcterms:W3CDTF">2026-09-18T16:32:49Z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0x0101006139D93495F2624C917EEF16A9DA3E1A</vt:lpwstr>
  </property>
</Properties>
</file>